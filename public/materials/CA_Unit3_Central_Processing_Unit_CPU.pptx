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10" r:id="rId2"/>
    <p:sldId id="324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4" r:id="rId21"/>
    <p:sldId id="366" r:id="rId22"/>
    <p:sldId id="367" r:id="rId23"/>
  </p:sldIdLst>
  <p:sldSz cx="12192000" cy="6858000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Roboto Condensed" panose="02000000000000000000" pitchFamily="2" charset="0"/>
      <p:regular r:id="rId27"/>
      <p:bold r:id="rId28"/>
      <p:italic r:id="rId29"/>
      <p:boldItalic r:id="rId30"/>
    </p:embeddedFont>
    <p:embeddedFont>
      <p:font typeface="Roboto Condensed Light" panose="02000000000000000000" pitchFamily="2" charset="0"/>
      <p:regular r:id="rId31"/>
      <p:italic r:id="rId32"/>
    </p:embeddedFont>
    <p:embeddedFont>
      <p:font typeface="Wingdings 2" panose="05020102010507070707" pitchFamily="18" charset="2"/>
      <p:regular r:id="rId33"/>
    </p:embeddedFont>
    <p:embeddedFont>
      <p:font typeface="Wingdings 3" panose="05040102010807070707" pitchFamily="18" charset="2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nal vyas" initials="kv" lastIdx="1" clrIdx="0">
    <p:extLst>
      <p:ext uri="{19B8F6BF-5375-455C-9EA6-DF929625EA0E}">
        <p15:presenceInfo xmlns:p15="http://schemas.microsoft.com/office/powerpoint/2012/main" userId="bf93b71aea7da0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D8B"/>
    <a:srgbClr val="301B92"/>
    <a:srgbClr val="673BB7"/>
    <a:srgbClr val="ED524F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8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7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B85114-151F-4DD3-A0B8-3D48A21591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6D90B-9A8F-485C-8292-FBB99BB4E9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54983-44D3-45A8-9D86-0B9C45442AB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CB2A6-6534-401E-8C5F-E86CDFCB3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E556C-8D15-4673-BFA2-E8DEF4C2CB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C8025-BFE7-4B0B-BEDD-AFE1C976C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550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49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1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Programming the Basic Computer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1146420" cy="490079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933000" cy="5635677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8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87281"/>
            <a:ext cx="11929641" cy="487695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AC05D353-A70B-4687-8A49-D44BCD80FCA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C2E92C4-49EF-4D4D-A6B9-E157CCC2FFE0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1C651DC-CFA8-4914-92F1-1FF83E900B8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E1B8BC83-3189-4BEF-9B76-E5B3BE752022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777448CE-2EB3-4B2F-B6CB-997AEBFC192D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Programming the Basic Computer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2" y="6603999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4DF0B2CA-0D59-41EF-8432-9E74D5B5179D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4DBF1E76-977D-4892-ACFE-BC891B8F7A4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0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7803FA-3B47-4611-8387-305D7E1D16D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92" y="1386529"/>
            <a:ext cx="4679915" cy="350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92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517B9A-CB15-4105-8DB6-3BE4CEF0C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292424" cy="2578780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Unit-3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Programming the Basic Computer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247361-D1B1-496C-91FD-362FC47441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Computer Organization &amp; Architecture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(COA)</a:t>
            </a:r>
          </a:p>
        </p:txBody>
      </p:sp>
    </p:spTree>
    <p:extLst>
      <p:ext uri="{BB962C8B-B14F-4D97-AF65-F5344CB8AC3E}">
        <p14:creationId xmlns:p14="http://schemas.microsoft.com/office/powerpoint/2010/main" val="333374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2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69714"/>
            <a:ext cx="654377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Machine Language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Assembly Language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Assembler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Program loops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Programming Arithmetic and Logic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Subroutines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I-O Programming</a:t>
            </a:r>
          </a:p>
        </p:txBody>
      </p:sp>
    </p:spTree>
    <p:extLst>
      <p:ext uri="{BB962C8B-B14F-4D97-AF65-F5344CB8AC3E}">
        <p14:creationId xmlns:p14="http://schemas.microsoft.com/office/powerpoint/2010/main" val="10337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Machine Language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76107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E28B-E353-40AB-9A56-23F925322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Categories of programs</a:t>
            </a:r>
            <a:endParaRPr lang="en-IN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02315-4038-4026-910A-1175338F6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905187" cy="5590565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Binary code</a:t>
            </a:r>
          </a:p>
          <a:p>
            <a:pPr lvl="1"/>
            <a:r>
              <a:rPr lang="en-US" dirty="0"/>
              <a:t>This is a sequence of instructions and operands in binary that list the exact representation of instructions as they appear in computer memory.</a:t>
            </a:r>
          </a:p>
          <a:p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97B1A6-029E-4763-978D-9D6299FD2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4419"/>
              </p:ext>
            </p:extLst>
          </p:nvPr>
        </p:nvGraphicFramePr>
        <p:xfrm>
          <a:off x="413590" y="2671197"/>
          <a:ext cx="5400000" cy="2966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Instruction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0101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0011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0000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8950250-86E6-4273-B291-BE9DB676B707}"/>
              </a:ext>
            </a:extLst>
          </p:cNvPr>
          <p:cNvSpPr txBox="1">
            <a:spLocks/>
          </p:cNvSpPr>
          <p:nvPr/>
        </p:nvSpPr>
        <p:spPr>
          <a:xfrm>
            <a:off x="6155634" y="833627"/>
            <a:ext cx="5964819" cy="1352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20" indent="-342900"/>
            <a:r>
              <a:rPr lang="en-US" dirty="0">
                <a:solidFill>
                  <a:schemeClr val="accent6"/>
                </a:solidFill>
              </a:rPr>
              <a:t>Octal or hexadecimal code</a:t>
            </a:r>
          </a:p>
          <a:p>
            <a:pPr lvl="1"/>
            <a:r>
              <a:rPr lang="en-US" dirty="0"/>
              <a:t>This is an equivalent translation of the binary code to octal or hexadecimal representation.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7DD2B25-9626-4FD1-90DF-5396BBC04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588524"/>
              </p:ext>
            </p:extLst>
          </p:nvPr>
        </p:nvGraphicFramePr>
        <p:xfrm>
          <a:off x="7296977" y="2661258"/>
          <a:ext cx="4032000" cy="2966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Instruction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FFE9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16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1AA74-D499-410B-81A2-CF58AA5D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programs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E6DD3-97A8-417F-AF63-7C43E61FC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964819" cy="5590565"/>
          </a:xfrm>
        </p:spPr>
        <p:txBody>
          <a:bodyPr/>
          <a:lstStyle/>
          <a:p>
            <a:pPr marL="342920" indent="-342900"/>
            <a:r>
              <a:rPr lang="en-US" dirty="0">
                <a:solidFill>
                  <a:schemeClr val="accent6"/>
                </a:solidFill>
              </a:rPr>
              <a:t>Symbolic code</a:t>
            </a:r>
          </a:p>
          <a:p>
            <a:pPr marL="742950" lvl="1" indent="-342900"/>
            <a:r>
              <a:rPr lang="en-US" dirty="0"/>
              <a:t>The user employs </a:t>
            </a:r>
            <a:r>
              <a:rPr lang="en-US" i="1" dirty="0">
                <a:solidFill>
                  <a:schemeClr val="tx2"/>
                </a:solidFill>
              </a:rPr>
              <a:t>symbols</a:t>
            </a:r>
            <a:r>
              <a:rPr lang="en-US" dirty="0"/>
              <a:t> (letters, numerals, or special characters) for the operation part, the address part, and other parts of the instruction code.</a:t>
            </a:r>
          </a:p>
          <a:p>
            <a:pPr marL="742950" lvl="1" indent="-342900"/>
            <a:r>
              <a:rPr lang="en-US" dirty="0"/>
              <a:t>Each symbolic instruction can be translated into one binary coded instruction by a special program called an assembler and language is referred to as an </a:t>
            </a:r>
            <a:r>
              <a:rPr lang="en-US" i="1" dirty="0">
                <a:solidFill>
                  <a:schemeClr val="tx2"/>
                </a:solidFill>
              </a:rPr>
              <a:t>assembly language program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E3957B-AF29-4801-A53B-8A896AAB8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420843"/>
              </p:ext>
            </p:extLst>
          </p:nvPr>
        </p:nvGraphicFramePr>
        <p:xfrm>
          <a:off x="259688" y="3591187"/>
          <a:ext cx="5707803" cy="2926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kern="1200" dirty="0"/>
                        <a:t>Location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Instruction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LDA 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 first operand</a:t>
                      </a:r>
                      <a:r>
                        <a:rPr lang="en-US" baseline="0" dirty="0"/>
                        <a:t> into AC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second operand</a:t>
                      </a:r>
                      <a:r>
                        <a:rPr lang="en-US" baseline="0" dirty="0"/>
                        <a:t> to AC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 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 sum</a:t>
                      </a:r>
                      <a:r>
                        <a:rPr lang="en-US" baseline="0" dirty="0"/>
                        <a:t> in location 006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Halt</a:t>
                      </a:r>
                      <a:r>
                        <a:rPr lang="en-US" baseline="0" dirty="0"/>
                        <a:t> computer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operand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FFE9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  <a:r>
                        <a:rPr lang="en-US" baseline="0" dirty="0"/>
                        <a:t> operand (negative)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 sum here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DFAA57-73A8-40D6-9FF3-6AE703EF606D}"/>
              </a:ext>
            </a:extLst>
          </p:cNvPr>
          <p:cNvSpPr txBox="1">
            <a:spLocks/>
          </p:cNvSpPr>
          <p:nvPr/>
        </p:nvSpPr>
        <p:spPr>
          <a:xfrm>
            <a:off x="6227181" y="816909"/>
            <a:ext cx="5964819" cy="3337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20" indent="-342900"/>
            <a:r>
              <a:rPr lang="en-US" dirty="0"/>
              <a:t>High-level programming languages</a:t>
            </a:r>
          </a:p>
          <a:p>
            <a:pPr marL="742950" lvl="1" indent="-342900"/>
            <a:r>
              <a:rPr lang="en-US" dirty="0"/>
              <a:t>These are special languages developed to reflect the procedures used in the solution of a problem rather than be concerned with the computer hardware behavior. E.g. Fortran, C++, Java, etc.</a:t>
            </a:r>
          </a:p>
          <a:p>
            <a:pPr marL="742950" lvl="1" indent="-342900"/>
            <a:r>
              <a:rPr lang="en-US" dirty="0"/>
              <a:t>The program is written in a sequence of statements in a form that people prefer to think in when solving a problem.</a:t>
            </a:r>
          </a:p>
          <a:p>
            <a:pPr marL="742950" lvl="1" indent="-342900"/>
            <a:r>
              <a:rPr lang="en-US" dirty="0"/>
              <a:t>However, each statement must be translated into a sequence of binary instructions before the program can be executed in a computer.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C5B00-2C81-4771-BFB5-1F63A809AD0E}"/>
              </a:ext>
            </a:extLst>
          </p:cNvPr>
          <p:cNvSpPr txBox="1"/>
          <p:nvPr/>
        </p:nvSpPr>
        <p:spPr>
          <a:xfrm>
            <a:off x="7866821" y="4471431"/>
            <a:ext cx="36725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 A, B, C</a:t>
            </a:r>
          </a:p>
          <a:p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A, 83 B,-23</a:t>
            </a:r>
          </a:p>
          <a:p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= A + B</a:t>
            </a:r>
          </a:p>
          <a:p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11206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Assembly Language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367006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86F806-7827-4C24-9216-1F29CA59E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Instruction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B2E7F7-9849-496F-9A5C-F19E101BF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88584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i="1" dirty="0">
                <a:solidFill>
                  <a:schemeClr val="tx2"/>
                </a:solidFill>
              </a:rPr>
              <a:t>pseudo instruction</a:t>
            </a:r>
            <a:r>
              <a:rPr lang="en-US" dirty="0"/>
              <a:t> is not a machine instruction but rather an instruction to the assembler giving information about some phase of the translation.</a:t>
            </a:r>
          </a:p>
          <a:p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569E53-E963-45E7-8505-2F6EDBD0E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597009"/>
              </p:ext>
            </p:extLst>
          </p:nvPr>
        </p:nvGraphicFramePr>
        <p:xfrm>
          <a:off x="2095499" y="2476168"/>
          <a:ext cx="8153402" cy="2286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Information</a:t>
                      </a:r>
                      <a:r>
                        <a:rPr lang="en-US" sz="2000" baseline="0" dirty="0"/>
                        <a:t> for the Assembler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ORG</a:t>
                      </a:r>
                      <a:r>
                        <a:rPr lang="en-US" sz="2000" baseline="0" dirty="0"/>
                        <a:t> 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Hexadecimal</a:t>
                      </a:r>
                      <a:r>
                        <a:rPr lang="en-US" sz="2000" baseline="0" dirty="0"/>
                        <a:t> number N is the memory location for the instruction or operand listed in the following line.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Denotes the end of symbolic program.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DEC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Signed decimal</a:t>
                      </a:r>
                      <a:r>
                        <a:rPr lang="en-US" sz="2000" baseline="0" dirty="0"/>
                        <a:t> number N to be converted to binary.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HEX</a:t>
                      </a:r>
                      <a:r>
                        <a:rPr lang="en-US" sz="2000" baseline="0" dirty="0"/>
                        <a:t> N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Hexadecimal</a:t>
                      </a:r>
                      <a:r>
                        <a:rPr lang="en-US" sz="2000" baseline="0" dirty="0"/>
                        <a:t> number N to be converted to binary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Assembler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603566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84149F-C6D9-49AF-9AAA-F7378974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Assembler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0D273C-EF2F-45E4-8E48-156DD1500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</a:t>
            </a:r>
            <a:r>
              <a:rPr lang="en-US" i="1" dirty="0">
                <a:solidFill>
                  <a:schemeClr val="tx2"/>
                </a:solidFill>
              </a:rPr>
              <a:t>assembler</a:t>
            </a:r>
            <a:r>
              <a:rPr lang="en-US" dirty="0"/>
              <a:t> is a program that accepts a symbolic language program and produces its binary machine language equivalent. </a:t>
            </a:r>
          </a:p>
          <a:p>
            <a:pPr algn="just"/>
            <a:r>
              <a:rPr lang="en-US" dirty="0"/>
              <a:t>The input symbolic program is called the source program and the resulting binary program is called the object program. </a:t>
            </a:r>
          </a:p>
          <a:p>
            <a:pPr algn="just"/>
            <a:r>
              <a:rPr lang="en-US" dirty="0"/>
              <a:t>The assembler is a program that operates on character strings and produces an equivalent binary interpretation.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92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6816-27D0-483C-B6F2-0CD446EF9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A.L.P. to subtract 2 numbers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F1243D-678C-48E6-94FE-6023273C2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656033"/>
              </p:ext>
            </p:extLst>
          </p:nvPr>
        </p:nvGraphicFramePr>
        <p:xfrm>
          <a:off x="2217255" y="1203960"/>
          <a:ext cx="3371850" cy="445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58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LDA</a:t>
                      </a:r>
                      <a:r>
                        <a:rPr lang="en-US" baseline="0" dirty="0"/>
                        <a:t> SUB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 DIF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 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 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DIF,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HEX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F290D2-FE1D-4E33-994A-DEEAC4558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763639"/>
              </p:ext>
            </p:extLst>
          </p:nvPr>
        </p:nvGraphicFramePr>
        <p:xfrm>
          <a:off x="6808305" y="1203960"/>
          <a:ext cx="3124200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354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9D75E2E6-B896-4412-998D-185A3D5AE1AD}"/>
              </a:ext>
            </a:extLst>
          </p:cNvPr>
          <p:cNvSpPr/>
          <p:nvPr/>
        </p:nvSpPr>
        <p:spPr>
          <a:xfrm>
            <a:off x="2431569" y="4175760"/>
            <a:ext cx="1752600" cy="381000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C3CD6E-950D-4D1F-B3A3-7737FD9B3A98}"/>
              </a:ext>
            </a:extLst>
          </p:cNvPr>
          <p:cNvCxnSpPr/>
          <p:nvPr/>
        </p:nvCxnSpPr>
        <p:spPr>
          <a:xfrm flipV="1">
            <a:off x="4217505" y="1737360"/>
            <a:ext cx="2590800" cy="25908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AF1551A6-4F72-4C91-8E2B-6289A435EC1B}"/>
              </a:ext>
            </a:extLst>
          </p:cNvPr>
          <p:cNvSpPr/>
          <p:nvPr/>
        </p:nvSpPr>
        <p:spPr>
          <a:xfrm>
            <a:off x="2431569" y="4556760"/>
            <a:ext cx="1752600" cy="381000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34D0F0-36D8-4FAF-ADB4-CBADE97AA7F5}"/>
              </a:ext>
            </a:extLst>
          </p:cNvPr>
          <p:cNvCxnSpPr/>
          <p:nvPr/>
        </p:nvCxnSpPr>
        <p:spPr>
          <a:xfrm flipV="1">
            <a:off x="4217505" y="2118360"/>
            <a:ext cx="2590800" cy="25908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69FF311-C36F-41DC-A232-A8D728055C37}"/>
              </a:ext>
            </a:extLst>
          </p:cNvPr>
          <p:cNvSpPr/>
          <p:nvPr/>
        </p:nvSpPr>
        <p:spPr>
          <a:xfrm>
            <a:off x="2417281" y="4937760"/>
            <a:ext cx="1752600" cy="381000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FE82E9-5E25-4FCF-AAA0-1892DC807B1A}"/>
              </a:ext>
            </a:extLst>
          </p:cNvPr>
          <p:cNvCxnSpPr/>
          <p:nvPr/>
        </p:nvCxnSpPr>
        <p:spPr>
          <a:xfrm flipV="1">
            <a:off x="4203217" y="2499360"/>
            <a:ext cx="2590800" cy="259080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56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CD784-ADA8-4F51-B909-C40FDAB4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Pass of an assembler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1AC3D4-E639-4462-8E73-41614B616A12}"/>
              </a:ext>
            </a:extLst>
          </p:cNvPr>
          <p:cNvSpPr/>
          <p:nvPr/>
        </p:nvSpPr>
        <p:spPr>
          <a:xfrm>
            <a:off x="4281413" y="1484147"/>
            <a:ext cx="1448430" cy="440826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LC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←</a:t>
            </a:r>
            <a:r>
              <a:rPr lang="en-US" dirty="0"/>
              <a:t>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77164-CF25-4432-A348-3DE9EF25C85C}"/>
              </a:ext>
            </a:extLst>
          </p:cNvPr>
          <p:cNvSpPr/>
          <p:nvPr/>
        </p:nvSpPr>
        <p:spPr>
          <a:xfrm>
            <a:off x="3594653" y="2444834"/>
            <a:ext cx="2822580" cy="440826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Scan next line of code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18EAF321-3FDF-4FEE-A3C6-801BA7ADB229}"/>
              </a:ext>
            </a:extLst>
          </p:cNvPr>
          <p:cNvSpPr/>
          <p:nvPr/>
        </p:nvSpPr>
        <p:spPr>
          <a:xfrm>
            <a:off x="4261892" y="3232420"/>
            <a:ext cx="1484922" cy="520456"/>
          </a:xfrm>
          <a:prstGeom prst="flowChartDecision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Label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5FEDBD-8CB0-490C-AAE4-6E3E3DF45CC4}"/>
              </a:ext>
            </a:extLst>
          </p:cNvPr>
          <p:cNvSpPr/>
          <p:nvPr/>
        </p:nvSpPr>
        <p:spPr>
          <a:xfrm>
            <a:off x="4040423" y="4184490"/>
            <a:ext cx="1927860" cy="1257730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 address in symbol table together with value of LC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2020F-A376-4762-9972-33CBCD42C486}"/>
              </a:ext>
            </a:extLst>
          </p:cNvPr>
          <p:cNvSpPr/>
          <p:nvPr/>
        </p:nvSpPr>
        <p:spPr>
          <a:xfrm>
            <a:off x="3839588" y="5873834"/>
            <a:ext cx="2332711" cy="440826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Increment LC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B3FA3-0D98-4F5C-A156-DC995BF3AAF7}"/>
              </a:ext>
            </a:extLst>
          </p:cNvPr>
          <p:cNvSpPr/>
          <p:nvPr/>
        </p:nvSpPr>
        <p:spPr>
          <a:xfrm>
            <a:off x="7023653" y="2449596"/>
            <a:ext cx="1316755" cy="440826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LC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9C10E825-377F-4297-90E3-F4B156EC212E}"/>
              </a:ext>
            </a:extLst>
          </p:cNvPr>
          <p:cNvSpPr/>
          <p:nvPr/>
        </p:nvSpPr>
        <p:spPr>
          <a:xfrm>
            <a:off x="7066517" y="3232420"/>
            <a:ext cx="1227208" cy="520456"/>
          </a:xfrm>
          <a:prstGeom prst="flowChartDecision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ORG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7985DCF8-7618-4F92-9AE9-DDFC54FEDFB5}"/>
              </a:ext>
            </a:extLst>
          </p:cNvPr>
          <p:cNvSpPr/>
          <p:nvPr/>
        </p:nvSpPr>
        <p:spPr>
          <a:xfrm>
            <a:off x="8082445" y="4104860"/>
            <a:ext cx="1227208" cy="520456"/>
          </a:xfrm>
          <a:prstGeom prst="flowChartDecision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CAFF46-CE5D-485A-B5A7-13CE2A69FCB1}"/>
              </a:ext>
            </a:extLst>
          </p:cNvPr>
          <p:cNvSpPr/>
          <p:nvPr/>
        </p:nvSpPr>
        <p:spPr>
          <a:xfrm>
            <a:off x="9414392" y="4792284"/>
            <a:ext cx="1088227" cy="859046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second pass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1A8E9C-6991-4F2D-8F79-F0BF451F7B84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5005628" y="1924973"/>
            <a:ext cx="315" cy="519861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4E92D2-D2B4-4348-938F-68CB7E408047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5004353" y="2885660"/>
            <a:ext cx="1590" cy="34676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DB6C0A-EA6A-47C6-8DF4-942DE82CB183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5746814" y="3492648"/>
            <a:ext cx="1319703" cy="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24560F-9FCF-4BCF-A6A1-02292F58F086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004353" y="3752876"/>
            <a:ext cx="0" cy="431614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CBEAFEA-32D9-4162-A21F-15C4E6D622B9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004353" y="5442220"/>
            <a:ext cx="1591" cy="431614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8E32A5-7F67-4AA9-A2B8-CFC36E376907}"/>
              </a:ext>
            </a:extLst>
          </p:cNvPr>
          <p:cNvCxnSpPr>
            <a:stCxn id="10" idx="0"/>
            <a:endCxn id="9" idx="2"/>
          </p:cNvCxnSpPr>
          <p:nvPr/>
        </p:nvCxnSpPr>
        <p:spPr>
          <a:xfrm flipV="1">
            <a:off x="7680121" y="2890422"/>
            <a:ext cx="1910" cy="341998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30">
            <a:extLst>
              <a:ext uri="{FF2B5EF4-FFF2-40B4-BE49-F238E27FC236}">
                <a16:creationId xmlns:a16="http://schemas.microsoft.com/office/drawing/2014/main" id="{CBD14588-5AC4-4224-B692-6C62C232C3B1}"/>
              </a:ext>
            </a:extLst>
          </p:cNvPr>
          <p:cNvCxnSpPr>
            <a:stCxn id="10" idx="3"/>
            <a:endCxn id="11" idx="0"/>
          </p:cNvCxnSpPr>
          <p:nvPr/>
        </p:nvCxnSpPr>
        <p:spPr>
          <a:xfrm>
            <a:off x="8293725" y="3492648"/>
            <a:ext cx="402324" cy="612212"/>
          </a:xfrm>
          <a:prstGeom prst="bentConnector2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32">
            <a:extLst>
              <a:ext uri="{FF2B5EF4-FFF2-40B4-BE49-F238E27FC236}">
                <a16:creationId xmlns:a16="http://schemas.microsoft.com/office/drawing/2014/main" id="{149B9E79-176C-4D1F-8F18-758D70111B9D}"/>
              </a:ext>
            </a:extLst>
          </p:cNvPr>
          <p:cNvCxnSpPr>
            <a:stCxn id="11" idx="3"/>
            <a:endCxn id="12" idx="0"/>
          </p:cNvCxnSpPr>
          <p:nvPr/>
        </p:nvCxnSpPr>
        <p:spPr>
          <a:xfrm>
            <a:off x="9309653" y="4365088"/>
            <a:ext cx="648853" cy="427196"/>
          </a:xfrm>
          <a:prstGeom prst="bentConnector2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34">
            <a:extLst>
              <a:ext uri="{FF2B5EF4-FFF2-40B4-BE49-F238E27FC236}">
                <a16:creationId xmlns:a16="http://schemas.microsoft.com/office/drawing/2014/main" id="{9A456994-D5DE-468C-8158-E3E05E55EDA9}"/>
              </a:ext>
            </a:extLst>
          </p:cNvPr>
          <p:cNvCxnSpPr>
            <a:stCxn id="11" idx="2"/>
            <a:endCxn id="8" idx="3"/>
          </p:cNvCxnSpPr>
          <p:nvPr/>
        </p:nvCxnSpPr>
        <p:spPr>
          <a:xfrm rot="5400000">
            <a:off x="6699709" y="4097906"/>
            <a:ext cx="1468931" cy="2523750"/>
          </a:xfrm>
          <a:prstGeom prst="bentConnector2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36">
            <a:extLst>
              <a:ext uri="{FF2B5EF4-FFF2-40B4-BE49-F238E27FC236}">
                <a16:creationId xmlns:a16="http://schemas.microsoft.com/office/drawing/2014/main" id="{91866976-AF2E-4B41-8F68-46144710C78B}"/>
              </a:ext>
            </a:extLst>
          </p:cNvPr>
          <p:cNvCxnSpPr>
            <a:stCxn id="8" idx="1"/>
            <a:endCxn id="5" idx="1"/>
          </p:cNvCxnSpPr>
          <p:nvPr/>
        </p:nvCxnSpPr>
        <p:spPr>
          <a:xfrm rot="10800000">
            <a:off x="3594654" y="2665247"/>
            <a:ext cx="244935" cy="3429000"/>
          </a:xfrm>
          <a:prstGeom prst="bentConnector3">
            <a:avLst>
              <a:gd name="adj1" fmla="val 391659"/>
            </a:avLst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B56BC4B-A3A6-462C-96B2-0606F56D14A3}"/>
              </a:ext>
            </a:extLst>
          </p:cNvPr>
          <p:cNvCxnSpPr>
            <a:endCxn id="4" idx="0"/>
          </p:cNvCxnSpPr>
          <p:nvPr/>
        </p:nvCxnSpPr>
        <p:spPr>
          <a:xfrm>
            <a:off x="5004353" y="1133060"/>
            <a:ext cx="1275" cy="351087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EFB5E62-0A5C-4650-ABE8-D2D8C90B7BA7}"/>
              </a:ext>
            </a:extLst>
          </p:cNvPr>
          <p:cNvGrpSpPr/>
          <p:nvPr/>
        </p:nvGrpSpPr>
        <p:grpSpPr>
          <a:xfrm>
            <a:off x="6167926" y="2053247"/>
            <a:ext cx="1519200" cy="396349"/>
            <a:chOff x="4243886" y="2063187"/>
            <a:chExt cx="1519200" cy="39634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18BEB87-5C95-4E3D-AF87-7D7A1B2BC7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7716" y="2071718"/>
              <a:ext cx="0" cy="38781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851C96C-8D3B-441D-ABF5-5AE60CF8D4C9}"/>
                </a:ext>
              </a:extLst>
            </p:cNvPr>
            <p:cNvCxnSpPr/>
            <p:nvPr/>
          </p:nvCxnSpPr>
          <p:spPr>
            <a:xfrm flipH="1">
              <a:off x="4243886" y="2063187"/>
              <a:ext cx="15192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5E85F67-1D83-4437-94E2-691E7D37BF1F}"/>
                </a:ext>
              </a:extLst>
            </p:cNvPr>
            <p:cNvCxnSpPr/>
            <p:nvPr/>
          </p:nvCxnSpPr>
          <p:spPr>
            <a:xfrm>
              <a:off x="4248259" y="2071718"/>
              <a:ext cx="0" cy="383056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2FF3748-3631-476C-904E-5604415A736C}"/>
              </a:ext>
            </a:extLst>
          </p:cNvPr>
          <p:cNvSpPr txBox="1"/>
          <p:nvPr/>
        </p:nvSpPr>
        <p:spPr>
          <a:xfrm>
            <a:off x="4509053" y="839928"/>
            <a:ext cx="1048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pass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425ACC-BB72-45FF-BA83-6666083C12E4}"/>
              </a:ext>
            </a:extLst>
          </p:cNvPr>
          <p:cNvSpPr txBox="1"/>
          <p:nvPr/>
        </p:nvSpPr>
        <p:spPr>
          <a:xfrm>
            <a:off x="5757131" y="315926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7471A8-89E9-41DE-AEC8-3F00697CC348}"/>
              </a:ext>
            </a:extLst>
          </p:cNvPr>
          <p:cNvSpPr txBox="1"/>
          <p:nvPr/>
        </p:nvSpPr>
        <p:spPr>
          <a:xfrm>
            <a:off x="8195531" y="319046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2A8565-44EB-4FED-8E3F-5BA57D0FBD15}"/>
              </a:ext>
            </a:extLst>
          </p:cNvPr>
          <p:cNvSpPr txBox="1"/>
          <p:nvPr/>
        </p:nvSpPr>
        <p:spPr>
          <a:xfrm>
            <a:off x="8300005" y="464992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85F4C5-AC2A-4500-AE12-F2DDE09278B2}"/>
              </a:ext>
            </a:extLst>
          </p:cNvPr>
          <p:cNvSpPr txBox="1"/>
          <p:nvPr/>
        </p:nvSpPr>
        <p:spPr>
          <a:xfrm>
            <a:off x="5004353" y="3715603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392C89-FA18-4123-84A4-D4872BC210A4}"/>
              </a:ext>
            </a:extLst>
          </p:cNvPr>
          <p:cNvSpPr txBox="1"/>
          <p:nvPr/>
        </p:nvSpPr>
        <p:spPr>
          <a:xfrm>
            <a:off x="7217328" y="2862716"/>
            <a:ext cx="491225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6CB2A6-1ABC-417F-8F81-67D682FAA9DE}"/>
              </a:ext>
            </a:extLst>
          </p:cNvPr>
          <p:cNvSpPr txBox="1"/>
          <p:nvPr/>
        </p:nvSpPr>
        <p:spPr>
          <a:xfrm>
            <a:off x="9295365" y="3981036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80594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123145DC-988A-4356-853F-9F063E124C24}"/>
              </a:ext>
            </a:extLst>
          </p:cNvPr>
          <p:cNvSpPr/>
          <p:nvPr/>
        </p:nvSpPr>
        <p:spPr>
          <a:xfrm>
            <a:off x="5477705" y="433469"/>
            <a:ext cx="1086323" cy="330620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LC ← 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898F6FF-9C08-4554-A7BC-EE01D758B57A}"/>
              </a:ext>
            </a:extLst>
          </p:cNvPr>
          <p:cNvSpPr/>
          <p:nvPr/>
        </p:nvSpPr>
        <p:spPr>
          <a:xfrm>
            <a:off x="4961443" y="1032023"/>
            <a:ext cx="2116935" cy="330620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Scan next line </a:t>
            </a:r>
            <a:r>
              <a:rPr lang="en-US" sz="1350"/>
              <a:t>of code</a:t>
            </a:r>
            <a:endParaRPr lang="en-US" sz="1350" dirty="0"/>
          </a:p>
        </p:txBody>
      </p:sp>
      <p:sp>
        <p:nvSpPr>
          <p:cNvPr id="67" name="Flowchart: Decision 66">
            <a:extLst>
              <a:ext uri="{FF2B5EF4-FFF2-40B4-BE49-F238E27FC236}">
                <a16:creationId xmlns:a16="http://schemas.microsoft.com/office/drawing/2014/main" id="{91693233-0F6F-445D-BBE9-56EDEDD6BF1B}"/>
              </a:ext>
            </a:extLst>
          </p:cNvPr>
          <p:cNvSpPr/>
          <p:nvPr/>
        </p:nvSpPr>
        <p:spPr>
          <a:xfrm>
            <a:off x="5033424" y="1584372"/>
            <a:ext cx="1972972" cy="628650"/>
          </a:xfrm>
          <a:prstGeom prst="flowChartDecision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Pseudo-instruction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2C6FC84-B58D-46BE-A3BC-25AAE7B6F862}"/>
              </a:ext>
            </a:extLst>
          </p:cNvPr>
          <p:cNvSpPr/>
          <p:nvPr/>
        </p:nvSpPr>
        <p:spPr>
          <a:xfrm>
            <a:off x="6685295" y="4077928"/>
            <a:ext cx="1194955" cy="1141390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Store binary equivalent of instruction in location given </a:t>
            </a:r>
            <a:r>
              <a:rPr lang="en-US" sz="1350">
                <a:solidFill>
                  <a:schemeClr val="lt1"/>
                </a:solidFill>
              </a:rPr>
              <a:t>by </a:t>
            </a:r>
            <a:r>
              <a:rPr lang="en-US" sz="1350" dirty="0">
                <a:solidFill>
                  <a:schemeClr val="lt1"/>
                </a:solidFill>
              </a:rPr>
              <a:t>LC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23FDF0E-2780-4356-9982-24570F6C04F4}"/>
              </a:ext>
            </a:extLst>
          </p:cNvPr>
          <p:cNvSpPr/>
          <p:nvPr/>
        </p:nvSpPr>
        <p:spPr>
          <a:xfrm>
            <a:off x="7125632" y="6235856"/>
            <a:ext cx="1749533" cy="330620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Increment LC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3FFC3B6-F4E5-4867-AD12-F07D82E451CC}"/>
              </a:ext>
            </a:extLst>
          </p:cNvPr>
          <p:cNvSpPr/>
          <p:nvPr/>
        </p:nvSpPr>
        <p:spPr>
          <a:xfrm>
            <a:off x="7397226" y="1075260"/>
            <a:ext cx="987566" cy="330620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Set LC</a:t>
            </a:r>
          </a:p>
        </p:txBody>
      </p:sp>
      <p:sp>
        <p:nvSpPr>
          <p:cNvPr id="71" name="Flowchart: Decision 70">
            <a:extLst>
              <a:ext uri="{FF2B5EF4-FFF2-40B4-BE49-F238E27FC236}">
                <a16:creationId xmlns:a16="http://schemas.microsoft.com/office/drawing/2014/main" id="{28449F15-EBE7-4376-B84A-DC69B81F419F}"/>
              </a:ext>
            </a:extLst>
          </p:cNvPr>
          <p:cNvSpPr/>
          <p:nvPr/>
        </p:nvSpPr>
        <p:spPr>
          <a:xfrm>
            <a:off x="7383353" y="1707082"/>
            <a:ext cx="1012447" cy="390342"/>
          </a:xfrm>
          <a:prstGeom prst="flowChartDecision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ORG</a:t>
            </a:r>
          </a:p>
        </p:txBody>
      </p:sp>
      <p:sp>
        <p:nvSpPr>
          <p:cNvPr id="72" name="Flowchart: Decision 71">
            <a:extLst>
              <a:ext uri="{FF2B5EF4-FFF2-40B4-BE49-F238E27FC236}">
                <a16:creationId xmlns:a16="http://schemas.microsoft.com/office/drawing/2014/main" id="{66B5596F-091B-4FDA-8E37-B579F6683422}"/>
              </a:ext>
            </a:extLst>
          </p:cNvPr>
          <p:cNvSpPr/>
          <p:nvPr/>
        </p:nvSpPr>
        <p:spPr>
          <a:xfrm>
            <a:off x="8705992" y="1698919"/>
            <a:ext cx="1012447" cy="390342"/>
          </a:xfrm>
          <a:prstGeom prst="flowChartDecision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END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8163886-F270-4724-A871-BF4B790D3BBE}"/>
              </a:ext>
            </a:extLst>
          </p:cNvPr>
          <p:cNvCxnSpPr>
            <a:stCxn id="65" idx="2"/>
            <a:endCxn id="66" idx="0"/>
          </p:cNvCxnSpPr>
          <p:nvPr/>
        </p:nvCxnSpPr>
        <p:spPr>
          <a:xfrm flipH="1">
            <a:off x="6019911" y="764089"/>
            <a:ext cx="956" cy="267935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0E3500E-091B-4E26-9FC8-CB3D6945C044}"/>
              </a:ext>
            </a:extLst>
          </p:cNvPr>
          <p:cNvCxnSpPr>
            <a:stCxn id="66" idx="2"/>
            <a:endCxn id="67" idx="0"/>
          </p:cNvCxnSpPr>
          <p:nvPr/>
        </p:nvCxnSpPr>
        <p:spPr>
          <a:xfrm flipH="1">
            <a:off x="6019910" y="1362643"/>
            <a:ext cx="1" cy="221729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B247E07-D353-491E-B6FD-2A52E96A42C8}"/>
              </a:ext>
            </a:extLst>
          </p:cNvPr>
          <p:cNvCxnSpPr>
            <a:stCxn id="67" idx="3"/>
            <a:endCxn id="71" idx="1"/>
          </p:cNvCxnSpPr>
          <p:nvPr/>
        </p:nvCxnSpPr>
        <p:spPr>
          <a:xfrm>
            <a:off x="7006396" y="1898697"/>
            <a:ext cx="376957" cy="3556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9388CC3-BA5E-4D1F-BCD9-C7A53ABE9053}"/>
              </a:ext>
            </a:extLst>
          </p:cNvPr>
          <p:cNvCxnSpPr>
            <a:stCxn id="67" idx="2"/>
            <a:endCxn id="98" idx="0"/>
          </p:cNvCxnSpPr>
          <p:nvPr/>
        </p:nvCxnSpPr>
        <p:spPr>
          <a:xfrm flipH="1">
            <a:off x="6016292" y="2213022"/>
            <a:ext cx="3618" cy="274653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BE29D93-972F-4575-BE4D-543CF1FA78C1}"/>
              </a:ext>
            </a:extLst>
          </p:cNvPr>
          <p:cNvCxnSpPr>
            <a:stCxn id="100" idx="2"/>
            <a:endCxn id="68" idx="0"/>
          </p:cNvCxnSpPr>
          <p:nvPr/>
        </p:nvCxnSpPr>
        <p:spPr>
          <a:xfrm>
            <a:off x="7278257" y="3850825"/>
            <a:ext cx="4516" cy="227103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E3B2EB4-1D7D-45D8-BBEF-D8E118A77F72}"/>
              </a:ext>
            </a:extLst>
          </p:cNvPr>
          <p:cNvCxnSpPr>
            <a:stCxn id="71" idx="0"/>
            <a:endCxn id="70" idx="2"/>
          </p:cNvCxnSpPr>
          <p:nvPr/>
        </p:nvCxnSpPr>
        <p:spPr>
          <a:xfrm flipV="1">
            <a:off x="7889577" y="1405880"/>
            <a:ext cx="1432" cy="301202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79" name="Elbow Connector 19">
            <a:extLst>
              <a:ext uri="{FF2B5EF4-FFF2-40B4-BE49-F238E27FC236}">
                <a16:creationId xmlns:a16="http://schemas.microsoft.com/office/drawing/2014/main" id="{3941E69D-7F17-4B46-A2B8-ADB5A46B21FE}"/>
              </a:ext>
            </a:extLst>
          </p:cNvPr>
          <p:cNvCxnSpPr>
            <a:cxnSpLocks/>
            <a:stCxn id="72" idx="0"/>
            <a:endCxn id="94" idx="2"/>
          </p:cNvCxnSpPr>
          <p:nvPr/>
        </p:nvCxnSpPr>
        <p:spPr>
          <a:xfrm rot="5400000" flipH="1" flipV="1">
            <a:off x="9064959" y="1551662"/>
            <a:ext cx="307214" cy="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80" name="Elbow Connector 20">
            <a:extLst>
              <a:ext uri="{FF2B5EF4-FFF2-40B4-BE49-F238E27FC236}">
                <a16:creationId xmlns:a16="http://schemas.microsoft.com/office/drawing/2014/main" id="{54874AFF-713D-49AC-8867-2E4C44A6D755}"/>
              </a:ext>
            </a:extLst>
          </p:cNvPr>
          <p:cNvCxnSpPr>
            <a:stCxn id="96" idx="2"/>
            <a:endCxn id="69" idx="3"/>
          </p:cNvCxnSpPr>
          <p:nvPr/>
        </p:nvCxnSpPr>
        <p:spPr>
          <a:xfrm rot="5400000">
            <a:off x="7716597" y="4906882"/>
            <a:ext cx="2652852" cy="335716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81" name="Elbow Connector 21">
            <a:extLst>
              <a:ext uri="{FF2B5EF4-FFF2-40B4-BE49-F238E27FC236}">
                <a16:creationId xmlns:a16="http://schemas.microsoft.com/office/drawing/2014/main" id="{68C7BC37-8D36-494F-AA3E-CC74E69B74D5}"/>
              </a:ext>
            </a:extLst>
          </p:cNvPr>
          <p:cNvCxnSpPr>
            <a:stCxn id="69" idx="2"/>
            <a:endCxn id="66" idx="1"/>
          </p:cNvCxnSpPr>
          <p:nvPr/>
        </p:nvCxnSpPr>
        <p:spPr>
          <a:xfrm rot="5400000" flipH="1">
            <a:off x="3796349" y="2362428"/>
            <a:ext cx="5369143" cy="3038956"/>
          </a:xfrm>
          <a:prstGeom prst="bentConnector4">
            <a:avLst>
              <a:gd name="adj1" fmla="val -4470"/>
              <a:gd name="adj2" fmla="val 114217"/>
            </a:avLst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7B94CD8-C2D6-4153-BFC6-ABBF1B3EAD74}"/>
              </a:ext>
            </a:extLst>
          </p:cNvPr>
          <p:cNvCxnSpPr>
            <a:endCxn id="65" idx="0"/>
          </p:cNvCxnSpPr>
          <p:nvPr/>
        </p:nvCxnSpPr>
        <p:spPr>
          <a:xfrm>
            <a:off x="6019911" y="170155"/>
            <a:ext cx="956" cy="263315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E9C4E98-2A44-498E-80F5-74BF8BA665D9}"/>
              </a:ext>
            </a:extLst>
          </p:cNvPr>
          <p:cNvGrpSpPr/>
          <p:nvPr/>
        </p:nvGrpSpPr>
        <p:grpSpPr>
          <a:xfrm>
            <a:off x="6750673" y="737947"/>
            <a:ext cx="1126800" cy="324001"/>
            <a:chOff x="4243327" y="2064643"/>
            <a:chExt cx="1502399" cy="432000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4E19BBD-5FF9-418E-A0BB-05E6937735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39917" y="2064643"/>
              <a:ext cx="1911" cy="432000"/>
            </a:xfrm>
            <a:prstGeom prst="line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E299565-F876-4E2F-B26C-7CBF9132D45A}"/>
                </a:ext>
              </a:extLst>
            </p:cNvPr>
            <p:cNvCxnSpPr/>
            <p:nvPr/>
          </p:nvCxnSpPr>
          <p:spPr>
            <a:xfrm flipH="1">
              <a:off x="4243327" y="2065867"/>
              <a:ext cx="1502399" cy="0"/>
            </a:xfrm>
            <a:prstGeom prst="line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B487F4F0-6381-43EE-A35D-CE4517474F12}"/>
                </a:ext>
              </a:extLst>
            </p:cNvPr>
            <p:cNvCxnSpPr/>
            <p:nvPr/>
          </p:nvCxnSpPr>
          <p:spPr>
            <a:xfrm>
              <a:off x="4254046" y="2071718"/>
              <a:ext cx="0" cy="38305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stealth" w="lg" len="lg"/>
            </a:ln>
            <a:effectLst/>
          </p:spPr>
        </p:cxn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A4BA2598-A241-4394-8483-C3775C401916}"/>
              </a:ext>
            </a:extLst>
          </p:cNvPr>
          <p:cNvSpPr txBox="1"/>
          <p:nvPr/>
        </p:nvSpPr>
        <p:spPr>
          <a:xfrm>
            <a:off x="5497559" y="-49695"/>
            <a:ext cx="10470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Second pass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A1BC3A6-B99E-47F5-9924-FD1875DE5A55}"/>
              </a:ext>
            </a:extLst>
          </p:cNvPr>
          <p:cNvSpPr txBox="1"/>
          <p:nvPr/>
        </p:nvSpPr>
        <p:spPr>
          <a:xfrm>
            <a:off x="6959289" y="1656761"/>
            <a:ext cx="4235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Yes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3C9BA3-1883-47BF-ACE5-EC1A0860C053}"/>
              </a:ext>
            </a:extLst>
          </p:cNvPr>
          <p:cNvSpPr txBox="1"/>
          <p:nvPr/>
        </p:nvSpPr>
        <p:spPr>
          <a:xfrm>
            <a:off x="8289850" y="1636681"/>
            <a:ext cx="3882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No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2295005-A981-4A5D-8203-6D0295DE1047}"/>
              </a:ext>
            </a:extLst>
          </p:cNvPr>
          <p:cNvSpPr txBox="1"/>
          <p:nvPr/>
        </p:nvSpPr>
        <p:spPr>
          <a:xfrm>
            <a:off x="9227396" y="2029946"/>
            <a:ext cx="3882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No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2361527-2958-48B8-B2ED-FD4BCD5238F5}"/>
              </a:ext>
            </a:extLst>
          </p:cNvPr>
          <p:cNvSpPr txBox="1"/>
          <p:nvPr/>
        </p:nvSpPr>
        <p:spPr>
          <a:xfrm>
            <a:off x="5997028" y="2154402"/>
            <a:ext cx="4134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No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7B782BB-8213-4C2C-81CF-A83C02011E82}"/>
              </a:ext>
            </a:extLst>
          </p:cNvPr>
          <p:cNvSpPr txBox="1"/>
          <p:nvPr/>
        </p:nvSpPr>
        <p:spPr>
          <a:xfrm>
            <a:off x="7434550" y="1380671"/>
            <a:ext cx="423514" cy="30008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Yes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9936555-BC16-4906-8A1A-2CB454DFD220}"/>
              </a:ext>
            </a:extLst>
          </p:cNvPr>
          <p:cNvSpPr txBox="1"/>
          <p:nvPr/>
        </p:nvSpPr>
        <p:spPr>
          <a:xfrm>
            <a:off x="9223300" y="1439348"/>
            <a:ext cx="4235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Yes</a:t>
            </a:r>
          </a:p>
        </p:txBody>
      </p:sp>
      <p:sp>
        <p:nvSpPr>
          <p:cNvPr id="94" name="Flowchart: Terminator 93">
            <a:extLst>
              <a:ext uri="{FF2B5EF4-FFF2-40B4-BE49-F238E27FC236}">
                <a16:creationId xmlns:a16="http://schemas.microsoft.com/office/drawing/2014/main" id="{CD7ACABB-C4F9-4807-83D0-1D0C1D82C171}"/>
              </a:ext>
            </a:extLst>
          </p:cNvPr>
          <p:cNvSpPr/>
          <p:nvPr/>
        </p:nvSpPr>
        <p:spPr>
          <a:xfrm>
            <a:off x="8827162" y="1055020"/>
            <a:ext cx="770108" cy="336685"/>
          </a:xfrm>
          <a:prstGeom prst="flowChartTerminator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Done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F55CE7F-B556-44EB-A55C-8BBB451C614F}"/>
              </a:ext>
            </a:extLst>
          </p:cNvPr>
          <p:cNvCxnSpPr>
            <a:cxnSpLocks/>
          </p:cNvCxnSpPr>
          <p:nvPr/>
        </p:nvCxnSpPr>
        <p:spPr>
          <a:xfrm>
            <a:off x="8393126" y="1889988"/>
            <a:ext cx="324000" cy="1997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BFB88EB5-5978-4CFC-B1FE-B9B6F3CE081E}"/>
              </a:ext>
            </a:extLst>
          </p:cNvPr>
          <p:cNvSpPr/>
          <p:nvPr/>
        </p:nvSpPr>
        <p:spPr>
          <a:xfrm>
            <a:off x="8667719" y="2367232"/>
            <a:ext cx="1086323" cy="1381082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Convert operand to binary and store in location given by LC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B9C8DFB-0250-470C-A485-CFC677D12BF8}"/>
              </a:ext>
            </a:extLst>
          </p:cNvPr>
          <p:cNvCxnSpPr>
            <a:stCxn id="72" idx="2"/>
            <a:endCxn id="96" idx="0"/>
          </p:cNvCxnSpPr>
          <p:nvPr/>
        </p:nvCxnSpPr>
        <p:spPr>
          <a:xfrm flipH="1">
            <a:off x="9210881" y="2089261"/>
            <a:ext cx="1335" cy="277971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sp>
        <p:nvSpPr>
          <p:cNvPr id="98" name="Flowchart: Decision 97">
            <a:extLst>
              <a:ext uri="{FF2B5EF4-FFF2-40B4-BE49-F238E27FC236}">
                <a16:creationId xmlns:a16="http://schemas.microsoft.com/office/drawing/2014/main" id="{E74DBAF9-1508-4B29-B6B6-A66139D86320}"/>
              </a:ext>
            </a:extLst>
          </p:cNvPr>
          <p:cNvSpPr/>
          <p:nvPr/>
        </p:nvSpPr>
        <p:spPr>
          <a:xfrm>
            <a:off x="5510068" y="2487675"/>
            <a:ext cx="1012447" cy="390342"/>
          </a:xfrm>
          <a:prstGeom prst="flowChartDecision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/>
              <a:t>MRI</a:t>
            </a:r>
            <a:endParaRPr lang="en-US" sz="135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F02689A-8EFD-4AAB-A278-8655001B22BC}"/>
              </a:ext>
            </a:extLst>
          </p:cNvPr>
          <p:cNvSpPr txBox="1"/>
          <p:nvPr/>
        </p:nvSpPr>
        <p:spPr>
          <a:xfrm>
            <a:off x="6473117" y="2415805"/>
            <a:ext cx="3882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No</a:t>
            </a:r>
          </a:p>
        </p:txBody>
      </p:sp>
      <p:sp>
        <p:nvSpPr>
          <p:cNvPr id="100" name="Flowchart: Decision 99">
            <a:extLst>
              <a:ext uri="{FF2B5EF4-FFF2-40B4-BE49-F238E27FC236}">
                <a16:creationId xmlns:a16="http://schemas.microsoft.com/office/drawing/2014/main" id="{C28545D2-0B40-4D5F-86B3-4663E1B95095}"/>
              </a:ext>
            </a:extLst>
          </p:cNvPr>
          <p:cNvSpPr/>
          <p:nvPr/>
        </p:nvSpPr>
        <p:spPr>
          <a:xfrm>
            <a:off x="6278445" y="2853838"/>
            <a:ext cx="1999624" cy="996987"/>
          </a:xfrm>
          <a:prstGeom prst="flowChartDecision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Valid non-MRI instruction</a:t>
            </a:r>
          </a:p>
        </p:txBody>
      </p:sp>
      <p:cxnSp>
        <p:nvCxnSpPr>
          <p:cNvPr id="101" name="Elbow Connector 51">
            <a:extLst>
              <a:ext uri="{FF2B5EF4-FFF2-40B4-BE49-F238E27FC236}">
                <a16:creationId xmlns:a16="http://schemas.microsoft.com/office/drawing/2014/main" id="{C79282BE-2548-4FC2-860A-EC96ACCC9C11}"/>
              </a:ext>
            </a:extLst>
          </p:cNvPr>
          <p:cNvCxnSpPr>
            <a:stCxn id="98" idx="3"/>
            <a:endCxn id="100" idx="0"/>
          </p:cNvCxnSpPr>
          <p:nvPr/>
        </p:nvCxnSpPr>
        <p:spPr>
          <a:xfrm>
            <a:off x="6522515" y="2682846"/>
            <a:ext cx="755742" cy="170992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CD19E1E-9583-49D8-BECD-9784B70FE566}"/>
              </a:ext>
            </a:extLst>
          </p:cNvPr>
          <p:cNvSpPr/>
          <p:nvPr/>
        </p:nvSpPr>
        <p:spPr>
          <a:xfrm>
            <a:off x="4878365" y="2971406"/>
            <a:ext cx="1194955" cy="708713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Get operation code and set bits 2-4</a:t>
            </a:r>
          </a:p>
        </p:txBody>
      </p:sp>
      <p:cxnSp>
        <p:nvCxnSpPr>
          <p:cNvPr id="103" name="Elbow Connector 55">
            <a:extLst>
              <a:ext uri="{FF2B5EF4-FFF2-40B4-BE49-F238E27FC236}">
                <a16:creationId xmlns:a16="http://schemas.microsoft.com/office/drawing/2014/main" id="{09967DFA-BE0D-4BB1-8914-7457CC934758}"/>
              </a:ext>
            </a:extLst>
          </p:cNvPr>
          <p:cNvCxnSpPr>
            <a:stCxn id="98" idx="1"/>
            <a:endCxn id="102" idx="0"/>
          </p:cNvCxnSpPr>
          <p:nvPr/>
        </p:nvCxnSpPr>
        <p:spPr>
          <a:xfrm rot="10800000" flipV="1">
            <a:off x="5475844" y="2682846"/>
            <a:ext cx="34225" cy="288560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29FD736-EC7B-4A64-9A62-44FACE0E766F}"/>
              </a:ext>
            </a:extLst>
          </p:cNvPr>
          <p:cNvSpPr/>
          <p:nvPr/>
        </p:nvSpPr>
        <p:spPr>
          <a:xfrm>
            <a:off x="4680663" y="3892715"/>
            <a:ext cx="1590485" cy="1037627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Search address-symbol table for binary equivalent of symbolic address and set bits 5-16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784A04A-9715-460E-AABF-B4B27964C967}"/>
              </a:ext>
            </a:extLst>
          </p:cNvPr>
          <p:cNvCxnSpPr>
            <a:stCxn id="102" idx="2"/>
            <a:endCxn id="104" idx="0"/>
          </p:cNvCxnSpPr>
          <p:nvPr/>
        </p:nvCxnSpPr>
        <p:spPr>
          <a:xfrm>
            <a:off x="5475843" y="3680119"/>
            <a:ext cx="63" cy="212596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sp>
        <p:nvSpPr>
          <p:cNvPr id="106" name="Flowchart: Decision 105">
            <a:extLst>
              <a:ext uri="{FF2B5EF4-FFF2-40B4-BE49-F238E27FC236}">
                <a16:creationId xmlns:a16="http://schemas.microsoft.com/office/drawing/2014/main" id="{38C1A8C4-7546-47D2-90C1-7B36FBD924DF}"/>
              </a:ext>
            </a:extLst>
          </p:cNvPr>
          <p:cNvSpPr/>
          <p:nvPr/>
        </p:nvSpPr>
        <p:spPr>
          <a:xfrm>
            <a:off x="5257535" y="5116030"/>
            <a:ext cx="429377" cy="354857"/>
          </a:xfrm>
          <a:prstGeom prst="flowChartDecision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I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78576B3-1AF1-429E-AE1C-55C59BDCEE9A}"/>
              </a:ext>
            </a:extLst>
          </p:cNvPr>
          <p:cNvCxnSpPr>
            <a:stCxn id="104" idx="2"/>
            <a:endCxn id="106" idx="0"/>
          </p:cNvCxnSpPr>
          <p:nvPr/>
        </p:nvCxnSpPr>
        <p:spPr>
          <a:xfrm flipH="1">
            <a:off x="5472224" y="4930342"/>
            <a:ext cx="3682" cy="185688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CB3E9AC-9133-4BA3-8250-352DB5BA1747}"/>
              </a:ext>
            </a:extLst>
          </p:cNvPr>
          <p:cNvSpPr/>
          <p:nvPr/>
        </p:nvSpPr>
        <p:spPr>
          <a:xfrm>
            <a:off x="4688969" y="5510212"/>
            <a:ext cx="741973" cy="440055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Set first bit to 1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9A907BF-882E-4AFD-8098-925FC8F6DEA4}"/>
              </a:ext>
            </a:extLst>
          </p:cNvPr>
          <p:cNvSpPr/>
          <p:nvPr/>
        </p:nvSpPr>
        <p:spPr>
          <a:xfrm>
            <a:off x="5585081" y="5514784"/>
            <a:ext cx="741973" cy="440055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Set first bit to 0</a:t>
            </a:r>
          </a:p>
        </p:txBody>
      </p:sp>
      <p:cxnSp>
        <p:nvCxnSpPr>
          <p:cNvPr id="110" name="Elbow Connector 78">
            <a:extLst>
              <a:ext uri="{FF2B5EF4-FFF2-40B4-BE49-F238E27FC236}">
                <a16:creationId xmlns:a16="http://schemas.microsoft.com/office/drawing/2014/main" id="{4354BAD2-7862-4D0B-83A0-10591A885FCA}"/>
              </a:ext>
            </a:extLst>
          </p:cNvPr>
          <p:cNvCxnSpPr>
            <a:stCxn id="106" idx="1"/>
            <a:endCxn id="108" idx="0"/>
          </p:cNvCxnSpPr>
          <p:nvPr/>
        </p:nvCxnSpPr>
        <p:spPr>
          <a:xfrm rot="10800000" flipV="1">
            <a:off x="5059957" y="5293458"/>
            <a:ext cx="197579" cy="216753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111" name="Elbow Connector 81">
            <a:extLst>
              <a:ext uri="{FF2B5EF4-FFF2-40B4-BE49-F238E27FC236}">
                <a16:creationId xmlns:a16="http://schemas.microsoft.com/office/drawing/2014/main" id="{CA729DF6-13BE-48D1-9282-045D05FD0537}"/>
              </a:ext>
            </a:extLst>
          </p:cNvPr>
          <p:cNvCxnSpPr>
            <a:stCxn id="106" idx="3"/>
            <a:endCxn id="109" idx="0"/>
          </p:cNvCxnSpPr>
          <p:nvPr/>
        </p:nvCxnSpPr>
        <p:spPr>
          <a:xfrm>
            <a:off x="5686912" y="5293459"/>
            <a:ext cx="269156" cy="221325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B7C76994-089F-45CF-B6F4-26E6E14E49C1}"/>
              </a:ext>
            </a:extLst>
          </p:cNvPr>
          <p:cNvSpPr txBox="1"/>
          <p:nvPr/>
        </p:nvSpPr>
        <p:spPr>
          <a:xfrm>
            <a:off x="4874396" y="5054772"/>
            <a:ext cx="4235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Yes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BA886CB-7CC6-4594-9CC3-2D612E4DD5D9}"/>
              </a:ext>
            </a:extLst>
          </p:cNvPr>
          <p:cNvSpPr txBox="1"/>
          <p:nvPr/>
        </p:nvSpPr>
        <p:spPr>
          <a:xfrm>
            <a:off x="5633348" y="5031912"/>
            <a:ext cx="3882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>
                <a:solidFill>
                  <a:prstClr val="black"/>
                </a:solidFill>
              </a:rPr>
              <a:t>No</a:t>
            </a:r>
            <a:endParaRPr lang="en-US" sz="1350" kern="0" dirty="0">
              <a:solidFill>
                <a:prstClr val="black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3CEA65D-67CC-4576-B068-CA6E6369DDE5}"/>
              </a:ext>
            </a:extLst>
          </p:cNvPr>
          <p:cNvSpPr/>
          <p:nvPr/>
        </p:nvSpPr>
        <p:spPr>
          <a:xfrm>
            <a:off x="4641466" y="6082777"/>
            <a:ext cx="2116935" cy="644285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Assemble all parts of binary instruction and store in location given by LC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8AAEE923-B8A0-4B59-A310-3F5BCBA24164}"/>
              </a:ext>
            </a:extLst>
          </p:cNvPr>
          <p:cNvCxnSpPr>
            <a:stCxn id="108" idx="2"/>
          </p:cNvCxnSpPr>
          <p:nvPr/>
        </p:nvCxnSpPr>
        <p:spPr>
          <a:xfrm>
            <a:off x="5059956" y="5950267"/>
            <a:ext cx="0" cy="149054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EC3B37C-B3EB-4796-8513-9BB9D6BB7C45}"/>
              </a:ext>
            </a:extLst>
          </p:cNvPr>
          <p:cNvCxnSpPr>
            <a:stCxn id="109" idx="2"/>
          </p:cNvCxnSpPr>
          <p:nvPr/>
        </p:nvCxnSpPr>
        <p:spPr>
          <a:xfrm>
            <a:off x="5956068" y="5954839"/>
            <a:ext cx="12407" cy="147485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8B1C6F43-0833-4678-965E-6DB324B9CA0A}"/>
              </a:ext>
            </a:extLst>
          </p:cNvPr>
          <p:cNvCxnSpPr>
            <a:stCxn id="114" idx="3"/>
            <a:endCxn id="69" idx="1"/>
          </p:cNvCxnSpPr>
          <p:nvPr/>
        </p:nvCxnSpPr>
        <p:spPr>
          <a:xfrm flipV="1">
            <a:off x="6758401" y="6401166"/>
            <a:ext cx="367230" cy="3754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48D44133-2800-480B-9D94-D0EC25E27802}"/>
              </a:ext>
            </a:extLst>
          </p:cNvPr>
          <p:cNvSpPr txBox="1"/>
          <p:nvPr/>
        </p:nvSpPr>
        <p:spPr>
          <a:xfrm>
            <a:off x="7253504" y="3768634"/>
            <a:ext cx="4235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Yes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88AC2D1-8939-4923-BEBF-F01CA37B1DD3}"/>
              </a:ext>
            </a:extLst>
          </p:cNvPr>
          <p:cNvSpPr/>
          <p:nvPr/>
        </p:nvSpPr>
        <p:spPr>
          <a:xfrm>
            <a:off x="8034875" y="4086789"/>
            <a:ext cx="741973" cy="644285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lt1"/>
                </a:solidFill>
              </a:rPr>
              <a:t>Error in line of code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87277F9-30D3-4DA0-9DC0-0E5CFE09CE67}"/>
              </a:ext>
            </a:extLst>
          </p:cNvPr>
          <p:cNvSpPr txBox="1"/>
          <p:nvPr/>
        </p:nvSpPr>
        <p:spPr>
          <a:xfrm>
            <a:off x="8163797" y="3085003"/>
            <a:ext cx="3882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No</a:t>
            </a:r>
          </a:p>
        </p:txBody>
      </p:sp>
      <p:cxnSp>
        <p:nvCxnSpPr>
          <p:cNvPr id="121" name="Elbow Connector 116">
            <a:extLst>
              <a:ext uri="{FF2B5EF4-FFF2-40B4-BE49-F238E27FC236}">
                <a16:creationId xmlns:a16="http://schemas.microsoft.com/office/drawing/2014/main" id="{BDC7E6B9-4623-4090-9B74-660734425CCE}"/>
              </a:ext>
            </a:extLst>
          </p:cNvPr>
          <p:cNvCxnSpPr>
            <a:cxnSpLocks/>
          </p:cNvCxnSpPr>
          <p:nvPr/>
        </p:nvCxnSpPr>
        <p:spPr>
          <a:xfrm>
            <a:off x="8285921" y="3347948"/>
            <a:ext cx="144000" cy="734457"/>
          </a:xfrm>
          <a:prstGeom prst="bentConnector2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EA32D02-FA4F-4FDC-8BC2-8474919A6B84}"/>
              </a:ext>
            </a:extLst>
          </p:cNvPr>
          <p:cNvCxnSpPr>
            <a:stCxn id="68" idx="2"/>
          </p:cNvCxnSpPr>
          <p:nvPr/>
        </p:nvCxnSpPr>
        <p:spPr>
          <a:xfrm flipH="1">
            <a:off x="7278258" y="5219318"/>
            <a:ext cx="4515" cy="1016538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6D4ECBF-5E27-4D64-994F-04F673217197}"/>
              </a:ext>
            </a:extLst>
          </p:cNvPr>
          <p:cNvCxnSpPr>
            <a:cxnSpLocks/>
          </p:cNvCxnSpPr>
          <p:nvPr/>
        </p:nvCxnSpPr>
        <p:spPr>
          <a:xfrm>
            <a:off x="8438322" y="4731074"/>
            <a:ext cx="0" cy="1504782"/>
          </a:xfrm>
          <a:prstGeom prst="straightConnector1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lg" len="lg"/>
          </a:ln>
          <a:effectLst/>
        </p:spPr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5AE0DCD0-5866-4B8C-8E3F-343CABB55745}"/>
              </a:ext>
            </a:extLst>
          </p:cNvPr>
          <p:cNvSpPr txBox="1"/>
          <p:nvPr/>
        </p:nvSpPr>
        <p:spPr>
          <a:xfrm>
            <a:off x="5085663" y="2598963"/>
            <a:ext cx="4235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Yes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2E8E846-1E8C-4D85-BA8B-5C57A6353EC5}"/>
              </a:ext>
            </a:extLst>
          </p:cNvPr>
          <p:cNvSpPr txBox="1"/>
          <p:nvPr/>
        </p:nvSpPr>
        <p:spPr>
          <a:xfrm>
            <a:off x="7739539" y="2380103"/>
            <a:ext cx="97975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 dirty="0">
                <a:solidFill>
                  <a:prstClr val="black"/>
                </a:solidFill>
              </a:rPr>
              <a:t>DEC or HEX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580F244-4F86-4458-A971-914A64CA3ED6}"/>
              </a:ext>
            </a:extLst>
          </p:cNvPr>
          <p:cNvSpPr/>
          <p:nvPr/>
        </p:nvSpPr>
        <p:spPr>
          <a:xfrm>
            <a:off x="354587" y="391036"/>
            <a:ext cx="28667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Second Pass </a:t>
            </a:r>
          </a:p>
          <a:p>
            <a:pPr algn="ctr"/>
            <a:r>
              <a:rPr lang="en-US" sz="4000" dirty="0"/>
              <a:t>of an assembler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66819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 animBg="1"/>
      <p:bldP spid="96" grpId="0" animBg="1"/>
      <p:bldP spid="98" grpId="0" animBg="1"/>
      <p:bldP spid="99" grpId="0"/>
      <p:bldP spid="100" grpId="0" animBg="1"/>
      <p:bldP spid="102" grpId="0" animBg="1"/>
      <p:bldP spid="104" grpId="0" animBg="1"/>
      <p:bldP spid="106" grpId="0" animBg="1"/>
      <p:bldP spid="108" grpId="0" animBg="1"/>
      <p:bldP spid="109" grpId="0" animBg="1"/>
      <p:bldP spid="112" grpId="0"/>
      <p:bldP spid="113" grpId="0"/>
      <p:bldP spid="114" grpId="0" animBg="1"/>
      <p:bldP spid="118" grpId="0"/>
      <p:bldP spid="119" grpId="0" animBg="1"/>
      <p:bldP spid="120" grpId="0"/>
      <p:bldP spid="124" grpId="0"/>
      <p:bldP spid="1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Program loops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2303595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D35097-CDCE-414D-B66C-C6EF54E5B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Loops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6B2833-F693-4560-800C-D85A4ABE7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790304"/>
          </a:xfrm>
        </p:spPr>
        <p:txBody>
          <a:bodyPr/>
          <a:lstStyle/>
          <a:p>
            <a:pPr algn="just"/>
            <a:r>
              <a:rPr lang="en-US" dirty="0"/>
              <a:t>A </a:t>
            </a:r>
            <a:r>
              <a:rPr lang="en-US" i="1" dirty="0">
                <a:solidFill>
                  <a:schemeClr val="tx2"/>
                </a:solidFill>
              </a:rPr>
              <a:t>program loop</a:t>
            </a:r>
            <a:r>
              <a:rPr lang="en-US" dirty="0"/>
              <a:t> is a sequence of instructions that are executed many times, each time with a different set of data.</a:t>
            </a:r>
          </a:p>
          <a:p>
            <a:pPr algn="just"/>
            <a:r>
              <a:rPr lang="en-US" dirty="0"/>
              <a:t>A system program that translates a program written in a high-level programming language to a machine language program is called a </a:t>
            </a:r>
            <a:r>
              <a:rPr lang="en-US" i="1" dirty="0">
                <a:solidFill>
                  <a:schemeClr val="tx2"/>
                </a:solidFill>
              </a:rPr>
              <a:t>compiler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46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1B2AB-87B6-48E7-AD97-34FE1446C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A.L.P. to add 100 numbers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B6DAB-6F2B-404A-8BC8-ACF92C9DA43B}"/>
              </a:ext>
            </a:extLst>
          </p:cNvPr>
          <p:cNvSpPr txBox="1"/>
          <p:nvPr/>
        </p:nvSpPr>
        <p:spPr>
          <a:xfrm>
            <a:off x="89227" y="89529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038B5-8274-4893-9661-E2C96F2FBE7D}"/>
              </a:ext>
            </a:extLst>
          </p:cNvPr>
          <p:cNvSpPr txBox="1"/>
          <p:nvPr/>
        </p:nvSpPr>
        <p:spPr>
          <a:xfrm>
            <a:off x="1033447" y="895290"/>
            <a:ext cx="1100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ORG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2A1F73-C24E-45AD-AA4E-E174686E8A69}"/>
              </a:ext>
            </a:extLst>
          </p:cNvPr>
          <p:cNvSpPr txBox="1"/>
          <p:nvPr/>
        </p:nvSpPr>
        <p:spPr>
          <a:xfrm>
            <a:off x="2446145" y="895290"/>
            <a:ext cx="32755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/Origin of program is HEX 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6F2C6-3791-45B8-9675-9DA6F80B117F}"/>
              </a:ext>
            </a:extLst>
          </p:cNvPr>
          <p:cNvSpPr txBox="1"/>
          <p:nvPr/>
        </p:nvSpPr>
        <p:spPr>
          <a:xfrm>
            <a:off x="89227" y="125718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669F8-51D3-429D-A104-D391FB90E759}"/>
              </a:ext>
            </a:extLst>
          </p:cNvPr>
          <p:cNvSpPr txBox="1"/>
          <p:nvPr/>
        </p:nvSpPr>
        <p:spPr>
          <a:xfrm>
            <a:off x="1033447" y="1257180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LDA ADS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6D84A-A48E-47B0-BF40-8FE4EC1FCE34}"/>
              </a:ext>
            </a:extLst>
          </p:cNvPr>
          <p:cNvSpPr txBox="1"/>
          <p:nvPr/>
        </p:nvSpPr>
        <p:spPr>
          <a:xfrm>
            <a:off x="2446145" y="1257180"/>
            <a:ext cx="3421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/Load first address of operands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6D8F7-8BA0-4372-8575-C2B818F7E218}"/>
              </a:ext>
            </a:extLst>
          </p:cNvPr>
          <p:cNvSpPr txBox="1"/>
          <p:nvPr/>
        </p:nvSpPr>
        <p:spPr>
          <a:xfrm>
            <a:off x="89227" y="159754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3CF53F-04AA-4180-AA5E-6A4A76A3EFD6}"/>
              </a:ext>
            </a:extLst>
          </p:cNvPr>
          <p:cNvSpPr txBox="1"/>
          <p:nvPr/>
        </p:nvSpPr>
        <p:spPr>
          <a:xfrm>
            <a:off x="1033447" y="1597540"/>
            <a:ext cx="10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PTR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61A68-DFC6-4A27-976C-62EEB587344C}"/>
              </a:ext>
            </a:extLst>
          </p:cNvPr>
          <p:cNvSpPr txBox="1"/>
          <p:nvPr/>
        </p:nvSpPr>
        <p:spPr>
          <a:xfrm>
            <a:off x="2446145" y="1597540"/>
            <a:ext cx="1908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/Store in pointer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0AC313-2BFB-41C9-B4B5-BDB1BE8C50A6}"/>
              </a:ext>
            </a:extLst>
          </p:cNvPr>
          <p:cNvSpPr txBox="1"/>
          <p:nvPr/>
        </p:nvSpPr>
        <p:spPr>
          <a:xfrm>
            <a:off x="89227" y="196209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A42AB5-D9C3-429B-9E54-B08EE28DDCC9}"/>
              </a:ext>
            </a:extLst>
          </p:cNvPr>
          <p:cNvSpPr txBox="1"/>
          <p:nvPr/>
        </p:nvSpPr>
        <p:spPr>
          <a:xfrm>
            <a:off x="1033447" y="1951930"/>
            <a:ext cx="1096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LDA NBR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FEEAA5-1EED-4985-BE38-B55F586F6A15}"/>
              </a:ext>
            </a:extLst>
          </p:cNvPr>
          <p:cNvSpPr txBox="1"/>
          <p:nvPr/>
        </p:nvSpPr>
        <p:spPr>
          <a:xfrm>
            <a:off x="2446145" y="1951930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/Load minus 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4F5BA9-422D-465A-B4B3-8D1FFA92614D}"/>
              </a:ext>
            </a:extLst>
          </p:cNvPr>
          <p:cNvSpPr txBox="1"/>
          <p:nvPr/>
        </p:nvSpPr>
        <p:spPr>
          <a:xfrm>
            <a:off x="89227" y="232398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E54ED7-2F0D-40F0-9268-72CFC2D31C4A}"/>
              </a:ext>
            </a:extLst>
          </p:cNvPr>
          <p:cNvSpPr txBox="1"/>
          <p:nvPr/>
        </p:nvSpPr>
        <p:spPr>
          <a:xfrm>
            <a:off x="1033447" y="2323980"/>
            <a:ext cx="1015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CTR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99DB6B-F1F9-4A89-AACD-11FD08EB88E9}"/>
              </a:ext>
            </a:extLst>
          </p:cNvPr>
          <p:cNvSpPr txBox="1"/>
          <p:nvPr/>
        </p:nvSpPr>
        <p:spPr>
          <a:xfrm>
            <a:off x="2446145" y="2323980"/>
            <a:ext cx="1955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/Store in counter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FA093B-E2BB-4FC0-ABC5-A6124183AA38}"/>
              </a:ext>
            </a:extLst>
          </p:cNvPr>
          <p:cNvSpPr txBox="1"/>
          <p:nvPr/>
        </p:nvSpPr>
        <p:spPr>
          <a:xfrm>
            <a:off x="89227" y="266434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5FB00F-7CAC-4466-8145-C13294EE8BAF}"/>
              </a:ext>
            </a:extLst>
          </p:cNvPr>
          <p:cNvSpPr txBox="1"/>
          <p:nvPr/>
        </p:nvSpPr>
        <p:spPr>
          <a:xfrm>
            <a:off x="421874" y="3028890"/>
            <a:ext cx="621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LOP,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85996C-DBFE-4EF8-8DA8-F11C7C55E1AB}"/>
              </a:ext>
            </a:extLst>
          </p:cNvPr>
          <p:cNvSpPr txBox="1"/>
          <p:nvPr/>
        </p:nvSpPr>
        <p:spPr>
          <a:xfrm>
            <a:off x="1033447" y="2664340"/>
            <a:ext cx="577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CLA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442FA0-71B8-4CBC-9828-737EB730CFD0}"/>
              </a:ext>
            </a:extLst>
          </p:cNvPr>
          <p:cNvSpPr txBox="1"/>
          <p:nvPr/>
        </p:nvSpPr>
        <p:spPr>
          <a:xfrm>
            <a:off x="2446145" y="2664340"/>
            <a:ext cx="218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/Clear accumulator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9D9491-15E7-4BCB-A79A-A6297E71EEDC}"/>
              </a:ext>
            </a:extLst>
          </p:cNvPr>
          <p:cNvSpPr txBox="1"/>
          <p:nvPr/>
        </p:nvSpPr>
        <p:spPr>
          <a:xfrm>
            <a:off x="89227" y="302889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B2815-D737-4E43-A6F5-5FFF0F3548EE}"/>
              </a:ext>
            </a:extLst>
          </p:cNvPr>
          <p:cNvSpPr txBox="1"/>
          <p:nvPr/>
        </p:nvSpPr>
        <p:spPr>
          <a:xfrm>
            <a:off x="1033447" y="3028890"/>
            <a:ext cx="1281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 PTR  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11CAAE-3DAD-4C97-8D69-EF813D96E617}"/>
              </a:ext>
            </a:extLst>
          </p:cNvPr>
          <p:cNvSpPr txBox="1"/>
          <p:nvPr/>
        </p:nvSpPr>
        <p:spPr>
          <a:xfrm>
            <a:off x="2446145" y="3028890"/>
            <a:ext cx="2559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/Add an operand to AC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DBF878-F3CD-4DB1-BDF2-41F4747A1D03}"/>
              </a:ext>
            </a:extLst>
          </p:cNvPr>
          <p:cNvSpPr txBox="1"/>
          <p:nvPr/>
        </p:nvSpPr>
        <p:spPr>
          <a:xfrm>
            <a:off x="89227" y="339078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F88A09-B8E8-4FF7-8B17-56700E4CA542}"/>
              </a:ext>
            </a:extLst>
          </p:cNvPr>
          <p:cNvSpPr txBox="1"/>
          <p:nvPr/>
        </p:nvSpPr>
        <p:spPr>
          <a:xfrm>
            <a:off x="1033447" y="3390780"/>
            <a:ext cx="941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ISZ PTR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8CA842-C708-48AC-9F70-756B963AE3B2}"/>
              </a:ext>
            </a:extLst>
          </p:cNvPr>
          <p:cNvSpPr txBox="1"/>
          <p:nvPr/>
        </p:nvSpPr>
        <p:spPr>
          <a:xfrm>
            <a:off x="2446145" y="3390780"/>
            <a:ext cx="2179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/Increment pointer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6FA567-A8AA-4146-AD06-0F796FF7BA7F}"/>
              </a:ext>
            </a:extLst>
          </p:cNvPr>
          <p:cNvSpPr txBox="1"/>
          <p:nvPr/>
        </p:nvSpPr>
        <p:spPr>
          <a:xfrm>
            <a:off x="89227" y="373114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14FED7-B5C7-4AA6-B57C-8917C9280FCD}"/>
              </a:ext>
            </a:extLst>
          </p:cNvPr>
          <p:cNvSpPr txBox="1"/>
          <p:nvPr/>
        </p:nvSpPr>
        <p:spPr>
          <a:xfrm>
            <a:off x="1033447" y="3731140"/>
            <a:ext cx="947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ISZ CTR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322E32-C851-494E-8CFD-E901DF1D5298}"/>
              </a:ext>
            </a:extLst>
          </p:cNvPr>
          <p:cNvSpPr txBox="1"/>
          <p:nvPr/>
        </p:nvSpPr>
        <p:spPr>
          <a:xfrm>
            <a:off x="2446145" y="3731140"/>
            <a:ext cx="2226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/Increment counter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BF4153-F929-470A-A669-992473E4CF42}"/>
              </a:ext>
            </a:extLst>
          </p:cNvPr>
          <p:cNvSpPr txBox="1"/>
          <p:nvPr/>
        </p:nvSpPr>
        <p:spPr>
          <a:xfrm>
            <a:off x="-22075" y="409569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74A2D2-44F2-4860-9AB8-C6792DC02FB2}"/>
              </a:ext>
            </a:extLst>
          </p:cNvPr>
          <p:cNvSpPr txBox="1"/>
          <p:nvPr/>
        </p:nvSpPr>
        <p:spPr>
          <a:xfrm>
            <a:off x="1033447" y="4095690"/>
            <a:ext cx="111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BUN LOP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BBF789-E3C3-4749-B88F-BB0EFFDA5ADD}"/>
              </a:ext>
            </a:extLst>
          </p:cNvPr>
          <p:cNvSpPr txBox="1"/>
          <p:nvPr/>
        </p:nvSpPr>
        <p:spPr>
          <a:xfrm>
            <a:off x="2446145" y="4095690"/>
            <a:ext cx="21527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/Repeat loop again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8CD1AC-BB33-44EA-850C-B2A4675E563D}"/>
              </a:ext>
            </a:extLst>
          </p:cNvPr>
          <p:cNvSpPr txBox="1"/>
          <p:nvPr/>
        </p:nvSpPr>
        <p:spPr>
          <a:xfrm>
            <a:off x="-22075" y="445758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A1B71B-7CAD-4D91-BD6E-DCD17E03473B}"/>
              </a:ext>
            </a:extLst>
          </p:cNvPr>
          <p:cNvSpPr txBox="1"/>
          <p:nvPr/>
        </p:nvSpPr>
        <p:spPr>
          <a:xfrm>
            <a:off x="1033447" y="4457580"/>
            <a:ext cx="1116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SUM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9059AF-6EB1-425F-9386-6DA38B133619}"/>
              </a:ext>
            </a:extLst>
          </p:cNvPr>
          <p:cNvSpPr txBox="1"/>
          <p:nvPr/>
        </p:nvSpPr>
        <p:spPr>
          <a:xfrm>
            <a:off x="2446145" y="4457580"/>
            <a:ext cx="1334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/Store sum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99A1AC-55F3-41A3-BC07-7113F714A614}"/>
              </a:ext>
            </a:extLst>
          </p:cNvPr>
          <p:cNvSpPr txBox="1"/>
          <p:nvPr/>
        </p:nvSpPr>
        <p:spPr>
          <a:xfrm>
            <a:off x="-22075" y="480810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3CDA3A-E4FB-43E5-9173-7E2C5165888B}"/>
              </a:ext>
            </a:extLst>
          </p:cNvPr>
          <p:cNvSpPr txBox="1"/>
          <p:nvPr/>
        </p:nvSpPr>
        <p:spPr>
          <a:xfrm>
            <a:off x="1033447" y="4808100"/>
            <a:ext cx="558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HLT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9C19BC-6A3B-440A-9CFA-3CBE0974DA12}"/>
              </a:ext>
            </a:extLst>
          </p:cNvPr>
          <p:cNvSpPr txBox="1"/>
          <p:nvPr/>
        </p:nvSpPr>
        <p:spPr>
          <a:xfrm>
            <a:off x="2446145" y="4808100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/Halt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89A65A-580D-4421-85AB-A3EA2CE46089}"/>
              </a:ext>
            </a:extLst>
          </p:cNvPr>
          <p:cNvSpPr txBox="1"/>
          <p:nvPr/>
        </p:nvSpPr>
        <p:spPr>
          <a:xfrm>
            <a:off x="6294762" y="868680"/>
            <a:ext cx="673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ADS,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31A39E-FBB1-4CDF-940C-C059E746D2CF}"/>
              </a:ext>
            </a:extLst>
          </p:cNvPr>
          <p:cNvSpPr txBox="1"/>
          <p:nvPr/>
        </p:nvSpPr>
        <p:spPr>
          <a:xfrm>
            <a:off x="5872664" y="86868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C16FF3-183D-454C-A3E8-02044D124613}"/>
              </a:ext>
            </a:extLst>
          </p:cNvPr>
          <p:cNvSpPr txBox="1"/>
          <p:nvPr/>
        </p:nvSpPr>
        <p:spPr>
          <a:xfrm>
            <a:off x="7015664" y="868680"/>
            <a:ext cx="1050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150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F663CE-E5C9-423F-B23A-C1D216C3F7AF}"/>
              </a:ext>
            </a:extLst>
          </p:cNvPr>
          <p:cNvSpPr txBox="1"/>
          <p:nvPr/>
        </p:nvSpPr>
        <p:spPr>
          <a:xfrm>
            <a:off x="8428362" y="868680"/>
            <a:ext cx="29034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/First address of operands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79F367-810C-49B5-A284-10FC5CAE2B81}"/>
              </a:ext>
            </a:extLst>
          </p:cNvPr>
          <p:cNvSpPr txBox="1"/>
          <p:nvPr/>
        </p:nvSpPr>
        <p:spPr>
          <a:xfrm>
            <a:off x="6294762" y="1249680"/>
            <a:ext cx="6451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PTR,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70EB85-333F-4BB2-9253-D782EB80662E}"/>
              </a:ext>
            </a:extLst>
          </p:cNvPr>
          <p:cNvSpPr txBox="1"/>
          <p:nvPr/>
        </p:nvSpPr>
        <p:spPr>
          <a:xfrm>
            <a:off x="5872664" y="124968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E588DC-973C-449D-9B27-0A4B128F87E2}"/>
              </a:ext>
            </a:extLst>
          </p:cNvPr>
          <p:cNvSpPr txBox="1"/>
          <p:nvPr/>
        </p:nvSpPr>
        <p:spPr>
          <a:xfrm>
            <a:off x="7015664" y="1249680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5A8B06-0195-4C7C-B931-A0C534746EBA}"/>
              </a:ext>
            </a:extLst>
          </p:cNvPr>
          <p:cNvSpPr txBox="1"/>
          <p:nvPr/>
        </p:nvSpPr>
        <p:spPr>
          <a:xfrm>
            <a:off x="8428362" y="1249680"/>
            <a:ext cx="3744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/This location reserved for pointer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44BEA6-812E-48F1-86A9-20CF10B5C3A9}"/>
              </a:ext>
            </a:extLst>
          </p:cNvPr>
          <p:cNvSpPr txBox="1"/>
          <p:nvPr/>
        </p:nvSpPr>
        <p:spPr>
          <a:xfrm>
            <a:off x="6294762" y="1630680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NBR,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520FF5-D380-4FD5-835B-5F0DBD6F1817}"/>
              </a:ext>
            </a:extLst>
          </p:cNvPr>
          <p:cNvSpPr txBox="1"/>
          <p:nvPr/>
        </p:nvSpPr>
        <p:spPr>
          <a:xfrm>
            <a:off x="5872664" y="163068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F3F76F-A153-4CE2-96EC-9ECA1B38A9C0}"/>
              </a:ext>
            </a:extLst>
          </p:cNvPr>
          <p:cNvSpPr txBox="1"/>
          <p:nvPr/>
        </p:nvSpPr>
        <p:spPr>
          <a:xfrm>
            <a:off x="7015664" y="1630680"/>
            <a:ext cx="1125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DEC -100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53147B-FC05-46CA-AD88-F9C805B57331}"/>
              </a:ext>
            </a:extLst>
          </p:cNvPr>
          <p:cNvSpPr txBox="1"/>
          <p:nvPr/>
        </p:nvSpPr>
        <p:spPr>
          <a:xfrm>
            <a:off x="8428362" y="1630680"/>
            <a:ext cx="3414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/Constant to initialized counter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C5394D-BCD3-4F8A-879E-FA9A2982A39C}"/>
              </a:ext>
            </a:extLst>
          </p:cNvPr>
          <p:cNvSpPr txBox="1"/>
          <p:nvPr/>
        </p:nvSpPr>
        <p:spPr>
          <a:xfrm>
            <a:off x="6297567" y="1992570"/>
            <a:ext cx="650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CTR,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8AFFEF-0DA4-4F05-B9A4-31ADB2D0127F}"/>
              </a:ext>
            </a:extLst>
          </p:cNvPr>
          <p:cNvSpPr txBox="1"/>
          <p:nvPr/>
        </p:nvSpPr>
        <p:spPr>
          <a:xfrm>
            <a:off x="5875469" y="199257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922E14-D614-4D7F-B231-53867EA86A44}"/>
              </a:ext>
            </a:extLst>
          </p:cNvPr>
          <p:cNvSpPr txBox="1"/>
          <p:nvPr/>
        </p:nvSpPr>
        <p:spPr>
          <a:xfrm>
            <a:off x="7018469" y="1992570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DD5834-C5DB-43C3-933E-88FE7A66D1E4}"/>
              </a:ext>
            </a:extLst>
          </p:cNvPr>
          <p:cNvSpPr txBox="1"/>
          <p:nvPr/>
        </p:nvSpPr>
        <p:spPr>
          <a:xfrm>
            <a:off x="8431167" y="1992570"/>
            <a:ext cx="3972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/This location reserved for a counter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ACC5EC-C1D7-407F-A8B3-4AD5938AAD2E}"/>
              </a:ext>
            </a:extLst>
          </p:cNvPr>
          <p:cNvSpPr txBox="1"/>
          <p:nvPr/>
        </p:nvSpPr>
        <p:spPr>
          <a:xfrm>
            <a:off x="6297567" y="2373570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SUM,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771C14-956E-4E57-9630-57235FD7C8E9}"/>
              </a:ext>
            </a:extLst>
          </p:cNvPr>
          <p:cNvSpPr txBox="1"/>
          <p:nvPr/>
        </p:nvSpPr>
        <p:spPr>
          <a:xfrm>
            <a:off x="5875469" y="237357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A1FEE4-2CDD-4B8D-824E-91E8A55FB1A1}"/>
              </a:ext>
            </a:extLst>
          </p:cNvPr>
          <p:cNvSpPr txBox="1"/>
          <p:nvPr/>
        </p:nvSpPr>
        <p:spPr>
          <a:xfrm>
            <a:off x="7018469" y="2373570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AAF89A-01AE-41CA-B67D-CA33A1920AFD}"/>
              </a:ext>
            </a:extLst>
          </p:cNvPr>
          <p:cNvSpPr txBox="1"/>
          <p:nvPr/>
        </p:nvSpPr>
        <p:spPr>
          <a:xfrm>
            <a:off x="8431167" y="2373570"/>
            <a:ext cx="2084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/Sum is store here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FCCDE3-06D0-4CCA-BF0E-01EAF8EB4CD0}"/>
              </a:ext>
            </a:extLst>
          </p:cNvPr>
          <p:cNvSpPr txBox="1"/>
          <p:nvPr/>
        </p:nvSpPr>
        <p:spPr>
          <a:xfrm>
            <a:off x="5875469" y="272409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D136D1-AA5C-42CE-9E69-633A0354CC2A}"/>
              </a:ext>
            </a:extLst>
          </p:cNvPr>
          <p:cNvSpPr txBox="1"/>
          <p:nvPr/>
        </p:nvSpPr>
        <p:spPr>
          <a:xfrm>
            <a:off x="7008309" y="2724090"/>
            <a:ext cx="1100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ORG 150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EE7695-E20C-450F-AD36-0068D12E8E46}"/>
              </a:ext>
            </a:extLst>
          </p:cNvPr>
          <p:cNvSpPr txBox="1"/>
          <p:nvPr/>
        </p:nvSpPr>
        <p:spPr>
          <a:xfrm>
            <a:off x="8431167" y="2724090"/>
            <a:ext cx="3362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/Origin of operands is HEX 150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073381A-7A21-4DA4-8119-6BDFE7E6F298}"/>
              </a:ext>
            </a:extLst>
          </p:cNvPr>
          <p:cNvSpPr txBox="1"/>
          <p:nvPr/>
        </p:nvSpPr>
        <p:spPr>
          <a:xfrm>
            <a:off x="5872664" y="310001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19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195544-F013-481C-9D28-A5460C73E2C5}"/>
              </a:ext>
            </a:extLst>
          </p:cNvPr>
          <p:cNvSpPr txBox="1"/>
          <p:nvPr/>
        </p:nvSpPr>
        <p:spPr>
          <a:xfrm>
            <a:off x="7015664" y="3100010"/>
            <a:ext cx="9174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DEC 75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CA7CE1-2990-4294-BF05-9E44CAEE5082}"/>
              </a:ext>
            </a:extLst>
          </p:cNvPr>
          <p:cNvSpPr txBox="1"/>
          <p:nvPr/>
        </p:nvSpPr>
        <p:spPr>
          <a:xfrm>
            <a:off x="8428362" y="3100010"/>
            <a:ext cx="1664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/First operand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507F258-C2C3-46AC-AF7B-A90697D1EE38}"/>
              </a:ext>
            </a:extLst>
          </p:cNvPr>
          <p:cNvSpPr txBox="1"/>
          <p:nvPr/>
        </p:nvSpPr>
        <p:spPr>
          <a:xfrm>
            <a:off x="5872664" y="4183261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118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EB82F8-7A44-406C-A6D8-43F2BBD1A97F}"/>
              </a:ext>
            </a:extLst>
          </p:cNvPr>
          <p:cNvSpPr txBox="1"/>
          <p:nvPr/>
        </p:nvSpPr>
        <p:spPr>
          <a:xfrm>
            <a:off x="7015664" y="4183261"/>
            <a:ext cx="9174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DEC 23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44654C-34E6-4D8F-8D29-F8F05E14A97F}"/>
              </a:ext>
            </a:extLst>
          </p:cNvPr>
          <p:cNvSpPr txBox="1"/>
          <p:nvPr/>
        </p:nvSpPr>
        <p:spPr>
          <a:xfrm>
            <a:off x="8428362" y="4183261"/>
            <a:ext cx="1632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/Last operand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F7D28F-C676-4152-99A6-10AF01709CE7}"/>
              </a:ext>
            </a:extLst>
          </p:cNvPr>
          <p:cNvSpPr txBox="1"/>
          <p:nvPr/>
        </p:nvSpPr>
        <p:spPr>
          <a:xfrm>
            <a:off x="5874692" y="4509591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119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AD9CEB-2BE7-4E77-9943-B4C5975A8439}"/>
              </a:ext>
            </a:extLst>
          </p:cNvPr>
          <p:cNvSpPr txBox="1"/>
          <p:nvPr/>
        </p:nvSpPr>
        <p:spPr>
          <a:xfrm>
            <a:off x="7017692" y="4509591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385C3A-899B-41A6-A4EB-74C7259A6C92}"/>
              </a:ext>
            </a:extLst>
          </p:cNvPr>
          <p:cNvSpPr txBox="1"/>
          <p:nvPr/>
        </p:nvSpPr>
        <p:spPr>
          <a:xfrm>
            <a:off x="8430390" y="4509591"/>
            <a:ext cx="2866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/End of symbolic program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6E8960-3CF4-4169-B0E3-A10C0FE20F5C}"/>
              </a:ext>
            </a:extLst>
          </p:cNvPr>
          <p:cNvSpPr txBox="1"/>
          <p:nvPr/>
        </p:nvSpPr>
        <p:spPr>
          <a:xfrm>
            <a:off x="5948005" y="3203863"/>
            <a:ext cx="304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C46608-9AAE-4F43-B7FB-F088E55EA863}"/>
              </a:ext>
            </a:extLst>
          </p:cNvPr>
          <p:cNvSpPr txBox="1"/>
          <p:nvPr/>
        </p:nvSpPr>
        <p:spPr>
          <a:xfrm>
            <a:off x="5948005" y="3469264"/>
            <a:ext cx="304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279E193-5043-43E1-8B46-A8C63E3F7976}"/>
              </a:ext>
            </a:extLst>
          </p:cNvPr>
          <p:cNvSpPr txBox="1"/>
          <p:nvPr/>
        </p:nvSpPr>
        <p:spPr>
          <a:xfrm>
            <a:off x="5948005" y="3734665"/>
            <a:ext cx="304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.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A253409-AB97-4CE8-BE97-111FE4EDDBD7}"/>
              </a:ext>
            </a:extLst>
          </p:cNvPr>
          <p:cNvCxnSpPr/>
          <p:nvPr/>
        </p:nvCxnSpPr>
        <p:spPr>
          <a:xfrm flipV="1">
            <a:off x="5837586" y="741018"/>
            <a:ext cx="7289" cy="5769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12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BDDB-1FDF-4BAE-997D-77FD6E9F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A.L.P. to clear the contents of hex locations 500 to 5FF with 0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FE8CD-9CE5-4EF0-88BB-A9B705B738AA}"/>
              </a:ext>
            </a:extLst>
          </p:cNvPr>
          <p:cNvSpPr txBox="1"/>
          <p:nvPr/>
        </p:nvSpPr>
        <p:spPr>
          <a:xfrm>
            <a:off x="333275" y="83488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B18BA-30B0-4032-BB7D-F019C318E822}"/>
              </a:ext>
            </a:extLst>
          </p:cNvPr>
          <p:cNvSpPr txBox="1"/>
          <p:nvPr/>
        </p:nvSpPr>
        <p:spPr>
          <a:xfrm>
            <a:off x="1476275" y="834888"/>
            <a:ext cx="1100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ORG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ED044-7C50-4C64-8A7A-4FD92724BC33}"/>
              </a:ext>
            </a:extLst>
          </p:cNvPr>
          <p:cNvSpPr txBox="1"/>
          <p:nvPr/>
        </p:nvSpPr>
        <p:spPr>
          <a:xfrm>
            <a:off x="2888973" y="834888"/>
            <a:ext cx="32755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/Origin of program is HEX 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51C83-127D-4578-81B6-1EDE56AF2DDF}"/>
              </a:ext>
            </a:extLst>
          </p:cNvPr>
          <p:cNvSpPr txBox="1"/>
          <p:nvPr/>
        </p:nvSpPr>
        <p:spPr>
          <a:xfrm>
            <a:off x="333275" y="115613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6E5D2A-1FB1-4B9E-98DD-0C67CEAFDFAE}"/>
              </a:ext>
            </a:extLst>
          </p:cNvPr>
          <p:cNvSpPr txBox="1"/>
          <p:nvPr/>
        </p:nvSpPr>
        <p:spPr>
          <a:xfrm>
            <a:off x="1476275" y="1156138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LDA ADS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F5C18-FD61-4A32-9C7F-E9E7AF47D71B}"/>
              </a:ext>
            </a:extLst>
          </p:cNvPr>
          <p:cNvSpPr txBox="1"/>
          <p:nvPr/>
        </p:nvSpPr>
        <p:spPr>
          <a:xfrm>
            <a:off x="2888973" y="1156138"/>
            <a:ext cx="3421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/Load first address of operands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BA7526-1CC1-4F1C-A3C5-8D9A498D3564}"/>
              </a:ext>
            </a:extLst>
          </p:cNvPr>
          <p:cNvSpPr txBox="1"/>
          <p:nvPr/>
        </p:nvSpPr>
        <p:spPr>
          <a:xfrm>
            <a:off x="333275" y="147617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3C535-097B-4051-82E4-8FB23508B3CF}"/>
              </a:ext>
            </a:extLst>
          </p:cNvPr>
          <p:cNvSpPr txBox="1"/>
          <p:nvPr/>
        </p:nvSpPr>
        <p:spPr>
          <a:xfrm>
            <a:off x="1476275" y="1476178"/>
            <a:ext cx="10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PTR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571E6C-26FE-4EAA-81C1-1041BF7A0AF8}"/>
              </a:ext>
            </a:extLst>
          </p:cNvPr>
          <p:cNvSpPr txBox="1"/>
          <p:nvPr/>
        </p:nvSpPr>
        <p:spPr>
          <a:xfrm>
            <a:off x="2888973" y="1476178"/>
            <a:ext cx="1908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/Store in pointer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69C30-E1C9-47BD-8801-6E41D81FEACB}"/>
              </a:ext>
            </a:extLst>
          </p:cNvPr>
          <p:cNvSpPr txBox="1"/>
          <p:nvPr/>
        </p:nvSpPr>
        <p:spPr>
          <a:xfrm>
            <a:off x="333275" y="180008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3E56E7-3733-4926-80AE-62633BA2A040}"/>
              </a:ext>
            </a:extLst>
          </p:cNvPr>
          <p:cNvSpPr txBox="1"/>
          <p:nvPr/>
        </p:nvSpPr>
        <p:spPr>
          <a:xfrm>
            <a:off x="1476275" y="1800088"/>
            <a:ext cx="1096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LDA NBR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B74069-4EFB-45D6-8242-9368717EC19E}"/>
              </a:ext>
            </a:extLst>
          </p:cNvPr>
          <p:cNvSpPr txBox="1"/>
          <p:nvPr/>
        </p:nvSpPr>
        <p:spPr>
          <a:xfrm>
            <a:off x="2888973" y="180008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/Load minus 255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F3A552-C441-4AAB-8182-F0F9D7236B76}"/>
              </a:ext>
            </a:extLst>
          </p:cNvPr>
          <p:cNvSpPr txBox="1"/>
          <p:nvPr/>
        </p:nvSpPr>
        <p:spPr>
          <a:xfrm>
            <a:off x="333275" y="214165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65B7A2-6398-4E8D-90F4-6C0D3BC9305F}"/>
              </a:ext>
            </a:extLst>
          </p:cNvPr>
          <p:cNvSpPr txBox="1"/>
          <p:nvPr/>
        </p:nvSpPr>
        <p:spPr>
          <a:xfrm>
            <a:off x="1476275" y="2141658"/>
            <a:ext cx="1015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CTR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5A53E0-1854-4F70-9CD2-C3040F35025F}"/>
              </a:ext>
            </a:extLst>
          </p:cNvPr>
          <p:cNvSpPr txBox="1"/>
          <p:nvPr/>
        </p:nvSpPr>
        <p:spPr>
          <a:xfrm>
            <a:off x="2888973" y="2141658"/>
            <a:ext cx="1955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/Store in counter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4EACB5-A5A7-4DB7-B153-5B4D10A52F7B}"/>
              </a:ext>
            </a:extLst>
          </p:cNvPr>
          <p:cNvSpPr txBox="1"/>
          <p:nvPr/>
        </p:nvSpPr>
        <p:spPr>
          <a:xfrm>
            <a:off x="333275" y="248201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EAACF2-228C-417E-9F4F-2896B42A65A9}"/>
              </a:ext>
            </a:extLst>
          </p:cNvPr>
          <p:cNvSpPr txBox="1"/>
          <p:nvPr/>
        </p:nvSpPr>
        <p:spPr>
          <a:xfrm>
            <a:off x="755373" y="2826248"/>
            <a:ext cx="621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LOP,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5AF9C8-E8D6-4DF4-B6DD-C7BC55440470}"/>
              </a:ext>
            </a:extLst>
          </p:cNvPr>
          <p:cNvSpPr txBox="1"/>
          <p:nvPr/>
        </p:nvSpPr>
        <p:spPr>
          <a:xfrm>
            <a:off x="1476275" y="2482018"/>
            <a:ext cx="577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CLA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AEB38F-CFC9-4186-9C4D-2D3E1FC86FDE}"/>
              </a:ext>
            </a:extLst>
          </p:cNvPr>
          <p:cNvSpPr txBox="1"/>
          <p:nvPr/>
        </p:nvSpPr>
        <p:spPr>
          <a:xfrm>
            <a:off x="2888973" y="2482018"/>
            <a:ext cx="218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/Clear accumulator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A90902-B06C-4F98-A1AF-B33B318B26E8}"/>
              </a:ext>
            </a:extLst>
          </p:cNvPr>
          <p:cNvSpPr txBox="1"/>
          <p:nvPr/>
        </p:nvSpPr>
        <p:spPr>
          <a:xfrm>
            <a:off x="333275" y="28262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C13F65-25C7-41A5-9EC3-50332BC927FC}"/>
              </a:ext>
            </a:extLst>
          </p:cNvPr>
          <p:cNvSpPr txBox="1"/>
          <p:nvPr/>
        </p:nvSpPr>
        <p:spPr>
          <a:xfrm>
            <a:off x="1476275" y="2826248"/>
            <a:ext cx="11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PTR  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BFD084-C4F2-4059-AE49-0E85CA345EA9}"/>
              </a:ext>
            </a:extLst>
          </p:cNvPr>
          <p:cNvSpPr txBox="1"/>
          <p:nvPr/>
        </p:nvSpPr>
        <p:spPr>
          <a:xfrm>
            <a:off x="2888973" y="2826248"/>
            <a:ext cx="4134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/Store zero to location pointed by PTR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0C9235-5F9F-4E01-8FB7-61C69497D038}"/>
              </a:ext>
            </a:extLst>
          </p:cNvPr>
          <p:cNvSpPr txBox="1"/>
          <p:nvPr/>
        </p:nvSpPr>
        <p:spPr>
          <a:xfrm>
            <a:off x="333275" y="317797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6BF7E8-AE49-4665-AEFA-605C2BF908DF}"/>
              </a:ext>
            </a:extLst>
          </p:cNvPr>
          <p:cNvSpPr txBox="1"/>
          <p:nvPr/>
        </p:nvSpPr>
        <p:spPr>
          <a:xfrm>
            <a:off x="1476275" y="3177978"/>
            <a:ext cx="941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ISZ PTR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E10F93-C470-4A87-8A28-13D820BEA867}"/>
              </a:ext>
            </a:extLst>
          </p:cNvPr>
          <p:cNvSpPr txBox="1"/>
          <p:nvPr/>
        </p:nvSpPr>
        <p:spPr>
          <a:xfrm>
            <a:off x="2888973" y="3177978"/>
            <a:ext cx="2179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/Increment pointer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E0A36C-1717-45B4-898F-075F2BEF168A}"/>
              </a:ext>
            </a:extLst>
          </p:cNvPr>
          <p:cNvSpPr txBox="1"/>
          <p:nvPr/>
        </p:nvSpPr>
        <p:spPr>
          <a:xfrm>
            <a:off x="333275" y="351833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2BB5A9-6D6A-489C-8F6D-D9DCB2561259}"/>
              </a:ext>
            </a:extLst>
          </p:cNvPr>
          <p:cNvSpPr txBox="1"/>
          <p:nvPr/>
        </p:nvSpPr>
        <p:spPr>
          <a:xfrm>
            <a:off x="1476275" y="3518338"/>
            <a:ext cx="947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ISZ CTR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0916DF-04E9-4701-9020-2361CDED2884}"/>
              </a:ext>
            </a:extLst>
          </p:cNvPr>
          <p:cNvSpPr txBox="1"/>
          <p:nvPr/>
        </p:nvSpPr>
        <p:spPr>
          <a:xfrm>
            <a:off x="2888973" y="3518338"/>
            <a:ext cx="2226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/Increment counter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E4D0EE-ED28-49F9-81AA-A08DAD2EA870}"/>
              </a:ext>
            </a:extLst>
          </p:cNvPr>
          <p:cNvSpPr txBox="1"/>
          <p:nvPr/>
        </p:nvSpPr>
        <p:spPr>
          <a:xfrm>
            <a:off x="221973" y="3882888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FB5B0B-8D99-470D-82C9-FC57BD36F64F}"/>
              </a:ext>
            </a:extLst>
          </p:cNvPr>
          <p:cNvSpPr txBox="1"/>
          <p:nvPr/>
        </p:nvSpPr>
        <p:spPr>
          <a:xfrm>
            <a:off x="1476275" y="3882888"/>
            <a:ext cx="111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BUN LOP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DCE1D1-96EB-4E66-8F30-C2A61FF2702B}"/>
              </a:ext>
            </a:extLst>
          </p:cNvPr>
          <p:cNvSpPr txBox="1"/>
          <p:nvPr/>
        </p:nvSpPr>
        <p:spPr>
          <a:xfrm>
            <a:off x="2888973" y="3882888"/>
            <a:ext cx="21527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/Repeat loop again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106020-F75F-4869-9908-43A7E70B3D42}"/>
              </a:ext>
            </a:extLst>
          </p:cNvPr>
          <p:cNvSpPr txBox="1"/>
          <p:nvPr/>
        </p:nvSpPr>
        <p:spPr>
          <a:xfrm>
            <a:off x="221973" y="4253728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05C9D4-04D9-4004-83CF-6B5AF0C8512C}"/>
              </a:ext>
            </a:extLst>
          </p:cNvPr>
          <p:cNvSpPr txBox="1"/>
          <p:nvPr/>
        </p:nvSpPr>
        <p:spPr>
          <a:xfrm>
            <a:off x="1476275" y="4253728"/>
            <a:ext cx="558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HLT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253B64-EE3F-4A77-8231-A0974444F8B6}"/>
              </a:ext>
            </a:extLst>
          </p:cNvPr>
          <p:cNvSpPr txBox="1"/>
          <p:nvPr/>
        </p:nvSpPr>
        <p:spPr>
          <a:xfrm>
            <a:off x="2888973" y="4253728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/Halt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8C4458-5AA2-48F4-9683-FCB4C0C116EA}"/>
              </a:ext>
            </a:extLst>
          </p:cNvPr>
          <p:cNvSpPr txBox="1"/>
          <p:nvPr/>
        </p:nvSpPr>
        <p:spPr>
          <a:xfrm>
            <a:off x="750477" y="4612473"/>
            <a:ext cx="673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ADS,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11B72B-9E5C-4FC2-8BB5-029D3A368A0A}"/>
              </a:ext>
            </a:extLst>
          </p:cNvPr>
          <p:cNvSpPr txBox="1"/>
          <p:nvPr/>
        </p:nvSpPr>
        <p:spPr>
          <a:xfrm>
            <a:off x="216893" y="4612473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EAD485-3179-435C-ADFC-F199FAC3BCEC}"/>
              </a:ext>
            </a:extLst>
          </p:cNvPr>
          <p:cNvSpPr txBox="1"/>
          <p:nvPr/>
        </p:nvSpPr>
        <p:spPr>
          <a:xfrm>
            <a:off x="1479618" y="4612473"/>
            <a:ext cx="1050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500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D57476-1B40-4165-9FA2-02F6380B5274}"/>
              </a:ext>
            </a:extLst>
          </p:cNvPr>
          <p:cNvSpPr txBox="1"/>
          <p:nvPr/>
        </p:nvSpPr>
        <p:spPr>
          <a:xfrm>
            <a:off x="2888973" y="4612473"/>
            <a:ext cx="29034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/First address of operands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0DC7E5-E522-4CB2-9DA4-6AC38DE15E8B}"/>
              </a:ext>
            </a:extLst>
          </p:cNvPr>
          <p:cNvSpPr txBox="1"/>
          <p:nvPr/>
        </p:nvSpPr>
        <p:spPr>
          <a:xfrm>
            <a:off x="753401" y="4949688"/>
            <a:ext cx="645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PTR,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687B6E-72A4-4B6D-8632-53614BFEDE16}"/>
              </a:ext>
            </a:extLst>
          </p:cNvPr>
          <p:cNvSpPr txBox="1"/>
          <p:nvPr/>
        </p:nvSpPr>
        <p:spPr>
          <a:xfrm>
            <a:off x="214088" y="4949688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C0DCFF-CE7F-4693-824A-C7CAE6E769E8}"/>
              </a:ext>
            </a:extLst>
          </p:cNvPr>
          <p:cNvSpPr txBox="1"/>
          <p:nvPr/>
        </p:nvSpPr>
        <p:spPr>
          <a:xfrm>
            <a:off x="1483333" y="4937591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EA34A9-EAB5-4847-917E-BBAC485A87D9}"/>
              </a:ext>
            </a:extLst>
          </p:cNvPr>
          <p:cNvSpPr txBox="1"/>
          <p:nvPr/>
        </p:nvSpPr>
        <p:spPr>
          <a:xfrm>
            <a:off x="2883893" y="4949688"/>
            <a:ext cx="3744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/This location reserved for pointer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11A4B4-5033-4F2E-9005-FB27CD91B774}"/>
              </a:ext>
            </a:extLst>
          </p:cNvPr>
          <p:cNvSpPr txBox="1"/>
          <p:nvPr/>
        </p:nvSpPr>
        <p:spPr>
          <a:xfrm>
            <a:off x="753401" y="5290048"/>
            <a:ext cx="69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NBR,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819F2D-4329-40F6-A765-4F30DAF405F4}"/>
              </a:ext>
            </a:extLst>
          </p:cNvPr>
          <p:cNvSpPr txBox="1"/>
          <p:nvPr/>
        </p:nvSpPr>
        <p:spPr>
          <a:xfrm>
            <a:off x="214088" y="5290048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12C7F3-1021-4975-8F83-F5D8A880D1A3}"/>
              </a:ext>
            </a:extLst>
          </p:cNvPr>
          <p:cNvSpPr txBox="1"/>
          <p:nvPr/>
        </p:nvSpPr>
        <p:spPr>
          <a:xfrm>
            <a:off x="1483333" y="5277951"/>
            <a:ext cx="1125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DEC </a:t>
            </a:r>
            <a:r>
              <a:rPr lang="en-US" sz="2000"/>
              <a:t>-255</a:t>
            </a:r>
            <a:endParaRPr lang="en-US" sz="2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0A096F-86F9-44CA-9579-981956947E24}"/>
              </a:ext>
            </a:extLst>
          </p:cNvPr>
          <p:cNvSpPr txBox="1"/>
          <p:nvPr/>
        </p:nvSpPr>
        <p:spPr>
          <a:xfrm>
            <a:off x="2883893" y="5290048"/>
            <a:ext cx="3414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/Constant to initialized counter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7C5CE1-06F1-420F-A727-2023E4C5F537}"/>
              </a:ext>
            </a:extLst>
          </p:cNvPr>
          <p:cNvSpPr txBox="1"/>
          <p:nvPr/>
        </p:nvSpPr>
        <p:spPr>
          <a:xfrm>
            <a:off x="756206" y="5631618"/>
            <a:ext cx="650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CTR,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910DD7-3B6E-4DB6-B44F-BE4AA569983D}"/>
              </a:ext>
            </a:extLst>
          </p:cNvPr>
          <p:cNvSpPr txBox="1"/>
          <p:nvPr/>
        </p:nvSpPr>
        <p:spPr>
          <a:xfrm>
            <a:off x="216893" y="5631618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A06E13-0C04-4671-B008-1C9C53EC8FF9}"/>
              </a:ext>
            </a:extLst>
          </p:cNvPr>
          <p:cNvSpPr txBox="1"/>
          <p:nvPr/>
        </p:nvSpPr>
        <p:spPr>
          <a:xfrm>
            <a:off x="1486138" y="5619521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1670A4-1D0F-417A-BB1D-D8ECB1957704}"/>
              </a:ext>
            </a:extLst>
          </p:cNvPr>
          <p:cNvSpPr txBox="1"/>
          <p:nvPr/>
        </p:nvSpPr>
        <p:spPr>
          <a:xfrm>
            <a:off x="2886698" y="5631618"/>
            <a:ext cx="3972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/This location reserved for a counter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437C15-CD4B-4D0D-871A-21977139A9FF}"/>
              </a:ext>
            </a:extLst>
          </p:cNvPr>
          <p:cNvSpPr txBox="1"/>
          <p:nvPr/>
        </p:nvSpPr>
        <p:spPr>
          <a:xfrm>
            <a:off x="216893" y="5970768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3C74F9-2EDA-4D8A-A49D-1FDA874A9A66}"/>
              </a:ext>
            </a:extLst>
          </p:cNvPr>
          <p:cNvSpPr txBox="1"/>
          <p:nvPr/>
        </p:nvSpPr>
        <p:spPr>
          <a:xfrm>
            <a:off x="1486138" y="5958671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0248DE-D8BE-4BE3-BFFC-D9E6B3499718}"/>
              </a:ext>
            </a:extLst>
          </p:cNvPr>
          <p:cNvSpPr txBox="1"/>
          <p:nvPr/>
        </p:nvSpPr>
        <p:spPr>
          <a:xfrm>
            <a:off x="2886698" y="5970768"/>
            <a:ext cx="2866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/End of symbolic program</a:t>
            </a:r>
          </a:p>
        </p:txBody>
      </p:sp>
    </p:spTree>
    <p:extLst>
      <p:ext uri="{BB962C8B-B14F-4D97-AF65-F5344CB8AC3E}">
        <p14:creationId xmlns:p14="http://schemas.microsoft.com/office/powerpoint/2010/main" val="359289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Programming Arithmetic and Logic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954565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2AD912-EB29-4F08-8BD4-D043BB899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A.L.P. to Add Two Double-Precision Numbers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4890D9-3E57-4F86-BBE8-D21BBBD454DF}"/>
              </a:ext>
            </a:extLst>
          </p:cNvPr>
          <p:cNvSpPr txBox="1"/>
          <p:nvPr/>
        </p:nvSpPr>
        <p:spPr>
          <a:xfrm>
            <a:off x="187502" y="87464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2BBAAA-76D4-47FD-B3DA-B078252A57F6}"/>
              </a:ext>
            </a:extLst>
          </p:cNvPr>
          <p:cNvSpPr txBox="1"/>
          <p:nvPr/>
        </p:nvSpPr>
        <p:spPr>
          <a:xfrm>
            <a:off x="798649" y="874643"/>
            <a:ext cx="1100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ORG 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9FB60-5E43-4B02-B0B5-B892F1497213}"/>
              </a:ext>
            </a:extLst>
          </p:cNvPr>
          <p:cNvSpPr txBox="1"/>
          <p:nvPr/>
        </p:nvSpPr>
        <p:spPr>
          <a:xfrm>
            <a:off x="2211347" y="874643"/>
            <a:ext cx="32755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/Origin of program is HEX 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EDC4E-FA6F-4D8D-BEEA-69B3FFAA407E}"/>
              </a:ext>
            </a:extLst>
          </p:cNvPr>
          <p:cNvSpPr txBox="1"/>
          <p:nvPr/>
        </p:nvSpPr>
        <p:spPr>
          <a:xfrm>
            <a:off x="187502" y="123653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52E2B5-9009-4AD3-B270-018C2F40DA26}"/>
              </a:ext>
            </a:extLst>
          </p:cNvPr>
          <p:cNvSpPr txBox="1"/>
          <p:nvPr/>
        </p:nvSpPr>
        <p:spPr>
          <a:xfrm>
            <a:off x="798649" y="1236533"/>
            <a:ext cx="908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LDA 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FA2D61-CD10-4413-8D9F-9959E94CA81A}"/>
              </a:ext>
            </a:extLst>
          </p:cNvPr>
          <p:cNvSpPr txBox="1"/>
          <p:nvPr/>
        </p:nvSpPr>
        <p:spPr>
          <a:xfrm>
            <a:off x="2211347" y="1236533"/>
            <a:ext cx="1424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/Load A 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6307F-863D-4097-850F-02C3B9E4B124}"/>
              </a:ext>
            </a:extLst>
          </p:cNvPr>
          <p:cNvSpPr txBox="1"/>
          <p:nvPr/>
        </p:nvSpPr>
        <p:spPr>
          <a:xfrm>
            <a:off x="187502" y="157689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8947D8-43DC-4B3F-8EC7-6F658AD4796D}"/>
              </a:ext>
            </a:extLst>
          </p:cNvPr>
          <p:cNvSpPr txBox="1"/>
          <p:nvPr/>
        </p:nvSpPr>
        <p:spPr>
          <a:xfrm>
            <a:off x="798649" y="1576893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 BL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C7BB7-8345-4913-9730-9B44BBBDB41D}"/>
              </a:ext>
            </a:extLst>
          </p:cNvPr>
          <p:cNvSpPr txBox="1"/>
          <p:nvPr/>
        </p:nvSpPr>
        <p:spPr>
          <a:xfrm>
            <a:off x="2211347" y="1587053"/>
            <a:ext cx="24514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/Add B low, carry in 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5F758-79EF-42AA-8D89-673A586E1794}"/>
              </a:ext>
            </a:extLst>
          </p:cNvPr>
          <p:cNvSpPr txBox="1"/>
          <p:nvPr/>
        </p:nvSpPr>
        <p:spPr>
          <a:xfrm>
            <a:off x="187502" y="194144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21EA1E-B084-4367-B46B-EFD5BA884875}"/>
              </a:ext>
            </a:extLst>
          </p:cNvPr>
          <p:cNvSpPr txBox="1"/>
          <p:nvPr/>
        </p:nvSpPr>
        <p:spPr>
          <a:xfrm>
            <a:off x="798649" y="1941443"/>
            <a:ext cx="856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9100B-9B50-4085-8319-D8B2843F3134}"/>
              </a:ext>
            </a:extLst>
          </p:cNvPr>
          <p:cNvSpPr txBox="1"/>
          <p:nvPr/>
        </p:nvSpPr>
        <p:spPr>
          <a:xfrm>
            <a:off x="2211347" y="1941443"/>
            <a:ext cx="17727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/Store in C 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BA616D-F9AE-40E4-BC6D-00173889832A}"/>
              </a:ext>
            </a:extLst>
          </p:cNvPr>
          <p:cNvSpPr txBox="1"/>
          <p:nvPr/>
        </p:nvSpPr>
        <p:spPr>
          <a:xfrm>
            <a:off x="187502" y="230333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5B0BB7-6210-426D-998E-84928B8E7EAD}"/>
              </a:ext>
            </a:extLst>
          </p:cNvPr>
          <p:cNvSpPr txBox="1"/>
          <p:nvPr/>
        </p:nvSpPr>
        <p:spPr>
          <a:xfrm>
            <a:off x="798649" y="2303333"/>
            <a:ext cx="577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CLA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336B2B-9508-488A-859E-88005BC134D6}"/>
              </a:ext>
            </a:extLst>
          </p:cNvPr>
          <p:cNvSpPr txBox="1"/>
          <p:nvPr/>
        </p:nvSpPr>
        <p:spPr>
          <a:xfrm>
            <a:off x="2211347" y="2303333"/>
            <a:ext cx="1162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/Clear AC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282884-FDFB-4389-A0FB-B3C9D0BD2F09}"/>
              </a:ext>
            </a:extLst>
          </p:cNvPr>
          <p:cNvSpPr txBox="1"/>
          <p:nvPr/>
        </p:nvSpPr>
        <p:spPr>
          <a:xfrm>
            <a:off x="187502" y="264369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AFE2E6-C69B-496E-B53D-CB6BEA2555CC}"/>
              </a:ext>
            </a:extLst>
          </p:cNvPr>
          <p:cNvSpPr txBox="1"/>
          <p:nvPr/>
        </p:nvSpPr>
        <p:spPr>
          <a:xfrm>
            <a:off x="798649" y="2643693"/>
            <a:ext cx="49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DAE375-19AC-474D-AA4E-94E9022D2EE0}"/>
              </a:ext>
            </a:extLst>
          </p:cNvPr>
          <p:cNvSpPr txBox="1"/>
          <p:nvPr/>
        </p:nvSpPr>
        <p:spPr>
          <a:xfrm>
            <a:off x="2211347" y="2643693"/>
            <a:ext cx="3884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/Circulate to bring carry into AC(16)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4DC3E8-D3A5-4E1F-BFA7-4F7AFD472E6D}"/>
              </a:ext>
            </a:extLst>
          </p:cNvPr>
          <p:cNvSpPr txBox="1"/>
          <p:nvPr/>
        </p:nvSpPr>
        <p:spPr>
          <a:xfrm>
            <a:off x="187502" y="300824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7B9B28-B3AF-4EEE-9FDD-83E40180F440}"/>
              </a:ext>
            </a:extLst>
          </p:cNvPr>
          <p:cNvSpPr txBox="1"/>
          <p:nvPr/>
        </p:nvSpPr>
        <p:spPr>
          <a:xfrm>
            <a:off x="798649" y="3008243"/>
            <a:ext cx="1015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 AH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1DE2E1-1D6C-46B9-BFA6-3035B6EF7976}"/>
              </a:ext>
            </a:extLst>
          </p:cNvPr>
          <p:cNvSpPr txBox="1"/>
          <p:nvPr/>
        </p:nvSpPr>
        <p:spPr>
          <a:xfrm>
            <a:off x="2211347" y="3008243"/>
            <a:ext cx="2441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/Add A high and carry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AA2D57-CFBA-45D3-A2B9-25ED79C3D3F5}"/>
              </a:ext>
            </a:extLst>
          </p:cNvPr>
          <p:cNvSpPr txBox="1"/>
          <p:nvPr/>
        </p:nvSpPr>
        <p:spPr>
          <a:xfrm>
            <a:off x="187502" y="337013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C8D388-C0FF-467D-8C34-BF9B0EBFA55C}"/>
              </a:ext>
            </a:extLst>
          </p:cNvPr>
          <p:cNvSpPr txBox="1"/>
          <p:nvPr/>
        </p:nvSpPr>
        <p:spPr>
          <a:xfrm>
            <a:off x="798649" y="3370133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 BH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E32C2A-EF2D-4CFE-8498-F8804B8A0077}"/>
              </a:ext>
            </a:extLst>
          </p:cNvPr>
          <p:cNvSpPr txBox="1"/>
          <p:nvPr/>
        </p:nvSpPr>
        <p:spPr>
          <a:xfrm>
            <a:off x="2211347" y="3370133"/>
            <a:ext cx="1397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/Add B high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9BB906-9653-4710-8EBA-2B5681ED8EB7}"/>
              </a:ext>
            </a:extLst>
          </p:cNvPr>
          <p:cNvSpPr txBox="1"/>
          <p:nvPr/>
        </p:nvSpPr>
        <p:spPr>
          <a:xfrm>
            <a:off x="187502" y="371049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53F749-0302-4575-BCC5-D2C3879C6D77}"/>
              </a:ext>
            </a:extLst>
          </p:cNvPr>
          <p:cNvSpPr txBox="1"/>
          <p:nvPr/>
        </p:nvSpPr>
        <p:spPr>
          <a:xfrm>
            <a:off x="798649" y="3710493"/>
            <a:ext cx="909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CH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0E111A-C8D7-47A3-91B7-85C270685303}"/>
              </a:ext>
            </a:extLst>
          </p:cNvPr>
          <p:cNvSpPr txBox="1"/>
          <p:nvPr/>
        </p:nvSpPr>
        <p:spPr>
          <a:xfrm>
            <a:off x="2211347" y="3710493"/>
            <a:ext cx="1788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/Store in C high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F7F405-AA8D-432A-B55A-FFD654A3F05B}"/>
              </a:ext>
            </a:extLst>
          </p:cNvPr>
          <p:cNvSpPr txBox="1"/>
          <p:nvPr/>
        </p:nvSpPr>
        <p:spPr>
          <a:xfrm>
            <a:off x="76200" y="4075043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B8C906-6A56-4D59-B04A-F9E59F080285}"/>
              </a:ext>
            </a:extLst>
          </p:cNvPr>
          <p:cNvSpPr txBox="1"/>
          <p:nvPr/>
        </p:nvSpPr>
        <p:spPr>
          <a:xfrm>
            <a:off x="798649" y="4075043"/>
            <a:ext cx="558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HLT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909142-2878-4014-A021-63840FE1BEC7}"/>
              </a:ext>
            </a:extLst>
          </p:cNvPr>
          <p:cNvSpPr txBox="1"/>
          <p:nvPr/>
        </p:nvSpPr>
        <p:spPr>
          <a:xfrm>
            <a:off x="2211347" y="4075043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/Halt</a:t>
            </a:r>
          </a:p>
        </p:txBody>
      </p:sp>
    </p:spTree>
    <p:extLst>
      <p:ext uri="{BB962C8B-B14F-4D97-AF65-F5344CB8AC3E}">
        <p14:creationId xmlns:p14="http://schemas.microsoft.com/office/powerpoint/2010/main" val="241778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Subroutines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921395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A67C-7486-416A-8FF8-E068C2B8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40"/>
            <a:ext cx="12192000" cy="711200"/>
          </a:xfrm>
        </p:spPr>
        <p:txBody>
          <a:bodyPr/>
          <a:lstStyle/>
          <a:p>
            <a:r>
              <a:rPr lang="en-US" dirty="0"/>
              <a:t>Subroutine with example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BC085-5BB5-4370-BF2A-CD5E91FD8B6E}"/>
              </a:ext>
            </a:extLst>
          </p:cNvPr>
          <p:cNvSpPr txBox="1"/>
          <p:nvPr/>
        </p:nvSpPr>
        <p:spPr>
          <a:xfrm>
            <a:off x="6982554" y="1540565"/>
            <a:ext cx="1100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ORG 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CE032-DC2A-4275-A7D6-F937E834832E}"/>
              </a:ext>
            </a:extLst>
          </p:cNvPr>
          <p:cNvSpPr txBox="1"/>
          <p:nvPr/>
        </p:nvSpPr>
        <p:spPr>
          <a:xfrm>
            <a:off x="5839554" y="1902455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71DD4-E467-40BE-937F-D53A0DF666AA}"/>
              </a:ext>
            </a:extLst>
          </p:cNvPr>
          <p:cNvSpPr txBox="1"/>
          <p:nvPr/>
        </p:nvSpPr>
        <p:spPr>
          <a:xfrm>
            <a:off x="6982554" y="1902455"/>
            <a:ext cx="785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LDA 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96AD9-F2C1-4F9D-93FF-C048AFEA48F7}"/>
              </a:ext>
            </a:extLst>
          </p:cNvPr>
          <p:cNvSpPr txBox="1"/>
          <p:nvPr/>
        </p:nvSpPr>
        <p:spPr>
          <a:xfrm>
            <a:off x="5837156" y="2242813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06A39-50CA-4452-B241-8AD86C5549DA}"/>
              </a:ext>
            </a:extLst>
          </p:cNvPr>
          <p:cNvSpPr txBox="1"/>
          <p:nvPr/>
        </p:nvSpPr>
        <p:spPr>
          <a:xfrm>
            <a:off x="6969996" y="2242813"/>
            <a:ext cx="1056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BSA SH4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E1B0C-FEAA-45B2-B237-EBFB3A069F7E}"/>
              </a:ext>
            </a:extLst>
          </p:cNvPr>
          <p:cNvSpPr txBox="1"/>
          <p:nvPr/>
        </p:nvSpPr>
        <p:spPr>
          <a:xfrm>
            <a:off x="5839554" y="2607365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32060-1226-4F43-BA41-45D92E7506AF}"/>
              </a:ext>
            </a:extLst>
          </p:cNvPr>
          <p:cNvSpPr txBox="1"/>
          <p:nvPr/>
        </p:nvSpPr>
        <p:spPr>
          <a:xfrm>
            <a:off x="6982554" y="2607365"/>
            <a:ext cx="746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95AD3F-F1EC-4A34-9F52-6C1788258DED}"/>
              </a:ext>
            </a:extLst>
          </p:cNvPr>
          <p:cNvSpPr txBox="1"/>
          <p:nvPr/>
        </p:nvSpPr>
        <p:spPr>
          <a:xfrm>
            <a:off x="5839554" y="2969255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B6D256-A59E-449B-84AF-5E7871CC3D24}"/>
              </a:ext>
            </a:extLst>
          </p:cNvPr>
          <p:cNvSpPr txBox="1"/>
          <p:nvPr/>
        </p:nvSpPr>
        <p:spPr>
          <a:xfrm>
            <a:off x="6982554" y="2969255"/>
            <a:ext cx="777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LDA 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5C7431-46F3-4B5F-8701-360291DBB4BF}"/>
              </a:ext>
            </a:extLst>
          </p:cNvPr>
          <p:cNvSpPr txBox="1"/>
          <p:nvPr/>
        </p:nvSpPr>
        <p:spPr>
          <a:xfrm>
            <a:off x="5839554" y="3309615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6CB5A2-4408-46F1-B004-15F6B6FD014F}"/>
              </a:ext>
            </a:extLst>
          </p:cNvPr>
          <p:cNvSpPr txBox="1"/>
          <p:nvPr/>
        </p:nvSpPr>
        <p:spPr>
          <a:xfrm>
            <a:off x="6982554" y="3309615"/>
            <a:ext cx="1056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BSA SH4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3AF989-0650-4E9F-B7FF-0F6F0389E281}"/>
              </a:ext>
            </a:extLst>
          </p:cNvPr>
          <p:cNvSpPr txBox="1"/>
          <p:nvPr/>
        </p:nvSpPr>
        <p:spPr>
          <a:xfrm>
            <a:off x="5839554" y="3674165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2F65EF-9F66-4EA1-AEC6-E54864A5C3EC}"/>
              </a:ext>
            </a:extLst>
          </p:cNvPr>
          <p:cNvSpPr txBox="1"/>
          <p:nvPr/>
        </p:nvSpPr>
        <p:spPr>
          <a:xfrm>
            <a:off x="6982554" y="3674165"/>
            <a:ext cx="738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7F2A74-A3F8-4CC9-A1FF-6503F3C4645A}"/>
              </a:ext>
            </a:extLst>
          </p:cNvPr>
          <p:cNvSpPr txBox="1"/>
          <p:nvPr/>
        </p:nvSpPr>
        <p:spPr>
          <a:xfrm>
            <a:off x="5839554" y="4036055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88D9F2-C70E-4962-8B80-202530F51DA8}"/>
              </a:ext>
            </a:extLst>
          </p:cNvPr>
          <p:cNvSpPr txBox="1"/>
          <p:nvPr/>
        </p:nvSpPr>
        <p:spPr>
          <a:xfrm>
            <a:off x="6982554" y="4036055"/>
            <a:ext cx="558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HLT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B2F32-57AF-4361-9B6B-AA46891A24D0}"/>
              </a:ext>
            </a:extLst>
          </p:cNvPr>
          <p:cNvSpPr txBox="1"/>
          <p:nvPr/>
        </p:nvSpPr>
        <p:spPr>
          <a:xfrm>
            <a:off x="5839554" y="4406895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F13D3D-7582-46BC-AF9C-B3EEA9E1E1B0}"/>
              </a:ext>
            </a:extLst>
          </p:cNvPr>
          <p:cNvSpPr txBox="1"/>
          <p:nvPr/>
        </p:nvSpPr>
        <p:spPr>
          <a:xfrm>
            <a:off x="6982554" y="4406895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1234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4A4A9A-0A5D-4BA1-8320-8635AF4D70E7}"/>
              </a:ext>
            </a:extLst>
          </p:cNvPr>
          <p:cNvSpPr txBox="1"/>
          <p:nvPr/>
        </p:nvSpPr>
        <p:spPr>
          <a:xfrm>
            <a:off x="6413216" y="4406895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X,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34F059-1B04-4CE1-910C-7E1A40C9A7B9}"/>
              </a:ext>
            </a:extLst>
          </p:cNvPr>
          <p:cNvSpPr txBox="1"/>
          <p:nvPr/>
        </p:nvSpPr>
        <p:spPr>
          <a:xfrm>
            <a:off x="5847316" y="4776525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4E7736-FD8C-4EF9-B553-28B0CF262F9F}"/>
              </a:ext>
            </a:extLst>
          </p:cNvPr>
          <p:cNvSpPr txBox="1"/>
          <p:nvPr/>
        </p:nvSpPr>
        <p:spPr>
          <a:xfrm>
            <a:off x="6980156" y="4776525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4321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4FA01F-896D-4D3E-8541-D88F2615B5BE}"/>
              </a:ext>
            </a:extLst>
          </p:cNvPr>
          <p:cNvSpPr txBox="1"/>
          <p:nvPr/>
        </p:nvSpPr>
        <p:spPr>
          <a:xfrm>
            <a:off x="6420978" y="4776525"/>
            <a:ext cx="3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Y,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F50A2E-1F22-4FF8-9C19-E92528ADBC3D}"/>
              </a:ext>
            </a:extLst>
          </p:cNvPr>
          <p:cNvSpPr txBox="1"/>
          <p:nvPr/>
        </p:nvSpPr>
        <p:spPr>
          <a:xfrm>
            <a:off x="9211754" y="1902455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2CEE55-3168-4FC2-A39B-C28BA00589FB}"/>
              </a:ext>
            </a:extLst>
          </p:cNvPr>
          <p:cNvSpPr txBox="1"/>
          <p:nvPr/>
        </p:nvSpPr>
        <p:spPr>
          <a:xfrm>
            <a:off x="10475847" y="1902455"/>
            <a:ext cx="790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CF3DF2-F3DB-4A3C-A78A-5DF586356B76}"/>
              </a:ext>
            </a:extLst>
          </p:cNvPr>
          <p:cNvSpPr txBox="1"/>
          <p:nvPr/>
        </p:nvSpPr>
        <p:spPr>
          <a:xfrm>
            <a:off x="9211754" y="2242815"/>
            <a:ext cx="593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8A5080-8D04-4DAB-B63E-08100E240CC0}"/>
              </a:ext>
            </a:extLst>
          </p:cNvPr>
          <p:cNvSpPr txBox="1"/>
          <p:nvPr/>
        </p:nvSpPr>
        <p:spPr>
          <a:xfrm>
            <a:off x="10475847" y="2242815"/>
            <a:ext cx="49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CIL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CE7E4C-5B91-43CD-939F-8610738E77FE}"/>
              </a:ext>
            </a:extLst>
          </p:cNvPr>
          <p:cNvSpPr txBox="1"/>
          <p:nvPr/>
        </p:nvSpPr>
        <p:spPr>
          <a:xfrm>
            <a:off x="9211754" y="2607365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364376-499B-48ED-B6D1-2CD93EEAABA1}"/>
              </a:ext>
            </a:extLst>
          </p:cNvPr>
          <p:cNvSpPr txBox="1"/>
          <p:nvPr/>
        </p:nvSpPr>
        <p:spPr>
          <a:xfrm>
            <a:off x="10475847" y="2607365"/>
            <a:ext cx="49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CIL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8CFF2A-4437-4E9A-9E34-5E1C9283F258}"/>
              </a:ext>
            </a:extLst>
          </p:cNvPr>
          <p:cNvSpPr txBox="1"/>
          <p:nvPr/>
        </p:nvSpPr>
        <p:spPr>
          <a:xfrm>
            <a:off x="9211754" y="2969255"/>
            <a:ext cx="580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58301D-3B56-4DDD-88D7-1009F4D2F18D}"/>
              </a:ext>
            </a:extLst>
          </p:cNvPr>
          <p:cNvSpPr txBox="1"/>
          <p:nvPr/>
        </p:nvSpPr>
        <p:spPr>
          <a:xfrm>
            <a:off x="10475847" y="2969255"/>
            <a:ext cx="49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CIL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FBE5E4-E884-4DC5-BD63-10B64E0C9D79}"/>
              </a:ext>
            </a:extLst>
          </p:cNvPr>
          <p:cNvSpPr txBox="1"/>
          <p:nvPr/>
        </p:nvSpPr>
        <p:spPr>
          <a:xfrm>
            <a:off x="9211754" y="3319775"/>
            <a:ext cx="601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86E129-38BC-49D6-8F54-753C33912F27}"/>
              </a:ext>
            </a:extLst>
          </p:cNvPr>
          <p:cNvSpPr txBox="1"/>
          <p:nvPr/>
        </p:nvSpPr>
        <p:spPr>
          <a:xfrm>
            <a:off x="10475847" y="3319775"/>
            <a:ext cx="49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CIL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D7903A-D4BD-473B-810C-740503E2CCA7}"/>
              </a:ext>
            </a:extLst>
          </p:cNvPr>
          <p:cNvSpPr txBox="1"/>
          <p:nvPr/>
        </p:nvSpPr>
        <p:spPr>
          <a:xfrm>
            <a:off x="9211754" y="367416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2F2E34-3FFC-44B7-AAEC-1B781970486B}"/>
              </a:ext>
            </a:extLst>
          </p:cNvPr>
          <p:cNvSpPr txBox="1"/>
          <p:nvPr/>
        </p:nvSpPr>
        <p:spPr>
          <a:xfrm>
            <a:off x="10475847" y="3674165"/>
            <a:ext cx="1184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AND MSK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0F3837-8D40-40CE-9246-708F2520B439}"/>
              </a:ext>
            </a:extLst>
          </p:cNvPr>
          <p:cNvSpPr txBox="1"/>
          <p:nvPr/>
        </p:nvSpPr>
        <p:spPr>
          <a:xfrm>
            <a:off x="9211754" y="4036055"/>
            <a:ext cx="562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092C97-3C6F-4A43-BBE3-120B39264D98}"/>
              </a:ext>
            </a:extLst>
          </p:cNvPr>
          <p:cNvSpPr txBox="1"/>
          <p:nvPr/>
        </p:nvSpPr>
        <p:spPr>
          <a:xfrm>
            <a:off x="10475847" y="4036055"/>
            <a:ext cx="1242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BUN SH4 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491289-4EDC-49BF-82C8-C1D961DE5BE2}"/>
              </a:ext>
            </a:extLst>
          </p:cNvPr>
          <p:cNvSpPr txBox="1"/>
          <p:nvPr/>
        </p:nvSpPr>
        <p:spPr>
          <a:xfrm>
            <a:off x="9211754" y="4417055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EEDCA1-6039-4622-BEED-143E565ED96F}"/>
              </a:ext>
            </a:extLst>
          </p:cNvPr>
          <p:cNvSpPr txBox="1"/>
          <p:nvPr/>
        </p:nvSpPr>
        <p:spPr>
          <a:xfrm>
            <a:off x="10475847" y="4417055"/>
            <a:ext cx="1146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FFF0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4CC86A-C972-4A68-8FDF-7F329D18ADAB}"/>
              </a:ext>
            </a:extLst>
          </p:cNvPr>
          <p:cNvSpPr txBox="1"/>
          <p:nvPr/>
        </p:nvSpPr>
        <p:spPr>
          <a:xfrm>
            <a:off x="9785416" y="4417055"/>
            <a:ext cx="720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MSK,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AA1F63-2CD2-4E48-AFEB-B7A6AC199AAB}"/>
              </a:ext>
            </a:extLst>
          </p:cNvPr>
          <p:cNvSpPr txBox="1"/>
          <p:nvPr/>
        </p:nvSpPr>
        <p:spPr>
          <a:xfrm>
            <a:off x="10483609" y="4817165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EEBC0F-2DD1-438A-BB7B-941876C96700}"/>
              </a:ext>
            </a:extLst>
          </p:cNvPr>
          <p:cNvSpPr txBox="1"/>
          <p:nvPr/>
        </p:nvSpPr>
        <p:spPr>
          <a:xfrm>
            <a:off x="9789211" y="1902455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SH4,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1AF4622-5C17-49AF-95AC-1842EE648C32}"/>
              </a:ext>
            </a:extLst>
          </p:cNvPr>
          <p:cNvCxnSpPr>
            <a:stCxn id="8" idx="3"/>
            <a:endCxn id="25" idx="1"/>
          </p:cNvCxnSpPr>
          <p:nvPr/>
        </p:nvCxnSpPr>
        <p:spPr>
          <a:xfrm flipV="1">
            <a:off x="8026439" y="2102510"/>
            <a:ext cx="1185315" cy="340358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71">
            <a:extLst>
              <a:ext uri="{FF2B5EF4-FFF2-40B4-BE49-F238E27FC236}">
                <a16:creationId xmlns:a16="http://schemas.microsoft.com/office/drawing/2014/main" id="{767ED48E-1191-4296-A91B-714AD02968DF}"/>
              </a:ext>
            </a:extLst>
          </p:cNvPr>
          <p:cNvCxnSpPr>
            <a:stCxn id="38" idx="3"/>
            <a:endCxn id="26" idx="3"/>
          </p:cNvCxnSpPr>
          <p:nvPr/>
        </p:nvCxnSpPr>
        <p:spPr>
          <a:xfrm flipH="1" flipV="1">
            <a:off x="11266448" y="2102510"/>
            <a:ext cx="452047" cy="2133600"/>
          </a:xfrm>
          <a:prstGeom prst="curvedConnector3">
            <a:avLst>
              <a:gd name="adj1" fmla="val -50570"/>
            </a:avLst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124BF2D-1793-4AEB-A409-4C6BED259A67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7738852" y="2442870"/>
            <a:ext cx="1472902" cy="374489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337ED1-C8AA-43CF-B68C-34E8B1CF4960}"/>
              </a:ext>
            </a:extLst>
          </p:cNvPr>
          <p:cNvCxnSpPr/>
          <p:nvPr/>
        </p:nvCxnSpPr>
        <p:spPr>
          <a:xfrm flipV="1">
            <a:off x="5690287" y="730311"/>
            <a:ext cx="7289" cy="5769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4">
            <a:extLst>
              <a:ext uri="{FF2B5EF4-FFF2-40B4-BE49-F238E27FC236}">
                <a16:creationId xmlns:a16="http://schemas.microsoft.com/office/drawing/2014/main" id="{C3F3A75A-E51A-49A3-8B45-CA2B2B991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368532" cy="4831677"/>
          </a:xfrm>
        </p:spPr>
        <p:txBody>
          <a:bodyPr/>
          <a:lstStyle/>
          <a:p>
            <a:pPr algn="just"/>
            <a:r>
              <a:rPr lang="en-US" dirty="0"/>
              <a:t>A set of common instructions that can be used in a program many times is called a </a:t>
            </a:r>
            <a:r>
              <a:rPr lang="en-US" i="1" dirty="0">
                <a:solidFill>
                  <a:schemeClr val="tx2"/>
                </a:solidFill>
              </a:rPr>
              <a:t>subroutine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Each time that a subroutine is used in the main part of the program, a branch is executed to the beginning of the subroutine.</a:t>
            </a:r>
          </a:p>
          <a:p>
            <a:pPr algn="just"/>
            <a:r>
              <a:rPr lang="en-US" dirty="0"/>
              <a:t>After the subroutine has been executed, a branch is made back to the main program.</a:t>
            </a:r>
          </a:p>
          <a:p>
            <a:pPr algn="just"/>
            <a:r>
              <a:rPr lang="en-US" dirty="0"/>
              <a:t>A subroutine consists of a self contained sequence of instructions that carries a given task.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91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I-O 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</p:txBody>
      </p:sp>
    </p:spTree>
    <p:extLst>
      <p:ext uri="{BB962C8B-B14F-4D97-AF65-F5344CB8AC3E}">
        <p14:creationId xmlns:p14="http://schemas.microsoft.com/office/powerpoint/2010/main" val="1533416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A6C0E8-D8DD-45F6-BA85-700836F6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A.L.P. to input one character &amp; output one character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D01CA-469C-4719-AD35-049B8A29B8E2}"/>
              </a:ext>
            </a:extLst>
          </p:cNvPr>
          <p:cNvSpPr txBox="1"/>
          <p:nvPr/>
        </p:nvSpPr>
        <p:spPr>
          <a:xfrm>
            <a:off x="72365" y="164989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EEBD3-8BCA-4D61-A94E-509E7EEC5583}"/>
              </a:ext>
            </a:extLst>
          </p:cNvPr>
          <p:cNvSpPr txBox="1"/>
          <p:nvPr/>
        </p:nvSpPr>
        <p:spPr>
          <a:xfrm>
            <a:off x="1175609" y="1649896"/>
            <a:ext cx="1100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ORG 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1A1637-F7A9-4D7E-81E5-1ECED43B29E5}"/>
              </a:ext>
            </a:extLst>
          </p:cNvPr>
          <p:cNvSpPr txBox="1"/>
          <p:nvPr/>
        </p:nvSpPr>
        <p:spPr>
          <a:xfrm>
            <a:off x="2319954" y="1649896"/>
            <a:ext cx="32755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/Origin of program is HEX 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8D290-1D15-442A-9FB0-541EE0EB7821}"/>
              </a:ext>
            </a:extLst>
          </p:cNvPr>
          <p:cNvSpPr txBox="1"/>
          <p:nvPr/>
        </p:nvSpPr>
        <p:spPr>
          <a:xfrm>
            <a:off x="72365" y="201178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42E64-CF43-4C11-9995-B6479708A86C}"/>
              </a:ext>
            </a:extLst>
          </p:cNvPr>
          <p:cNvSpPr txBox="1"/>
          <p:nvPr/>
        </p:nvSpPr>
        <p:spPr>
          <a:xfrm>
            <a:off x="1175609" y="2011786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SKI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AB238E-A5E1-4937-9796-F3F557CE6877}"/>
              </a:ext>
            </a:extLst>
          </p:cNvPr>
          <p:cNvSpPr txBox="1"/>
          <p:nvPr/>
        </p:nvSpPr>
        <p:spPr>
          <a:xfrm>
            <a:off x="2319954" y="2011786"/>
            <a:ext cx="1955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/Check input flag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7C5FB-021C-4AD3-A191-F5AEFFEC7DC5}"/>
              </a:ext>
            </a:extLst>
          </p:cNvPr>
          <p:cNvSpPr txBox="1"/>
          <p:nvPr/>
        </p:nvSpPr>
        <p:spPr>
          <a:xfrm>
            <a:off x="72365" y="237367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A3AFB-D24E-4B7B-B7D1-50ABDC243912}"/>
              </a:ext>
            </a:extLst>
          </p:cNvPr>
          <p:cNvSpPr txBox="1"/>
          <p:nvPr/>
        </p:nvSpPr>
        <p:spPr>
          <a:xfrm>
            <a:off x="1175609" y="2354562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BUN CIF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B5AAF0-389C-457C-B9FE-DBF7322AE351}"/>
              </a:ext>
            </a:extLst>
          </p:cNvPr>
          <p:cNvSpPr txBox="1"/>
          <p:nvPr/>
        </p:nvSpPr>
        <p:spPr>
          <a:xfrm>
            <a:off x="2319954" y="2373674"/>
            <a:ext cx="3467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/Flag = 0, branch to check again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9D653C-BCDC-4C35-8DA5-CBEBC8477225}"/>
              </a:ext>
            </a:extLst>
          </p:cNvPr>
          <p:cNvSpPr txBox="1"/>
          <p:nvPr/>
        </p:nvSpPr>
        <p:spPr>
          <a:xfrm>
            <a:off x="72365" y="271669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A9DC97-2D2C-4DF2-B420-D7EFF8BCBF58}"/>
              </a:ext>
            </a:extLst>
          </p:cNvPr>
          <p:cNvSpPr txBox="1"/>
          <p:nvPr/>
        </p:nvSpPr>
        <p:spPr>
          <a:xfrm>
            <a:off x="1175609" y="2716696"/>
            <a:ext cx="5469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AC853-0B5A-449D-A395-34F8BC9E6BDB}"/>
              </a:ext>
            </a:extLst>
          </p:cNvPr>
          <p:cNvSpPr txBox="1"/>
          <p:nvPr/>
        </p:nvSpPr>
        <p:spPr>
          <a:xfrm>
            <a:off x="2319954" y="2716696"/>
            <a:ext cx="2794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/Flag = 1, input character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2FB522-F981-446F-ABA4-60D15921243E}"/>
              </a:ext>
            </a:extLst>
          </p:cNvPr>
          <p:cNvSpPr txBox="1"/>
          <p:nvPr/>
        </p:nvSpPr>
        <p:spPr>
          <a:xfrm>
            <a:off x="72365" y="307858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CB7853-C4A0-4C76-9792-5491DABAD4CB}"/>
              </a:ext>
            </a:extLst>
          </p:cNvPr>
          <p:cNvSpPr txBox="1"/>
          <p:nvPr/>
        </p:nvSpPr>
        <p:spPr>
          <a:xfrm>
            <a:off x="1175609" y="3078586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935C26-B7AF-4CDE-9E17-F6DFA167CF56}"/>
              </a:ext>
            </a:extLst>
          </p:cNvPr>
          <p:cNvSpPr txBox="1"/>
          <p:nvPr/>
        </p:nvSpPr>
        <p:spPr>
          <a:xfrm>
            <a:off x="2319954" y="3078586"/>
            <a:ext cx="1828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/Print character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341A50-C877-4E44-AFC2-1AC41CEFF881}"/>
              </a:ext>
            </a:extLst>
          </p:cNvPr>
          <p:cNvSpPr txBox="1"/>
          <p:nvPr/>
        </p:nvSpPr>
        <p:spPr>
          <a:xfrm>
            <a:off x="72365" y="344047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871F82-DCCF-407B-8D02-B81013F5271F}"/>
              </a:ext>
            </a:extLst>
          </p:cNvPr>
          <p:cNvSpPr txBox="1"/>
          <p:nvPr/>
        </p:nvSpPr>
        <p:spPr>
          <a:xfrm>
            <a:off x="467958" y="414538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CHR,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C2CBCF-EA83-4499-86FA-ACC51DC410A1}"/>
              </a:ext>
            </a:extLst>
          </p:cNvPr>
          <p:cNvSpPr txBox="1"/>
          <p:nvPr/>
        </p:nvSpPr>
        <p:spPr>
          <a:xfrm>
            <a:off x="1175609" y="3440476"/>
            <a:ext cx="1049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 CHR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71B4B2-A111-45C3-B646-E4BD64C14273}"/>
              </a:ext>
            </a:extLst>
          </p:cNvPr>
          <p:cNvSpPr txBox="1"/>
          <p:nvPr/>
        </p:nvSpPr>
        <p:spPr>
          <a:xfrm>
            <a:off x="2319954" y="3440476"/>
            <a:ext cx="1879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/Store character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E05EC9-73DD-45C8-AE8B-E74C554DB11C}"/>
              </a:ext>
            </a:extLst>
          </p:cNvPr>
          <p:cNvSpPr txBox="1"/>
          <p:nvPr/>
        </p:nvSpPr>
        <p:spPr>
          <a:xfrm>
            <a:off x="72365" y="378349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7DBBBC-1ABF-47B9-BC8F-CC9C405F6916}"/>
              </a:ext>
            </a:extLst>
          </p:cNvPr>
          <p:cNvSpPr txBox="1"/>
          <p:nvPr/>
        </p:nvSpPr>
        <p:spPr>
          <a:xfrm>
            <a:off x="1175609" y="3783496"/>
            <a:ext cx="558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HLT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F3C9FC-6A3C-4927-A338-64D83AE07657}"/>
              </a:ext>
            </a:extLst>
          </p:cNvPr>
          <p:cNvSpPr txBox="1"/>
          <p:nvPr/>
        </p:nvSpPr>
        <p:spPr>
          <a:xfrm>
            <a:off x="72365" y="414538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9E7694-B12D-4623-B813-6A3C97813DEE}"/>
              </a:ext>
            </a:extLst>
          </p:cNvPr>
          <p:cNvSpPr txBox="1"/>
          <p:nvPr/>
        </p:nvSpPr>
        <p:spPr>
          <a:xfrm>
            <a:off x="1175609" y="4145386"/>
            <a:ext cx="263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E690AA-3C2D-4794-873A-22EF494E96AF}"/>
              </a:ext>
            </a:extLst>
          </p:cNvPr>
          <p:cNvSpPr txBox="1"/>
          <p:nvPr/>
        </p:nvSpPr>
        <p:spPr>
          <a:xfrm>
            <a:off x="2319954" y="4145386"/>
            <a:ext cx="241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/Store character here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C29AC-F65C-4969-B804-F5B5FEF77CE8}"/>
              </a:ext>
            </a:extLst>
          </p:cNvPr>
          <p:cNvSpPr txBox="1"/>
          <p:nvPr/>
        </p:nvSpPr>
        <p:spPr>
          <a:xfrm>
            <a:off x="72365" y="450606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EB391E-B6E1-4458-AABC-FAAFE66F8DD8}"/>
              </a:ext>
            </a:extLst>
          </p:cNvPr>
          <p:cNvSpPr txBox="1"/>
          <p:nvPr/>
        </p:nvSpPr>
        <p:spPr>
          <a:xfrm>
            <a:off x="1175609" y="4506066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A548A5-EA51-4EC7-85AC-4B62ECE196A3}"/>
              </a:ext>
            </a:extLst>
          </p:cNvPr>
          <p:cNvSpPr txBox="1"/>
          <p:nvPr/>
        </p:nvSpPr>
        <p:spPr>
          <a:xfrm>
            <a:off x="544158" y="2011786"/>
            <a:ext cx="542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CIF,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AF64E0-CA76-4E78-BAE8-8850451FE79D}"/>
              </a:ext>
            </a:extLst>
          </p:cNvPr>
          <p:cNvCxnSpPr/>
          <p:nvPr/>
        </p:nvCxnSpPr>
        <p:spPr>
          <a:xfrm flipV="1">
            <a:off x="5849311" y="730311"/>
            <a:ext cx="7289" cy="5769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243D9CA-2D4E-45A8-93E2-A1204F692838}"/>
              </a:ext>
            </a:extLst>
          </p:cNvPr>
          <p:cNvSpPr txBox="1"/>
          <p:nvPr/>
        </p:nvSpPr>
        <p:spPr>
          <a:xfrm>
            <a:off x="6141438" y="16307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9091F6-AD86-4CC7-8B7A-873510605F7C}"/>
              </a:ext>
            </a:extLst>
          </p:cNvPr>
          <p:cNvSpPr txBox="1"/>
          <p:nvPr/>
        </p:nvSpPr>
        <p:spPr>
          <a:xfrm>
            <a:off x="7284438" y="1630784"/>
            <a:ext cx="1100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ORG 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9CB106-0D6D-4142-B7C7-C2EAA3FC52AF}"/>
              </a:ext>
            </a:extLst>
          </p:cNvPr>
          <p:cNvSpPr txBox="1"/>
          <p:nvPr/>
        </p:nvSpPr>
        <p:spPr>
          <a:xfrm>
            <a:off x="8697136" y="1630784"/>
            <a:ext cx="32755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/Origin of program is HEX 100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9CEA4E-FC5B-4D5E-9524-6D3532B44053}"/>
              </a:ext>
            </a:extLst>
          </p:cNvPr>
          <p:cNvSpPr txBox="1"/>
          <p:nvPr/>
        </p:nvSpPr>
        <p:spPr>
          <a:xfrm>
            <a:off x="6141438" y="199267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7E2239-DC4C-48E9-AE30-E739B54EA411}"/>
              </a:ext>
            </a:extLst>
          </p:cNvPr>
          <p:cNvSpPr txBox="1"/>
          <p:nvPr/>
        </p:nvSpPr>
        <p:spPr>
          <a:xfrm>
            <a:off x="7284438" y="1992674"/>
            <a:ext cx="1088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LDA CHR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5C915F-52FF-48C1-B8FE-9F07FC4BC7EA}"/>
              </a:ext>
            </a:extLst>
          </p:cNvPr>
          <p:cNvSpPr txBox="1"/>
          <p:nvPr/>
        </p:nvSpPr>
        <p:spPr>
          <a:xfrm>
            <a:off x="8697136" y="1992674"/>
            <a:ext cx="2636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/Load character into AC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65FD76-7FA9-49B7-9DF5-FABA6B8D1C0E}"/>
              </a:ext>
            </a:extLst>
          </p:cNvPr>
          <p:cNvSpPr txBox="1"/>
          <p:nvPr/>
        </p:nvSpPr>
        <p:spPr>
          <a:xfrm>
            <a:off x="6141438" y="237367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CF6B85-BC3D-43F9-BBE4-8F7AC58602A7}"/>
              </a:ext>
            </a:extLst>
          </p:cNvPr>
          <p:cNvSpPr txBox="1"/>
          <p:nvPr/>
        </p:nvSpPr>
        <p:spPr>
          <a:xfrm>
            <a:off x="7284438" y="2373674"/>
            <a:ext cx="594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SKO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76C846-AC3D-4587-9F9B-498561032823}"/>
              </a:ext>
            </a:extLst>
          </p:cNvPr>
          <p:cNvSpPr txBox="1"/>
          <p:nvPr/>
        </p:nvSpPr>
        <p:spPr>
          <a:xfrm>
            <a:off x="8697136" y="2373674"/>
            <a:ext cx="2117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/Check output flag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FA45A5-5B48-458D-9A9F-E8200AE64173}"/>
              </a:ext>
            </a:extLst>
          </p:cNvPr>
          <p:cNvSpPr txBox="1"/>
          <p:nvPr/>
        </p:nvSpPr>
        <p:spPr>
          <a:xfrm>
            <a:off x="6141438" y="27737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5781CD-C107-439B-B1D4-058449F2B5DD}"/>
              </a:ext>
            </a:extLst>
          </p:cNvPr>
          <p:cNvSpPr txBox="1"/>
          <p:nvPr/>
        </p:nvSpPr>
        <p:spPr>
          <a:xfrm>
            <a:off x="7284438" y="2773784"/>
            <a:ext cx="1134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BUN COF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400B98-62EA-4F60-9D07-5AE0166CD2D8}"/>
              </a:ext>
            </a:extLst>
          </p:cNvPr>
          <p:cNvSpPr txBox="1"/>
          <p:nvPr/>
        </p:nvSpPr>
        <p:spPr>
          <a:xfrm>
            <a:off x="8697136" y="2773784"/>
            <a:ext cx="3467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/Flag = 0, branch to check again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90E952-8218-4ED4-91AD-0DB2205C437D}"/>
              </a:ext>
            </a:extLst>
          </p:cNvPr>
          <p:cNvSpPr txBox="1"/>
          <p:nvPr/>
        </p:nvSpPr>
        <p:spPr>
          <a:xfrm>
            <a:off x="6141438" y="313567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98AE3E-9038-4ECA-AA5B-0CAFFFD53964}"/>
              </a:ext>
            </a:extLst>
          </p:cNvPr>
          <p:cNvSpPr txBox="1"/>
          <p:nvPr/>
        </p:nvSpPr>
        <p:spPr>
          <a:xfrm>
            <a:off x="7284438" y="3135674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E54F79-D9AD-4573-9DA8-BC81675F91B4}"/>
              </a:ext>
            </a:extLst>
          </p:cNvPr>
          <p:cNvSpPr txBox="1"/>
          <p:nvPr/>
        </p:nvSpPr>
        <p:spPr>
          <a:xfrm>
            <a:off x="8697136" y="3135674"/>
            <a:ext cx="2956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/Flag = 1, output character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8DB170-575F-47E8-9DEC-7B1356CC605E}"/>
              </a:ext>
            </a:extLst>
          </p:cNvPr>
          <p:cNvSpPr txBox="1"/>
          <p:nvPr/>
        </p:nvSpPr>
        <p:spPr>
          <a:xfrm>
            <a:off x="6564533" y="3916784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CHR,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365316-54AE-401A-A8B0-F7A28A36F1E6}"/>
              </a:ext>
            </a:extLst>
          </p:cNvPr>
          <p:cNvSpPr txBox="1"/>
          <p:nvPr/>
        </p:nvSpPr>
        <p:spPr>
          <a:xfrm>
            <a:off x="6141438" y="35357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98F83E-E4C4-4C25-85CD-3006783A2105}"/>
              </a:ext>
            </a:extLst>
          </p:cNvPr>
          <p:cNvSpPr txBox="1"/>
          <p:nvPr/>
        </p:nvSpPr>
        <p:spPr>
          <a:xfrm>
            <a:off x="7284438" y="3535784"/>
            <a:ext cx="558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HLT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8411EE-C013-40EF-80D3-A2C304D0B0D5}"/>
              </a:ext>
            </a:extLst>
          </p:cNvPr>
          <p:cNvSpPr txBox="1"/>
          <p:nvPr/>
        </p:nvSpPr>
        <p:spPr>
          <a:xfrm>
            <a:off x="6141438" y="39167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9D1D2E-F97B-40B6-98BE-6D584A3456B9}"/>
              </a:ext>
            </a:extLst>
          </p:cNvPr>
          <p:cNvSpPr txBox="1"/>
          <p:nvPr/>
        </p:nvSpPr>
        <p:spPr>
          <a:xfrm>
            <a:off x="7284438" y="3916784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HEX 0057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F75DA7-5B33-4F91-9CFC-8F336C3F632D}"/>
              </a:ext>
            </a:extLst>
          </p:cNvPr>
          <p:cNvSpPr txBox="1"/>
          <p:nvPr/>
        </p:nvSpPr>
        <p:spPr>
          <a:xfrm>
            <a:off x="8697136" y="3916784"/>
            <a:ext cx="20117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/Character is “W”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617DAF-865F-4884-BA34-F5A298FFD573}"/>
              </a:ext>
            </a:extLst>
          </p:cNvPr>
          <p:cNvSpPr txBox="1"/>
          <p:nvPr/>
        </p:nvSpPr>
        <p:spPr>
          <a:xfrm>
            <a:off x="6141438" y="42977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C1731D-5740-4035-80DA-798F4C7FD43C}"/>
              </a:ext>
            </a:extLst>
          </p:cNvPr>
          <p:cNvSpPr txBox="1"/>
          <p:nvPr/>
        </p:nvSpPr>
        <p:spPr>
          <a:xfrm>
            <a:off x="7284438" y="4297784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END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BCFDAD-CC47-4A34-834F-8AACDB7AE93A}"/>
              </a:ext>
            </a:extLst>
          </p:cNvPr>
          <p:cNvSpPr txBox="1"/>
          <p:nvPr/>
        </p:nvSpPr>
        <p:spPr>
          <a:xfrm>
            <a:off x="6563536" y="2373674"/>
            <a:ext cx="645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COF,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F652D2-61E0-48C2-84E3-AB27017D2FD9}"/>
              </a:ext>
            </a:extLst>
          </p:cNvPr>
          <p:cNvSpPr txBox="1"/>
          <p:nvPr/>
        </p:nvSpPr>
        <p:spPr>
          <a:xfrm>
            <a:off x="1745741" y="1015757"/>
            <a:ext cx="2241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Input Program</a:t>
            </a:r>
            <a:endParaRPr lang="en-IN" sz="2800" b="1" dirty="0">
              <a:solidFill>
                <a:schemeClr val="accent6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E655C1-1FF4-47AB-A438-64F905BBEFBC}"/>
              </a:ext>
            </a:extLst>
          </p:cNvPr>
          <p:cNvSpPr txBox="1"/>
          <p:nvPr/>
        </p:nvSpPr>
        <p:spPr>
          <a:xfrm>
            <a:off x="8028916" y="1007284"/>
            <a:ext cx="2506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Output Program</a:t>
            </a:r>
            <a:endParaRPr lang="en-IN" sz="28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50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5027</TotalTime>
  <Words>1488</Words>
  <Application>Microsoft Office PowerPoint</Application>
  <PresentationFormat>Widescreen</PresentationFormat>
  <Paragraphs>484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Cambria Math</vt:lpstr>
      <vt:lpstr>Wingdings</vt:lpstr>
      <vt:lpstr>Wingdings 3</vt:lpstr>
      <vt:lpstr>Roboto Condensed</vt:lpstr>
      <vt:lpstr>Courier New</vt:lpstr>
      <vt:lpstr>Calibri</vt:lpstr>
      <vt:lpstr>Roboto Condensed Light</vt:lpstr>
      <vt:lpstr>Arial</vt:lpstr>
      <vt:lpstr>Wingdings 2</vt:lpstr>
      <vt:lpstr>Office Theme</vt:lpstr>
      <vt:lpstr>Unit-3  Programming the Basic Computer</vt:lpstr>
      <vt:lpstr>PowerPoint Presentation</vt:lpstr>
      <vt:lpstr>Machine Language</vt:lpstr>
      <vt:lpstr>Categories of programs</vt:lpstr>
      <vt:lpstr>Categories of programs</vt:lpstr>
      <vt:lpstr>Assembly Language</vt:lpstr>
      <vt:lpstr>Pseudo Instruction</vt:lpstr>
      <vt:lpstr>Assembler</vt:lpstr>
      <vt:lpstr>Assembler</vt:lpstr>
      <vt:lpstr>A.L.P. to subtract 2 numbers</vt:lpstr>
      <vt:lpstr>First Pass of an assembler</vt:lpstr>
      <vt:lpstr>PowerPoint Presentation</vt:lpstr>
      <vt:lpstr>Program loops</vt:lpstr>
      <vt:lpstr>Program Loops</vt:lpstr>
      <vt:lpstr>A.L.P. to add 100 numbers</vt:lpstr>
      <vt:lpstr>A.L.P. to clear the contents of hex locations 500 to 5FF with 0</vt:lpstr>
      <vt:lpstr>Programming Arithmetic and Logic operations</vt:lpstr>
      <vt:lpstr>A.L.P. to Add Two Double-Precision Numbers</vt:lpstr>
      <vt:lpstr>Subroutines</vt:lpstr>
      <vt:lpstr>Subroutine with example</vt:lpstr>
      <vt:lpstr>I-O Programming</vt:lpstr>
      <vt:lpstr>A.L.P. to input one character &amp; output one character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423</cp:revision>
  <dcterms:created xsi:type="dcterms:W3CDTF">2020-05-01T05:09:15Z</dcterms:created>
  <dcterms:modified xsi:type="dcterms:W3CDTF">2025-08-28T08:52:30Z</dcterms:modified>
</cp:coreProperties>
</file>