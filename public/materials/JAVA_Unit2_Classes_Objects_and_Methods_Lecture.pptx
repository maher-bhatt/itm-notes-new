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0"/>
  </p:notesMasterIdLst>
  <p:sldIdLst>
    <p:sldId id="256" r:id="rId2"/>
    <p:sldId id="257" r:id="rId3"/>
    <p:sldId id="258" r:id="rId4"/>
    <p:sldId id="259" r:id="rId5"/>
    <p:sldId id="260" r:id="rId6"/>
    <p:sldId id="261"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305" r:id="rId31"/>
    <p:sldId id="287" r:id="rId32"/>
    <p:sldId id="306"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3" r:id="rId76"/>
    <p:sldId id="332" r:id="rId77"/>
    <p:sldId id="334" r:id="rId78"/>
    <p:sldId id="343" r:id="rId79"/>
    <p:sldId id="344" r:id="rId80"/>
    <p:sldId id="335" r:id="rId81"/>
    <p:sldId id="345" r:id="rId82"/>
    <p:sldId id="337" r:id="rId83"/>
    <p:sldId id="338" r:id="rId84"/>
    <p:sldId id="339" r:id="rId85"/>
    <p:sldId id="336" r:id="rId86"/>
    <p:sldId id="340" r:id="rId87"/>
    <p:sldId id="341" r:id="rId88"/>
    <p:sldId id="342" r:id="rId89"/>
  </p:sldIdLst>
  <p:sldSz cx="9144000" cy="5143500" type="screen16x9"/>
  <p:notesSz cx="6858000" cy="9144000"/>
  <p:embeddedFontLst>
    <p:embeddedFont>
      <p:font typeface="Open Sans" panose="020B0606030504020204" pitchFamily="34" charset="0"/>
      <p:regular r:id="rId91"/>
      <p:bold r:id="rId92"/>
      <p:italic r:id="rId93"/>
      <p:boldItalic r:id="rId94"/>
    </p:embeddedFont>
    <p:embeddedFont>
      <p:font typeface="PT Sans Narrow" panose="020B0506020203020204" pitchFamily="34" charset="0"/>
      <p:regular r:id="rId95"/>
      <p:bold r:id="rId9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4.fntdata"/><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3.fntdata"/><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6831502b3_0_8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6831502b3_0_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76831502b3_0_8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76831502b3_0_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76831502b3_0_8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76831502b3_0_8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76356c8f18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76356c8f18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76356c8f18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76356c8f18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76356c8f18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76356c8f18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6356c8f18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76356c8f18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76356c8f18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76356c8f18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76356c8f18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76356c8f18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76356c8f18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76356c8f18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76356c8f18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76356c8f18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76356c8f18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76356c8f18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76356c8f18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76356c8f18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76831502b3_0_8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76831502b3_0_8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76356c8f1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76356c8f1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76356c8f18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76356c8f1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76356c8f18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76356c8f1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76356c8f18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76356c8f1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76356c8f18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76356c8f18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76356c8f18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76356c8f1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76356c8f18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76356c8f18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76356c8f18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76356c8f1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76356c8f18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76356c8f18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76356c8f18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76356c8f18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76356c8f18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76356c8f18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76356c8f18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76356c8f18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76356c8f18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76356c8f18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76356c8f18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76356c8f18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199B71D3-D944-2040-EDD5-DFD2A3E43452}"/>
            </a:ext>
          </a:extLst>
        </p:cNvPr>
        <p:cNvGrpSpPr/>
        <p:nvPr/>
      </p:nvGrpSpPr>
      <p:grpSpPr>
        <a:xfrm>
          <a:off x="0" y="0"/>
          <a:ext cx="0" cy="0"/>
          <a:chOff x="0" y="0"/>
          <a:chExt cx="0" cy="0"/>
        </a:xfrm>
      </p:grpSpPr>
      <p:sp>
        <p:nvSpPr>
          <p:cNvPr id="260" name="Google Shape;260;g376356c8f18_0_222:notes">
            <a:extLst>
              <a:ext uri="{FF2B5EF4-FFF2-40B4-BE49-F238E27FC236}">
                <a16:creationId xmlns:a16="http://schemas.microsoft.com/office/drawing/2014/main" id="{7A5FE776-AC8F-BB83-5781-A27DD17449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76356c8f18_0_222:notes">
            <a:extLst>
              <a:ext uri="{FF2B5EF4-FFF2-40B4-BE49-F238E27FC236}">
                <a16:creationId xmlns:a16="http://schemas.microsoft.com/office/drawing/2014/main" id="{53A34DC9-30B9-04F5-61F8-06C0AB578C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55076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76356c8f18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76356c8f18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a:extLst>
            <a:ext uri="{FF2B5EF4-FFF2-40B4-BE49-F238E27FC236}">
              <a16:creationId xmlns:a16="http://schemas.microsoft.com/office/drawing/2014/main" id="{7AC2CD5E-57D7-361D-2F71-353B935A4EC2}"/>
            </a:ext>
          </a:extLst>
        </p:cNvPr>
        <p:cNvGrpSpPr/>
        <p:nvPr/>
      </p:nvGrpSpPr>
      <p:grpSpPr>
        <a:xfrm>
          <a:off x="0" y="0"/>
          <a:ext cx="0" cy="0"/>
          <a:chOff x="0" y="0"/>
          <a:chExt cx="0" cy="0"/>
        </a:xfrm>
      </p:grpSpPr>
      <p:sp>
        <p:nvSpPr>
          <p:cNvPr id="266" name="Google Shape;266;g376356c8f18_0_204:notes">
            <a:extLst>
              <a:ext uri="{FF2B5EF4-FFF2-40B4-BE49-F238E27FC236}">
                <a16:creationId xmlns:a16="http://schemas.microsoft.com/office/drawing/2014/main" id="{300DF191-DBCA-8566-C555-BC642FC3D9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76356c8f18_0_204:notes">
            <a:extLst>
              <a:ext uri="{FF2B5EF4-FFF2-40B4-BE49-F238E27FC236}">
                <a16:creationId xmlns:a16="http://schemas.microsoft.com/office/drawing/2014/main" id="{477C9232-ACC0-E28A-7BD9-36ED7EA875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08320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76356c8f18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76356c8f18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76356c8f18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76356c8f18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76356c8f18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76356c8f18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6356c8f18_0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76356c8f18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76356c8f18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76356c8f18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76356c8f18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76356c8f18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76356c8f18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76356c8f18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76356c8f18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76356c8f18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76356c8f18_0_2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76356c8f18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76356c8f18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76356c8f18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76356c8f18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76356c8f18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76356c8f18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76356c8f18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76356c8f18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76356c8f18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76356c8f18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76356c8f18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76356c8f18_0_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76356c8f18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76356c8f18_0_3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76356c8f18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76356c8f18_0_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76356c8f18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Unit-2</a:t>
            </a:r>
            <a:endParaRPr/>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700" b="1">
                <a:solidFill>
                  <a:schemeClr val="accent1"/>
                </a:solidFill>
              </a:rPr>
              <a:t>Classes,Objects &amp; methods</a:t>
            </a:r>
            <a:endParaRPr sz="2700" b="1">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Object oriented programming(OOP)</a:t>
            </a:r>
            <a:endParaRPr/>
          </a:p>
        </p:txBody>
      </p:sp>
      <p:sp>
        <p:nvSpPr>
          <p:cNvPr id="73" name="Google Shape;73;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rgbClr val="666666"/>
                </a:solidFill>
                <a:highlight>
                  <a:schemeClr val="lt1"/>
                </a:highlight>
              </a:rPr>
              <a:t>Object-Oriented Programming (OOP) is a programming paradigm that revolves around the concept of "objects." In OOP, you structure your code using objects, which are instances of classes. </a:t>
            </a:r>
            <a:endParaRPr sz="1700">
              <a:solidFill>
                <a:srgbClr val="666666"/>
              </a:solidFill>
              <a:highlight>
                <a:schemeClr val="lt1"/>
              </a:highlight>
            </a:endParaRPr>
          </a:p>
          <a:p>
            <a:pPr marL="0" lvl="0" indent="0" algn="l" rtl="0">
              <a:spcBef>
                <a:spcPts val="1200"/>
              </a:spcBef>
              <a:spcAft>
                <a:spcPts val="0"/>
              </a:spcAft>
              <a:buNone/>
            </a:pPr>
            <a:r>
              <a:rPr lang="en" sz="1700">
                <a:solidFill>
                  <a:srgbClr val="666666"/>
                </a:solidFill>
                <a:highlight>
                  <a:schemeClr val="lt1"/>
                </a:highlight>
              </a:rPr>
              <a:t>A class is a blueprint or template for creating objects that share common properties (attributes) and behaviors (methods).</a:t>
            </a:r>
            <a:endParaRPr sz="1700">
              <a:solidFill>
                <a:srgbClr val="666666"/>
              </a:solidFill>
              <a:highlight>
                <a:schemeClr val="lt1"/>
              </a:highlight>
            </a:endParaRPr>
          </a:p>
          <a:p>
            <a:pPr marL="0" lvl="0" indent="0" algn="l" rtl="0">
              <a:spcBef>
                <a:spcPts val="1200"/>
              </a:spcBef>
              <a:spcAft>
                <a:spcPts val="0"/>
              </a:spcAft>
              <a:buNone/>
            </a:pPr>
            <a:r>
              <a:rPr lang="en" sz="1700">
                <a:solidFill>
                  <a:srgbClr val="666666"/>
                </a:solidFill>
                <a:highlight>
                  <a:schemeClr val="lt1"/>
                </a:highlight>
              </a:rPr>
              <a:t>There are four basic principles of OOP:</a:t>
            </a:r>
            <a:endParaRPr sz="1700">
              <a:solidFill>
                <a:srgbClr val="666666"/>
              </a:solidFill>
              <a:highlight>
                <a:schemeClr val="lt1"/>
              </a:highlight>
            </a:endParaRPr>
          </a:p>
          <a:p>
            <a:pPr marL="457200" lvl="0" indent="-336550" algn="l" rtl="0">
              <a:spcBef>
                <a:spcPts val="1200"/>
              </a:spcBef>
              <a:spcAft>
                <a:spcPts val="0"/>
              </a:spcAft>
              <a:buClr>
                <a:srgbClr val="666666"/>
              </a:buClr>
              <a:buSzPts val="1700"/>
              <a:buAutoNum type="arabicPeriod"/>
            </a:pPr>
            <a:r>
              <a:rPr lang="en" sz="1700">
                <a:solidFill>
                  <a:srgbClr val="666666"/>
                </a:solidFill>
                <a:highlight>
                  <a:schemeClr val="lt1"/>
                </a:highlight>
              </a:rPr>
              <a:t>Encapsulation</a:t>
            </a:r>
            <a:endParaRPr sz="1700">
              <a:solidFill>
                <a:srgbClr val="666666"/>
              </a:solidFill>
              <a:highlight>
                <a:schemeClr val="lt1"/>
              </a:highlight>
            </a:endParaRPr>
          </a:p>
          <a:p>
            <a:pPr marL="457200" lvl="0" indent="-336550" algn="l" rtl="0">
              <a:spcBef>
                <a:spcPts val="0"/>
              </a:spcBef>
              <a:spcAft>
                <a:spcPts val="0"/>
              </a:spcAft>
              <a:buClr>
                <a:srgbClr val="666666"/>
              </a:buClr>
              <a:buSzPts val="1700"/>
              <a:buAutoNum type="arabicPeriod"/>
            </a:pPr>
            <a:r>
              <a:rPr lang="en" sz="1700">
                <a:solidFill>
                  <a:srgbClr val="666666"/>
                </a:solidFill>
                <a:highlight>
                  <a:schemeClr val="lt1"/>
                </a:highlight>
              </a:rPr>
              <a:t>Inheritance</a:t>
            </a:r>
            <a:endParaRPr sz="1700">
              <a:solidFill>
                <a:srgbClr val="666666"/>
              </a:solidFill>
              <a:highlight>
                <a:schemeClr val="lt1"/>
              </a:highlight>
            </a:endParaRPr>
          </a:p>
          <a:p>
            <a:pPr marL="457200" lvl="0" indent="-336550" algn="l" rtl="0">
              <a:spcBef>
                <a:spcPts val="0"/>
              </a:spcBef>
              <a:spcAft>
                <a:spcPts val="0"/>
              </a:spcAft>
              <a:buClr>
                <a:srgbClr val="666666"/>
              </a:buClr>
              <a:buSzPts val="1700"/>
              <a:buAutoNum type="arabicPeriod"/>
            </a:pPr>
            <a:r>
              <a:rPr lang="en" sz="1700">
                <a:solidFill>
                  <a:srgbClr val="666666"/>
                </a:solidFill>
                <a:highlight>
                  <a:schemeClr val="lt1"/>
                </a:highlight>
              </a:rPr>
              <a:t>Abstraction</a:t>
            </a:r>
            <a:endParaRPr sz="1700">
              <a:solidFill>
                <a:srgbClr val="666666"/>
              </a:solidFill>
              <a:highlight>
                <a:schemeClr val="lt1"/>
              </a:highlight>
            </a:endParaRPr>
          </a:p>
          <a:p>
            <a:pPr marL="457200" lvl="0" indent="-336550" algn="l" rtl="0">
              <a:spcBef>
                <a:spcPts val="0"/>
              </a:spcBef>
              <a:spcAft>
                <a:spcPts val="0"/>
              </a:spcAft>
              <a:buClr>
                <a:srgbClr val="666666"/>
              </a:buClr>
              <a:buSzPts val="1700"/>
              <a:buAutoNum type="arabicPeriod"/>
            </a:pPr>
            <a:r>
              <a:rPr lang="en" sz="1700">
                <a:solidFill>
                  <a:srgbClr val="666666"/>
                </a:solidFill>
                <a:highlight>
                  <a:schemeClr val="lt1"/>
                </a:highlight>
              </a:rPr>
              <a:t>Polymorphism</a:t>
            </a:r>
            <a:endParaRPr sz="1700">
              <a:solidFill>
                <a:srgbClr val="666666"/>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OOP Principles</a:t>
            </a:r>
            <a:endParaRPr/>
          </a:p>
        </p:txBody>
      </p:sp>
      <p:sp>
        <p:nvSpPr>
          <p:cNvPr id="79" name="Google Shape;79;p1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b="1">
                <a:solidFill>
                  <a:srgbClr val="666666"/>
                </a:solidFill>
                <a:highlight>
                  <a:schemeClr val="lt1"/>
                </a:highlight>
              </a:rPr>
              <a:t>Encapsulation:</a:t>
            </a:r>
            <a:r>
              <a:rPr lang="en">
                <a:solidFill>
                  <a:srgbClr val="666666"/>
                </a:solidFill>
                <a:highlight>
                  <a:schemeClr val="lt1"/>
                </a:highlight>
              </a:rPr>
              <a:t> Encapsulation refers to the practice of bundling data (attributes) and the methods (functions) that operate on that data into a single unit called a class. This provides data hiding and allows for controlled access to the internal state of objects. By encapsulating data, you can control how it's manipulated and prevent unintended interference.</a:t>
            </a:r>
            <a:endParaRPr>
              <a:solidFill>
                <a:srgbClr val="666666"/>
              </a:solidFill>
              <a:highlight>
                <a:schemeClr val="lt1"/>
              </a:highlight>
            </a:endParaRPr>
          </a:p>
          <a:p>
            <a:pPr marL="0" lvl="0" indent="0" algn="l" rtl="0">
              <a:spcBef>
                <a:spcPts val="1500"/>
              </a:spcBef>
              <a:spcAft>
                <a:spcPts val="1500"/>
              </a:spcAft>
              <a:buNone/>
            </a:pPr>
            <a:r>
              <a:rPr lang="en" b="1">
                <a:solidFill>
                  <a:srgbClr val="666666"/>
                </a:solidFill>
                <a:highlight>
                  <a:schemeClr val="lt1"/>
                </a:highlight>
              </a:rPr>
              <a:t>Inheritance:</a:t>
            </a:r>
            <a:r>
              <a:rPr lang="en">
                <a:solidFill>
                  <a:srgbClr val="666666"/>
                </a:solidFill>
                <a:highlight>
                  <a:schemeClr val="lt1"/>
                </a:highlight>
              </a:rPr>
              <a:t> Inheritance allows you to create a new class (subclass or derived class) that inherits attributes and behaviors from an existing class (superclass or base class). This promotes code reuse and allows you to create specialized classes based on a more general template.</a:t>
            </a:r>
            <a:endParaRPr>
              <a:solidFill>
                <a:srgbClr val="666666"/>
              </a:solidFill>
              <a:highlight>
                <a:schemeClr val="lt1"/>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OOP Principles</a:t>
            </a:r>
            <a:endParaRPr/>
          </a:p>
        </p:txBody>
      </p:sp>
      <p:sp>
        <p:nvSpPr>
          <p:cNvPr id="85" name="Google Shape;85;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None/>
            </a:pPr>
            <a:r>
              <a:rPr lang="en" b="1">
                <a:solidFill>
                  <a:srgbClr val="666666"/>
                </a:solidFill>
                <a:highlight>
                  <a:schemeClr val="lt1"/>
                </a:highlight>
              </a:rPr>
              <a:t>Polymorphism:</a:t>
            </a:r>
            <a:r>
              <a:rPr lang="en">
                <a:solidFill>
                  <a:srgbClr val="666666"/>
                </a:solidFill>
                <a:highlight>
                  <a:schemeClr val="lt1"/>
                </a:highlight>
              </a:rPr>
              <a:t> Polymorphism means the ability of objects of different classes to be treated as objects of a common superclass. It allows you to define a single interface or method signature that multiple classes can implement in their own way. This promotes flexibility and extensibility in your code.</a:t>
            </a:r>
            <a:endParaRPr>
              <a:solidFill>
                <a:srgbClr val="666666"/>
              </a:solidFill>
              <a:highlight>
                <a:schemeClr val="lt1"/>
              </a:highlight>
            </a:endParaRPr>
          </a:p>
          <a:p>
            <a:pPr marL="0" lvl="0" indent="0" algn="l" rtl="0">
              <a:spcBef>
                <a:spcPts val="1500"/>
              </a:spcBef>
              <a:spcAft>
                <a:spcPts val="0"/>
              </a:spcAft>
              <a:buNone/>
            </a:pPr>
            <a:r>
              <a:rPr lang="en" b="1">
                <a:solidFill>
                  <a:srgbClr val="666666"/>
                </a:solidFill>
                <a:highlight>
                  <a:schemeClr val="lt1"/>
                </a:highlight>
              </a:rPr>
              <a:t>Abstraction:</a:t>
            </a:r>
            <a:r>
              <a:rPr lang="en">
                <a:solidFill>
                  <a:srgbClr val="666666"/>
                </a:solidFill>
                <a:highlight>
                  <a:schemeClr val="lt1"/>
                </a:highlight>
              </a:rPr>
              <a:t> Abstraction involves simplifying complex reality by modeling classes based on their essential characteristics. It allows you to focus on the necessary features while hiding unnecessary details. Abstraction helps manage complexity and makes code more manageable.</a:t>
            </a:r>
            <a:endParaRPr>
              <a:solidFill>
                <a:srgbClr val="666666"/>
              </a:solidFill>
              <a:highlight>
                <a:schemeClr val="lt1"/>
              </a:highlight>
            </a:endParaRPr>
          </a:p>
          <a:p>
            <a:pPr marL="457200" lvl="0" indent="-228600" algn="l" rtl="0">
              <a:spcBef>
                <a:spcPts val="1500"/>
              </a:spcBef>
              <a:spcAft>
                <a:spcPts val="0"/>
              </a:spcAft>
              <a:buClr>
                <a:srgbClr val="666666"/>
              </a:buClr>
              <a:buSzPts val="1800"/>
              <a:buFont typeface="Open Sans"/>
              <a:buNone/>
            </a:pPr>
            <a:endParaRPr>
              <a:solidFill>
                <a:srgbClr val="666666"/>
              </a:solidFill>
              <a:highlight>
                <a:schemeClr val="lt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Encapsulation</a:t>
            </a:r>
            <a:endParaRPr/>
          </a:p>
        </p:txBody>
      </p:sp>
      <p:sp>
        <p:nvSpPr>
          <p:cNvPr id="91" name="Google Shape;91;p1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10000"/>
          </a:bodyPr>
          <a:lstStyle/>
          <a:p>
            <a:pPr marL="457200" lvl="0" indent="-325755" algn="just" rtl="0">
              <a:spcBef>
                <a:spcPts val="100"/>
              </a:spcBef>
              <a:spcAft>
                <a:spcPts val="0"/>
              </a:spcAft>
              <a:buSzPct val="69231"/>
              <a:buFont typeface="Arial"/>
              <a:buChar char="●"/>
            </a:pPr>
            <a:r>
              <a:rPr lang="en" sz="2600" dirty="0">
                <a:solidFill>
                  <a:srgbClr val="000000"/>
                </a:solidFill>
                <a:latin typeface="Arial"/>
                <a:ea typeface="Arial"/>
                <a:cs typeface="Arial"/>
                <a:sym typeface="Arial"/>
              </a:rPr>
              <a:t>Encapsulation is one of  the four fundamental OOP concepts.</a:t>
            </a:r>
            <a:endParaRPr sz="2600" dirty="0">
              <a:solidFill>
                <a:srgbClr val="000000"/>
              </a:solidFill>
              <a:latin typeface="Arial"/>
              <a:ea typeface="Arial"/>
              <a:cs typeface="Arial"/>
              <a:sym typeface="Arial"/>
            </a:endParaRPr>
          </a:p>
          <a:p>
            <a:pPr marL="457200" lvl="0" indent="-325755" algn="just" rtl="0">
              <a:spcBef>
                <a:spcPts val="0"/>
              </a:spcBef>
              <a:spcAft>
                <a:spcPts val="0"/>
              </a:spcAft>
              <a:buSzPct val="69231"/>
              <a:buFont typeface="Arial"/>
              <a:buChar char="●"/>
            </a:pPr>
            <a:r>
              <a:rPr lang="en" sz="2600" dirty="0">
                <a:solidFill>
                  <a:srgbClr val="FF0000"/>
                </a:solidFill>
                <a:latin typeface="Arial"/>
                <a:ea typeface="Arial"/>
                <a:cs typeface="Arial"/>
                <a:sym typeface="Arial"/>
              </a:rPr>
              <a:t>The wrapping of Data and Methods into a single unit (called class) ika Encapsulation.</a:t>
            </a:r>
            <a:endParaRPr sz="2600" dirty="0">
              <a:solidFill>
                <a:srgbClr val="FF0000"/>
              </a:solidFill>
              <a:latin typeface="Arial"/>
              <a:ea typeface="Arial"/>
              <a:cs typeface="Arial"/>
              <a:sym typeface="Arial"/>
            </a:endParaRPr>
          </a:p>
          <a:p>
            <a:pPr marL="457200" lvl="0" indent="-325755" algn="just" rtl="0">
              <a:spcBef>
                <a:spcPts val="0"/>
              </a:spcBef>
              <a:spcAft>
                <a:spcPts val="0"/>
              </a:spcAft>
              <a:buSzPct val="69231"/>
              <a:buFont typeface="Arial"/>
              <a:buChar char="●"/>
            </a:pPr>
            <a:r>
              <a:rPr lang="en" sz="2600" dirty="0">
                <a:solidFill>
                  <a:srgbClr val="000000"/>
                </a:solidFill>
                <a:latin typeface="Arial"/>
                <a:ea typeface="Arial"/>
                <a:cs typeface="Arial"/>
                <a:sym typeface="Arial"/>
              </a:rPr>
              <a:t>Encapsulation is the technique of making the fields in a class private and providing access to the fields via public methods.</a:t>
            </a:r>
            <a:endParaRPr sz="2600" dirty="0">
              <a:solidFill>
                <a:srgbClr val="000000"/>
              </a:solidFill>
              <a:latin typeface="Arial"/>
              <a:ea typeface="Arial"/>
              <a:cs typeface="Arial"/>
              <a:sym typeface="Arial"/>
            </a:endParaRPr>
          </a:p>
          <a:p>
            <a:pPr marL="457200" lvl="0" indent="-325755" algn="just" rtl="0">
              <a:spcBef>
                <a:spcPts val="0"/>
              </a:spcBef>
              <a:spcAft>
                <a:spcPts val="0"/>
              </a:spcAft>
              <a:buSzPct val="69231"/>
              <a:buFont typeface="Arial"/>
              <a:buChar char="●"/>
            </a:pPr>
            <a:r>
              <a:rPr lang="en" sz="2600" dirty="0">
                <a:solidFill>
                  <a:srgbClr val="000000"/>
                </a:solidFill>
                <a:latin typeface="Arial"/>
                <a:ea typeface="Arial"/>
                <a:cs typeface="Arial"/>
                <a:sym typeface="Arial"/>
              </a:rPr>
              <a:t>If a field is declared private, it cannot be accessed by anyone outside the class, thereby hiding the fields within the class. For this reason, encapsulation is also referred to  </a:t>
            </a:r>
            <a:r>
              <a:rPr lang="en" sz="2600" b="1" dirty="0">
                <a:solidFill>
                  <a:srgbClr val="FF0000"/>
                </a:solidFill>
                <a:latin typeface="Arial"/>
                <a:ea typeface="Arial"/>
                <a:cs typeface="Arial"/>
                <a:sym typeface="Arial"/>
              </a:rPr>
              <a:t>data hiding</a:t>
            </a:r>
            <a:r>
              <a:rPr lang="en" sz="2600" dirty="0">
                <a:solidFill>
                  <a:srgbClr val="000000"/>
                </a:solidFill>
                <a:latin typeface="Arial"/>
                <a:ea typeface="Arial"/>
                <a:cs typeface="Arial"/>
                <a:sym typeface="Arial"/>
              </a:rPr>
              <a: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Encapsulation (Cont..)</a:t>
            </a:r>
            <a:endParaRPr/>
          </a:p>
        </p:txBody>
      </p:sp>
      <p:sp>
        <p:nvSpPr>
          <p:cNvPr id="97" name="Google Shape;97;p1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17183" algn="just" rtl="0">
              <a:spcBef>
                <a:spcPts val="100"/>
              </a:spcBef>
              <a:spcAft>
                <a:spcPts val="0"/>
              </a:spcAft>
              <a:buSzPct val="62069"/>
              <a:buFont typeface="Arial"/>
              <a:buChar char="●"/>
            </a:pPr>
            <a:r>
              <a:rPr lang="en" sz="2900" dirty="0">
                <a:solidFill>
                  <a:srgbClr val="000000"/>
                </a:solidFill>
                <a:latin typeface="Arial"/>
                <a:ea typeface="Arial"/>
                <a:cs typeface="Arial"/>
                <a:sym typeface="Arial"/>
              </a:rPr>
              <a:t>Encapsulation can be described as a protective barrier that prevents the code and data being randomly accessed by other code defined outside the class. Access to the data and code is tightly controlled by an interface.</a:t>
            </a:r>
            <a:endParaRPr sz="2900" dirty="0">
              <a:solidFill>
                <a:srgbClr val="000000"/>
              </a:solidFill>
              <a:latin typeface="Arial"/>
              <a:ea typeface="Arial"/>
              <a:cs typeface="Arial"/>
              <a:sym typeface="Arial"/>
            </a:endParaRPr>
          </a:p>
          <a:p>
            <a:pPr marL="457200" lvl="0" indent="-317183" algn="just" rtl="0">
              <a:spcBef>
                <a:spcPts val="0"/>
              </a:spcBef>
              <a:spcAft>
                <a:spcPts val="0"/>
              </a:spcAft>
              <a:buSzPct val="62069"/>
              <a:buFont typeface="Arial"/>
              <a:buChar char="●"/>
            </a:pPr>
            <a:r>
              <a:rPr lang="en" sz="2900" dirty="0">
                <a:solidFill>
                  <a:srgbClr val="000000"/>
                </a:solidFill>
                <a:latin typeface="Arial"/>
                <a:ea typeface="Arial"/>
                <a:cs typeface="Arial"/>
                <a:sym typeface="Arial"/>
              </a:rPr>
              <a:t>The main benefit of encapsulation is the ability to modify our implemented code without breaking the code of others who use our code. With this feature Encapsulation gives maintainability, flexibility and extensibility to our code.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110" name="Google Shape;110;p20"/>
          <p:cNvPicPr preferRelativeResize="0"/>
          <p:nvPr/>
        </p:nvPicPr>
        <p:blipFill>
          <a:blip r:embed="rId3">
            <a:alphaModFix/>
          </a:blip>
          <a:stretch>
            <a:fillRect/>
          </a:stretch>
        </p:blipFill>
        <p:spPr>
          <a:xfrm>
            <a:off x="311700" y="1266325"/>
            <a:ext cx="3893849" cy="3414751"/>
          </a:xfrm>
          <a:prstGeom prst="rect">
            <a:avLst/>
          </a:prstGeom>
          <a:noFill/>
          <a:ln>
            <a:noFill/>
          </a:ln>
        </p:spPr>
      </p:pic>
      <p:pic>
        <p:nvPicPr>
          <p:cNvPr id="111" name="Google Shape;111;p20"/>
          <p:cNvPicPr preferRelativeResize="0"/>
          <p:nvPr/>
        </p:nvPicPr>
        <p:blipFill>
          <a:blip r:embed="rId4">
            <a:alphaModFix/>
          </a:blip>
          <a:stretch>
            <a:fillRect/>
          </a:stretch>
        </p:blipFill>
        <p:spPr>
          <a:xfrm>
            <a:off x="387900" y="1266325"/>
            <a:ext cx="3726025" cy="3414750"/>
          </a:xfrm>
          <a:prstGeom prst="rect">
            <a:avLst/>
          </a:prstGeom>
          <a:noFill/>
          <a:ln>
            <a:noFill/>
          </a:ln>
        </p:spPr>
      </p:pic>
      <p:pic>
        <p:nvPicPr>
          <p:cNvPr id="112" name="Google Shape;112;p20"/>
          <p:cNvPicPr preferRelativeResize="0"/>
          <p:nvPr/>
        </p:nvPicPr>
        <p:blipFill>
          <a:blip r:embed="rId5">
            <a:alphaModFix/>
          </a:blip>
          <a:stretch>
            <a:fillRect/>
          </a:stretch>
        </p:blipFill>
        <p:spPr>
          <a:xfrm>
            <a:off x="4925375" y="1266325"/>
            <a:ext cx="3816475" cy="34147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Inheritance</a:t>
            </a:r>
            <a:endParaRPr/>
          </a:p>
        </p:txBody>
      </p:sp>
      <p:sp>
        <p:nvSpPr>
          <p:cNvPr id="118" name="Google Shape;118;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17183" algn="just" rtl="0">
              <a:spcBef>
                <a:spcPts val="10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Inheritance can be defined as the process where one object acquires the properties of another. With the use of inheritance the information is made manageable in a hierarchical order.</a:t>
            </a:r>
            <a:endParaRPr sz="2900">
              <a:solidFill>
                <a:srgbClr val="000000"/>
              </a:solidFill>
              <a:latin typeface="Arial"/>
              <a:ea typeface="Arial"/>
              <a:cs typeface="Arial"/>
              <a:sym typeface="Arial"/>
            </a:endParaRPr>
          </a:p>
          <a:p>
            <a:pPr marL="457200" lvl="0" indent="-317183"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When we talk about inheritance the most commonly used keyword would be </a:t>
            </a:r>
            <a:r>
              <a:rPr lang="en" sz="2900" b="1">
                <a:solidFill>
                  <a:srgbClr val="000000"/>
                </a:solidFill>
                <a:latin typeface="Arial"/>
                <a:ea typeface="Arial"/>
                <a:cs typeface="Arial"/>
                <a:sym typeface="Arial"/>
              </a:rPr>
              <a:t>extends </a:t>
            </a:r>
            <a:r>
              <a:rPr lang="en" sz="2900">
                <a:solidFill>
                  <a:srgbClr val="000000"/>
                </a:solidFill>
                <a:latin typeface="Arial"/>
                <a:ea typeface="Arial"/>
                <a:cs typeface="Arial"/>
                <a:sym typeface="Arial"/>
              </a:rPr>
              <a:t>and </a:t>
            </a:r>
            <a:r>
              <a:rPr lang="en" sz="2900" b="1">
                <a:solidFill>
                  <a:srgbClr val="000000"/>
                </a:solidFill>
                <a:latin typeface="Arial"/>
                <a:ea typeface="Arial"/>
                <a:cs typeface="Arial"/>
                <a:sym typeface="Arial"/>
              </a:rPr>
              <a:t>implements</a:t>
            </a:r>
            <a:r>
              <a:rPr lang="en" sz="2900">
                <a:solidFill>
                  <a:srgbClr val="000000"/>
                </a:solidFill>
                <a:latin typeface="Arial"/>
                <a:ea typeface="Arial"/>
                <a:cs typeface="Arial"/>
                <a:sym typeface="Arial"/>
              </a:rPr>
              <a:t>.</a:t>
            </a:r>
            <a:endParaRPr sz="2900">
              <a:solidFill>
                <a:srgbClr val="000000"/>
              </a:solidFill>
              <a:latin typeface="Arial"/>
              <a:ea typeface="Arial"/>
              <a:cs typeface="Arial"/>
              <a:sym typeface="Arial"/>
            </a:endParaRPr>
          </a:p>
          <a:p>
            <a:pPr marL="457200" lvl="0" indent="-317183"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These words would determine whether one object IS-A type of another. By using these keywords we can make one object acquire the properties of another object.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124" name="Google Shape;124;p22"/>
          <p:cNvPicPr preferRelativeResize="0"/>
          <p:nvPr/>
        </p:nvPicPr>
        <p:blipFill>
          <a:blip r:embed="rId3">
            <a:alphaModFix/>
          </a:blip>
          <a:stretch>
            <a:fillRect/>
          </a:stretch>
        </p:blipFill>
        <p:spPr>
          <a:xfrm>
            <a:off x="1143000" y="1422200"/>
            <a:ext cx="6491501" cy="25521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130" name="Google Shape;130;p23"/>
          <p:cNvPicPr preferRelativeResize="0"/>
          <p:nvPr/>
        </p:nvPicPr>
        <p:blipFill>
          <a:blip r:embed="rId3">
            <a:alphaModFix/>
          </a:blip>
          <a:stretch>
            <a:fillRect/>
          </a:stretch>
        </p:blipFill>
        <p:spPr>
          <a:xfrm>
            <a:off x="413825" y="1266325"/>
            <a:ext cx="7835851" cy="3302701"/>
          </a:xfrm>
          <a:prstGeom prst="rect">
            <a:avLst/>
          </a:prstGeom>
          <a:noFill/>
          <a:ln>
            <a:noFill/>
          </a:ln>
        </p:spPr>
      </p:pic>
      <p:pic>
        <p:nvPicPr>
          <p:cNvPr id="131" name="Google Shape;131;p23"/>
          <p:cNvPicPr preferRelativeResize="0"/>
          <p:nvPr/>
        </p:nvPicPr>
        <p:blipFill>
          <a:blip r:embed="rId4">
            <a:alphaModFix/>
          </a:blip>
          <a:stretch>
            <a:fillRect/>
          </a:stretch>
        </p:blipFill>
        <p:spPr>
          <a:xfrm>
            <a:off x="1386100" y="1266325"/>
            <a:ext cx="6371800" cy="33026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Abstraction</a:t>
            </a:r>
            <a:endParaRPr/>
          </a:p>
        </p:txBody>
      </p:sp>
      <p:sp>
        <p:nvSpPr>
          <p:cNvPr id="137" name="Google Shape;137;p2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25755" algn="just" rtl="0">
              <a:spcBef>
                <a:spcPts val="100"/>
              </a:spcBef>
              <a:spcAft>
                <a:spcPts val="0"/>
              </a:spcAft>
              <a:buSzPct val="75000"/>
              <a:buFont typeface="Arial"/>
              <a:buChar char="●"/>
            </a:pPr>
            <a:r>
              <a:rPr lang="en" sz="2400">
                <a:solidFill>
                  <a:srgbClr val="000000"/>
                </a:solidFill>
                <a:latin typeface="Arial"/>
                <a:ea typeface="Arial"/>
                <a:cs typeface="Arial"/>
                <a:sym typeface="Arial"/>
              </a:rPr>
              <a:t>Providing the essential features without its inner details is called abstraction (or) hiding internal implementation is called Abstraction.</a:t>
            </a:r>
            <a:endParaRPr sz="2400">
              <a:solidFill>
                <a:srgbClr val="000000"/>
              </a:solidFill>
              <a:latin typeface="Arial"/>
              <a:ea typeface="Arial"/>
              <a:cs typeface="Arial"/>
              <a:sym typeface="Arial"/>
            </a:endParaRPr>
          </a:p>
          <a:p>
            <a:pPr marL="457200" lvl="0" indent="-325755" algn="just" rtl="0">
              <a:spcBef>
                <a:spcPts val="1000"/>
              </a:spcBef>
              <a:spcAft>
                <a:spcPts val="0"/>
              </a:spcAft>
              <a:buSzPct val="75000"/>
              <a:buFont typeface="Arial"/>
              <a:buChar char="●"/>
            </a:pPr>
            <a:r>
              <a:rPr lang="en" sz="2400">
                <a:solidFill>
                  <a:srgbClr val="000000"/>
                </a:solidFill>
                <a:latin typeface="Arial"/>
                <a:ea typeface="Arial"/>
                <a:cs typeface="Arial"/>
                <a:sym typeface="Arial"/>
              </a:rPr>
              <a:t>We can enhance the internal implementation without affecting outside world. Abstraction provides security.</a:t>
            </a:r>
            <a:endParaRPr sz="2400">
              <a:solidFill>
                <a:srgbClr val="000000"/>
              </a:solidFill>
              <a:latin typeface="Arial"/>
              <a:ea typeface="Arial"/>
              <a:cs typeface="Arial"/>
              <a:sym typeface="Arial"/>
            </a:endParaRPr>
          </a:p>
          <a:p>
            <a:pPr marL="457200" lvl="0" indent="-325755" algn="just" rtl="0">
              <a:spcBef>
                <a:spcPts val="1000"/>
              </a:spcBef>
              <a:spcAft>
                <a:spcPts val="0"/>
              </a:spcAft>
              <a:buSzPct val="75000"/>
              <a:buFont typeface="Arial"/>
              <a:buChar char="●"/>
            </a:pPr>
            <a:r>
              <a:rPr lang="en" sz="2400">
                <a:solidFill>
                  <a:srgbClr val="000000"/>
                </a:solidFill>
                <a:latin typeface="Arial"/>
                <a:ea typeface="Arial"/>
                <a:cs typeface="Arial"/>
                <a:sym typeface="Arial"/>
              </a:rPr>
              <a:t>A class contains lot of data and the user does not need the entire data.</a:t>
            </a:r>
            <a:endParaRPr sz="2400">
              <a:solidFill>
                <a:srgbClr val="000000"/>
              </a:solidFill>
              <a:latin typeface="Arial"/>
              <a:ea typeface="Arial"/>
              <a:cs typeface="Arial"/>
              <a:sym typeface="Arial"/>
            </a:endParaRPr>
          </a:p>
          <a:p>
            <a:pPr marL="457200" lvl="0" indent="-325755" algn="just" rtl="0">
              <a:spcBef>
                <a:spcPts val="1000"/>
              </a:spcBef>
              <a:spcAft>
                <a:spcPts val="1000"/>
              </a:spcAft>
              <a:buSzPct val="75000"/>
              <a:buFont typeface="Arial"/>
              <a:buChar char="●"/>
            </a:pPr>
            <a:r>
              <a:rPr lang="en" sz="2400">
                <a:solidFill>
                  <a:srgbClr val="000000"/>
                </a:solidFill>
                <a:latin typeface="Arial"/>
                <a:ea typeface="Arial"/>
                <a:cs typeface="Arial"/>
                <a:sym typeface="Arial"/>
              </a:rPr>
              <a:t>The advantage of abstraction is that every user will get his own view of the data according to his requirements and will not get confused with unnecessary data.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Polymorphism</a:t>
            </a:r>
            <a:endParaRPr/>
          </a:p>
        </p:txBody>
      </p:sp>
      <p:sp>
        <p:nvSpPr>
          <p:cNvPr id="150" name="Google Shape;150;p2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17183" algn="just" rtl="0">
              <a:spcBef>
                <a:spcPts val="100"/>
              </a:spcBef>
              <a:spcAft>
                <a:spcPts val="0"/>
              </a:spcAft>
              <a:buSzPct val="75000"/>
              <a:buFont typeface="Arial"/>
              <a:buChar char="●"/>
            </a:pPr>
            <a:r>
              <a:rPr lang="en" sz="2400">
                <a:solidFill>
                  <a:srgbClr val="000000"/>
                </a:solidFill>
                <a:latin typeface="Arial"/>
                <a:ea typeface="Arial"/>
                <a:cs typeface="Arial"/>
                <a:sym typeface="Arial"/>
              </a:rPr>
              <a:t>Polymorphism is the ability of an object to take on many forms. The most common use of polymorphism in OOP occurs when a parent class reference is used to refer to a child class object.</a:t>
            </a:r>
            <a:endParaRPr sz="2400">
              <a:solidFill>
                <a:srgbClr val="000000"/>
              </a:solidFill>
              <a:latin typeface="Arial"/>
              <a:ea typeface="Arial"/>
              <a:cs typeface="Arial"/>
              <a:sym typeface="Arial"/>
            </a:endParaRPr>
          </a:p>
          <a:p>
            <a:pPr marL="457200" lvl="0" indent="-317183" algn="just" rtl="0">
              <a:spcBef>
                <a:spcPts val="1000"/>
              </a:spcBef>
              <a:spcAft>
                <a:spcPts val="0"/>
              </a:spcAft>
              <a:buSzPct val="75000"/>
              <a:buFont typeface="Arial"/>
              <a:buChar char="●"/>
            </a:pPr>
            <a:r>
              <a:rPr lang="en" sz="2400">
                <a:solidFill>
                  <a:srgbClr val="000000"/>
                </a:solidFill>
                <a:latin typeface="Arial"/>
                <a:ea typeface="Arial"/>
                <a:cs typeface="Arial"/>
                <a:sym typeface="Arial"/>
              </a:rPr>
              <a:t>Any java object that can pass more than one IS-A test is considered to be polymorphic. In Java, all java objects are polymorphic since any object will pass the IS-A test for their own type and for the class Object.</a:t>
            </a:r>
            <a:endParaRPr sz="2400">
              <a:solidFill>
                <a:srgbClr val="000000"/>
              </a:solidFill>
              <a:latin typeface="Arial"/>
              <a:ea typeface="Arial"/>
              <a:cs typeface="Arial"/>
              <a:sym typeface="Arial"/>
            </a:endParaRPr>
          </a:p>
          <a:p>
            <a:pPr marL="457200" lvl="0" indent="-317183" algn="just" rtl="0">
              <a:spcBef>
                <a:spcPts val="1000"/>
              </a:spcBef>
              <a:spcAft>
                <a:spcPts val="1000"/>
              </a:spcAft>
              <a:buSzPct val="75000"/>
              <a:buFont typeface="Arial"/>
              <a:buChar char="●"/>
            </a:pPr>
            <a:r>
              <a:rPr lang="en" sz="2400">
                <a:solidFill>
                  <a:srgbClr val="000000"/>
                </a:solidFill>
                <a:latin typeface="Arial"/>
                <a:ea typeface="Arial"/>
                <a:cs typeface="Arial"/>
                <a:sym typeface="Arial"/>
              </a:rPr>
              <a:t>It is important to know that the only possible way to access an object is through a reference variable. A reference variable can be of only one type. Once declared the type of a reference variable cannot be changed.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156" name="Google Shape;156;p27"/>
          <p:cNvPicPr preferRelativeResize="0"/>
          <p:nvPr/>
        </p:nvPicPr>
        <p:blipFill>
          <a:blip r:embed="rId3">
            <a:alphaModFix/>
          </a:blip>
          <a:stretch>
            <a:fillRect/>
          </a:stretch>
        </p:blipFill>
        <p:spPr>
          <a:xfrm>
            <a:off x="1365500" y="1266325"/>
            <a:ext cx="6072726" cy="3074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162" name="Google Shape;162;p2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marR="12700" lvl="0" indent="-381000" algn="l" rtl="0">
              <a:lnSpc>
                <a:spcPct val="120000"/>
              </a:lnSpc>
              <a:spcBef>
                <a:spcPts val="100"/>
              </a:spcBef>
              <a:spcAft>
                <a:spcPts val="0"/>
              </a:spcAft>
              <a:buClr>
                <a:srgbClr val="000000"/>
              </a:buClr>
              <a:buSzPts val="2400"/>
              <a:buFont typeface="Arial"/>
              <a:buChar char="➔"/>
            </a:pPr>
            <a:r>
              <a:rPr lang="en" sz="2400">
                <a:solidFill>
                  <a:srgbClr val="000000"/>
                </a:solidFill>
                <a:latin typeface="Arial"/>
                <a:ea typeface="Arial"/>
                <a:cs typeface="Arial"/>
                <a:sym typeface="Arial"/>
              </a:rPr>
              <a:t>int add (int a, int b) </a:t>
            </a:r>
            <a:endParaRPr sz="2400">
              <a:solidFill>
                <a:srgbClr val="000000"/>
              </a:solidFill>
              <a:latin typeface="Arial"/>
              <a:ea typeface="Arial"/>
              <a:cs typeface="Arial"/>
              <a:sym typeface="Arial"/>
            </a:endParaRPr>
          </a:p>
          <a:p>
            <a:pPr marL="457200" marR="12700" lvl="0" indent="-381000" algn="l" rtl="0">
              <a:lnSpc>
                <a:spcPct val="120000"/>
              </a:lnSpc>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float add (float a, int b) </a:t>
            </a:r>
            <a:endParaRPr sz="2400">
              <a:solidFill>
                <a:srgbClr val="000000"/>
              </a:solidFill>
              <a:latin typeface="Arial"/>
              <a:ea typeface="Arial"/>
              <a:cs typeface="Arial"/>
              <a:sym typeface="Arial"/>
            </a:endParaRPr>
          </a:p>
          <a:p>
            <a:pPr marL="457200" marR="12700" lvl="0" indent="-381000" algn="l" rtl="0">
              <a:lnSpc>
                <a:spcPct val="120000"/>
              </a:lnSpc>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float add (int a , float b) </a:t>
            </a:r>
            <a:endParaRPr sz="2400">
              <a:solidFill>
                <a:srgbClr val="000000"/>
              </a:solidFill>
              <a:latin typeface="Arial"/>
              <a:ea typeface="Arial"/>
              <a:cs typeface="Arial"/>
              <a:sym typeface="Arial"/>
            </a:endParaRPr>
          </a:p>
          <a:p>
            <a:pPr marL="457200" marR="12700" lvl="0" indent="-381000" algn="l" rtl="0">
              <a:lnSpc>
                <a:spcPct val="120000"/>
              </a:lnSpc>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void add (float a)</a:t>
            </a:r>
            <a:endParaRPr sz="2400">
              <a:solidFill>
                <a:srgbClr val="000000"/>
              </a:solidFill>
              <a:latin typeface="Arial"/>
              <a:ea typeface="Arial"/>
              <a:cs typeface="Arial"/>
              <a:sym typeface="Arial"/>
            </a:endParaRPr>
          </a:p>
          <a:p>
            <a:pPr marL="457200" marR="12700" lvl="0" indent="-381000" algn="l" rtl="0">
              <a:lnSpc>
                <a:spcPct val="120000"/>
              </a:lnSpc>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int add (int a)</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Classes &amp; Objects</a:t>
            </a:r>
            <a:endParaRPr/>
          </a:p>
        </p:txBody>
      </p:sp>
      <p:sp>
        <p:nvSpPr>
          <p:cNvPr id="168" name="Google Shape;168;p2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Object-</a:t>
            </a:r>
            <a:r>
              <a:rPr lang="en"/>
              <a:t>Objects have states and behaviors. Example:A dog has states- color, name, breed as well as behaviors- wagging, barking, eating. An object is an instance of a class.</a:t>
            </a:r>
            <a:endParaRPr/>
          </a:p>
          <a:p>
            <a:pPr marL="0" lvl="0" indent="0" algn="l" rtl="0">
              <a:spcBef>
                <a:spcPts val="1200"/>
              </a:spcBef>
              <a:spcAft>
                <a:spcPts val="0"/>
              </a:spcAft>
              <a:buNone/>
            </a:pPr>
            <a:r>
              <a:rPr lang="en" b="1"/>
              <a:t>Class-</a:t>
            </a:r>
            <a:r>
              <a:rPr lang="en"/>
              <a:t>A class can be defined as a template/blueprint that describe the behaviors/states that object of its type support.</a:t>
            </a:r>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Class</a:t>
            </a:r>
            <a:endParaRPr/>
          </a:p>
        </p:txBody>
      </p:sp>
      <p:sp>
        <p:nvSpPr>
          <p:cNvPr id="174" name="Google Shape;174;p3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17183" algn="just" rtl="0">
              <a:spcBef>
                <a:spcPts val="100"/>
              </a:spcBef>
              <a:spcAft>
                <a:spcPts val="0"/>
              </a:spcAft>
              <a:buSzPct val="124138"/>
              <a:buFont typeface="Arial"/>
              <a:buChar char="●"/>
            </a:pPr>
            <a:r>
              <a:rPr lang="en" sz="1450">
                <a:solidFill>
                  <a:srgbClr val="DA1F28"/>
                </a:solidFill>
                <a:latin typeface="Arial"/>
                <a:ea typeface="Arial"/>
                <a:cs typeface="Arial"/>
                <a:sym typeface="Arial"/>
              </a:rPr>
              <a:t>¨</a:t>
            </a:r>
            <a:r>
              <a:rPr lang="en" sz="2400">
                <a:solidFill>
                  <a:srgbClr val="000000"/>
                </a:solidFill>
                <a:latin typeface="Arial"/>
                <a:ea typeface="Arial"/>
                <a:cs typeface="Arial"/>
                <a:sym typeface="Arial"/>
              </a:rPr>
              <a:t>In object-oriented programming, a class is a programming   language construct that is used as a blueprint to create objects.</a:t>
            </a:r>
            <a:endParaRPr sz="2400">
              <a:solidFill>
                <a:srgbClr val="000000"/>
              </a:solidFill>
              <a:latin typeface="Arial"/>
              <a:ea typeface="Arial"/>
              <a:cs typeface="Arial"/>
              <a:sym typeface="Arial"/>
            </a:endParaRPr>
          </a:p>
          <a:p>
            <a:pPr marL="457200" lvl="0" indent="-317183" algn="just" rtl="0">
              <a:spcBef>
                <a:spcPts val="0"/>
              </a:spcBef>
              <a:spcAft>
                <a:spcPts val="0"/>
              </a:spcAft>
              <a:buSzPct val="75000"/>
              <a:buFont typeface="Arial"/>
              <a:buChar char="●"/>
            </a:pPr>
            <a:r>
              <a:rPr lang="en" sz="2400">
                <a:solidFill>
                  <a:srgbClr val="000000"/>
                </a:solidFill>
                <a:latin typeface="Arial"/>
                <a:ea typeface="Arial"/>
                <a:cs typeface="Arial"/>
                <a:sym typeface="Arial"/>
              </a:rPr>
              <a:t>This blueprint includes attributes and methods that the created objects all share.</a:t>
            </a:r>
            <a:endParaRPr sz="2400">
              <a:solidFill>
                <a:srgbClr val="000000"/>
              </a:solidFill>
              <a:latin typeface="Arial"/>
              <a:ea typeface="Arial"/>
              <a:cs typeface="Arial"/>
              <a:sym typeface="Arial"/>
            </a:endParaRPr>
          </a:p>
          <a:p>
            <a:pPr marL="457200" lvl="0" indent="-317183" algn="just" rtl="0">
              <a:spcBef>
                <a:spcPts val="0"/>
              </a:spcBef>
              <a:spcAft>
                <a:spcPts val="0"/>
              </a:spcAft>
              <a:buSzPct val="75000"/>
              <a:buFont typeface="Arial"/>
              <a:buChar char="●"/>
            </a:pPr>
            <a:r>
              <a:rPr lang="en" sz="2400">
                <a:solidFill>
                  <a:srgbClr val="000000"/>
                </a:solidFill>
                <a:latin typeface="Arial"/>
                <a:ea typeface="Arial"/>
                <a:cs typeface="Arial"/>
                <a:sym typeface="Arial"/>
              </a:rPr>
              <a:t>Usually, a class represents a person, place, or thing - it is an abstraction of a concept within a computer program.</a:t>
            </a:r>
            <a:endParaRPr sz="2400">
              <a:solidFill>
                <a:srgbClr val="000000"/>
              </a:solidFill>
              <a:latin typeface="Arial"/>
              <a:ea typeface="Arial"/>
              <a:cs typeface="Arial"/>
              <a:sym typeface="Arial"/>
            </a:endParaRPr>
          </a:p>
          <a:p>
            <a:pPr marL="457200" lvl="0" indent="-317183" algn="just" rtl="0">
              <a:spcBef>
                <a:spcPts val="0"/>
              </a:spcBef>
              <a:spcAft>
                <a:spcPts val="0"/>
              </a:spcAft>
              <a:buSzPct val="75000"/>
              <a:buFont typeface="Arial"/>
              <a:buChar char="●"/>
            </a:pPr>
            <a:r>
              <a:rPr lang="en" sz="2400">
                <a:solidFill>
                  <a:srgbClr val="000000"/>
                </a:solidFill>
                <a:latin typeface="Arial"/>
                <a:ea typeface="Arial"/>
                <a:cs typeface="Arial"/>
                <a:sym typeface="Arial"/>
              </a:rPr>
              <a:t>Fundamentally, it encapsulates the state and behavior of that which it conceptually represents.</a:t>
            </a:r>
            <a:endParaRPr sz="2400">
              <a:solidFill>
                <a:srgbClr val="000000"/>
              </a:solidFill>
              <a:latin typeface="Arial"/>
              <a:ea typeface="Arial"/>
              <a:cs typeface="Arial"/>
              <a:sym typeface="Arial"/>
            </a:endParaRPr>
          </a:p>
          <a:p>
            <a:pPr marL="457200" lvl="0" indent="-317183" algn="just" rtl="0">
              <a:spcBef>
                <a:spcPts val="0"/>
              </a:spcBef>
              <a:spcAft>
                <a:spcPts val="0"/>
              </a:spcAft>
              <a:buSzPct val="75000"/>
              <a:buFont typeface="Arial"/>
              <a:buChar char="●"/>
            </a:pPr>
            <a:r>
              <a:rPr lang="en" sz="2400">
                <a:solidFill>
                  <a:srgbClr val="000000"/>
                </a:solidFill>
                <a:latin typeface="Arial"/>
                <a:ea typeface="Arial"/>
                <a:cs typeface="Arial"/>
                <a:sym typeface="Arial"/>
              </a:rPr>
              <a:t>It encapsulates state through data placeholders called member variables; it encapsulates behavior through reusable code called methods.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Class - Syntax</a:t>
            </a:r>
            <a:endParaRPr/>
          </a:p>
        </p:txBody>
      </p:sp>
      <p:pic>
        <p:nvPicPr>
          <p:cNvPr id="180" name="Google Shape;180;p31"/>
          <p:cNvPicPr preferRelativeResize="0"/>
          <p:nvPr/>
        </p:nvPicPr>
        <p:blipFill>
          <a:blip r:embed="rId3">
            <a:alphaModFix/>
          </a:blip>
          <a:stretch>
            <a:fillRect/>
          </a:stretch>
        </p:blipFill>
        <p:spPr>
          <a:xfrm>
            <a:off x="725500" y="1435300"/>
            <a:ext cx="6384200" cy="3302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Class</a:t>
            </a:r>
            <a:endParaRPr/>
          </a:p>
        </p:txBody>
      </p:sp>
      <p:pic>
        <p:nvPicPr>
          <p:cNvPr id="186" name="Google Shape;186;p32"/>
          <p:cNvPicPr preferRelativeResize="0"/>
          <p:nvPr/>
        </p:nvPicPr>
        <p:blipFill>
          <a:blip r:embed="rId3">
            <a:alphaModFix/>
          </a:blip>
          <a:stretch>
            <a:fillRect/>
          </a:stretch>
        </p:blipFill>
        <p:spPr>
          <a:xfrm>
            <a:off x="518850" y="1291725"/>
            <a:ext cx="3214164" cy="3686275"/>
          </a:xfrm>
          <a:prstGeom prst="rect">
            <a:avLst/>
          </a:prstGeom>
          <a:noFill/>
          <a:ln>
            <a:noFill/>
          </a:ln>
        </p:spPr>
      </p:pic>
      <p:pic>
        <p:nvPicPr>
          <p:cNvPr id="187" name="Google Shape;187;p32"/>
          <p:cNvPicPr preferRelativeResize="0"/>
          <p:nvPr/>
        </p:nvPicPr>
        <p:blipFill>
          <a:blip r:embed="rId4">
            <a:alphaModFix/>
          </a:blip>
          <a:stretch>
            <a:fillRect/>
          </a:stretch>
        </p:blipFill>
        <p:spPr>
          <a:xfrm>
            <a:off x="4304239" y="1289425"/>
            <a:ext cx="3214164" cy="3686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Objects</a:t>
            </a:r>
            <a:endParaRPr/>
          </a:p>
        </p:txBody>
      </p:sp>
      <p:sp>
        <p:nvSpPr>
          <p:cNvPr id="193" name="Google Shape;193;p3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10000"/>
          </a:bodyPr>
          <a:lstStyle/>
          <a:p>
            <a:pPr marL="457200" lvl="0" indent="-325755" algn="just" rtl="0">
              <a:spcBef>
                <a:spcPts val="100"/>
              </a:spcBef>
              <a:spcAft>
                <a:spcPts val="0"/>
              </a:spcAft>
              <a:buSzPct val="62069"/>
              <a:buFont typeface="Arial"/>
              <a:buChar char="●"/>
            </a:pPr>
            <a:r>
              <a:rPr lang="en" sz="2900">
                <a:solidFill>
                  <a:srgbClr val="000000"/>
                </a:solidFill>
                <a:latin typeface="Arial"/>
                <a:ea typeface="Arial"/>
                <a:cs typeface="Arial"/>
                <a:sym typeface="Arial"/>
              </a:rPr>
              <a:t>An Object is a real time entity. An object is an instance of a class. An object will have some properties and it can perform some actions.</a:t>
            </a:r>
            <a:endParaRPr sz="2900">
              <a:solidFill>
                <a:srgbClr val="000000"/>
              </a:solidFill>
              <a:latin typeface="Arial"/>
              <a:ea typeface="Arial"/>
              <a:cs typeface="Arial"/>
              <a:sym typeface="Arial"/>
            </a:endParaRPr>
          </a:p>
          <a:p>
            <a:pPr marL="457200" lvl="0" indent="-325755" algn="just" rtl="0">
              <a:spcBef>
                <a:spcPts val="0"/>
              </a:spcBef>
              <a:spcAft>
                <a:spcPts val="0"/>
              </a:spcAft>
              <a:buSzPct val="62069"/>
              <a:buFont typeface="Arial"/>
              <a:buChar char="●"/>
            </a:pPr>
            <a:r>
              <a:rPr lang="en" sz="2900">
                <a:solidFill>
                  <a:srgbClr val="000000"/>
                </a:solidFill>
                <a:latin typeface="Arial"/>
                <a:ea typeface="Arial"/>
                <a:cs typeface="Arial"/>
                <a:sym typeface="Arial"/>
              </a:rPr>
              <a:t>Object contains variables and methods. The objects which exhibit similar properties and actions are grouped under one class. “To give a real world analogy, a house is constructed according to a specification.</a:t>
            </a:r>
            <a:endParaRPr sz="2900">
              <a:solidFill>
                <a:srgbClr val="000000"/>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Object using new operator</a:t>
            </a:r>
            <a:endParaRPr/>
          </a:p>
        </p:txBody>
      </p:sp>
      <p:sp>
        <p:nvSpPr>
          <p:cNvPr id="199" name="Google Shape;199;p3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0000" lnSpcReduction="20000"/>
          </a:bodyPr>
          <a:lstStyle/>
          <a:p>
            <a:pPr marL="457200" lvl="0" indent="-317183" algn="l" rtl="0">
              <a:spcBef>
                <a:spcPts val="100"/>
              </a:spcBef>
              <a:spcAft>
                <a:spcPts val="0"/>
              </a:spcAft>
              <a:buSzPct val="75000"/>
              <a:buFont typeface="Arial"/>
              <a:buChar char="●"/>
            </a:pPr>
            <a:r>
              <a:rPr lang="en" sz="2400">
                <a:solidFill>
                  <a:srgbClr val="000000"/>
                </a:solidFill>
                <a:latin typeface="Arial"/>
                <a:ea typeface="Arial"/>
                <a:cs typeface="Arial"/>
                <a:sym typeface="Arial"/>
              </a:rPr>
              <a:t>To access the properties and methods of a class,we must declare a variable of that class type. This variable does not define an object. Instead, it is simply a variable that can refer to an object.</a:t>
            </a:r>
            <a:endParaRPr sz="2400">
              <a:solidFill>
                <a:srgbClr val="000000"/>
              </a:solidFill>
              <a:latin typeface="Arial"/>
              <a:ea typeface="Arial"/>
              <a:cs typeface="Arial"/>
              <a:sym typeface="Arial"/>
            </a:endParaRPr>
          </a:p>
          <a:p>
            <a:pPr marL="457200" lvl="0" indent="-317183" algn="l" rtl="0">
              <a:spcBef>
                <a:spcPts val="1000"/>
              </a:spcBef>
              <a:spcAft>
                <a:spcPts val="0"/>
              </a:spcAft>
              <a:buSzPct val="75000"/>
              <a:buFont typeface="Arial"/>
              <a:buChar char="●"/>
            </a:pPr>
            <a:r>
              <a:rPr lang="en" sz="2400">
                <a:solidFill>
                  <a:srgbClr val="000000"/>
                </a:solidFill>
                <a:latin typeface="Arial"/>
                <a:ea typeface="Arial"/>
                <a:cs typeface="Arial"/>
                <a:sym typeface="Arial"/>
              </a:rPr>
              <a:t>We must acquire an actual, physical copy of the object and assign it to that variable. We can do this using </a:t>
            </a:r>
            <a:r>
              <a:rPr lang="en" sz="2400" b="1">
                <a:solidFill>
                  <a:srgbClr val="000000"/>
                </a:solidFill>
                <a:latin typeface="Arial"/>
                <a:ea typeface="Arial"/>
                <a:cs typeface="Arial"/>
                <a:sym typeface="Arial"/>
              </a:rPr>
              <a:t>new operator. The new operator dynamically allocates memory for an </a:t>
            </a:r>
            <a:r>
              <a:rPr lang="en" sz="2400">
                <a:solidFill>
                  <a:srgbClr val="000000"/>
                </a:solidFill>
                <a:latin typeface="Arial"/>
                <a:ea typeface="Arial"/>
                <a:cs typeface="Arial"/>
                <a:sym typeface="Arial"/>
              </a:rPr>
              <a:t>object and returns a reference to it. This reference is, more or less, the address in memory of the object allocated by new.</a:t>
            </a:r>
            <a:endParaRPr sz="2400">
              <a:solidFill>
                <a:srgbClr val="000000"/>
              </a:solidFill>
              <a:latin typeface="Arial"/>
              <a:ea typeface="Arial"/>
              <a:cs typeface="Arial"/>
              <a:sym typeface="Arial"/>
            </a:endParaRPr>
          </a:p>
          <a:p>
            <a:pPr marL="457200" lvl="0" indent="-317183" algn="l" rtl="0">
              <a:spcBef>
                <a:spcPts val="1000"/>
              </a:spcBef>
              <a:spcAft>
                <a:spcPts val="1000"/>
              </a:spcAft>
              <a:buSzPct val="75000"/>
              <a:buFont typeface="Arial"/>
              <a:buChar char="●"/>
            </a:pPr>
            <a:r>
              <a:rPr lang="en" sz="2400">
                <a:solidFill>
                  <a:srgbClr val="000000"/>
                </a:solidFill>
                <a:latin typeface="Arial"/>
                <a:ea typeface="Arial"/>
                <a:cs typeface="Arial"/>
                <a:sym typeface="Arial"/>
              </a:rPr>
              <a:t>This reference is then stored in the variable. Thus, in Java, all class objects must be dynamically allocated.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New operator</a:t>
            </a:r>
            <a:endParaRPr/>
          </a:p>
        </p:txBody>
      </p:sp>
      <p:pic>
        <p:nvPicPr>
          <p:cNvPr id="205" name="Google Shape;205;p35"/>
          <p:cNvPicPr preferRelativeResize="0"/>
          <p:nvPr/>
        </p:nvPicPr>
        <p:blipFill>
          <a:blip r:embed="rId3">
            <a:alphaModFix/>
          </a:blip>
          <a:stretch>
            <a:fillRect/>
          </a:stretch>
        </p:blipFill>
        <p:spPr>
          <a:xfrm>
            <a:off x="311700" y="1152425"/>
            <a:ext cx="8832302" cy="3541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object</a:t>
            </a:r>
            <a:endParaRPr/>
          </a:p>
        </p:txBody>
      </p:sp>
      <p:pic>
        <p:nvPicPr>
          <p:cNvPr id="211" name="Google Shape;211;p36"/>
          <p:cNvPicPr preferRelativeResize="0"/>
          <p:nvPr/>
        </p:nvPicPr>
        <p:blipFill>
          <a:blip r:embed="rId3">
            <a:alphaModFix/>
          </a:blip>
          <a:stretch>
            <a:fillRect/>
          </a:stretch>
        </p:blipFill>
        <p:spPr>
          <a:xfrm>
            <a:off x="152400" y="1304825"/>
            <a:ext cx="8839201" cy="392225"/>
          </a:xfrm>
          <a:prstGeom prst="rect">
            <a:avLst/>
          </a:prstGeom>
          <a:noFill/>
          <a:ln>
            <a:noFill/>
          </a:ln>
        </p:spPr>
      </p:pic>
      <p:pic>
        <p:nvPicPr>
          <p:cNvPr id="212" name="Google Shape;212;p36"/>
          <p:cNvPicPr preferRelativeResize="0"/>
          <p:nvPr/>
        </p:nvPicPr>
        <p:blipFill>
          <a:blip r:embed="rId4">
            <a:alphaModFix/>
          </a:blip>
          <a:stretch>
            <a:fillRect/>
          </a:stretch>
        </p:blipFill>
        <p:spPr>
          <a:xfrm>
            <a:off x="152400" y="1697050"/>
            <a:ext cx="8839200" cy="852925"/>
          </a:xfrm>
          <a:prstGeom prst="rect">
            <a:avLst/>
          </a:prstGeom>
          <a:noFill/>
          <a:ln>
            <a:noFill/>
          </a:ln>
        </p:spPr>
      </p:pic>
      <p:pic>
        <p:nvPicPr>
          <p:cNvPr id="213" name="Google Shape;213;p36"/>
          <p:cNvPicPr preferRelativeResize="0"/>
          <p:nvPr/>
        </p:nvPicPr>
        <p:blipFill>
          <a:blip r:embed="rId5">
            <a:alphaModFix/>
          </a:blip>
          <a:stretch>
            <a:fillRect/>
          </a:stretch>
        </p:blipFill>
        <p:spPr>
          <a:xfrm>
            <a:off x="152400" y="1766553"/>
            <a:ext cx="3724275" cy="707400"/>
          </a:xfrm>
          <a:prstGeom prst="rect">
            <a:avLst/>
          </a:prstGeom>
          <a:noFill/>
          <a:ln>
            <a:noFill/>
          </a:ln>
        </p:spPr>
      </p:pic>
      <p:pic>
        <p:nvPicPr>
          <p:cNvPr id="214" name="Google Shape;214;p36"/>
          <p:cNvPicPr preferRelativeResize="0"/>
          <p:nvPr/>
        </p:nvPicPr>
        <p:blipFill>
          <a:blip r:embed="rId6">
            <a:alphaModFix/>
          </a:blip>
          <a:stretch>
            <a:fillRect/>
          </a:stretch>
        </p:blipFill>
        <p:spPr>
          <a:xfrm>
            <a:off x="3876675" y="1849453"/>
            <a:ext cx="4943475" cy="707400"/>
          </a:xfrm>
          <a:prstGeom prst="rect">
            <a:avLst/>
          </a:prstGeom>
          <a:noFill/>
          <a:ln>
            <a:noFill/>
          </a:ln>
        </p:spPr>
      </p:pic>
      <p:pic>
        <p:nvPicPr>
          <p:cNvPr id="215" name="Google Shape;215;p36"/>
          <p:cNvPicPr preferRelativeResize="0"/>
          <p:nvPr/>
        </p:nvPicPr>
        <p:blipFill>
          <a:blip r:embed="rId7">
            <a:alphaModFix/>
          </a:blip>
          <a:stretch>
            <a:fillRect/>
          </a:stretch>
        </p:blipFill>
        <p:spPr>
          <a:xfrm>
            <a:off x="152400" y="2652450"/>
            <a:ext cx="8667751" cy="2338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class and Object</a:t>
            </a:r>
            <a:endParaRPr/>
          </a:p>
        </p:txBody>
      </p:sp>
      <p:pic>
        <p:nvPicPr>
          <p:cNvPr id="221" name="Google Shape;221;p37"/>
          <p:cNvPicPr preferRelativeResize="0"/>
          <p:nvPr/>
        </p:nvPicPr>
        <p:blipFill>
          <a:blip r:embed="rId3">
            <a:alphaModFix/>
          </a:blip>
          <a:stretch>
            <a:fillRect/>
          </a:stretch>
        </p:blipFill>
        <p:spPr>
          <a:xfrm>
            <a:off x="152400" y="1304825"/>
            <a:ext cx="2495700" cy="1387925"/>
          </a:xfrm>
          <a:prstGeom prst="rect">
            <a:avLst/>
          </a:prstGeom>
          <a:noFill/>
          <a:ln>
            <a:noFill/>
          </a:ln>
        </p:spPr>
      </p:pic>
      <p:pic>
        <p:nvPicPr>
          <p:cNvPr id="222" name="Google Shape;222;p37"/>
          <p:cNvPicPr preferRelativeResize="0"/>
          <p:nvPr/>
        </p:nvPicPr>
        <p:blipFill>
          <a:blip r:embed="rId4">
            <a:alphaModFix/>
          </a:blip>
          <a:stretch>
            <a:fillRect/>
          </a:stretch>
        </p:blipFill>
        <p:spPr>
          <a:xfrm>
            <a:off x="3139850" y="1865200"/>
            <a:ext cx="2495700" cy="374474"/>
          </a:xfrm>
          <a:prstGeom prst="rect">
            <a:avLst/>
          </a:prstGeom>
          <a:noFill/>
          <a:ln>
            <a:noFill/>
          </a:ln>
        </p:spPr>
      </p:pic>
      <p:pic>
        <p:nvPicPr>
          <p:cNvPr id="223" name="Google Shape;223;p37"/>
          <p:cNvPicPr preferRelativeResize="0"/>
          <p:nvPr/>
        </p:nvPicPr>
        <p:blipFill>
          <a:blip r:embed="rId5">
            <a:alphaModFix/>
          </a:blip>
          <a:stretch>
            <a:fillRect/>
          </a:stretch>
        </p:blipFill>
        <p:spPr>
          <a:xfrm>
            <a:off x="2371362" y="1714637"/>
            <a:ext cx="768487" cy="768487"/>
          </a:xfrm>
          <a:prstGeom prst="rect">
            <a:avLst/>
          </a:prstGeom>
          <a:noFill/>
          <a:ln>
            <a:noFill/>
          </a:ln>
        </p:spPr>
      </p:pic>
      <p:pic>
        <p:nvPicPr>
          <p:cNvPr id="224" name="Google Shape;224;p37"/>
          <p:cNvPicPr preferRelativeResize="0"/>
          <p:nvPr/>
        </p:nvPicPr>
        <p:blipFill>
          <a:blip r:embed="rId6">
            <a:alphaModFix/>
          </a:blip>
          <a:stretch>
            <a:fillRect/>
          </a:stretch>
        </p:blipFill>
        <p:spPr>
          <a:xfrm>
            <a:off x="217850" y="3354525"/>
            <a:ext cx="8839198" cy="557979"/>
          </a:xfrm>
          <a:prstGeom prst="rect">
            <a:avLst/>
          </a:prstGeom>
          <a:noFill/>
          <a:ln>
            <a:noFill/>
          </a:ln>
        </p:spPr>
      </p:pic>
      <p:pic>
        <p:nvPicPr>
          <p:cNvPr id="225" name="Google Shape;225;p37"/>
          <p:cNvPicPr preferRelativeResize="0"/>
          <p:nvPr/>
        </p:nvPicPr>
        <p:blipFill>
          <a:blip r:embed="rId7">
            <a:alphaModFix/>
          </a:blip>
          <a:stretch>
            <a:fillRect/>
          </a:stretch>
        </p:blipFill>
        <p:spPr>
          <a:xfrm>
            <a:off x="217850" y="4248125"/>
            <a:ext cx="4419601" cy="367500"/>
          </a:xfrm>
          <a:prstGeom prst="rect">
            <a:avLst/>
          </a:prstGeom>
          <a:noFill/>
          <a:ln>
            <a:noFill/>
          </a:ln>
        </p:spPr>
      </p:pic>
      <p:pic>
        <p:nvPicPr>
          <p:cNvPr id="226" name="Google Shape;226;p37"/>
          <p:cNvPicPr preferRelativeResize="0"/>
          <p:nvPr/>
        </p:nvPicPr>
        <p:blipFill>
          <a:blip r:embed="rId8">
            <a:alphaModFix/>
          </a:blip>
          <a:stretch>
            <a:fillRect/>
          </a:stretch>
        </p:blipFill>
        <p:spPr>
          <a:xfrm>
            <a:off x="832518" y="3830350"/>
            <a:ext cx="325182" cy="557975"/>
          </a:xfrm>
          <a:prstGeom prst="rect">
            <a:avLst/>
          </a:prstGeom>
          <a:noFill/>
          <a:ln>
            <a:noFill/>
          </a:ln>
        </p:spPr>
      </p:pic>
      <p:pic>
        <p:nvPicPr>
          <p:cNvPr id="227" name="Google Shape;227;p37"/>
          <p:cNvPicPr preferRelativeResize="0"/>
          <p:nvPr/>
        </p:nvPicPr>
        <p:blipFill>
          <a:blip r:embed="rId9">
            <a:alphaModFix/>
          </a:blip>
          <a:stretch>
            <a:fillRect/>
          </a:stretch>
        </p:blipFill>
        <p:spPr>
          <a:xfrm>
            <a:off x="2014925" y="2618612"/>
            <a:ext cx="5085791" cy="356975"/>
          </a:xfrm>
          <a:prstGeom prst="rect">
            <a:avLst/>
          </a:prstGeom>
          <a:noFill/>
          <a:ln>
            <a:noFill/>
          </a:ln>
        </p:spPr>
      </p:pic>
      <p:pic>
        <p:nvPicPr>
          <p:cNvPr id="228" name="Google Shape;228;p37"/>
          <p:cNvPicPr preferRelativeResize="0"/>
          <p:nvPr/>
        </p:nvPicPr>
        <p:blipFill>
          <a:blip r:embed="rId10">
            <a:alphaModFix/>
          </a:blip>
          <a:stretch>
            <a:fillRect/>
          </a:stretch>
        </p:blipFill>
        <p:spPr>
          <a:xfrm>
            <a:off x="2232397" y="2758864"/>
            <a:ext cx="325175" cy="6979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Difference in classes and object</a:t>
            </a:r>
            <a:endParaRPr/>
          </a:p>
        </p:txBody>
      </p:sp>
      <p:sp>
        <p:nvSpPr>
          <p:cNvPr id="234" name="Google Shape;234;p3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81000" algn="l" rtl="0">
              <a:lnSpc>
                <a:spcPct val="100000"/>
              </a:lnSpc>
              <a:spcBef>
                <a:spcPts val="100"/>
              </a:spcBef>
              <a:spcAft>
                <a:spcPts val="0"/>
              </a:spcAft>
              <a:buSzPts val="2400"/>
              <a:buFont typeface="Arial"/>
              <a:buChar char="●"/>
            </a:pPr>
            <a:r>
              <a:rPr lang="en" sz="2400">
                <a:solidFill>
                  <a:srgbClr val="000000"/>
                </a:solidFill>
                <a:latin typeface="Arial"/>
                <a:ea typeface="Arial"/>
                <a:cs typeface="Arial"/>
                <a:sym typeface="Arial"/>
              </a:rPr>
              <a:t>It is fact that the difference between classes and objects is often the source of some confusion.</a:t>
            </a:r>
            <a:endParaRPr sz="2400">
              <a:solidFill>
                <a:srgbClr val="000000"/>
              </a:solidFill>
              <a:latin typeface="Arial"/>
              <a:ea typeface="Arial"/>
              <a:cs typeface="Arial"/>
              <a:sym typeface="Arial"/>
            </a:endParaRPr>
          </a:p>
          <a:p>
            <a:pPr marL="457200" lvl="0" indent="-381000" algn="l" rtl="0">
              <a:lnSpc>
                <a:spcPct val="100000"/>
              </a:lnSpc>
              <a:spcBef>
                <a:spcPts val="1000"/>
              </a:spcBef>
              <a:spcAft>
                <a:spcPts val="0"/>
              </a:spcAft>
              <a:buSzPts val="2400"/>
              <a:buFont typeface="Arial"/>
              <a:buChar char="●"/>
            </a:pPr>
            <a:r>
              <a:rPr lang="en" sz="2400">
                <a:solidFill>
                  <a:srgbClr val="000000"/>
                </a:solidFill>
                <a:latin typeface="Arial"/>
                <a:ea typeface="Arial"/>
                <a:cs typeface="Arial"/>
                <a:sym typeface="Arial"/>
              </a:rPr>
              <a:t>But we can say that, Classes have logical existence, whereas objects have physical existence</a:t>
            </a:r>
            <a:endParaRPr sz="2400">
              <a:solidFill>
                <a:srgbClr val="000000"/>
              </a:solidFill>
              <a:latin typeface="Arial"/>
              <a:ea typeface="Arial"/>
              <a:cs typeface="Arial"/>
              <a:sym typeface="Arial"/>
            </a:endParaRPr>
          </a:p>
          <a:p>
            <a:pPr marL="457200" marR="12700" lvl="0" indent="-381000" algn="just" rtl="0">
              <a:lnSpc>
                <a:spcPct val="100000"/>
              </a:lnSpc>
              <a:spcBef>
                <a:spcPts val="1000"/>
              </a:spcBef>
              <a:spcAft>
                <a:spcPts val="1000"/>
              </a:spcAft>
              <a:buSzPts val="2400"/>
              <a:buFont typeface="Arial"/>
              <a:buChar char="●"/>
            </a:pPr>
            <a:r>
              <a:rPr lang="en" sz="2400">
                <a:solidFill>
                  <a:srgbClr val="000000"/>
                </a:solidFill>
                <a:latin typeface="Arial"/>
                <a:ea typeface="Arial"/>
                <a:cs typeface="Arial"/>
                <a:sym typeface="Arial"/>
              </a:rPr>
              <a:t>For example, furniture itself does not have any physical existence, but chair, table etc. do have physical existence.</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Access Controls and Modifiers</a:t>
            </a:r>
            <a:endParaRPr/>
          </a:p>
        </p:txBody>
      </p:sp>
      <p:sp>
        <p:nvSpPr>
          <p:cNvPr id="240" name="Google Shape;240;p3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10000"/>
          </a:bodyPr>
          <a:lstStyle/>
          <a:p>
            <a:pPr marL="457200" lvl="0" indent="-369570" algn="l" rtl="0">
              <a:spcBef>
                <a:spcPts val="0"/>
              </a:spcBef>
              <a:spcAft>
                <a:spcPts val="0"/>
              </a:spcAft>
              <a:buClr>
                <a:srgbClr val="000000"/>
              </a:buClr>
              <a:buSzPct val="100000"/>
              <a:buFont typeface="Arial"/>
              <a:buChar char="●"/>
            </a:pPr>
            <a:r>
              <a:rPr lang="en" sz="2400" b="1">
                <a:solidFill>
                  <a:srgbClr val="000000"/>
                </a:solidFill>
                <a:latin typeface="Arial"/>
                <a:ea typeface="Arial"/>
                <a:cs typeface="Arial"/>
                <a:sym typeface="Arial"/>
              </a:rPr>
              <a:t>Access control</a:t>
            </a:r>
            <a:r>
              <a:rPr lang="en" sz="2400">
                <a:solidFill>
                  <a:srgbClr val="000000"/>
                </a:solidFill>
                <a:latin typeface="Arial"/>
                <a:ea typeface="Arial"/>
                <a:cs typeface="Arial"/>
                <a:sym typeface="Arial"/>
              </a:rPr>
              <a:t> decides </a:t>
            </a:r>
            <a:r>
              <a:rPr lang="en" sz="2400" b="1">
                <a:solidFill>
                  <a:srgbClr val="000000"/>
                </a:solidFill>
                <a:latin typeface="Arial"/>
                <a:ea typeface="Arial"/>
                <a:cs typeface="Arial"/>
                <a:sym typeface="Arial"/>
              </a:rPr>
              <a:t>who can access variables, methods, and classes</a:t>
            </a:r>
            <a:r>
              <a:rPr lang="en" sz="2400">
                <a:solidFill>
                  <a:srgbClr val="000000"/>
                </a:solidFill>
                <a:latin typeface="Arial"/>
                <a:ea typeface="Arial"/>
                <a:cs typeface="Arial"/>
                <a:sym typeface="Arial"/>
              </a:rPr>
              <a:t> in Java.</a:t>
            </a:r>
            <a:endParaRPr sz="2400">
              <a:solidFill>
                <a:srgbClr val="000000"/>
              </a:solidFill>
              <a:latin typeface="Arial"/>
              <a:ea typeface="Arial"/>
              <a:cs typeface="Arial"/>
              <a:sym typeface="Arial"/>
            </a:endParaRPr>
          </a:p>
          <a:p>
            <a:pPr marL="457200" marR="215900" lvl="0" indent="-369570" algn="l" rtl="0">
              <a:spcBef>
                <a:spcPts val="1000"/>
              </a:spcBef>
              <a:spcAft>
                <a:spcPts val="0"/>
              </a:spcAft>
              <a:buClr>
                <a:srgbClr val="000000"/>
              </a:buClr>
              <a:buSzPct val="100000"/>
              <a:buFont typeface="Arial"/>
              <a:buChar char="●"/>
            </a:pPr>
            <a:r>
              <a:rPr lang="en" sz="2400">
                <a:solidFill>
                  <a:srgbClr val="000000"/>
                </a:solidFill>
                <a:latin typeface="Calibri"/>
                <a:ea typeface="Calibri"/>
                <a:cs typeface="Calibri"/>
                <a:sym typeface="Calibri"/>
              </a:rPr>
              <a:t>How and where a member of a class is accessed is determined by the access specifiers.</a:t>
            </a:r>
            <a:endParaRPr sz="2400">
              <a:solidFill>
                <a:srgbClr val="000000"/>
              </a:solidFill>
              <a:latin typeface="Calibri"/>
              <a:ea typeface="Calibri"/>
              <a:cs typeface="Calibri"/>
              <a:sym typeface="Calibri"/>
            </a:endParaRPr>
          </a:p>
          <a:p>
            <a:pPr marL="457200" marR="495300" lvl="0" indent="-369570" algn="l" rtl="0">
              <a:spcBef>
                <a:spcPts val="1000"/>
              </a:spcBef>
              <a:spcAft>
                <a:spcPts val="0"/>
              </a:spcAft>
              <a:buClr>
                <a:srgbClr val="000000"/>
              </a:buClr>
              <a:buSzPct val="100000"/>
              <a:buFont typeface="Calibri"/>
              <a:buChar char="●"/>
            </a:pPr>
            <a:r>
              <a:rPr lang="en" sz="2400">
                <a:solidFill>
                  <a:srgbClr val="000000"/>
                </a:solidFill>
                <a:latin typeface="Calibri"/>
                <a:ea typeface="Calibri"/>
                <a:cs typeface="Calibri"/>
                <a:sym typeface="Calibri"/>
              </a:rPr>
              <a:t>The members of a class have their visibility in the same class or other classes. The classes have their associated accessibility.</a:t>
            </a:r>
            <a:endParaRPr sz="2400">
              <a:solidFill>
                <a:srgbClr val="000000"/>
              </a:solidFill>
              <a:latin typeface="Calibri"/>
              <a:ea typeface="Calibri"/>
              <a:cs typeface="Calibri"/>
              <a:sym typeface="Calibri"/>
            </a:endParaRPr>
          </a:p>
          <a:p>
            <a:pPr marL="457200" lvl="0" indent="-369570" algn="l" rtl="0">
              <a:spcBef>
                <a:spcPts val="1000"/>
              </a:spcBef>
              <a:spcAft>
                <a:spcPts val="1000"/>
              </a:spcAft>
              <a:buClr>
                <a:srgbClr val="000000"/>
              </a:buClr>
              <a:buSzPct val="100000"/>
              <a:buFont typeface="Arial"/>
              <a:buChar char="●"/>
            </a:pPr>
            <a:r>
              <a:rPr lang="en" sz="2400">
                <a:solidFill>
                  <a:srgbClr val="000000"/>
                </a:solidFill>
                <a:latin typeface="Arial"/>
                <a:ea typeface="Arial"/>
                <a:cs typeface="Arial"/>
                <a:sym typeface="Arial"/>
              </a:rPr>
              <a:t>To implement access control, we use </a:t>
            </a:r>
            <a:r>
              <a:rPr lang="en" sz="2400" b="1">
                <a:solidFill>
                  <a:srgbClr val="000000"/>
                </a:solidFill>
                <a:latin typeface="Arial"/>
                <a:ea typeface="Arial"/>
                <a:cs typeface="Arial"/>
                <a:sym typeface="Arial"/>
              </a:rPr>
              <a:t>Access Modifiers</a:t>
            </a:r>
            <a:r>
              <a:rPr lang="en" sz="2400">
                <a:solidFill>
                  <a:srgbClr val="000000"/>
                </a:solidFill>
                <a:latin typeface="Arial"/>
                <a:ea typeface="Arial"/>
                <a:cs typeface="Arial"/>
                <a:sym typeface="Arial"/>
              </a:rPr>
              <a:t>.</a:t>
            </a:r>
            <a:endParaRPr sz="2400">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Access Specifier</a:t>
            </a:r>
            <a:endParaRPr/>
          </a:p>
        </p:txBody>
      </p:sp>
      <p:sp>
        <p:nvSpPr>
          <p:cNvPr id="246" name="Google Shape;246;p4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20000"/>
          </a:bodyPr>
          <a:lstStyle/>
          <a:p>
            <a:pPr marL="12700" lvl="0" indent="0" algn="l" rtl="0">
              <a:spcBef>
                <a:spcPts val="0"/>
              </a:spcBef>
              <a:spcAft>
                <a:spcPts val="0"/>
              </a:spcAft>
              <a:buNone/>
            </a:pPr>
            <a:r>
              <a:rPr lang="en" sz="2400">
                <a:solidFill>
                  <a:srgbClr val="000000"/>
                </a:solidFill>
                <a:latin typeface="Calibri"/>
                <a:ea typeface="Calibri"/>
                <a:cs typeface="Calibri"/>
                <a:sym typeface="Calibri"/>
              </a:rPr>
              <a:t>The access specifiers in java are:</a:t>
            </a:r>
            <a:endParaRPr sz="2400">
              <a:solidFill>
                <a:srgbClr val="000000"/>
              </a:solidFill>
              <a:latin typeface="Calibri"/>
              <a:ea typeface="Calibri"/>
              <a:cs typeface="Calibri"/>
              <a:sym typeface="Calibri"/>
            </a:endParaRPr>
          </a:p>
          <a:p>
            <a:pPr marL="457200" lvl="0" indent="-358140" algn="l" rtl="0">
              <a:spcBef>
                <a:spcPts val="0"/>
              </a:spcBef>
              <a:spcAft>
                <a:spcPts val="0"/>
              </a:spcAft>
              <a:buClr>
                <a:srgbClr val="000000"/>
              </a:buClr>
              <a:buSzPct val="100000"/>
              <a:buFont typeface="Calibri"/>
              <a:buAutoNum type="arabicPeriod"/>
            </a:pPr>
            <a:r>
              <a:rPr lang="en" sz="2400" b="1">
                <a:solidFill>
                  <a:srgbClr val="000000"/>
                </a:solidFill>
                <a:latin typeface="Calibri"/>
                <a:ea typeface="Calibri"/>
                <a:cs typeface="Calibri"/>
                <a:sym typeface="Calibri"/>
              </a:rPr>
              <a:t>public</a:t>
            </a:r>
            <a:r>
              <a:rPr lang="en" sz="2400">
                <a:solidFill>
                  <a:srgbClr val="000000"/>
                </a:solidFill>
                <a:latin typeface="Calibri"/>
                <a:ea typeface="Calibri"/>
                <a:cs typeface="Calibri"/>
                <a:sym typeface="Calibri"/>
              </a:rPr>
              <a:t>: When a class member is declared with the public access specifiers, it can be accessed from anywhere in the program. The public classes,methods, or fields are used only if you explicitly want to offer access to these members.</a:t>
            </a:r>
            <a:endParaRPr sz="2400">
              <a:solidFill>
                <a:srgbClr val="000000"/>
              </a:solidFill>
              <a:latin typeface="Calibri"/>
              <a:ea typeface="Calibri"/>
              <a:cs typeface="Calibri"/>
              <a:sym typeface="Calibri"/>
            </a:endParaRPr>
          </a:p>
          <a:p>
            <a:pPr marL="457200" lvl="0" indent="-358140" algn="l" rtl="0">
              <a:spcBef>
                <a:spcPts val="0"/>
              </a:spcBef>
              <a:spcAft>
                <a:spcPts val="0"/>
              </a:spcAft>
              <a:buClr>
                <a:srgbClr val="000000"/>
              </a:buClr>
              <a:buSzPct val="100000"/>
              <a:buFont typeface="Calibri"/>
              <a:buAutoNum type="arabicPeriod"/>
            </a:pPr>
            <a:r>
              <a:rPr lang="en" sz="2400" b="1">
                <a:solidFill>
                  <a:srgbClr val="000000"/>
                </a:solidFill>
                <a:latin typeface="Calibri"/>
                <a:ea typeface="Calibri"/>
                <a:cs typeface="Calibri"/>
                <a:sym typeface="Calibri"/>
              </a:rPr>
              <a:t>private</a:t>
            </a:r>
            <a:r>
              <a:rPr lang="en" sz="2400">
                <a:solidFill>
                  <a:srgbClr val="000000"/>
                </a:solidFill>
                <a:latin typeface="Calibri"/>
                <a:ea typeface="Calibri"/>
                <a:cs typeface="Calibri"/>
                <a:sym typeface="Calibri"/>
              </a:rPr>
              <a:t>: You can access the private methods and fields only within the same class to which the methods and fields belong. When you declare a method or field as private, it is not visible within the subclasses and is not inherited by the subclasses.</a:t>
            </a:r>
            <a:endParaRPr sz="2400">
              <a:solidFill>
                <a:srgbClr val="000000"/>
              </a:solidFill>
              <a:latin typeface="Calibri"/>
              <a:ea typeface="Calibri"/>
              <a:cs typeface="Calibri"/>
              <a:sym typeface="Calibri"/>
            </a:endParaRPr>
          </a:p>
          <a:p>
            <a:pPr marL="0" lvl="0" indent="0" algn="l" rtl="0">
              <a:spcBef>
                <a:spcPts val="0"/>
              </a:spcBef>
              <a:spcAft>
                <a:spcPts val="12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Access Specifier</a:t>
            </a:r>
            <a:endParaRPr/>
          </a:p>
        </p:txBody>
      </p:sp>
      <p:sp>
        <p:nvSpPr>
          <p:cNvPr id="252" name="Google Shape;252;p4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pPr marL="457200" lvl="0" indent="-346710" algn="l" rtl="0">
              <a:spcBef>
                <a:spcPts val="100"/>
              </a:spcBef>
              <a:spcAft>
                <a:spcPts val="0"/>
              </a:spcAft>
              <a:buClr>
                <a:srgbClr val="000000"/>
              </a:buClr>
              <a:buSzPct val="100000"/>
              <a:buFont typeface="Calibri"/>
              <a:buAutoNum type="arabicPeriod" startAt="3"/>
            </a:pPr>
            <a:r>
              <a:rPr lang="en" sz="2400" b="1">
                <a:solidFill>
                  <a:srgbClr val="000000"/>
                </a:solidFill>
                <a:latin typeface="Calibri"/>
                <a:ea typeface="Calibri"/>
                <a:cs typeface="Calibri"/>
                <a:sym typeface="Calibri"/>
              </a:rPr>
              <a:t>protected</a:t>
            </a:r>
            <a:r>
              <a:rPr lang="en" sz="2400">
                <a:solidFill>
                  <a:srgbClr val="000000"/>
                </a:solidFill>
                <a:latin typeface="Calibri"/>
                <a:ea typeface="Calibri"/>
                <a:cs typeface="Calibri"/>
                <a:sym typeface="Calibri"/>
              </a:rPr>
              <a:t>: You can access the protected methods and fields from within the same class to which the methods and fields belong, within its subclasses, and within the classes of the same package, but not from other packages. The protected access specifier cannot be used with class declaration</a:t>
            </a:r>
            <a:endParaRPr sz="2400">
              <a:solidFill>
                <a:srgbClr val="000000"/>
              </a:solidFill>
              <a:latin typeface="Calibri"/>
              <a:ea typeface="Calibri"/>
              <a:cs typeface="Calibri"/>
              <a:sym typeface="Calibri"/>
            </a:endParaRPr>
          </a:p>
          <a:p>
            <a:pPr marL="457200" lvl="0" indent="-346710" algn="l" rtl="0">
              <a:spcBef>
                <a:spcPts val="0"/>
              </a:spcBef>
              <a:spcAft>
                <a:spcPts val="0"/>
              </a:spcAft>
              <a:buClr>
                <a:srgbClr val="000000"/>
              </a:buClr>
              <a:buSzPct val="100000"/>
              <a:buFont typeface="Calibri"/>
              <a:buAutoNum type="arabicPeriod" startAt="3"/>
            </a:pPr>
            <a:r>
              <a:rPr lang="en" sz="2400" b="1">
                <a:solidFill>
                  <a:srgbClr val="000000"/>
                </a:solidFill>
                <a:latin typeface="Calibri"/>
                <a:ea typeface="Calibri"/>
                <a:cs typeface="Calibri"/>
                <a:sym typeface="Calibri"/>
              </a:rPr>
              <a:t>Default</a:t>
            </a:r>
            <a:r>
              <a:rPr lang="en" sz="2400">
                <a:solidFill>
                  <a:srgbClr val="000000"/>
                </a:solidFill>
                <a:latin typeface="Calibri"/>
                <a:ea typeface="Calibri"/>
                <a:cs typeface="Calibri"/>
                <a:sym typeface="Calibri"/>
              </a:rPr>
              <a:t>: If you do not specify any access specifier while declaring class, method or field then they are considered with default access specifier. The class, method or field with default access specifier can be accessed from within the same package to which they belongs. These are not accessible outside the package it belong</a:t>
            </a:r>
            <a:endParaRPr sz="2400">
              <a:solidFill>
                <a:srgbClr val="000000"/>
              </a:solidFill>
              <a:latin typeface="Calibri"/>
              <a:ea typeface="Calibri"/>
              <a:cs typeface="Calibri"/>
              <a:sym typeface="Calibri"/>
            </a:endParaRPr>
          </a:p>
          <a:p>
            <a:pPr marL="0" lvl="0" indent="0" algn="l" rtl="0">
              <a:spcBef>
                <a:spcPts val="0"/>
              </a:spcBef>
              <a:spcAft>
                <a:spcPts val="1200"/>
              </a:spcAft>
              <a:buNone/>
            </a:pPr>
            <a:endParaRPr sz="2400">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Methods</a:t>
            </a:r>
            <a:endParaRPr/>
          </a:p>
        </p:txBody>
      </p:sp>
      <p:sp>
        <p:nvSpPr>
          <p:cNvPr id="258" name="Google Shape;258;p4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0000" lnSpcReduction="20000"/>
          </a:bodyPr>
          <a:lstStyle/>
          <a:p>
            <a:pPr marL="457200" lvl="0" indent="-300038" algn="just" rtl="0">
              <a:spcBef>
                <a:spcPts val="10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A Java method is a collection of statements that are grouped together to perform an operation.</a:t>
            </a:r>
            <a:endParaRPr sz="2900">
              <a:solidFill>
                <a:srgbClr val="000000"/>
              </a:solidFill>
              <a:latin typeface="Arial"/>
              <a:ea typeface="Arial"/>
              <a:cs typeface="Arial"/>
              <a:sym typeface="Arial"/>
            </a:endParaRPr>
          </a:p>
          <a:p>
            <a:pPr marL="457200" lvl="0" indent="-300038"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When you call the System.out.println method, for example, the system actually executes several statements in order to display a message on the console.</a:t>
            </a:r>
            <a:endParaRPr sz="2900">
              <a:solidFill>
                <a:srgbClr val="000000"/>
              </a:solidFill>
              <a:latin typeface="Arial"/>
              <a:ea typeface="Arial"/>
              <a:cs typeface="Arial"/>
              <a:sym typeface="Arial"/>
            </a:endParaRPr>
          </a:p>
          <a:p>
            <a:pPr marL="457200" lvl="0" indent="-300038" algn="just" rtl="0">
              <a:spcBef>
                <a:spcPts val="0"/>
              </a:spcBef>
              <a:spcAft>
                <a:spcPts val="0"/>
              </a:spcAft>
              <a:buSzPct val="62069"/>
              <a:buFont typeface="Arial"/>
              <a:buChar char="●"/>
            </a:pPr>
            <a:r>
              <a:rPr lang="en" sz="2900">
                <a:solidFill>
                  <a:srgbClr val="000000"/>
                </a:solidFill>
                <a:latin typeface="Arial"/>
                <a:ea typeface="Arial"/>
                <a:cs typeface="Arial"/>
                <a:sym typeface="Arial"/>
              </a:rPr>
              <a:t>This is the general form of a method:</a:t>
            </a:r>
            <a:endParaRPr sz="2900">
              <a:solidFill>
                <a:srgbClr val="000000"/>
              </a:solidFill>
              <a:latin typeface="Arial"/>
              <a:ea typeface="Arial"/>
              <a:cs typeface="Arial"/>
              <a:sym typeface="Arial"/>
            </a:endParaRPr>
          </a:p>
          <a:p>
            <a:pPr marL="1371600" lvl="0" indent="0" algn="just" rtl="0">
              <a:spcBef>
                <a:spcPts val="700"/>
              </a:spcBef>
              <a:spcAft>
                <a:spcPts val="0"/>
              </a:spcAft>
              <a:buNone/>
            </a:pPr>
            <a:r>
              <a:rPr lang="en" sz="2900" i="1">
                <a:solidFill>
                  <a:srgbClr val="000000"/>
                </a:solidFill>
                <a:latin typeface="Arial"/>
                <a:ea typeface="Arial"/>
                <a:cs typeface="Arial"/>
                <a:sym typeface="Arial"/>
              </a:rPr>
              <a:t>type name(parameter-list) {</a:t>
            </a:r>
            <a:endParaRPr sz="2900" i="1">
              <a:solidFill>
                <a:srgbClr val="000000"/>
              </a:solidFill>
              <a:latin typeface="Arial"/>
              <a:ea typeface="Arial"/>
              <a:cs typeface="Arial"/>
              <a:sym typeface="Arial"/>
            </a:endParaRPr>
          </a:p>
          <a:p>
            <a:pPr marL="1371600" lvl="0" indent="457200" algn="l" rtl="0">
              <a:spcBef>
                <a:spcPts val="700"/>
              </a:spcBef>
              <a:spcAft>
                <a:spcPts val="0"/>
              </a:spcAft>
              <a:buNone/>
            </a:pPr>
            <a:r>
              <a:rPr lang="en" sz="2900">
                <a:solidFill>
                  <a:srgbClr val="000000"/>
                </a:solidFill>
                <a:latin typeface="Arial"/>
                <a:ea typeface="Arial"/>
                <a:cs typeface="Arial"/>
                <a:sym typeface="Arial"/>
              </a:rPr>
              <a:t>/ /  body of method</a:t>
            </a:r>
            <a:endParaRPr sz="2900">
              <a:solidFill>
                <a:srgbClr val="000000"/>
              </a:solidFill>
              <a:latin typeface="Arial"/>
              <a:ea typeface="Arial"/>
              <a:cs typeface="Arial"/>
              <a:sym typeface="Arial"/>
            </a:endParaRPr>
          </a:p>
          <a:p>
            <a:pPr marL="1371600" lvl="0" indent="0" algn="l" rtl="0">
              <a:spcBef>
                <a:spcPts val="700"/>
              </a:spcBef>
              <a:spcAft>
                <a:spcPts val="0"/>
              </a:spcAft>
              <a:buNone/>
            </a:pPr>
            <a:r>
              <a:rPr lang="en" sz="2900">
                <a:solidFill>
                  <a:srgbClr val="000000"/>
                </a:solidFill>
                <a:latin typeface="Arial"/>
                <a:ea typeface="Arial"/>
                <a:cs typeface="Arial"/>
                <a:sym typeface="Arial"/>
              </a:rPr>
              <a:t>}</a:t>
            </a:r>
            <a:endParaRPr sz="2900">
              <a:solidFill>
                <a:srgbClr val="000000"/>
              </a:solidFill>
              <a:latin typeface="Arial"/>
              <a:ea typeface="Arial"/>
              <a:cs typeface="Arial"/>
              <a:sym typeface="Arial"/>
            </a:endParaRPr>
          </a:p>
          <a:p>
            <a:pPr marL="1371600" lvl="0" indent="0" algn="l" rtl="0">
              <a:spcBef>
                <a:spcPts val="700"/>
              </a:spcBef>
              <a:spcAft>
                <a:spcPts val="0"/>
              </a:spcAft>
              <a:buNone/>
            </a:pPr>
            <a:endParaRPr sz="2900">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Methods</a:t>
            </a:r>
            <a:endParaRPr/>
          </a:p>
        </p:txBody>
      </p:sp>
      <p:sp>
        <p:nvSpPr>
          <p:cNvPr id="264" name="Google Shape;264;p4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68300" algn="l" rtl="0">
              <a:spcBef>
                <a:spcPts val="100"/>
              </a:spcBef>
              <a:spcAft>
                <a:spcPts val="0"/>
              </a:spcAft>
              <a:buSzPts val="2200"/>
              <a:buFont typeface="Arial"/>
              <a:buChar char="●"/>
            </a:pPr>
            <a:r>
              <a:rPr lang="en" sz="2200" dirty="0">
                <a:solidFill>
                  <a:srgbClr val="000000"/>
                </a:solidFill>
                <a:latin typeface="Arial"/>
                <a:ea typeface="Arial"/>
                <a:cs typeface="Arial"/>
                <a:sym typeface="Arial"/>
              </a:rPr>
              <a:t>The word method is commonly used in object- oriented programming. It is similar to a function in any other programming language.</a:t>
            </a:r>
            <a:endParaRPr sz="2200" dirty="0">
              <a:solidFill>
                <a:srgbClr val="000000"/>
              </a:solidFill>
              <a:latin typeface="Arial"/>
              <a:ea typeface="Arial"/>
              <a:cs typeface="Arial"/>
              <a:sym typeface="Arial"/>
            </a:endParaRPr>
          </a:p>
          <a:p>
            <a:pPr marL="457200" lvl="0" indent="-368300" algn="l" rtl="0">
              <a:spcBef>
                <a:spcPts val="0"/>
              </a:spcBef>
              <a:spcAft>
                <a:spcPts val="0"/>
              </a:spcAft>
              <a:buSzPts val="2200"/>
              <a:buFont typeface="Arial"/>
              <a:buChar char="●"/>
            </a:pPr>
            <a:r>
              <a:rPr lang="en" sz="2200" dirty="0">
                <a:solidFill>
                  <a:srgbClr val="000000"/>
                </a:solidFill>
                <a:latin typeface="Arial"/>
                <a:ea typeface="Arial"/>
                <a:cs typeface="Arial"/>
                <a:sym typeface="Arial"/>
              </a:rPr>
              <a:t>Method in java can’t be declared outside the class. All methods have a name that starts with a lowercase character.</a:t>
            </a:r>
            <a:endParaRPr sz="1750" dirty="0">
              <a:solidFill>
                <a:srgbClr val="DA1F2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62DB33B0-8DE8-E1DD-3898-E2659762B1CD}"/>
            </a:ext>
          </a:extLst>
        </p:cNvPr>
        <p:cNvGrpSpPr/>
        <p:nvPr/>
      </p:nvGrpSpPr>
      <p:grpSpPr>
        <a:xfrm>
          <a:off x="0" y="0"/>
          <a:ext cx="0" cy="0"/>
          <a:chOff x="0" y="0"/>
          <a:chExt cx="0" cy="0"/>
        </a:xfrm>
      </p:grpSpPr>
      <p:sp>
        <p:nvSpPr>
          <p:cNvPr id="263" name="Google Shape;263;p43">
            <a:extLst>
              <a:ext uri="{FF2B5EF4-FFF2-40B4-BE49-F238E27FC236}">
                <a16:creationId xmlns:a16="http://schemas.microsoft.com/office/drawing/2014/main" id="{5A00723F-5145-4408-30B4-427A56A3F71D}"/>
              </a:ext>
            </a:extLst>
          </p:cNvPr>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Methods</a:t>
            </a:r>
            <a:endParaRPr/>
          </a:p>
        </p:txBody>
      </p:sp>
      <p:sp>
        <p:nvSpPr>
          <p:cNvPr id="264" name="Google Shape;264;p43">
            <a:extLst>
              <a:ext uri="{FF2B5EF4-FFF2-40B4-BE49-F238E27FC236}">
                <a16:creationId xmlns:a16="http://schemas.microsoft.com/office/drawing/2014/main" id="{9A0BAF79-C0F3-D4F9-C608-F6607825C666}"/>
              </a:ext>
            </a:extLst>
          </p:cNvPr>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68300" algn="l" rtl="0">
              <a:spcBef>
                <a:spcPts val="100"/>
              </a:spcBef>
              <a:spcAft>
                <a:spcPts val="0"/>
              </a:spcAft>
              <a:buSzPts val="2200"/>
              <a:buFont typeface="Arial"/>
              <a:buChar char="●"/>
            </a:pPr>
            <a:r>
              <a:rPr lang="en-IN" sz="2400" dirty="0">
                <a:solidFill>
                  <a:srgbClr val="DA1F28"/>
                </a:solidFill>
                <a:latin typeface="Arial"/>
                <a:ea typeface="Arial"/>
                <a:cs typeface="Arial"/>
                <a:sym typeface="Arial"/>
              </a:rPr>
              <a:t>Syntax:</a:t>
            </a:r>
          </a:p>
          <a:p>
            <a:pPr marL="88900" lvl="0" indent="0" algn="l" rtl="0">
              <a:spcBef>
                <a:spcPts val="100"/>
              </a:spcBef>
              <a:spcAft>
                <a:spcPts val="0"/>
              </a:spcAft>
              <a:buSzPts val="2200"/>
              <a:buNone/>
            </a:pPr>
            <a:r>
              <a:rPr lang="en-IN" sz="2400" dirty="0">
                <a:solidFill>
                  <a:srgbClr val="DA1F28"/>
                </a:solidFill>
                <a:latin typeface="Arial"/>
                <a:ea typeface="Arial"/>
                <a:cs typeface="Arial"/>
                <a:sym typeface="Arial"/>
              </a:rPr>
              <a:t>	</a:t>
            </a:r>
            <a:r>
              <a:rPr lang="en-IN" sz="2400" dirty="0" err="1">
                <a:solidFill>
                  <a:schemeClr val="bg2">
                    <a:lumMod val="50000"/>
                  </a:schemeClr>
                </a:solidFill>
                <a:latin typeface="Arial"/>
                <a:ea typeface="Arial"/>
                <a:cs typeface="Arial"/>
                <a:sym typeface="Arial"/>
              </a:rPr>
              <a:t>returntype</a:t>
            </a:r>
            <a:r>
              <a:rPr lang="en-IN" sz="2400" dirty="0">
                <a:solidFill>
                  <a:schemeClr val="bg2">
                    <a:lumMod val="50000"/>
                  </a:schemeClr>
                </a:solidFill>
                <a:latin typeface="Arial"/>
                <a:ea typeface="Arial"/>
                <a:cs typeface="Arial"/>
                <a:sym typeface="Arial"/>
              </a:rPr>
              <a:t> </a:t>
            </a:r>
            <a:r>
              <a:rPr lang="en-IN" sz="2400" dirty="0" err="1">
                <a:solidFill>
                  <a:schemeClr val="bg2">
                    <a:lumMod val="50000"/>
                  </a:schemeClr>
                </a:solidFill>
                <a:latin typeface="Arial"/>
                <a:ea typeface="Arial"/>
                <a:cs typeface="Arial"/>
                <a:sym typeface="Arial"/>
              </a:rPr>
              <a:t>method_name</a:t>
            </a:r>
            <a:r>
              <a:rPr lang="en-IN" sz="2400" dirty="0">
                <a:solidFill>
                  <a:schemeClr val="bg2">
                    <a:lumMod val="50000"/>
                  </a:schemeClr>
                </a:solidFill>
                <a:latin typeface="Arial"/>
                <a:ea typeface="Arial"/>
                <a:cs typeface="Arial"/>
                <a:sym typeface="Arial"/>
              </a:rPr>
              <a:t>(arg1,arg2,….,</a:t>
            </a:r>
            <a:r>
              <a:rPr lang="en-IN" sz="2400" dirty="0" err="1">
                <a:solidFill>
                  <a:schemeClr val="bg2">
                    <a:lumMod val="50000"/>
                  </a:schemeClr>
                </a:solidFill>
                <a:latin typeface="Arial"/>
                <a:ea typeface="Arial"/>
                <a:cs typeface="Arial"/>
                <a:sym typeface="Arial"/>
              </a:rPr>
              <a:t>argN</a:t>
            </a:r>
            <a:r>
              <a:rPr lang="en-IN" sz="2400" dirty="0">
                <a:solidFill>
                  <a:schemeClr val="bg2">
                    <a:lumMod val="50000"/>
                  </a:schemeClr>
                </a:solidFill>
                <a:latin typeface="Arial"/>
                <a:ea typeface="Arial"/>
                <a:cs typeface="Arial"/>
                <a:sym typeface="Arial"/>
              </a:rPr>
              <a:t>){</a:t>
            </a:r>
          </a:p>
          <a:p>
            <a:pPr marL="88900" lvl="0" indent="0" algn="l" rtl="0">
              <a:spcBef>
                <a:spcPts val="100"/>
              </a:spcBef>
              <a:spcAft>
                <a:spcPts val="0"/>
              </a:spcAft>
              <a:buSzPts val="2200"/>
              <a:buNone/>
            </a:pPr>
            <a:r>
              <a:rPr lang="en-IN" sz="2400" dirty="0">
                <a:solidFill>
                  <a:schemeClr val="bg2">
                    <a:lumMod val="50000"/>
                  </a:schemeClr>
                </a:solidFill>
                <a:latin typeface="Arial"/>
                <a:ea typeface="Arial"/>
                <a:cs typeface="Arial"/>
                <a:sym typeface="Arial"/>
              </a:rPr>
              <a:t>		//statements;</a:t>
            </a:r>
          </a:p>
          <a:p>
            <a:pPr marL="88900" lvl="0" indent="0" algn="l" rtl="0">
              <a:spcBef>
                <a:spcPts val="100"/>
              </a:spcBef>
              <a:spcAft>
                <a:spcPts val="0"/>
              </a:spcAft>
              <a:buSzPts val="2200"/>
              <a:buNone/>
            </a:pPr>
            <a:r>
              <a:rPr lang="en-IN" sz="2400" dirty="0">
                <a:solidFill>
                  <a:schemeClr val="bg2">
                    <a:lumMod val="50000"/>
                  </a:schemeClr>
                </a:solidFill>
                <a:latin typeface="Arial"/>
                <a:ea typeface="Arial"/>
                <a:cs typeface="Arial"/>
                <a:sym typeface="Arial"/>
              </a:rPr>
              <a:t>	}</a:t>
            </a:r>
            <a:endParaRPr sz="2400" dirty="0">
              <a:solidFill>
                <a:schemeClr val="bg2">
                  <a:lumMod val="50000"/>
                </a:schemeClr>
              </a:solidFill>
              <a:latin typeface="Arial"/>
              <a:ea typeface="Arial"/>
              <a:cs typeface="Arial"/>
              <a:sym typeface="Arial"/>
            </a:endParaRPr>
          </a:p>
        </p:txBody>
      </p:sp>
    </p:spTree>
    <p:extLst>
      <p:ext uri="{BB962C8B-B14F-4D97-AF65-F5344CB8AC3E}">
        <p14:creationId xmlns:p14="http://schemas.microsoft.com/office/powerpoint/2010/main" val="1141869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 (Cont..)</a:t>
            </a:r>
            <a:endParaRPr/>
          </a:p>
        </p:txBody>
      </p:sp>
      <p:sp>
        <p:nvSpPr>
          <p:cNvPr id="270" name="Google Shape;270;p4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17183" algn="just" rtl="0">
              <a:spcBef>
                <a:spcPts val="100"/>
              </a:spcBef>
              <a:spcAft>
                <a:spcPts val="0"/>
              </a:spcAft>
              <a:buSzPct val="124138"/>
              <a:buFont typeface="Arial" panose="020B0604020202020204" pitchFamily="34" charset="0"/>
              <a:buChar char="•"/>
            </a:pPr>
            <a:r>
              <a:rPr lang="en" sz="2200" dirty="0">
                <a:solidFill>
                  <a:srgbClr val="000000"/>
                </a:solidFill>
                <a:latin typeface="Arial"/>
                <a:ea typeface="Arial"/>
                <a:cs typeface="Arial"/>
                <a:sym typeface="Arial"/>
              </a:rPr>
              <a:t>Here, </a:t>
            </a:r>
            <a:r>
              <a:rPr lang="en" sz="2200" b="1" dirty="0">
                <a:solidFill>
                  <a:srgbClr val="000000"/>
                </a:solidFill>
                <a:latin typeface="Arial"/>
                <a:ea typeface="Arial"/>
                <a:cs typeface="Arial"/>
                <a:sym typeface="Arial"/>
              </a:rPr>
              <a:t>returntype</a:t>
            </a:r>
            <a:r>
              <a:rPr lang="en" sz="2200" dirty="0">
                <a:solidFill>
                  <a:srgbClr val="000000"/>
                </a:solidFill>
                <a:latin typeface="Arial"/>
                <a:ea typeface="Arial"/>
                <a:cs typeface="Arial"/>
                <a:sym typeface="Arial"/>
              </a:rPr>
              <a:t> specifies the type of data returned by the method. This can be any valid type, including class types that you create.</a:t>
            </a:r>
            <a:endParaRPr sz="2200" dirty="0">
              <a:solidFill>
                <a:srgbClr val="000000"/>
              </a:solidFill>
              <a:latin typeface="Arial"/>
              <a:ea typeface="Arial"/>
              <a:cs typeface="Arial"/>
              <a:sym typeface="Arial"/>
            </a:endParaRPr>
          </a:p>
          <a:p>
            <a:pPr marL="457200" lvl="0" indent="-317183" algn="just" rtl="0">
              <a:spcBef>
                <a:spcPts val="0"/>
              </a:spcBef>
              <a:spcAft>
                <a:spcPts val="0"/>
              </a:spcAft>
              <a:buSzPct val="124138"/>
              <a:buFont typeface="Arial" panose="020B0604020202020204" pitchFamily="34" charset="0"/>
              <a:buChar char="•"/>
            </a:pPr>
            <a:r>
              <a:rPr lang="en" sz="2200" dirty="0">
                <a:solidFill>
                  <a:srgbClr val="000000"/>
                </a:solidFill>
                <a:latin typeface="Arial"/>
                <a:ea typeface="Arial"/>
                <a:cs typeface="Arial"/>
                <a:sym typeface="Arial"/>
              </a:rPr>
              <a:t>If the method does not return a value, its return type must be void.</a:t>
            </a:r>
          </a:p>
          <a:p>
            <a:pPr marL="482917" lvl="0" algn="just" rtl="0">
              <a:spcBef>
                <a:spcPts val="0"/>
              </a:spcBef>
              <a:spcAft>
                <a:spcPts val="0"/>
              </a:spcAft>
              <a:buSzPct val="124138"/>
              <a:buFont typeface="Arial" panose="020B0604020202020204" pitchFamily="34" charset="0"/>
              <a:buChar char="•"/>
            </a:pPr>
            <a:r>
              <a:rPr lang="en" sz="2200" dirty="0">
                <a:solidFill>
                  <a:srgbClr val="000000"/>
                </a:solidFill>
                <a:latin typeface="Arial"/>
                <a:ea typeface="Arial"/>
                <a:cs typeface="Arial"/>
                <a:sym typeface="Arial"/>
              </a:rPr>
              <a:t>The </a:t>
            </a:r>
            <a:r>
              <a:rPr lang="en" sz="2200" b="1" dirty="0">
                <a:solidFill>
                  <a:srgbClr val="000000"/>
                </a:solidFill>
                <a:latin typeface="Arial"/>
                <a:ea typeface="Arial"/>
                <a:cs typeface="Arial"/>
                <a:sym typeface="Arial"/>
              </a:rPr>
              <a:t>name of the method</a:t>
            </a:r>
            <a:r>
              <a:rPr lang="en" sz="2200" dirty="0">
                <a:solidFill>
                  <a:srgbClr val="000000"/>
                </a:solidFill>
                <a:latin typeface="Arial"/>
                <a:ea typeface="Arial"/>
                <a:cs typeface="Arial"/>
                <a:sym typeface="Arial"/>
              </a:rPr>
              <a:t> can be any legal identifier other than those already used by other items within the current scope.</a:t>
            </a:r>
            <a:endParaRPr sz="2200" dirty="0">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8">
          <a:extLst>
            <a:ext uri="{FF2B5EF4-FFF2-40B4-BE49-F238E27FC236}">
              <a16:creationId xmlns:a16="http://schemas.microsoft.com/office/drawing/2014/main" id="{5AC7DC67-EC84-E1BF-0DBE-81DF8626AF4A}"/>
            </a:ext>
          </a:extLst>
        </p:cNvPr>
        <p:cNvGrpSpPr/>
        <p:nvPr/>
      </p:nvGrpSpPr>
      <p:grpSpPr>
        <a:xfrm>
          <a:off x="0" y="0"/>
          <a:ext cx="0" cy="0"/>
          <a:chOff x="0" y="0"/>
          <a:chExt cx="0" cy="0"/>
        </a:xfrm>
      </p:grpSpPr>
      <p:sp>
        <p:nvSpPr>
          <p:cNvPr id="269" name="Google Shape;269;p44">
            <a:extLst>
              <a:ext uri="{FF2B5EF4-FFF2-40B4-BE49-F238E27FC236}">
                <a16:creationId xmlns:a16="http://schemas.microsoft.com/office/drawing/2014/main" id="{83E8973A-9E92-849C-EDA5-03581BEC19AA}"/>
              </a:ext>
            </a:extLst>
          </p:cNvPr>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 (Cont..)</a:t>
            </a:r>
            <a:endParaRPr/>
          </a:p>
        </p:txBody>
      </p:sp>
      <p:sp>
        <p:nvSpPr>
          <p:cNvPr id="270" name="Google Shape;270;p44">
            <a:extLst>
              <a:ext uri="{FF2B5EF4-FFF2-40B4-BE49-F238E27FC236}">
                <a16:creationId xmlns:a16="http://schemas.microsoft.com/office/drawing/2014/main" id="{14804DE8-F2A6-4295-2BFB-76160D0423AA}"/>
              </a:ext>
            </a:extLst>
          </p:cNvPr>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17183" algn="just" rtl="0">
              <a:spcBef>
                <a:spcPts val="0"/>
              </a:spcBef>
              <a:spcAft>
                <a:spcPts val="0"/>
              </a:spcAft>
              <a:buSzPct val="124138"/>
              <a:buFont typeface="Arial" panose="020B0604020202020204" pitchFamily="34" charset="0"/>
              <a:buChar char="•"/>
            </a:pPr>
            <a:r>
              <a:rPr lang="en" sz="2000" dirty="0">
                <a:solidFill>
                  <a:srgbClr val="000000"/>
                </a:solidFill>
                <a:latin typeface="Arial"/>
                <a:ea typeface="Arial"/>
                <a:cs typeface="Arial"/>
                <a:sym typeface="Arial"/>
              </a:rPr>
              <a:t>The </a:t>
            </a:r>
            <a:r>
              <a:rPr lang="en" sz="2000" b="1" dirty="0">
                <a:solidFill>
                  <a:srgbClr val="000000"/>
                </a:solidFill>
                <a:latin typeface="Arial"/>
                <a:ea typeface="Arial"/>
                <a:cs typeface="Arial"/>
                <a:sym typeface="Arial"/>
              </a:rPr>
              <a:t>parameter-list</a:t>
            </a:r>
            <a:r>
              <a:rPr lang="en" sz="2000" dirty="0">
                <a:solidFill>
                  <a:srgbClr val="000000"/>
                </a:solidFill>
                <a:latin typeface="Arial"/>
                <a:ea typeface="Arial"/>
                <a:cs typeface="Arial"/>
                <a:sym typeface="Arial"/>
              </a:rPr>
              <a:t> is a sequence of type and identifier pairs separated by commas. Parameters are essentially variables that receive the value of the arguments passed to the method when it is called.</a:t>
            </a:r>
            <a:endParaRPr sz="2000" dirty="0">
              <a:solidFill>
                <a:srgbClr val="000000"/>
              </a:solidFill>
              <a:latin typeface="Arial"/>
              <a:ea typeface="Arial"/>
              <a:cs typeface="Arial"/>
              <a:sym typeface="Arial"/>
            </a:endParaRPr>
          </a:p>
          <a:p>
            <a:pPr marL="457200" lvl="0" indent="-317183" algn="just" rtl="0">
              <a:lnSpc>
                <a:spcPct val="227272"/>
              </a:lnSpc>
              <a:spcBef>
                <a:spcPts val="0"/>
              </a:spcBef>
              <a:spcAft>
                <a:spcPts val="0"/>
              </a:spcAft>
              <a:buSzPct val="124138"/>
              <a:buFont typeface="Arial" panose="020B0604020202020204" pitchFamily="34" charset="0"/>
              <a:buChar char="•"/>
            </a:pPr>
            <a:r>
              <a:rPr lang="en" sz="2000" dirty="0">
                <a:solidFill>
                  <a:srgbClr val="000000"/>
                </a:solidFill>
                <a:latin typeface="Arial"/>
                <a:ea typeface="Arial"/>
                <a:cs typeface="Arial"/>
                <a:sym typeface="Arial"/>
              </a:rPr>
              <a:t>If the method has no parameters, then the parameter list will be empty</a:t>
            </a:r>
            <a:endParaRPr sz="2000" dirty="0"/>
          </a:p>
        </p:txBody>
      </p:sp>
    </p:spTree>
    <p:extLst>
      <p:ext uri="{BB962C8B-B14F-4D97-AF65-F5344CB8AC3E}">
        <p14:creationId xmlns:p14="http://schemas.microsoft.com/office/powerpoint/2010/main" val="3708804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Method?</a:t>
            </a:r>
            <a:endParaRPr/>
          </a:p>
        </p:txBody>
      </p:sp>
      <p:sp>
        <p:nvSpPr>
          <p:cNvPr id="276" name="Google Shape;276;p4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0000" lnSpcReduction="20000"/>
          </a:bodyPr>
          <a:lstStyle/>
          <a:p>
            <a:pPr marL="457200" lvl="0" indent="-326390" algn="just" rtl="0">
              <a:spcBef>
                <a:spcPts val="100"/>
              </a:spcBef>
              <a:spcAft>
                <a:spcPts val="0"/>
              </a:spcAft>
              <a:buClr>
                <a:srgbClr val="000000"/>
              </a:buClr>
              <a:buSzPct val="151724"/>
              <a:buFont typeface="Arial"/>
              <a:buChar char="●"/>
            </a:pPr>
            <a:r>
              <a:rPr lang="en" sz="1450">
                <a:solidFill>
                  <a:srgbClr val="DA1F28"/>
                </a:solidFill>
                <a:latin typeface="Arial"/>
                <a:ea typeface="Arial"/>
                <a:cs typeface="Arial"/>
                <a:sym typeface="Arial"/>
              </a:rPr>
              <a:t>¨</a:t>
            </a:r>
            <a:r>
              <a:rPr lang="en" sz="2400" b="1">
                <a:solidFill>
                  <a:srgbClr val="000000"/>
                </a:solidFill>
                <a:latin typeface="Arial"/>
                <a:ea typeface="Arial"/>
                <a:cs typeface="Arial"/>
                <a:sym typeface="Arial"/>
              </a:rPr>
              <a:t>To make code reusable: </a:t>
            </a:r>
            <a:r>
              <a:rPr lang="en" sz="2400">
                <a:solidFill>
                  <a:srgbClr val="000000"/>
                </a:solidFill>
                <a:latin typeface="Arial"/>
                <a:ea typeface="Arial"/>
                <a:cs typeface="Arial"/>
                <a:sym typeface="Arial"/>
              </a:rPr>
              <a:t>If we need to do the same thing or almost the same thing, many times ,write a method to do it and then call the method each time you have to do the task.</a:t>
            </a:r>
            <a:endParaRPr sz="2400">
              <a:solidFill>
                <a:srgbClr val="000000"/>
              </a:solidFill>
              <a:latin typeface="Arial"/>
              <a:ea typeface="Arial"/>
              <a:cs typeface="Arial"/>
              <a:sym typeface="Arial"/>
            </a:endParaRPr>
          </a:p>
          <a:p>
            <a:pPr marL="457200" lvl="0" indent="-326390" algn="just" rtl="0">
              <a:spcBef>
                <a:spcPts val="0"/>
              </a:spcBef>
              <a:spcAft>
                <a:spcPts val="0"/>
              </a:spcAft>
              <a:buClr>
                <a:srgbClr val="000000"/>
              </a:buClr>
              <a:buSzPct val="151724"/>
              <a:buFont typeface="Arial"/>
              <a:buChar char="●"/>
            </a:pPr>
            <a:r>
              <a:rPr lang="en" sz="1450">
                <a:solidFill>
                  <a:srgbClr val="DA1F28"/>
                </a:solidFill>
                <a:latin typeface="Arial"/>
                <a:ea typeface="Arial"/>
                <a:cs typeface="Arial"/>
                <a:sym typeface="Arial"/>
              </a:rPr>
              <a:t>¨</a:t>
            </a:r>
            <a:r>
              <a:rPr lang="en" sz="2400" b="1">
                <a:solidFill>
                  <a:srgbClr val="000000"/>
                </a:solidFill>
                <a:latin typeface="Arial"/>
                <a:ea typeface="Arial"/>
                <a:cs typeface="Arial"/>
                <a:sym typeface="Arial"/>
              </a:rPr>
              <a:t>To parameterize the code:-</a:t>
            </a:r>
            <a:r>
              <a:rPr lang="en" sz="2400">
                <a:solidFill>
                  <a:srgbClr val="000000"/>
                </a:solidFill>
                <a:latin typeface="Arial"/>
                <a:ea typeface="Arial"/>
                <a:cs typeface="Arial"/>
                <a:sym typeface="Arial"/>
              </a:rPr>
              <a:t>We will often use parameters to change the way the methods behaves.</a:t>
            </a:r>
            <a:endParaRPr sz="2400">
              <a:solidFill>
                <a:srgbClr val="000000"/>
              </a:solidFill>
              <a:latin typeface="Arial"/>
              <a:ea typeface="Arial"/>
              <a:cs typeface="Arial"/>
              <a:sym typeface="Arial"/>
            </a:endParaRPr>
          </a:p>
          <a:p>
            <a:pPr marL="457200" lvl="0" indent="-326390" algn="just" rtl="0">
              <a:spcBef>
                <a:spcPts val="0"/>
              </a:spcBef>
              <a:spcAft>
                <a:spcPts val="0"/>
              </a:spcAft>
              <a:buClr>
                <a:srgbClr val="000000"/>
              </a:buClr>
              <a:buSzPct val="151724"/>
              <a:buFont typeface="Arial"/>
              <a:buChar char="●"/>
            </a:pPr>
            <a:r>
              <a:rPr lang="en" sz="1450">
                <a:solidFill>
                  <a:srgbClr val="DA1F28"/>
                </a:solidFill>
                <a:latin typeface="Arial"/>
                <a:ea typeface="Arial"/>
                <a:cs typeface="Arial"/>
                <a:sym typeface="Arial"/>
              </a:rPr>
              <a:t>¨</a:t>
            </a:r>
            <a:r>
              <a:rPr lang="en" sz="2400" b="1">
                <a:solidFill>
                  <a:srgbClr val="000000"/>
                </a:solidFill>
                <a:latin typeface="Arial"/>
                <a:ea typeface="Arial"/>
                <a:cs typeface="Arial"/>
                <a:sym typeface="Arial"/>
              </a:rPr>
              <a:t>For top-down programming:-</a:t>
            </a:r>
            <a:r>
              <a:rPr lang="en" sz="2400">
                <a:solidFill>
                  <a:srgbClr val="000000"/>
                </a:solidFill>
                <a:latin typeface="Arial"/>
                <a:ea typeface="Arial"/>
                <a:cs typeface="Arial"/>
                <a:sym typeface="Arial"/>
              </a:rPr>
              <a:t>We can easily solve a bigger problem or a complex one by breaking it into sma </a:t>
            </a:r>
            <a:r>
              <a:rPr lang="en" sz="2400" b="1">
                <a:solidFill>
                  <a:srgbClr val="000000"/>
                </a:solidFill>
                <a:latin typeface="Arial"/>
                <a:ea typeface="Arial"/>
                <a:cs typeface="Arial"/>
                <a:sym typeface="Arial"/>
              </a:rPr>
              <a:t>l</a:t>
            </a:r>
            <a:r>
              <a:rPr lang="en" sz="2400">
                <a:solidFill>
                  <a:srgbClr val="000000"/>
                </a:solidFill>
                <a:latin typeface="Arial"/>
                <a:ea typeface="Arial"/>
                <a:cs typeface="Arial"/>
                <a:sym typeface="Arial"/>
              </a:rPr>
              <a:t>er parts. For the same purpose, we write methods. The entire complex problem can be broken down into methods.</a:t>
            </a:r>
            <a:endParaRPr sz="2400">
              <a:solidFill>
                <a:srgbClr val="000000"/>
              </a:solidFill>
              <a:latin typeface="Arial"/>
              <a:ea typeface="Arial"/>
              <a:cs typeface="Arial"/>
              <a:sym typeface="Arial"/>
            </a:endParaRPr>
          </a:p>
          <a:p>
            <a:pPr marL="457200" lvl="0" indent="-326390" algn="just" rtl="0">
              <a:spcBef>
                <a:spcPts val="0"/>
              </a:spcBef>
              <a:spcAft>
                <a:spcPts val="0"/>
              </a:spcAft>
              <a:buClr>
                <a:srgbClr val="000000"/>
              </a:buClr>
              <a:buSzPct val="151724"/>
              <a:buFont typeface="Arial"/>
              <a:buChar char="●"/>
            </a:pPr>
            <a:r>
              <a:rPr lang="en" sz="1450">
                <a:solidFill>
                  <a:srgbClr val="DA1F28"/>
                </a:solidFill>
                <a:latin typeface="Arial"/>
                <a:ea typeface="Arial"/>
                <a:cs typeface="Arial"/>
                <a:sym typeface="Arial"/>
              </a:rPr>
              <a:t>¨</a:t>
            </a:r>
            <a:r>
              <a:rPr lang="en" sz="2400" b="1">
                <a:solidFill>
                  <a:srgbClr val="000000"/>
                </a:solidFill>
                <a:latin typeface="Arial"/>
                <a:ea typeface="Arial"/>
                <a:cs typeface="Arial"/>
                <a:sym typeface="Arial"/>
              </a:rPr>
              <a:t>To simplify the code:-</a:t>
            </a:r>
            <a:r>
              <a:rPr lang="en" sz="2400">
                <a:solidFill>
                  <a:srgbClr val="000000"/>
                </a:solidFill>
                <a:latin typeface="Arial"/>
                <a:ea typeface="Arial"/>
                <a:cs typeface="Arial"/>
                <a:sym typeface="Arial"/>
              </a:rPr>
              <a:t>Because the complex code inside a methods is hidden from other parts of the program, it prevents accidental errors or confusion.</a:t>
            </a:r>
            <a:endParaRPr sz="220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282" name="Google Shape;282;p46"/>
          <p:cNvPicPr preferRelativeResize="0"/>
          <p:nvPr/>
        </p:nvPicPr>
        <p:blipFill>
          <a:blip r:embed="rId3">
            <a:alphaModFix/>
          </a:blip>
          <a:stretch>
            <a:fillRect/>
          </a:stretch>
        </p:blipFill>
        <p:spPr>
          <a:xfrm>
            <a:off x="496225" y="1086975"/>
            <a:ext cx="3570800" cy="3991075"/>
          </a:xfrm>
          <a:prstGeom prst="rect">
            <a:avLst/>
          </a:prstGeom>
          <a:noFill/>
          <a:ln>
            <a:noFill/>
          </a:ln>
        </p:spPr>
      </p:pic>
      <p:pic>
        <p:nvPicPr>
          <p:cNvPr id="283" name="Google Shape;283;p46"/>
          <p:cNvPicPr preferRelativeResize="0"/>
          <p:nvPr/>
        </p:nvPicPr>
        <p:blipFill>
          <a:blip r:embed="rId4">
            <a:alphaModFix/>
          </a:blip>
          <a:stretch>
            <a:fillRect/>
          </a:stretch>
        </p:blipFill>
        <p:spPr>
          <a:xfrm>
            <a:off x="4219425" y="1086975"/>
            <a:ext cx="3925551" cy="3904126"/>
          </a:xfrm>
          <a:prstGeom prst="rect">
            <a:avLst/>
          </a:prstGeom>
          <a:noFill/>
          <a:ln>
            <a:noFill/>
          </a:ln>
        </p:spPr>
      </p:pic>
      <p:pic>
        <p:nvPicPr>
          <p:cNvPr id="284" name="Google Shape;284;p46"/>
          <p:cNvPicPr preferRelativeResize="0"/>
          <p:nvPr/>
        </p:nvPicPr>
        <p:blipFill rotWithShape="1">
          <a:blip r:embed="rId5">
            <a:alphaModFix/>
          </a:blip>
          <a:srcRect r="-66417"/>
          <a:stretch/>
        </p:blipFill>
        <p:spPr>
          <a:xfrm>
            <a:off x="4364225" y="1152425"/>
            <a:ext cx="3780749" cy="36595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 Overloading</a:t>
            </a:r>
            <a:endParaRPr/>
          </a:p>
        </p:txBody>
      </p:sp>
      <p:sp>
        <p:nvSpPr>
          <p:cNvPr id="290" name="Google Shape;290;p4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17183" algn="just" rtl="0">
              <a:spcBef>
                <a:spcPts val="10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If two methods have the same name but different parameter lists within one class is called “Method Overloading”.</a:t>
            </a:r>
            <a:endParaRPr sz="2900">
              <a:solidFill>
                <a:srgbClr val="000000"/>
              </a:solidFill>
              <a:latin typeface="Arial"/>
              <a:ea typeface="Arial"/>
              <a:cs typeface="Arial"/>
              <a:sym typeface="Arial"/>
            </a:endParaRPr>
          </a:p>
          <a:p>
            <a:pPr marL="457200" lvl="0" indent="-317183"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Overloaded  methods  must  have  different parameter lists. You cannot overload methods based on different modifiers or return types.</a:t>
            </a:r>
            <a:endParaRPr sz="2900">
              <a:solidFill>
                <a:srgbClr val="000000"/>
              </a:solidFill>
              <a:latin typeface="Arial"/>
              <a:ea typeface="Arial"/>
              <a:cs typeface="Arial"/>
              <a:sym typeface="Arial"/>
            </a:endParaRPr>
          </a:p>
          <a:p>
            <a:pPr marL="457200" lvl="0" indent="-317183"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When overloaded methods are used, the java compiler  decides  which  method  is  to be invoked  by  the  number  and/or types of parameters you pass to the method</a:t>
            </a:r>
            <a:endParaRPr sz="2900">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296" name="Google Shape;296;p48"/>
          <p:cNvPicPr preferRelativeResize="0"/>
          <p:nvPr/>
        </p:nvPicPr>
        <p:blipFill>
          <a:blip r:embed="rId3">
            <a:alphaModFix/>
          </a:blip>
          <a:stretch>
            <a:fillRect/>
          </a:stretch>
        </p:blipFill>
        <p:spPr>
          <a:xfrm>
            <a:off x="311700" y="1266325"/>
            <a:ext cx="3912599" cy="3584874"/>
          </a:xfrm>
          <a:prstGeom prst="rect">
            <a:avLst/>
          </a:prstGeom>
          <a:noFill/>
          <a:ln>
            <a:noFill/>
          </a:ln>
        </p:spPr>
      </p:pic>
      <p:pic>
        <p:nvPicPr>
          <p:cNvPr id="297" name="Google Shape;297;p48"/>
          <p:cNvPicPr preferRelativeResize="0"/>
          <p:nvPr/>
        </p:nvPicPr>
        <p:blipFill>
          <a:blip r:embed="rId4">
            <a:alphaModFix/>
          </a:blip>
          <a:stretch>
            <a:fillRect/>
          </a:stretch>
        </p:blipFill>
        <p:spPr>
          <a:xfrm>
            <a:off x="4376700" y="1304825"/>
            <a:ext cx="4344125" cy="3686275"/>
          </a:xfrm>
          <a:prstGeom prst="rect">
            <a:avLst/>
          </a:prstGeom>
          <a:noFill/>
          <a:ln>
            <a:noFill/>
          </a:ln>
        </p:spPr>
      </p:pic>
      <p:pic>
        <p:nvPicPr>
          <p:cNvPr id="298" name="Google Shape;298;p48"/>
          <p:cNvPicPr preferRelativeResize="0"/>
          <p:nvPr/>
        </p:nvPicPr>
        <p:blipFill>
          <a:blip r:embed="rId5">
            <a:alphaModFix/>
          </a:blip>
          <a:stretch>
            <a:fillRect/>
          </a:stretch>
        </p:blipFill>
        <p:spPr>
          <a:xfrm>
            <a:off x="4445725" y="1370250"/>
            <a:ext cx="4118050" cy="34809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Recursion</a:t>
            </a:r>
            <a:endParaRPr dirty="0"/>
          </a:p>
        </p:txBody>
      </p:sp>
      <p:sp>
        <p:nvSpPr>
          <p:cNvPr id="304" name="Google Shape;304;p4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56553" algn="l" rtl="0">
              <a:spcBef>
                <a:spcPts val="100"/>
              </a:spcBef>
              <a:spcAft>
                <a:spcPts val="0"/>
              </a:spcAft>
              <a:buClr>
                <a:srgbClr val="000000"/>
              </a:buClr>
              <a:buSzPct val="100000"/>
              <a:buChar char="●"/>
            </a:pPr>
            <a:r>
              <a:rPr lang="en" sz="2600" dirty="0">
                <a:solidFill>
                  <a:srgbClr val="000000"/>
                </a:solidFill>
                <a:latin typeface="Calibri"/>
                <a:ea typeface="Calibri"/>
                <a:cs typeface="Calibri"/>
                <a:sym typeface="Calibri"/>
              </a:rPr>
              <a:t>Each time a method is called, a new space is allocated on the internal stack for all the variable in the method, which means there is no reason you can’t call the same method again – a new set of variables will be allocated on the stack automatically</a:t>
            </a:r>
            <a:endParaRPr sz="2600" dirty="0">
              <a:solidFill>
                <a:srgbClr val="000000"/>
              </a:solidFill>
              <a:latin typeface="Calibri"/>
              <a:ea typeface="Calibri"/>
              <a:cs typeface="Calibri"/>
              <a:sym typeface="Calibri"/>
            </a:endParaRPr>
          </a:p>
          <a:p>
            <a:pPr marL="457200" lvl="0" indent="-356553" algn="l" rtl="0">
              <a:spcBef>
                <a:spcPts val="0"/>
              </a:spcBef>
              <a:spcAft>
                <a:spcPts val="0"/>
              </a:spcAft>
              <a:buClr>
                <a:srgbClr val="000000"/>
              </a:buClr>
              <a:buSzPct val="100000"/>
              <a:buChar char="●"/>
            </a:pPr>
            <a:r>
              <a:rPr lang="en" sz="2600" dirty="0">
                <a:solidFill>
                  <a:srgbClr val="000000"/>
                </a:solidFill>
                <a:latin typeface="Calibri"/>
                <a:ea typeface="Calibri"/>
                <a:cs typeface="Calibri"/>
                <a:sym typeface="Calibri"/>
              </a:rPr>
              <a:t>Recursion is a technique in which a method calls itself.</a:t>
            </a:r>
            <a:endParaRPr sz="2600" dirty="0">
              <a:solidFill>
                <a:srgbClr val="000000"/>
              </a:solidFill>
              <a:latin typeface="Calibri"/>
              <a:ea typeface="Calibri"/>
              <a:cs typeface="Calibri"/>
              <a:sym typeface="Calibri"/>
            </a:endParaRPr>
          </a:p>
          <a:p>
            <a:pPr marL="457200" lvl="0" indent="-356553" algn="l" rtl="0">
              <a:spcBef>
                <a:spcPts val="0"/>
              </a:spcBef>
              <a:spcAft>
                <a:spcPts val="0"/>
              </a:spcAft>
              <a:buClr>
                <a:srgbClr val="000000"/>
              </a:buClr>
              <a:buSzPct val="100000"/>
              <a:buChar char="●"/>
            </a:pPr>
            <a:r>
              <a:rPr lang="en" sz="2600" dirty="0">
                <a:solidFill>
                  <a:srgbClr val="000000"/>
                </a:solidFill>
                <a:latin typeface="Calibri"/>
                <a:ea typeface="Calibri"/>
                <a:cs typeface="Calibri"/>
                <a:sym typeface="Calibri"/>
              </a:rPr>
              <a:t>This technique provides a way to break complicated problems down into simple problems which are easier to solve.</a:t>
            </a:r>
            <a:endParaRPr sz="2600" dirty="0">
              <a:solidFill>
                <a:srgbClr val="000000"/>
              </a:solidFill>
              <a:latin typeface="Calibri"/>
              <a:ea typeface="Calibri"/>
              <a:cs typeface="Calibri"/>
              <a:sym typeface="Calibri"/>
            </a:endParaRPr>
          </a:p>
          <a:p>
            <a:pPr marL="457200" lvl="0" indent="-356553" algn="l" rtl="0">
              <a:spcBef>
                <a:spcPts val="0"/>
              </a:spcBef>
              <a:spcAft>
                <a:spcPts val="0"/>
              </a:spcAft>
              <a:buClr>
                <a:srgbClr val="000000"/>
              </a:buClr>
              <a:buSzPct val="100000"/>
              <a:buChar char="●"/>
            </a:pPr>
            <a:r>
              <a:rPr lang="en" sz="2600" dirty="0">
                <a:solidFill>
                  <a:srgbClr val="000000"/>
                </a:solidFill>
                <a:latin typeface="Calibri"/>
                <a:ea typeface="Calibri"/>
                <a:cs typeface="Calibri"/>
                <a:sym typeface="Calibri"/>
              </a:rPr>
              <a:t>Examples of recursion are:</a:t>
            </a:r>
            <a:endParaRPr sz="2600" dirty="0">
              <a:solidFill>
                <a:srgbClr val="000000"/>
              </a:solidFill>
              <a:latin typeface="Calibri"/>
              <a:ea typeface="Calibri"/>
              <a:cs typeface="Calibri"/>
              <a:sym typeface="Calibri"/>
            </a:endParaRPr>
          </a:p>
          <a:p>
            <a:pPr marL="914400" lvl="1" indent="-356553" algn="l" rtl="0">
              <a:spcBef>
                <a:spcPts val="0"/>
              </a:spcBef>
              <a:spcAft>
                <a:spcPts val="0"/>
              </a:spcAft>
              <a:buClr>
                <a:srgbClr val="000000"/>
              </a:buClr>
              <a:buSzPct val="100000"/>
              <a:buChar char="○"/>
            </a:pPr>
            <a:r>
              <a:rPr lang="en" sz="2600" dirty="0">
                <a:solidFill>
                  <a:srgbClr val="000000"/>
                </a:solidFill>
                <a:latin typeface="Calibri"/>
                <a:ea typeface="Calibri"/>
                <a:cs typeface="Calibri"/>
                <a:sym typeface="Calibri"/>
              </a:rPr>
              <a:t>Factorial of number</a:t>
            </a:r>
            <a:endParaRPr sz="2600" dirty="0">
              <a:solidFill>
                <a:srgbClr val="000000"/>
              </a:solidFill>
              <a:latin typeface="Calibri"/>
              <a:ea typeface="Calibri"/>
              <a:cs typeface="Calibri"/>
              <a:sym typeface="Calibri"/>
            </a:endParaRPr>
          </a:p>
          <a:p>
            <a:pPr marL="914400" lvl="1" indent="-356553" algn="l" rtl="0">
              <a:spcBef>
                <a:spcPts val="0"/>
              </a:spcBef>
              <a:spcAft>
                <a:spcPts val="0"/>
              </a:spcAft>
              <a:buClr>
                <a:srgbClr val="000000"/>
              </a:buClr>
              <a:buSzPct val="100000"/>
              <a:buChar char="○"/>
            </a:pPr>
            <a:r>
              <a:rPr lang="en" sz="2600" dirty="0">
                <a:solidFill>
                  <a:srgbClr val="000000"/>
                </a:solidFill>
                <a:latin typeface="Calibri"/>
                <a:ea typeface="Calibri"/>
                <a:cs typeface="Calibri"/>
                <a:sym typeface="Calibri"/>
              </a:rPr>
              <a:t>Fibonacci series</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5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Recursion</a:t>
            </a:r>
            <a:endParaRPr/>
          </a:p>
        </p:txBody>
      </p:sp>
      <p:sp>
        <p:nvSpPr>
          <p:cNvPr id="310" name="Google Shape;310;p5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62500" lnSpcReduction="20000"/>
          </a:bodyPr>
          <a:lstStyle/>
          <a:p>
            <a:pPr marL="12700" lvl="0" indent="0" algn="l" rtl="0">
              <a:spcBef>
                <a:spcPts val="3100"/>
              </a:spcBef>
              <a:spcAft>
                <a:spcPts val="0"/>
              </a:spcAft>
              <a:buNone/>
            </a:pPr>
            <a:r>
              <a:rPr lang="en" sz="2800" b="1">
                <a:solidFill>
                  <a:srgbClr val="000000"/>
                </a:solidFill>
                <a:latin typeface="Calibri"/>
                <a:ea typeface="Calibri"/>
                <a:cs typeface="Calibri"/>
                <a:sym typeface="Calibri"/>
              </a:rPr>
              <a:t>Syntax:</a:t>
            </a:r>
            <a:endParaRPr sz="2800" b="1">
              <a:solidFill>
                <a:srgbClr val="000000"/>
              </a:solidFill>
              <a:latin typeface="Calibri"/>
              <a:ea typeface="Calibri"/>
              <a:cs typeface="Calibri"/>
              <a:sym typeface="Calibri"/>
            </a:endParaRPr>
          </a:p>
          <a:p>
            <a:pPr marL="12700" lvl="0" indent="0" algn="l" rtl="0">
              <a:spcBef>
                <a:spcPts val="0"/>
              </a:spcBef>
              <a:spcAft>
                <a:spcPts val="0"/>
              </a:spcAft>
              <a:buNone/>
            </a:pPr>
            <a:r>
              <a:rPr lang="en" sz="2800">
                <a:solidFill>
                  <a:srgbClr val="000000"/>
                </a:solidFill>
                <a:latin typeface="Calibri"/>
                <a:ea typeface="Calibri"/>
                <a:cs typeface="Calibri"/>
                <a:sym typeface="Calibri"/>
              </a:rPr>
              <a:t>type methodname(){</a:t>
            </a:r>
            <a:endParaRPr sz="2800">
              <a:solidFill>
                <a:srgbClr val="000000"/>
              </a:solidFill>
              <a:latin typeface="Calibri"/>
              <a:ea typeface="Calibri"/>
              <a:cs typeface="Calibri"/>
              <a:sym typeface="Calibri"/>
            </a:endParaRPr>
          </a:p>
          <a:p>
            <a:pPr marL="927100" marR="12700" lvl="0" indent="0" algn="l" rtl="0">
              <a:spcBef>
                <a:spcPts val="0"/>
              </a:spcBef>
              <a:spcAft>
                <a:spcPts val="0"/>
              </a:spcAft>
              <a:buNone/>
            </a:pPr>
            <a:r>
              <a:rPr lang="en" sz="2800">
                <a:solidFill>
                  <a:srgbClr val="000000"/>
                </a:solidFill>
                <a:latin typeface="Calibri"/>
                <a:ea typeface="Calibri"/>
                <a:cs typeface="Calibri"/>
                <a:sym typeface="Calibri"/>
              </a:rPr>
              <a:t>//code to be executed methodname();//calling same method</a:t>
            </a:r>
            <a:endParaRPr sz="2800">
              <a:solidFill>
                <a:srgbClr val="000000"/>
              </a:solidFill>
              <a:latin typeface="Calibri"/>
              <a:ea typeface="Calibri"/>
              <a:cs typeface="Calibri"/>
              <a:sym typeface="Calibri"/>
            </a:endParaRPr>
          </a:p>
          <a:p>
            <a:pPr marL="12700" lvl="0" indent="0" algn="l" rtl="0">
              <a:spcBef>
                <a:spcPts val="0"/>
              </a:spcBef>
              <a:spcAft>
                <a:spcPts val="0"/>
              </a:spcAft>
              <a:buNone/>
            </a:pPr>
            <a:r>
              <a:rPr lang="en" sz="2800">
                <a:solidFill>
                  <a:srgbClr val="000000"/>
                </a:solidFill>
                <a:latin typeface="Calibri"/>
                <a:ea typeface="Calibri"/>
                <a:cs typeface="Calibri"/>
                <a:sym typeface="Calibri"/>
              </a:rPr>
              <a:t>}</a:t>
            </a:r>
            <a:endParaRPr sz="2800">
              <a:solidFill>
                <a:srgbClr val="000000"/>
              </a:solidFill>
              <a:latin typeface="Calibri"/>
              <a:ea typeface="Calibri"/>
              <a:cs typeface="Calibri"/>
              <a:sym typeface="Calibri"/>
            </a:endParaRPr>
          </a:p>
          <a:p>
            <a:pPr marL="12700" lvl="0" indent="0" algn="l" rtl="0">
              <a:spcBef>
                <a:spcPts val="3400"/>
              </a:spcBef>
              <a:spcAft>
                <a:spcPts val="0"/>
              </a:spcAft>
              <a:buNone/>
            </a:pPr>
            <a:r>
              <a:rPr lang="en" sz="2800" b="1">
                <a:solidFill>
                  <a:srgbClr val="000000"/>
                </a:solidFill>
                <a:latin typeface="Calibri"/>
                <a:ea typeface="Calibri"/>
                <a:cs typeface="Calibri"/>
                <a:sym typeface="Calibri"/>
              </a:rPr>
              <a:t>Example:</a:t>
            </a:r>
            <a:endParaRPr sz="2800" b="1">
              <a:solidFill>
                <a:srgbClr val="000000"/>
              </a:solidFill>
              <a:latin typeface="Calibri"/>
              <a:ea typeface="Calibri"/>
              <a:cs typeface="Calibri"/>
              <a:sym typeface="Calibri"/>
            </a:endParaRPr>
          </a:p>
          <a:p>
            <a:pPr marL="12700" lvl="0" indent="0" algn="l" rtl="0">
              <a:spcBef>
                <a:spcPts val="0"/>
              </a:spcBef>
              <a:spcAft>
                <a:spcPts val="0"/>
              </a:spcAft>
              <a:buNone/>
            </a:pPr>
            <a:r>
              <a:rPr lang="en" sz="2800">
                <a:solidFill>
                  <a:srgbClr val="000000"/>
                </a:solidFill>
                <a:latin typeface="Calibri"/>
                <a:ea typeface="Calibri"/>
                <a:cs typeface="Calibri"/>
                <a:sym typeface="Calibri"/>
              </a:rPr>
              <a:t>void demo(){</a:t>
            </a:r>
            <a:endParaRPr sz="2800">
              <a:solidFill>
                <a:srgbClr val="000000"/>
              </a:solidFill>
              <a:latin typeface="Calibri"/>
              <a:ea typeface="Calibri"/>
              <a:cs typeface="Calibri"/>
              <a:sym typeface="Calibri"/>
            </a:endParaRPr>
          </a:p>
          <a:p>
            <a:pPr marL="927100" marR="1536700" lvl="0" indent="0" algn="l" rtl="0">
              <a:spcBef>
                <a:spcPts val="0"/>
              </a:spcBef>
              <a:spcAft>
                <a:spcPts val="0"/>
              </a:spcAft>
              <a:buNone/>
            </a:pPr>
            <a:r>
              <a:rPr lang="en" sz="2800">
                <a:solidFill>
                  <a:srgbClr val="000000"/>
                </a:solidFill>
                <a:latin typeface="Calibri"/>
                <a:ea typeface="Calibri"/>
                <a:cs typeface="Calibri"/>
                <a:sym typeface="Calibri"/>
              </a:rPr>
              <a:t>System.out.println(“hello”); demo();</a:t>
            </a:r>
            <a:endParaRPr sz="2800">
              <a:solidFill>
                <a:srgbClr val="000000"/>
              </a:solidFill>
              <a:latin typeface="Calibri"/>
              <a:ea typeface="Calibri"/>
              <a:cs typeface="Calibri"/>
              <a:sym typeface="Calibri"/>
            </a:endParaRPr>
          </a:p>
          <a:p>
            <a:pPr marL="0" lvl="0" indent="0" algn="l" rtl="0">
              <a:spcBef>
                <a:spcPts val="0"/>
              </a:spcBef>
              <a:spcAft>
                <a:spcPts val="1200"/>
              </a:spcAft>
              <a:buNone/>
            </a:pPr>
            <a:r>
              <a:rPr lang="en" sz="2800">
                <a:solidFill>
                  <a:srgbClr val="000000"/>
                </a:solidFill>
                <a:latin typeface="Calibri"/>
                <a:ea typeface="Calibri"/>
                <a:cs typeface="Calibri"/>
                <a:sym typeface="Calibri"/>
              </a:rPr>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316" name="Google Shape;316;p5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62500" lnSpcReduction="20000"/>
          </a:bodyPr>
          <a:lstStyle/>
          <a:p>
            <a:pPr marL="12700" lvl="0" indent="0" algn="just" rtl="0">
              <a:spcBef>
                <a:spcPts val="100"/>
              </a:spcBef>
              <a:spcAft>
                <a:spcPts val="0"/>
              </a:spcAft>
              <a:buNone/>
            </a:pPr>
            <a:r>
              <a:rPr lang="en" sz="2800" b="1" dirty="0">
                <a:solidFill>
                  <a:srgbClr val="000000"/>
                </a:solidFill>
                <a:latin typeface="Calibri"/>
                <a:ea typeface="Calibri"/>
                <a:cs typeface="Calibri"/>
                <a:sym typeface="Calibri"/>
              </a:rPr>
              <a:t>public class </a:t>
            </a:r>
            <a:r>
              <a:rPr lang="en" sz="2800" dirty="0">
                <a:solidFill>
                  <a:srgbClr val="000000"/>
                </a:solidFill>
                <a:latin typeface="Calibri"/>
                <a:ea typeface="Calibri"/>
                <a:cs typeface="Calibri"/>
                <a:sym typeface="Calibri"/>
              </a:rPr>
              <a:t>Recursion {</a:t>
            </a:r>
            <a:endParaRPr sz="2800" dirty="0">
              <a:solidFill>
                <a:srgbClr val="000000"/>
              </a:solidFill>
              <a:latin typeface="Calibri"/>
              <a:ea typeface="Calibri"/>
              <a:cs typeface="Calibri"/>
              <a:sym typeface="Calibri"/>
            </a:endParaRPr>
          </a:p>
          <a:p>
            <a:pPr marL="342900" lvl="0" indent="114300" algn="just" rtl="0">
              <a:spcBef>
                <a:spcPts val="0"/>
              </a:spcBef>
              <a:spcAft>
                <a:spcPts val="0"/>
              </a:spcAft>
              <a:buNone/>
            </a:pPr>
            <a:r>
              <a:rPr lang="en" sz="2800" b="1" dirty="0">
                <a:solidFill>
                  <a:srgbClr val="000000"/>
                </a:solidFill>
                <a:latin typeface="Calibri"/>
                <a:ea typeface="Calibri"/>
                <a:cs typeface="Calibri"/>
                <a:sym typeface="Calibri"/>
              </a:rPr>
              <a:t>int </a:t>
            </a:r>
            <a:r>
              <a:rPr lang="en" sz="2800" dirty="0">
                <a:solidFill>
                  <a:srgbClr val="000000"/>
                </a:solidFill>
                <a:latin typeface="Calibri"/>
                <a:ea typeface="Calibri"/>
                <a:cs typeface="Calibri"/>
                <a:sym typeface="Calibri"/>
              </a:rPr>
              <a:t>factorial(</a:t>
            </a:r>
            <a:r>
              <a:rPr lang="en" sz="2800" b="1" dirty="0">
                <a:solidFill>
                  <a:srgbClr val="000000"/>
                </a:solidFill>
                <a:latin typeface="Calibri"/>
                <a:ea typeface="Calibri"/>
                <a:cs typeface="Calibri"/>
                <a:sym typeface="Calibri"/>
              </a:rPr>
              <a:t>int </a:t>
            </a:r>
            <a:r>
              <a:rPr lang="en" sz="2800" dirty="0">
                <a:solidFill>
                  <a:srgbClr val="000000"/>
                </a:solidFill>
                <a:latin typeface="Calibri"/>
                <a:ea typeface="Calibri"/>
                <a:cs typeface="Calibri"/>
                <a:sym typeface="Calibri"/>
              </a:rPr>
              <a:t>n){</a:t>
            </a:r>
            <a:endParaRPr sz="2800" dirty="0">
              <a:solidFill>
                <a:srgbClr val="000000"/>
              </a:solidFill>
              <a:latin typeface="Calibri"/>
              <a:ea typeface="Calibri"/>
              <a:cs typeface="Calibri"/>
              <a:sym typeface="Calibri"/>
            </a:endParaRPr>
          </a:p>
          <a:p>
            <a:pPr marL="825500" marR="5143500" lvl="0" indent="0" algn="just" rtl="0">
              <a:spcBef>
                <a:spcPts val="0"/>
              </a:spcBef>
              <a:spcAft>
                <a:spcPts val="0"/>
              </a:spcAft>
              <a:buNone/>
            </a:pPr>
            <a:r>
              <a:rPr lang="en" sz="2800" b="1" dirty="0">
                <a:solidFill>
                  <a:srgbClr val="000000"/>
                </a:solidFill>
                <a:latin typeface="Calibri"/>
                <a:ea typeface="Calibri"/>
                <a:cs typeface="Calibri"/>
                <a:sym typeface="Calibri"/>
              </a:rPr>
              <a:t>if </a:t>
            </a:r>
            <a:r>
              <a:rPr lang="en" sz="2800" dirty="0">
                <a:solidFill>
                  <a:srgbClr val="000000"/>
                </a:solidFill>
                <a:latin typeface="Calibri"/>
                <a:ea typeface="Calibri"/>
                <a:cs typeface="Calibri"/>
                <a:sym typeface="Calibri"/>
              </a:rPr>
              <a:t>(n == 1) </a:t>
            </a:r>
            <a:r>
              <a:rPr lang="en" sz="2800" b="1" dirty="0">
                <a:solidFill>
                  <a:srgbClr val="000000"/>
                </a:solidFill>
                <a:latin typeface="Calibri"/>
                <a:ea typeface="Calibri"/>
                <a:cs typeface="Calibri"/>
                <a:sym typeface="Calibri"/>
              </a:rPr>
              <a:t>return </a:t>
            </a:r>
            <a:r>
              <a:rPr lang="en" sz="2800" dirty="0">
                <a:solidFill>
                  <a:srgbClr val="000000"/>
                </a:solidFill>
                <a:latin typeface="Calibri"/>
                <a:ea typeface="Calibri"/>
                <a:cs typeface="Calibri"/>
                <a:sym typeface="Calibri"/>
              </a:rPr>
              <a:t>1; </a:t>
            </a:r>
            <a:r>
              <a:rPr lang="en" sz="2800" b="1" dirty="0">
                <a:solidFill>
                  <a:srgbClr val="000000"/>
                </a:solidFill>
                <a:latin typeface="Calibri"/>
                <a:ea typeface="Calibri"/>
                <a:cs typeface="Calibri"/>
                <a:sym typeface="Calibri"/>
              </a:rPr>
              <a:t>else</a:t>
            </a:r>
            <a:endParaRPr sz="2800" b="1" dirty="0">
              <a:solidFill>
                <a:srgbClr val="000000"/>
              </a:solidFill>
              <a:latin typeface="Calibri"/>
              <a:ea typeface="Calibri"/>
              <a:cs typeface="Calibri"/>
              <a:sym typeface="Calibri"/>
            </a:endParaRPr>
          </a:p>
          <a:p>
            <a:pPr marL="990600" lvl="0" indent="0" algn="just" rtl="0">
              <a:spcBef>
                <a:spcPts val="0"/>
              </a:spcBef>
              <a:spcAft>
                <a:spcPts val="0"/>
              </a:spcAft>
              <a:buNone/>
            </a:pPr>
            <a:r>
              <a:rPr lang="en" sz="2800" b="1" dirty="0">
                <a:solidFill>
                  <a:srgbClr val="000000"/>
                </a:solidFill>
                <a:latin typeface="Calibri"/>
                <a:ea typeface="Calibri"/>
                <a:cs typeface="Calibri"/>
                <a:sym typeface="Calibri"/>
              </a:rPr>
              <a:t>return</a:t>
            </a:r>
            <a:r>
              <a:rPr lang="en" sz="2800" dirty="0">
                <a:solidFill>
                  <a:srgbClr val="000000"/>
                </a:solidFill>
                <a:latin typeface="Calibri"/>
                <a:ea typeface="Calibri"/>
                <a:cs typeface="Calibri"/>
                <a:sym typeface="Calibri"/>
              </a:rPr>
              <a:t>(n * factorial(n-1));</a:t>
            </a:r>
            <a:endParaRPr sz="2800" dirty="0">
              <a:solidFill>
                <a:srgbClr val="000000"/>
              </a:solidFill>
              <a:latin typeface="Calibri"/>
              <a:ea typeface="Calibri"/>
              <a:cs typeface="Calibri"/>
              <a:sym typeface="Calibri"/>
            </a:endParaRPr>
          </a:p>
          <a:p>
            <a:pPr marL="342900" lvl="0" indent="114300" algn="l" rtl="0">
              <a:spcBef>
                <a:spcPts val="0"/>
              </a:spcBef>
              <a:spcAft>
                <a:spcPts val="0"/>
              </a:spcAft>
              <a:buNone/>
            </a:pPr>
            <a:r>
              <a:rPr lang="en" sz="2800" dirty="0">
                <a:solidFill>
                  <a:srgbClr val="000000"/>
                </a:solidFill>
                <a:latin typeface="Calibri"/>
                <a:ea typeface="Calibri"/>
                <a:cs typeface="Calibri"/>
                <a:sym typeface="Calibri"/>
              </a:rPr>
              <a:t>}</a:t>
            </a:r>
            <a:endParaRPr sz="2800" dirty="0">
              <a:solidFill>
                <a:srgbClr val="000000"/>
              </a:solidFill>
              <a:latin typeface="Calibri"/>
              <a:ea typeface="Calibri"/>
              <a:cs typeface="Calibri"/>
              <a:sym typeface="Calibri"/>
            </a:endParaRPr>
          </a:p>
          <a:p>
            <a:pPr marL="12700" marR="12700" lvl="0" indent="444500" algn="l" rtl="0">
              <a:spcBef>
                <a:spcPts val="3400"/>
              </a:spcBef>
              <a:spcAft>
                <a:spcPts val="0"/>
              </a:spcAft>
              <a:buNone/>
            </a:pPr>
            <a:r>
              <a:rPr lang="en" sz="2800" b="1" dirty="0">
                <a:solidFill>
                  <a:srgbClr val="000000"/>
                </a:solidFill>
                <a:latin typeface="Calibri"/>
                <a:ea typeface="Calibri"/>
                <a:cs typeface="Calibri"/>
                <a:sym typeface="Calibri"/>
              </a:rPr>
              <a:t>public static void </a:t>
            </a:r>
            <a:r>
              <a:rPr lang="en" sz="2800" dirty="0">
                <a:solidFill>
                  <a:srgbClr val="000000"/>
                </a:solidFill>
                <a:latin typeface="Calibri"/>
                <a:ea typeface="Calibri"/>
                <a:cs typeface="Calibri"/>
                <a:sym typeface="Calibri"/>
              </a:rPr>
              <a:t>main(String[] args) { </a:t>
            </a:r>
            <a:endParaRPr sz="2800" dirty="0">
              <a:solidFill>
                <a:srgbClr val="000000"/>
              </a:solidFill>
              <a:latin typeface="Calibri"/>
              <a:ea typeface="Calibri"/>
              <a:cs typeface="Calibri"/>
              <a:sym typeface="Calibri"/>
            </a:endParaRPr>
          </a:p>
          <a:p>
            <a:pPr marL="469900" marR="12700" lvl="0" indent="444500" algn="l" rtl="0">
              <a:spcBef>
                <a:spcPts val="0"/>
              </a:spcBef>
              <a:spcAft>
                <a:spcPts val="0"/>
              </a:spcAft>
              <a:buNone/>
            </a:pPr>
            <a:r>
              <a:rPr lang="en" sz="2800" dirty="0">
                <a:solidFill>
                  <a:srgbClr val="000000"/>
                </a:solidFill>
                <a:latin typeface="Calibri"/>
                <a:ea typeface="Calibri"/>
                <a:cs typeface="Calibri"/>
                <a:sym typeface="Calibri"/>
              </a:rPr>
              <a:t>System.out.println("Factorial of 5 is: "+factorial(5));</a:t>
            </a:r>
            <a:endParaRPr sz="2800" dirty="0">
              <a:solidFill>
                <a:srgbClr val="000000"/>
              </a:solidFill>
              <a:latin typeface="Calibri"/>
              <a:ea typeface="Calibri"/>
              <a:cs typeface="Calibri"/>
              <a:sym typeface="Calibri"/>
            </a:endParaRPr>
          </a:p>
          <a:p>
            <a:pPr marL="12700" lvl="0" indent="444500" algn="l" rtl="0">
              <a:spcBef>
                <a:spcPts val="0"/>
              </a:spcBef>
              <a:spcAft>
                <a:spcPts val="0"/>
              </a:spcAft>
              <a:buNone/>
            </a:pPr>
            <a:r>
              <a:rPr lang="en" sz="2800" dirty="0">
                <a:solidFill>
                  <a:srgbClr val="000000"/>
                </a:solidFill>
                <a:latin typeface="Calibri"/>
                <a:ea typeface="Calibri"/>
                <a:cs typeface="Calibri"/>
                <a:sym typeface="Calibri"/>
              </a:rPr>
              <a:t>}</a:t>
            </a:r>
            <a:endParaRPr sz="2800" dirty="0">
              <a:solidFill>
                <a:srgbClr val="000000"/>
              </a:solidFill>
              <a:latin typeface="Calibri"/>
              <a:ea typeface="Calibri"/>
              <a:cs typeface="Calibri"/>
              <a:sym typeface="Calibri"/>
            </a:endParaRPr>
          </a:p>
          <a:p>
            <a:pPr marL="12700" lvl="0" indent="0" algn="l" rtl="0">
              <a:spcBef>
                <a:spcPts val="0"/>
              </a:spcBef>
              <a:spcAft>
                <a:spcPts val="0"/>
              </a:spcAft>
              <a:buNone/>
            </a:pPr>
            <a:r>
              <a:rPr lang="en" sz="2800" dirty="0">
                <a:solidFill>
                  <a:srgbClr val="000000"/>
                </a:solidFill>
                <a:latin typeface="Calibri"/>
                <a:ea typeface="Calibri"/>
                <a:cs typeface="Calibri"/>
                <a:sym typeface="Calibri"/>
              </a:rPr>
              <a:t>}</a:t>
            </a:r>
            <a:endParaRPr sz="2800" dirty="0">
              <a:solidFill>
                <a:srgbClr val="000000"/>
              </a:solidFill>
              <a:latin typeface="Calibri"/>
              <a:ea typeface="Calibri"/>
              <a:cs typeface="Calibri"/>
              <a:sym typeface="Calibri"/>
            </a:endParaRPr>
          </a:p>
          <a:p>
            <a:pPr marL="0" lvl="0" indent="0" algn="l" rtl="0">
              <a:spcBef>
                <a:spcPts val="0"/>
              </a:spcBef>
              <a:spcAft>
                <a:spcPts val="1200"/>
              </a:spcAft>
              <a:buNone/>
            </a:pP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a:t>
            </a:r>
            <a:endParaRPr/>
          </a:p>
        </p:txBody>
      </p:sp>
      <p:sp>
        <p:nvSpPr>
          <p:cNvPr id="322" name="Google Shape;322;p5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17183" algn="just" rtl="0">
              <a:spcBef>
                <a:spcPts val="10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A constructor is similar to a method that initializes the instance variables of a class.</a:t>
            </a:r>
            <a:endParaRPr sz="2900">
              <a:solidFill>
                <a:srgbClr val="000000"/>
              </a:solidFill>
              <a:latin typeface="Arial"/>
              <a:ea typeface="Arial"/>
              <a:cs typeface="Arial"/>
              <a:sym typeface="Arial"/>
            </a:endParaRPr>
          </a:p>
          <a:p>
            <a:pPr marL="457200" lvl="0" indent="-317183"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A constructor have the same name as the class name.</a:t>
            </a:r>
            <a:endParaRPr sz="2900">
              <a:solidFill>
                <a:srgbClr val="000000"/>
              </a:solidFill>
              <a:latin typeface="Arial"/>
              <a:ea typeface="Arial"/>
              <a:cs typeface="Arial"/>
              <a:sym typeface="Arial"/>
            </a:endParaRPr>
          </a:p>
          <a:p>
            <a:pPr marL="457200" lvl="0" indent="-317183"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A  constructor  may  have  or  may  not  have parameters. Parameters are local variables to receive data.</a:t>
            </a:r>
            <a:endParaRPr sz="2900">
              <a:solidFill>
                <a:srgbClr val="000000"/>
              </a:solidFill>
              <a:latin typeface="Arial"/>
              <a:ea typeface="Arial"/>
              <a:cs typeface="Arial"/>
              <a:sym typeface="Arial"/>
            </a:endParaRPr>
          </a:p>
          <a:p>
            <a:pPr marL="457200" lvl="0" indent="-317183" algn="just" rtl="0">
              <a:spcBef>
                <a:spcPts val="0"/>
              </a:spcBef>
              <a:spcAft>
                <a:spcPts val="0"/>
              </a:spcAft>
              <a:buSzPct val="102857"/>
              <a:buFont typeface="Arial"/>
              <a:buChar char="●"/>
            </a:pPr>
            <a:r>
              <a:rPr lang="en" sz="1750">
                <a:solidFill>
                  <a:srgbClr val="DA1F28"/>
                </a:solidFill>
                <a:latin typeface="Arial"/>
                <a:ea typeface="Arial"/>
                <a:cs typeface="Arial"/>
                <a:sym typeface="Arial"/>
              </a:rPr>
              <a:t>¨</a:t>
            </a:r>
            <a:r>
              <a:rPr lang="en" sz="2900">
                <a:solidFill>
                  <a:srgbClr val="000000"/>
                </a:solidFill>
                <a:latin typeface="Arial"/>
                <a:ea typeface="Arial"/>
                <a:cs typeface="Arial"/>
                <a:sym typeface="Arial"/>
              </a:rPr>
              <a:t>Once defined,  the  constructor is automatically called immediately after the object is created, before the </a:t>
            </a:r>
            <a:r>
              <a:rPr lang="en" sz="2900" b="1">
                <a:solidFill>
                  <a:srgbClr val="000000"/>
                </a:solidFill>
                <a:latin typeface="Arial"/>
                <a:ea typeface="Arial"/>
                <a:cs typeface="Arial"/>
                <a:sym typeface="Arial"/>
              </a:rPr>
              <a:t>new operator completes.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 (Cont..)</a:t>
            </a:r>
            <a:endParaRPr/>
          </a:p>
        </p:txBody>
      </p:sp>
      <p:sp>
        <p:nvSpPr>
          <p:cNvPr id="328" name="Google Shape;328;p5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100"/>
              </a:spcBef>
              <a:spcAft>
                <a:spcPts val="0"/>
              </a:spcAft>
              <a:buSzPct val="64286"/>
              <a:buFont typeface="Arial"/>
              <a:buChar char="●"/>
            </a:pPr>
            <a:r>
              <a:rPr lang="en" sz="2800">
                <a:solidFill>
                  <a:srgbClr val="000000"/>
                </a:solidFill>
                <a:latin typeface="Arial"/>
                <a:ea typeface="Arial"/>
                <a:cs typeface="Arial"/>
                <a:sym typeface="Arial"/>
              </a:rPr>
              <a:t>A constructor without any parameters is called default constructor.</a:t>
            </a:r>
            <a:endParaRPr sz="2800">
              <a:solidFill>
                <a:srgbClr val="000000"/>
              </a:solidFill>
              <a:latin typeface="Arial"/>
              <a:ea typeface="Arial"/>
              <a:cs typeface="Arial"/>
              <a:sym typeface="Arial"/>
            </a:endParaRPr>
          </a:p>
          <a:p>
            <a:pPr marL="457200" lvl="0" indent="-334328" algn="l" rtl="0">
              <a:spcBef>
                <a:spcPts val="0"/>
              </a:spcBef>
              <a:spcAft>
                <a:spcPts val="0"/>
              </a:spcAft>
              <a:buSzPct val="64286"/>
              <a:buFont typeface="Arial"/>
              <a:buChar char="●"/>
            </a:pPr>
            <a:r>
              <a:rPr lang="en" sz="2800">
                <a:solidFill>
                  <a:srgbClr val="000000"/>
                </a:solidFill>
                <a:latin typeface="Arial"/>
                <a:ea typeface="Arial"/>
                <a:cs typeface="Arial"/>
                <a:sym typeface="Arial"/>
              </a:rPr>
              <a:t>A constructor with one or more parameters is called parameterized constructor.</a:t>
            </a:r>
            <a:endParaRPr sz="2800">
              <a:solidFill>
                <a:srgbClr val="000000"/>
              </a:solidFill>
              <a:latin typeface="Arial"/>
              <a:ea typeface="Arial"/>
              <a:cs typeface="Arial"/>
              <a:sym typeface="Arial"/>
            </a:endParaRPr>
          </a:p>
          <a:p>
            <a:pPr marL="457200" lvl="0" indent="-334328" algn="just" rtl="0">
              <a:spcBef>
                <a:spcPts val="0"/>
              </a:spcBef>
              <a:spcAft>
                <a:spcPts val="0"/>
              </a:spcAft>
              <a:buSzPct val="64286"/>
              <a:buFont typeface="Arial"/>
              <a:buChar char="●"/>
            </a:pPr>
            <a:r>
              <a:rPr lang="en" sz="2800">
                <a:solidFill>
                  <a:srgbClr val="000000"/>
                </a:solidFill>
                <a:latin typeface="Arial"/>
                <a:ea typeface="Arial"/>
                <a:cs typeface="Arial"/>
                <a:sym typeface="Arial"/>
              </a:rPr>
              <a:t>A constructor does not return any value, not even void because implicitly the return type of a constructor is the class itself.</a:t>
            </a:r>
            <a:endParaRPr sz="2800">
              <a:solidFill>
                <a:srgbClr val="000000"/>
              </a:solidFill>
              <a:latin typeface="Arial"/>
              <a:ea typeface="Arial"/>
              <a:cs typeface="Arial"/>
              <a:sym typeface="Arial"/>
            </a:endParaRPr>
          </a:p>
          <a:p>
            <a:pPr marL="457200" lvl="0" indent="-334328" algn="just" rtl="0">
              <a:spcBef>
                <a:spcPts val="0"/>
              </a:spcBef>
              <a:spcAft>
                <a:spcPts val="0"/>
              </a:spcAft>
              <a:buSzPct val="64286"/>
              <a:buFont typeface="Arial"/>
              <a:buChar char="●"/>
            </a:pPr>
            <a:r>
              <a:rPr lang="en" sz="2800">
                <a:solidFill>
                  <a:srgbClr val="000000"/>
                </a:solidFill>
                <a:latin typeface="Arial"/>
                <a:ea typeface="Arial"/>
                <a:cs typeface="Arial"/>
                <a:sym typeface="Arial"/>
              </a:rPr>
              <a:t>A constructor is called only once per object.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No-argument Constructor</a:t>
            </a:r>
            <a:endParaRPr/>
          </a:p>
        </p:txBody>
      </p:sp>
      <p:sp>
        <p:nvSpPr>
          <p:cNvPr id="334" name="Google Shape;334;p5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55000" lnSpcReduction="20000"/>
          </a:bodyPr>
          <a:lstStyle/>
          <a:p>
            <a:pPr marL="12700" marR="12700" lvl="0" indent="0" algn="l" rtl="0">
              <a:spcBef>
                <a:spcPts val="100"/>
              </a:spcBef>
              <a:spcAft>
                <a:spcPts val="0"/>
              </a:spcAft>
              <a:buNone/>
            </a:pPr>
            <a:r>
              <a:rPr lang="en" sz="2800">
                <a:solidFill>
                  <a:srgbClr val="000000"/>
                </a:solidFill>
                <a:latin typeface="Calibri"/>
                <a:ea typeface="Calibri"/>
                <a:cs typeface="Calibri"/>
                <a:sym typeface="Calibri"/>
              </a:rPr>
              <a:t>Similar to methods, a Java constructor may or may not have any parameters (arguments).</a:t>
            </a:r>
            <a:endParaRPr sz="2800">
              <a:solidFill>
                <a:srgbClr val="000000"/>
              </a:solidFill>
              <a:latin typeface="Calibri"/>
              <a:ea typeface="Calibri"/>
              <a:cs typeface="Calibri"/>
              <a:sym typeface="Calibri"/>
            </a:endParaRPr>
          </a:p>
          <a:p>
            <a:pPr marL="12700" marR="279400" lvl="0" indent="0" algn="l" rtl="0">
              <a:spcBef>
                <a:spcPts val="0"/>
              </a:spcBef>
              <a:spcAft>
                <a:spcPts val="0"/>
              </a:spcAft>
              <a:buNone/>
            </a:pPr>
            <a:r>
              <a:rPr lang="en" sz="2800">
                <a:solidFill>
                  <a:srgbClr val="000000"/>
                </a:solidFill>
                <a:latin typeface="Calibri"/>
                <a:ea typeface="Calibri"/>
                <a:cs typeface="Calibri"/>
                <a:sym typeface="Calibri"/>
              </a:rPr>
              <a:t>If a constructor does not accept any parameters, it is known as a no-argument constructor.</a:t>
            </a:r>
            <a:endParaRPr sz="2800">
              <a:solidFill>
                <a:srgbClr val="000000"/>
              </a:solidFill>
              <a:latin typeface="Calibri"/>
              <a:ea typeface="Calibri"/>
              <a:cs typeface="Calibri"/>
              <a:sym typeface="Calibri"/>
            </a:endParaRPr>
          </a:p>
          <a:p>
            <a:pPr marL="12700" lvl="0" indent="0" algn="l" rtl="0">
              <a:spcBef>
                <a:spcPts val="3400"/>
              </a:spcBef>
              <a:spcAft>
                <a:spcPts val="0"/>
              </a:spcAft>
              <a:buNone/>
            </a:pPr>
            <a:r>
              <a:rPr lang="en" sz="2800">
                <a:solidFill>
                  <a:srgbClr val="000000"/>
                </a:solidFill>
                <a:latin typeface="Calibri"/>
                <a:ea typeface="Calibri"/>
                <a:cs typeface="Calibri"/>
                <a:sym typeface="Calibri"/>
              </a:rPr>
              <a:t>Syntax:</a:t>
            </a:r>
            <a:endParaRPr sz="2800">
              <a:solidFill>
                <a:srgbClr val="000000"/>
              </a:solidFill>
              <a:latin typeface="Calibri"/>
              <a:ea typeface="Calibri"/>
              <a:cs typeface="Calibri"/>
              <a:sym typeface="Calibri"/>
            </a:endParaRPr>
          </a:p>
          <a:p>
            <a:pPr marL="469900" lvl="0" indent="0" algn="l" rtl="0">
              <a:spcBef>
                <a:spcPts val="3400"/>
              </a:spcBef>
              <a:spcAft>
                <a:spcPts val="0"/>
              </a:spcAft>
              <a:buNone/>
            </a:pPr>
            <a:r>
              <a:rPr lang="en" sz="2800">
                <a:solidFill>
                  <a:srgbClr val="000000"/>
                </a:solidFill>
                <a:latin typeface="Calibri"/>
                <a:ea typeface="Calibri"/>
                <a:cs typeface="Calibri"/>
                <a:sym typeface="Calibri"/>
              </a:rPr>
              <a:t>constructor()</a:t>
            </a:r>
            <a:endParaRPr sz="2800">
              <a:solidFill>
                <a:srgbClr val="000000"/>
              </a:solidFill>
              <a:latin typeface="Calibri"/>
              <a:ea typeface="Calibri"/>
              <a:cs typeface="Calibri"/>
              <a:sym typeface="Calibri"/>
            </a:endParaRPr>
          </a:p>
          <a:p>
            <a:pPr marL="469900" lvl="0" indent="0" algn="l" rtl="0">
              <a:spcBef>
                <a:spcPts val="0"/>
              </a:spcBef>
              <a:spcAft>
                <a:spcPts val="0"/>
              </a:spcAft>
              <a:buNone/>
            </a:pPr>
            <a:r>
              <a:rPr lang="en" sz="2800">
                <a:solidFill>
                  <a:srgbClr val="000000"/>
                </a:solidFill>
                <a:latin typeface="Calibri"/>
                <a:ea typeface="Calibri"/>
                <a:cs typeface="Calibri"/>
                <a:sym typeface="Calibri"/>
              </a:rPr>
              <a:t>{</a:t>
            </a:r>
            <a:endParaRPr sz="2800">
              <a:solidFill>
                <a:srgbClr val="000000"/>
              </a:solidFill>
              <a:latin typeface="Calibri"/>
              <a:ea typeface="Calibri"/>
              <a:cs typeface="Calibri"/>
              <a:sym typeface="Calibri"/>
            </a:endParaRPr>
          </a:p>
          <a:p>
            <a:pPr marL="927100" lvl="0" indent="0" algn="l" rtl="0">
              <a:spcBef>
                <a:spcPts val="0"/>
              </a:spcBef>
              <a:spcAft>
                <a:spcPts val="0"/>
              </a:spcAft>
              <a:buNone/>
            </a:pPr>
            <a:r>
              <a:rPr lang="en" sz="2800">
                <a:solidFill>
                  <a:srgbClr val="000000"/>
                </a:solidFill>
                <a:latin typeface="Calibri"/>
                <a:ea typeface="Calibri"/>
                <a:cs typeface="Calibri"/>
                <a:sym typeface="Calibri"/>
              </a:rPr>
              <a:t>//syntax</a:t>
            </a:r>
            <a:endParaRPr sz="2800">
              <a:solidFill>
                <a:srgbClr val="000000"/>
              </a:solidFill>
              <a:latin typeface="Calibri"/>
              <a:ea typeface="Calibri"/>
              <a:cs typeface="Calibri"/>
              <a:sym typeface="Calibri"/>
            </a:endParaRPr>
          </a:p>
          <a:p>
            <a:pPr marL="0" lvl="0" indent="0" algn="l" rtl="0">
              <a:spcBef>
                <a:spcPts val="0"/>
              </a:spcBef>
              <a:spcAft>
                <a:spcPts val="1200"/>
              </a:spcAft>
              <a:buNone/>
            </a:pPr>
            <a:r>
              <a:rPr lang="en" sz="2800">
                <a:solidFill>
                  <a:srgbClr val="000000"/>
                </a:solidFill>
                <a:latin typeface="Calibri"/>
                <a:ea typeface="Calibri"/>
                <a:cs typeface="Calibri"/>
                <a:sym typeface="Calibri"/>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340" name="Google Shape;340;p55"/>
          <p:cNvSpPr txBox="1">
            <a:spLocks noGrp="1"/>
          </p:cNvSpPr>
          <p:nvPr>
            <p:ph type="body" idx="1"/>
          </p:nvPr>
        </p:nvSpPr>
        <p:spPr>
          <a:xfrm>
            <a:off x="311700" y="1266325"/>
            <a:ext cx="8520600" cy="3302700"/>
          </a:xfrm>
          <a:prstGeom prst="rect">
            <a:avLst/>
          </a:prstGeom>
          <a:ln w="9525" cap="flat" cmpd="sng">
            <a:solidFill>
              <a:srgbClr val="374151"/>
            </a:solidFill>
            <a:prstDash val="solid"/>
            <a:round/>
            <a:headEnd type="none" w="sm" len="sm"/>
            <a:tailEnd type="none" w="sm" len="sm"/>
          </a:ln>
        </p:spPr>
        <p:txBody>
          <a:bodyPr spcFirstLastPara="1" wrap="square" lIns="91425" tIns="91425" rIns="91425" bIns="91425" anchor="t" anchorCtr="0">
            <a:normAutofit fontScale="62500" lnSpcReduction="20000"/>
          </a:bodyPr>
          <a:lstStyle/>
          <a:p>
            <a:pPr marL="12700" lvl="0" indent="0" algn="l" rtl="0">
              <a:spcBef>
                <a:spcPts val="100"/>
              </a:spcBef>
              <a:spcAft>
                <a:spcPts val="0"/>
              </a:spcAft>
              <a:buNone/>
            </a:pPr>
            <a:r>
              <a:rPr lang="en" sz="2800">
                <a:solidFill>
                  <a:srgbClr val="000000"/>
                </a:solidFill>
                <a:latin typeface="Calibri"/>
                <a:ea typeface="Calibri"/>
                <a:cs typeface="Calibri"/>
                <a:sym typeface="Calibri"/>
              </a:rPr>
              <a:t>class Main {</a:t>
            </a:r>
            <a:endParaRPr sz="2800">
              <a:solidFill>
                <a:srgbClr val="000000"/>
              </a:solidFill>
              <a:latin typeface="Calibri"/>
              <a:ea typeface="Calibri"/>
              <a:cs typeface="Calibri"/>
              <a:sym typeface="Calibri"/>
            </a:endParaRPr>
          </a:p>
          <a:p>
            <a:pPr marL="927100" lvl="0" indent="0" algn="l" rtl="0">
              <a:spcBef>
                <a:spcPts val="0"/>
              </a:spcBef>
              <a:spcAft>
                <a:spcPts val="0"/>
              </a:spcAft>
              <a:buNone/>
            </a:pPr>
            <a:r>
              <a:rPr lang="en" sz="2800">
                <a:solidFill>
                  <a:srgbClr val="000000"/>
                </a:solidFill>
                <a:latin typeface="Calibri"/>
                <a:ea typeface="Calibri"/>
                <a:cs typeface="Calibri"/>
                <a:sym typeface="Calibri"/>
              </a:rPr>
              <a:t>int i;</a:t>
            </a:r>
            <a:endParaRPr sz="2800">
              <a:solidFill>
                <a:srgbClr val="000000"/>
              </a:solidFill>
              <a:latin typeface="Calibri"/>
              <a:ea typeface="Calibri"/>
              <a:cs typeface="Calibri"/>
              <a:sym typeface="Calibri"/>
            </a:endParaRPr>
          </a:p>
          <a:p>
            <a:pPr marL="927100" lvl="0" indent="0" algn="l" rtl="0">
              <a:spcBef>
                <a:spcPts val="0"/>
              </a:spcBef>
              <a:spcAft>
                <a:spcPts val="0"/>
              </a:spcAft>
              <a:buNone/>
            </a:pPr>
            <a:r>
              <a:rPr lang="en" sz="2800">
                <a:solidFill>
                  <a:srgbClr val="000000"/>
                </a:solidFill>
                <a:latin typeface="Calibri"/>
                <a:ea typeface="Calibri"/>
                <a:cs typeface="Calibri"/>
                <a:sym typeface="Calibri"/>
              </a:rPr>
              <a:t>private Main() {</a:t>
            </a:r>
            <a:endParaRPr sz="2800">
              <a:solidFill>
                <a:srgbClr val="000000"/>
              </a:solidFill>
              <a:latin typeface="Calibri"/>
              <a:ea typeface="Calibri"/>
              <a:cs typeface="Calibri"/>
              <a:sym typeface="Calibri"/>
            </a:endParaRPr>
          </a:p>
          <a:p>
            <a:pPr marL="1841500" lvl="0" indent="0" algn="l" rtl="0">
              <a:spcBef>
                <a:spcPts val="0"/>
              </a:spcBef>
              <a:spcAft>
                <a:spcPts val="0"/>
              </a:spcAft>
              <a:buNone/>
            </a:pPr>
            <a:r>
              <a:rPr lang="en" sz="2800">
                <a:solidFill>
                  <a:srgbClr val="000000"/>
                </a:solidFill>
                <a:latin typeface="Calibri"/>
                <a:ea typeface="Calibri"/>
                <a:cs typeface="Calibri"/>
                <a:sym typeface="Calibri"/>
              </a:rPr>
              <a:t>i = 5;</a:t>
            </a:r>
            <a:endParaRPr sz="2800">
              <a:solidFill>
                <a:srgbClr val="000000"/>
              </a:solidFill>
              <a:latin typeface="Calibri"/>
              <a:ea typeface="Calibri"/>
              <a:cs typeface="Calibri"/>
              <a:sym typeface="Calibri"/>
            </a:endParaRPr>
          </a:p>
          <a:p>
            <a:pPr marL="1841500" lvl="0" indent="0" algn="l" rtl="0">
              <a:spcBef>
                <a:spcPts val="0"/>
              </a:spcBef>
              <a:spcAft>
                <a:spcPts val="0"/>
              </a:spcAft>
              <a:buNone/>
            </a:pPr>
            <a:r>
              <a:rPr lang="en" sz="2800">
                <a:solidFill>
                  <a:srgbClr val="000000"/>
                </a:solidFill>
                <a:latin typeface="Calibri"/>
                <a:ea typeface="Calibri"/>
                <a:cs typeface="Calibri"/>
                <a:sym typeface="Calibri"/>
              </a:rPr>
              <a:t>System.out.println("Constructor is called");</a:t>
            </a:r>
            <a:endParaRPr sz="2800">
              <a:solidFill>
                <a:srgbClr val="000000"/>
              </a:solidFill>
              <a:latin typeface="Calibri"/>
              <a:ea typeface="Calibri"/>
              <a:cs typeface="Calibri"/>
              <a:sym typeface="Calibri"/>
            </a:endParaRPr>
          </a:p>
          <a:p>
            <a:pPr marL="927100" lvl="0" indent="0" algn="l" rtl="0">
              <a:spcBef>
                <a:spcPts val="0"/>
              </a:spcBef>
              <a:spcAft>
                <a:spcPts val="0"/>
              </a:spcAft>
              <a:buNone/>
            </a:pPr>
            <a:r>
              <a:rPr lang="en" sz="2800">
                <a:solidFill>
                  <a:srgbClr val="000000"/>
                </a:solidFill>
                <a:latin typeface="Calibri"/>
                <a:ea typeface="Calibri"/>
                <a:cs typeface="Calibri"/>
                <a:sym typeface="Calibri"/>
              </a:rPr>
              <a:t>}</a:t>
            </a:r>
            <a:endParaRPr sz="2800">
              <a:solidFill>
                <a:srgbClr val="000000"/>
              </a:solidFill>
              <a:latin typeface="Calibri"/>
              <a:ea typeface="Calibri"/>
              <a:cs typeface="Calibri"/>
              <a:sym typeface="Calibri"/>
            </a:endParaRPr>
          </a:p>
          <a:p>
            <a:pPr marL="1841500" marR="1752600" lvl="0" indent="-12700" algn="l" rtl="0">
              <a:spcBef>
                <a:spcPts val="0"/>
              </a:spcBef>
              <a:spcAft>
                <a:spcPts val="0"/>
              </a:spcAft>
              <a:buNone/>
            </a:pPr>
            <a:r>
              <a:rPr lang="en" sz="2800">
                <a:solidFill>
                  <a:srgbClr val="000000"/>
                </a:solidFill>
                <a:latin typeface="Calibri"/>
                <a:ea typeface="Calibri"/>
                <a:cs typeface="Calibri"/>
                <a:sym typeface="Calibri"/>
              </a:rPr>
              <a:t>public static void main(String[] args) { Main obj = new Main();</a:t>
            </a:r>
            <a:endParaRPr sz="2800">
              <a:solidFill>
                <a:srgbClr val="000000"/>
              </a:solidFill>
              <a:latin typeface="Calibri"/>
              <a:ea typeface="Calibri"/>
              <a:cs typeface="Calibri"/>
              <a:sym typeface="Calibri"/>
            </a:endParaRPr>
          </a:p>
          <a:p>
            <a:pPr marL="1841500" lvl="0" indent="0" algn="l" rtl="0">
              <a:spcBef>
                <a:spcPts val="0"/>
              </a:spcBef>
              <a:spcAft>
                <a:spcPts val="0"/>
              </a:spcAft>
              <a:buNone/>
            </a:pPr>
            <a:r>
              <a:rPr lang="en" sz="2800">
                <a:solidFill>
                  <a:srgbClr val="000000"/>
                </a:solidFill>
                <a:latin typeface="Calibri"/>
                <a:ea typeface="Calibri"/>
                <a:cs typeface="Calibri"/>
                <a:sym typeface="Calibri"/>
              </a:rPr>
              <a:t>System.out.println("Value of i: " + obj.i);</a:t>
            </a:r>
            <a:endParaRPr sz="2800">
              <a:solidFill>
                <a:srgbClr val="000000"/>
              </a:solidFill>
              <a:latin typeface="Calibri"/>
              <a:ea typeface="Calibri"/>
              <a:cs typeface="Calibri"/>
              <a:sym typeface="Calibri"/>
            </a:endParaRPr>
          </a:p>
          <a:p>
            <a:pPr marL="927100" lvl="0" indent="0" algn="l" rtl="0">
              <a:spcBef>
                <a:spcPts val="0"/>
              </a:spcBef>
              <a:spcAft>
                <a:spcPts val="0"/>
              </a:spcAft>
              <a:buNone/>
            </a:pPr>
            <a:r>
              <a:rPr lang="en" sz="2800">
                <a:solidFill>
                  <a:srgbClr val="000000"/>
                </a:solidFill>
                <a:latin typeface="Calibri"/>
                <a:ea typeface="Calibri"/>
                <a:cs typeface="Calibri"/>
                <a:sym typeface="Calibri"/>
              </a:rPr>
              <a:t>}</a:t>
            </a:r>
            <a:endParaRPr sz="2800">
              <a:solidFill>
                <a:srgbClr val="000000"/>
              </a:solidFill>
              <a:latin typeface="Calibri"/>
              <a:ea typeface="Calibri"/>
              <a:cs typeface="Calibri"/>
              <a:sym typeface="Calibri"/>
            </a:endParaRPr>
          </a:p>
          <a:p>
            <a:pPr marL="0" lvl="0" indent="0" algn="l" rtl="0">
              <a:spcBef>
                <a:spcPts val="0"/>
              </a:spcBef>
              <a:spcAft>
                <a:spcPts val="1200"/>
              </a:spcAft>
              <a:buNone/>
            </a:pPr>
            <a:r>
              <a:rPr lang="en" sz="2800">
                <a:solidFill>
                  <a:srgbClr val="000000"/>
                </a:solidFill>
                <a:latin typeface="Calibri"/>
                <a:ea typeface="Calibri"/>
                <a:cs typeface="Calibri"/>
                <a:sym typeface="Calibri"/>
              </a:rPr>
              <a:t>}</a:t>
            </a:r>
            <a:endParaRPr>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Default Constructor</a:t>
            </a:r>
            <a:endParaRPr/>
          </a:p>
        </p:txBody>
      </p:sp>
      <p:sp>
        <p:nvSpPr>
          <p:cNvPr id="346" name="Google Shape;346;p5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12700" marR="12700" lvl="0" indent="0" algn="just" rtl="0">
              <a:spcBef>
                <a:spcPts val="100"/>
              </a:spcBef>
              <a:spcAft>
                <a:spcPts val="0"/>
              </a:spcAft>
              <a:buNone/>
            </a:pPr>
            <a:r>
              <a:rPr lang="en" sz="2600">
                <a:solidFill>
                  <a:srgbClr val="000000"/>
                </a:solidFill>
                <a:latin typeface="Calibri"/>
                <a:ea typeface="Calibri"/>
                <a:cs typeface="Calibri"/>
                <a:sym typeface="Calibri"/>
              </a:rPr>
              <a:t>If  we  do  not  create  any  constructor,  the  Java  compiler automatically create a no-argument constructor during the execution of the program. This constructor is called default constructor.</a:t>
            </a:r>
            <a:endParaRPr sz="2600">
              <a:solidFill>
                <a:srgbClr val="000000"/>
              </a:solidFill>
              <a:latin typeface="Calibri"/>
              <a:ea typeface="Calibri"/>
              <a:cs typeface="Calibri"/>
              <a:sym typeface="Calibri"/>
            </a:endParaRPr>
          </a:p>
          <a:p>
            <a:pPr marL="12700" marR="114300" lvl="0" indent="0" algn="just" rtl="0">
              <a:lnSpc>
                <a:spcPct val="200000"/>
              </a:lnSpc>
              <a:spcBef>
                <a:spcPts val="0"/>
              </a:spcBef>
              <a:spcAft>
                <a:spcPts val="0"/>
              </a:spcAft>
              <a:buNone/>
            </a:pPr>
            <a:r>
              <a:rPr lang="en" sz="2600">
                <a:solidFill>
                  <a:srgbClr val="000000"/>
                </a:solidFill>
                <a:latin typeface="Calibri"/>
                <a:ea typeface="Calibri"/>
                <a:cs typeface="Calibri"/>
                <a:sym typeface="Calibri"/>
              </a:rPr>
              <a:t>Default constructor is used to initialize every object with same data. Syntax:</a:t>
            </a:r>
            <a:endParaRPr sz="2600">
              <a:solidFill>
                <a:srgbClr val="000000"/>
              </a:solidFill>
              <a:latin typeface="Calibri"/>
              <a:ea typeface="Calibri"/>
              <a:cs typeface="Calibri"/>
              <a:sym typeface="Calibri"/>
            </a:endParaRPr>
          </a:p>
          <a:p>
            <a:pPr marL="0" marR="4787900" lvl="0" indent="0" algn="r" rtl="0">
              <a:spcBef>
                <a:spcPts val="0"/>
              </a:spcBef>
              <a:spcAft>
                <a:spcPts val="0"/>
              </a:spcAft>
              <a:buNone/>
            </a:pPr>
            <a:r>
              <a:rPr lang="en" sz="2600">
                <a:solidFill>
                  <a:srgbClr val="000000"/>
                </a:solidFill>
                <a:latin typeface="Calibri"/>
                <a:ea typeface="Calibri"/>
                <a:cs typeface="Calibri"/>
                <a:sym typeface="Calibri"/>
              </a:rPr>
              <a:t>Constructor_name(){</a:t>
            </a:r>
            <a:endParaRPr sz="2600">
              <a:solidFill>
                <a:srgbClr val="000000"/>
              </a:solidFill>
              <a:latin typeface="Calibri"/>
              <a:ea typeface="Calibri"/>
              <a:cs typeface="Calibri"/>
              <a:sym typeface="Calibri"/>
            </a:endParaRPr>
          </a:p>
          <a:p>
            <a:pPr marL="0" marR="4749800" lvl="0" indent="0" algn="r" rtl="0">
              <a:spcBef>
                <a:spcPts val="0"/>
              </a:spcBef>
              <a:spcAft>
                <a:spcPts val="0"/>
              </a:spcAft>
              <a:buNone/>
            </a:pPr>
            <a:r>
              <a:rPr lang="en" sz="2600">
                <a:solidFill>
                  <a:srgbClr val="000000"/>
                </a:solidFill>
                <a:latin typeface="Calibri"/>
                <a:ea typeface="Calibri"/>
                <a:cs typeface="Calibri"/>
                <a:sym typeface="Calibri"/>
              </a:rPr>
              <a:t>//statements</a:t>
            </a:r>
            <a:endParaRPr sz="2600">
              <a:solidFill>
                <a:srgbClr val="000000"/>
              </a:solidFill>
              <a:latin typeface="Calibri"/>
              <a:ea typeface="Calibri"/>
              <a:cs typeface="Calibri"/>
              <a:sym typeface="Calibri"/>
            </a:endParaRPr>
          </a:p>
          <a:p>
            <a:pPr marL="927100" lvl="0" indent="444500" algn="l" rtl="0">
              <a:spcBef>
                <a:spcPts val="0"/>
              </a:spcBef>
              <a:spcAft>
                <a:spcPts val="0"/>
              </a:spcAft>
              <a:buNone/>
            </a:pPr>
            <a:r>
              <a:rPr lang="en" sz="2600">
                <a:solidFill>
                  <a:srgbClr val="000000"/>
                </a:solidFill>
                <a:latin typeface="Calibri"/>
                <a:ea typeface="Calibri"/>
                <a:cs typeface="Calibri"/>
                <a:sym typeface="Calibri"/>
              </a:rPr>
              <a:t>}</a:t>
            </a:r>
            <a:endParaRPr sz="2600">
              <a:solidFill>
                <a:srgbClr val="000000"/>
              </a:solidFill>
              <a:latin typeface="Calibri"/>
              <a:ea typeface="Calibri"/>
              <a:cs typeface="Calibri"/>
              <a:sym typeface="Calibri"/>
            </a:endParaRPr>
          </a:p>
          <a:p>
            <a:pPr marL="0" lvl="0" indent="0" algn="l" rtl="0">
              <a:spcBef>
                <a:spcPts val="0"/>
              </a:spcBef>
              <a:spcAft>
                <a:spcPts val="120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7"/>
          <p:cNvSpPr txBox="1">
            <a:spLocks noGrp="1"/>
          </p:cNvSpPr>
          <p:nvPr>
            <p:ph type="title"/>
          </p:nvPr>
        </p:nvSpPr>
        <p:spPr>
          <a:xfrm>
            <a:off x="220100" y="785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352" name="Google Shape;352;p57"/>
          <p:cNvPicPr preferRelativeResize="0"/>
          <p:nvPr/>
        </p:nvPicPr>
        <p:blipFill>
          <a:blip r:embed="rId3">
            <a:alphaModFix/>
          </a:blip>
          <a:stretch>
            <a:fillRect/>
          </a:stretch>
        </p:blipFill>
        <p:spPr>
          <a:xfrm>
            <a:off x="410075" y="785975"/>
            <a:ext cx="7514725" cy="40521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Parameterized Constructor</a:t>
            </a:r>
            <a:endParaRPr/>
          </a:p>
        </p:txBody>
      </p:sp>
      <p:sp>
        <p:nvSpPr>
          <p:cNvPr id="358" name="Google Shape;358;p5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pPr marL="12700" marR="12700" lvl="0" indent="0" algn="just" rtl="0">
              <a:spcBef>
                <a:spcPts val="100"/>
              </a:spcBef>
              <a:spcAft>
                <a:spcPts val="0"/>
              </a:spcAft>
              <a:buNone/>
            </a:pPr>
            <a:r>
              <a:rPr lang="en" sz="2400">
                <a:solidFill>
                  <a:srgbClr val="000000"/>
                </a:solidFill>
                <a:latin typeface="Calibri"/>
                <a:ea typeface="Calibri"/>
                <a:cs typeface="Calibri"/>
                <a:sym typeface="Calibri"/>
              </a:rPr>
              <a:t>A Java constructor can also accept one or more parameters. Such constructors   are   known   as   parameterized   constructors (constructor with parameters).</a:t>
            </a:r>
            <a:endParaRPr sz="2400">
              <a:solidFill>
                <a:srgbClr val="000000"/>
              </a:solidFill>
              <a:latin typeface="Calibri"/>
              <a:ea typeface="Calibri"/>
              <a:cs typeface="Calibri"/>
              <a:sym typeface="Calibri"/>
            </a:endParaRPr>
          </a:p>
          <a:p>
            <a:pPr marL="12700" marR="12700" lvl="0" indent="0" algn="just" rtl="0">
              <a:spcBef>
                <a:spcPts val="2900"/>
              </a:spcBef>
              <a:spcAft>
                <a:spcPts val="0"/>
              </a:spcAft>
              <a:buNone/>
            </a:pPr>
            <a:r>
              <a:rPr lang="en" sz="2400">
                <a:solidFill>
                  <a:srgbClr val="000000"/>
                </a:solidFill>
                <a:latin typeface="Calibri"/>
                <a:ea typeface="Calibri"/>
                <a:cs typeface="Calibri"/>
                <a:sym typeface="Calibri"/>
              </a:rPr>
              <a:t>Parameterized constructor is used to initialize each object with different data.</a:t>
            </a:r>
            <a:endParaRPr sz="2400">
              <a:solidFill>
                <a:srgbClr val="000000"/>
              </a:solidFill>
              <a:latin typeface="Calibri"/>
              <a:ea typeface="Calibri"/>
              <a:cs typeface="Calibri"/>
              <a:sym typeface="Calibri"/>
            </a:endParaRPr>
          </a:p>
          <a:p>
            <a:pPr marL="12700" lvl="0" indent="0" algn="l" rtl="0">
              <a:spcBef>
                <a:spcPts val="2900"/>
              </a:spcBef>
              <a:spcAft>
                <a:spcPts val="0"/>
              </a:spcAft>
              <a:buNone/>
            </a:pPr>
            <a:r>
              <a:rPr lang="en" sz="2400">
                <a:solidFill>
                  <a:srgbClr val="000000"/>
                </a:solidFill>
                <a:latin typeface="Calibri"/>
                <a:ea typeface="Calibri"/>
                <a:cs typeface="Calibri"/>
                <a:sym typeface="Calibri"/>
              </a:rPr>
              <a:t>Syntax:</a:t>
            </a:r>
            <a:endParaRPr sz="2400">
              <a:solidFill>
                <a:srgbClr val="000000"/>
              </a:solidFill>
              <a:latin typeface="Calibri"/>
              <a:ea typeface="Calibri"/>
              <a:cs typeface="Calibri"/>
              <a:sym typeface="Calibri"/>
            </a:endParaRPr>
          </a:p>
          <a:p>
            <a:pPr marL="927100" lvl="0" indent="0" algn="l" rtl="0">
              <a:spcBef>
                <a:spcPts val="0"/>
              </a:spcBef>
              <a:spcAft>
                <a:spcPts val="0"/>
              </a:spcAft>
              <a:buNone/>
            </a:pPr>
            <a:r>
              <a:rPr lang="en" sz="2400">
                <a:solidFill>
                  <a:srgbClr val="000000"/>
                </a:solidFill>
                <a:latin typeface="Calibri"/>
                <a:ea typeface="Calibri"/>
                <a:cs typeface="Calibri"/>
                <a:sym typeface="Calibri"/>
              </a:rPr>
              <a:t>constructor(parameters)</a:t>
            </a:r>
            <a:endParaRPr sz="2400">
              <a:solidFill>
                <a:srgbClr val="000000"/>
              </a:solidFill>
              <a:latin typeface="Calibri"/>
              <a:ea typeface="Calibri"/>
              <a:cs typeface="Calibri"/>
              <a:sym typeface="Calibri"/>
            </a:endParaRPr>
          </a:p>
          <a:p>
            <a:pPr marL="927100" lvl="0" indent="0" algn="l" rtl="0">
              <a:spcBef>
                <a:spcPts val="0"/>
              </a:spcBef>
              <a:spcAft>
                <a:spcPts val="0"/>
              </a:spcAft>
              <a:buNone/>
            </a:pPr>
            <a:r>
              <a:rPr lang="en" sz="2400">
                <a:solidFill>
                  <a:srgbClr val="000000"/>
                </a:solidFill>
                <a:latin typeface="Calibri"/>
                <a:ea typeface="Calibri"/>
                <a:cs typeface="Calibri"/>
                <a:sym typeface="Calibri"/>
              </a:rPr>
              <a:t>{</a:t>
            </a:r>
            <a:endParaRPr sz="2400">
              <a:solidFill>
                <a:srgbClr val="000000"/>
              </a:solidFill>
              <a:latin typeface="Calibri"/>
              <a:ea typeface="Calibri"/>
              <a:cs typeface="Calibri"/>
              <a:sym typeface="Calibri"/>
            </a:endParaRPr>
          </a:p>
          <a:p>
            <a:pPr marL="1841500" lvl="0" indent="0" algn="l" rtl="0">
              <a:spcBef>
                <a:spcPts val="0"/>
              </a:spcBef>
              <a:spcAft>
                <a:spcPts val="0"/>
              </a:spcAft>
              <a:buNone/>
            </a:pPr>
            <a:r>
              <a:rPr lang="en" sz="2400">
                <a:solidFill>
                  <a:srgbClr val="000000"/>
                </a:solidFill>
                <a:latin typeface="Calibri"/>
                <a:ea typeface="Calibri"/>
                <a:cs typeface="Calibri"/>
                <a:sym typeface="Calibri"/>
              </a:rPr>
              <a:t>//statements</a:t>
            </a:r>
            <a:endParaRPr sz="2400">
              <a:solidFill>
                <a:srgbClr val="000000"/>
              </a:solidFill>
              <a:latin typeface="Calibri"/>
              <a:ea typeface="Calibri"/>
              <a:cs typeface="Calibri"/>
              <a:sym typeface="Calibri"/>
            </a:endParaRPr>
          </a:p>
          <a:p>
            <a:pPr marL="927100" lvl="0" indent="0" algn="l" rtl="0">
              <a:spcBef>
                <a:spcPts val="0"/>
              </a:spcBef>
              <a:spcAft>
                <a:spcPts val="0"/>
              </a:spcAft>
              <a:buNone/>
            </a:pPr>
            <a:r>
              <a:rPr lang="en" sz="2400">
                <a:solidFill>
                  <a:srgbClr val="000000"/>
                </a:solidFill>
                <a:latin typeface="Calibri"/>
                <a:ea typeface="Calibri"/>
                <a:cs typeface="Calibri"/>
                <a:sym typeface="Calibri"/>
              </a:rPr>
              <a:t>}</a:t>
            </a:r>
            <a:endParaRPr sz="2400">
              <a:solidFill>
                <a:srgbClr val="000000"/>
              </a:solidFill>
              <a:latin typeface="Calibri"/>
              <a:ea typeface="Calibri"/>
              <a:cs typeface="Calibri"/>
              <a:sym typeface="Calibri"/>
            </a:endParaRPr>
          </a:p>
          <a:p>
            <a:pPr marL="0" lvl="0" indent="0" algn="l" rtl="0">
              <a:spcBef>
                <a:spcPts val="0"/>
              </a:spcBef>
              <a:spcAft>
                <a:spcPts val="120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364" name="Google Shape;364;p5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65" name="Google Shape;365;p59"/>
          <p:cNvPicPr preferRelativeResize="0"/>
          <p:nvPr/>
        </p:nvPicPr>
        <p:blipFill>
          <a:blip r:embed="rId3">
            <a:alphaModFix/>
          </a:blip>
          <a:stretch>
            <a:fillRect/>
          </a:stretch>
        </p:blipFill>
        <p:spPr>
          <a:xfrm>
            <a:off x="311700" y="1266325"/>
            <a:ext cx="8520600" cy="33027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 Overloading</a:t>
            </a:r>
            <a:endParaRPr/>
          </a:p>
        </p:txBody>
      </p:sp>
      <p:sp>
        <p:nvSpPr>
          <p:cNvPr id="371" name="Google Shape;371;p6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12700" marR="12700" lvl="0" indent="0" algn="just" rtl="0">
              <a:spcBef>
                <a:spcPts val="100"/>
              </a:spcBef>
              <a:spcAft>
                <a:spcPts val="0"/>
              </a:spcAft>
              <a:buNone/>
            </a:pPr>
            <a:r>
              <a:rPr lang="en" sz="2400">
                <a:solidFill>
                  <a:srgbClr val="000000"/>
                </a:solidFill>
                <a:latin typeface="Calibri"/>
                <a:ea typeface="Calibri"/>
                <a:cs typeface="Calibri"/>
                <a:sym typeface="Calibri"/>
              </a:rPr>
              <a:t>The constructor overloading can be defined as the concept of having more than one constructor with different parameters so that every constructor can perform a different task.</a:t>
            </a:r>
            <a:endParaRPr sz="2400">
              <a:solidFill>
                <a:srgbClr val="000000"/>
              </a:solidFill>
              <a:latin typeface="Calibri"/>
              <a:ea typeface="Calibri"/>
              <a:cs typeface="Calibri"/>
              <a:sym typeface="Calibri"/>
            </a:endParaRPr>
          </a:p>
          <a:p>
            <a:pPr marL="0" lvl="0" indent="0" algn="l" rtl="0">
              <a:spcBef>
                <a:spcPts val="0"/>
              </a:spcBef>
              <a:spcAft>
                <a:spcPts val="1200"/>
              </a:spcAft>
              <a:buNone/>
            </a:pPr>
            <a:endParaRPr sz="2400">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1"/>
          <p:cNvSpPr txBox="1">
            <a:spLocks noGrp="1"/>
          </p:cNvSpPr>
          <p:nvPr>
            <p:ph type="title"/>
          </p:nvPr>
        </p:nvSpPr>
        <p:spPr>
          <a:xfrm>
            <a:off x="207000" y="10475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377" name="Google Shape;377;p61"/>
          <p:cNvPicPr preferRelativeResize="0"/>
          <p:nvPr/>
        </p:nvPicPr>
        <p:blipFill>
          <a:blip r:embed="rId3">
            <a:alphaModFix/>
          </a:blip>
          <a:stretch>
            <a:fillRect/>
          </a:stretch>
        </p:blipFill>
        <p:spPr>
          <a:xfrm>
            <a:off x="311700" y="752000"/>
            <a:ext cx="3912599" cy="4331349"/>
          </a:xfrm>
          <a:prstGeom prst="rect">
            <a:avLst/>
          </a:prstGeom>
          <a:noFill/>
          <a:ln>
            <a:noFill/>
          </a:ln>
        </p:spPr>
      </p:pic>
      <p:pic>
        <p:nvPicPr>
          <p:cNvPr id="378" name="Google Shape;378;p61"/>
          <p:cNvPicPr preferRelativeResize="0"/>
          <p:nvPr/>
        </p:nvPicPr>
        <p:blipFill>
          <a:blip r:embed="rId4">
            <a:alphaModFix/>
          </a:blip>
          <a:stretch>
            <a:fillRect/>
          </a:stretch>
        </p:blipFill>
        <p:spPr>
          <a:xfrm>
            <a:off x="4337450" y="752000"/>
            <a:ext cx="4200150" cy="4331349"/>
          </a:xfrm>
          <a:prstGeom prst="rect">
            <a:avLst/>
          </a:prstGeom>
          <a:noFill/>
          <a:ln>
            <a:noFill/>
          </a:ln>
        </p:spPr>
      </p:pic>
      <p:pic>
        <p:nvPicPr>
          <p:cNvPr id="379" name="Google Shape;379;p61"/>
          <p:cNvPicPr preferRelativeResize="0"/>
          <p:nvPr/>
        </p:nvPicPr>
        <p:blipFill>
          <a:blip r:embed="rId5">
            <a:alphaModFix/>
          </a:blip>
          <a:stretch>
            <a:fillRect/>
          </a:stretch>
        </p:blipFill>
        <p:spPr>
          <a:xfrm>
            <a:off x="4454725" y="812150"/>
            <a:ext cx="3965600" cy="41911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80FE1-614B-A44A-8D35-F43E94EF1E29}"/>
              </a:ext>
            </a:extLst>
          </p:cNvPr>
          <p:cNvSpPr>
            <a:spLocks noGrp="1"/>
          </p:cNvSpPr>
          <p:nvPr>
            <p:ph type="title"/>
          </p:nvPr>
        </p:nvSpPr>
        <p:spPr/>
        <p:txBody>
          <a:bodyPr>
            <a:normAutofit fontScale="90000"/>
          </a:bodyPr>
          <a:lstStyle/>
          <a:p>
            <a:r>
              <a:rPr lang="en-IN" dirty="0"/>
              <a:t>this keyword</a:t>
            </a:r>
          </a:p>
        </p:txBody>
      </p:sp>
      <p:sp>
        <p:nvSpPr>
          <p:cNvPr id="3" name="Text Placeholder 2">
            <a:extLst>
              <a:ext uri="{FF2B5EF4-FFF2-40B4-BE49-F238E27FC236}">
                <a16:creationId xmlns:a16="http://schemas.microsoft.com/office/drawing/2014/main" id="{74829E12-E8E3-5877-FC5E-9D225330D15A}"/>
              </a:ext>
            </a:extLst>
          </p:cNvPr>
          <p:cNvSpPr>
            <a:spLocks noGrp="1"/>
          </p:cNvSpPr>
          <p:nvPr>
            <p:ph type="body" idx="1"/>
          </p:nvPr>
        </p:nvSpPr>
        <p:spPr/>
        <p:txBody>
          <a:bodyPr>
            <a:normAutofit/>
          </a:bodyPr>
          <a:lstStyle/>
          <a:p>
            <a:r>
              <a:rPr lang="en-IN" sz="2000" i="1" dirty="0">
                <a:solidFill>
                  <a:schemeClr val="accent1"/>
                </a:solidFill>
              </a:rPr>
              <a:t>this</a:t>
            </a:r>
            <a:r>
              <a:rPr lang="en-IN" sz="2000" dirty="0"/>
              <a:t> keyword in java is a reference variable which points to the current object in the java.</a:t>
            </a:r>
          </a:p>
          <a:p>
            <a:r>
              <a:rPr lang="en-IN" sz="2000" dirty="0"/>
              <a:t>The main purpose of using </a:t>
            </a:r>
            <a:r>
              <a:rPr lang="en-IN" sz="2000" i="1" dirty="0">
                <a:solidFill>
                  <a:schemeClr val="accent1"/>
                </a:solidFill>
              </a:rPr>
              <a:t>this</a:t>
            </a:r>
            <a:r>
              <a:rPr lang="en-IN" sz="2000" dirty="0"/>
              <a:t> keyword is to solve the confusion when we have same variable name for instance &amp; local variable</a:t>
            </a:r>
          </a:p>
        </p:txBody>
      </p:sp>
    </p:spTree>
    <p:extLst>
      <p:ext uri="{BB962C8B-B14F-4D97-AF65-F5344CB8AC3E}">
        <p14:creationId xmlns:p14="http://schemas.microsoft.com/office/powerpoint/2010/main" val="40547725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51B12-2A00-4670-A132-0DE20EB3F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20F2C-B5EB-6BD7-3610-6FD3D1F71F06}"/>
              </a:ext>
            </a:extLst>
          </p:cNvPr>
          <p:cNvSpPr>
            <a:spLocks noGrp="1"/>
          </p:cNvSpPr>
          <p:nvPr>
            <p:ph type="title"/>
          </p:nvPr>
        </p:nvSpPr>
        <p:spPr/>
        <p:txBody>
          <a:bodyPr>
            <a:normAutofit fontScale="90000"/>
          </a:bodyPr>
          <a:lstStyle/>
          <a:p>
            <a:r>
              <a:rPr lang="en-IN" dirty="0"/>
              <a:t>this keyword</a:t>
            </a:r>
            <a:r>
              <a:rPr lang="en-IN" dirty="0">
                <a:sym typeface="Wingdings" panose="05000000000000000000" pitchFamily="2" charset="2"/>
              </a:rPr>
              <a:t> When to use?</a:t>
            </a:r>
            <a:endParaRPr lang="en-IN" dirty="0"/>
          </a:p>
        </p:txBody>
      </p:sp>
      <p:sp>
        <p:nvSpPr>
          <p:cNvPr id="3" name="Text Placeholder 2">
            <a:extLst>
              <a:ext uri="{FF2B5EF4-FFF2-40B4-BE49-F238E27FC236}">
                <a16:creationId xmlns:a16="http://schemas.microsoft.com/office/drawing/2014/main" id="{B32F7324-A16C-1C18-2C68-068A049EEF8C}"/>
              </a:ext>
            </a:extLst>
          </p:cNvPr>
          <p:cNvSpPr>
            <a:spLocks noGrp="1"/>
          </p:cNvSpPr>
          <p:nvPr>
            <p:ph type="body" idx="1"/>
          </p:nvPr>
        </p:nvSpPr>
        <p:spPr/>
        <p:txBody>
          <a:bodyPr>
            <a:normAutofit/>
          </a:bodyPr>
          <a:lstStyle/>
          <a:p>
            <a:pPr marL="571500" indent="-457200">
              <a:buFont typeface="+mj-lt"/>
              <a:buAutoNum type="arabicPeriod"/>
            </a:pPr>
            <a:r>
              <a:rPr lang="en-IN" sz="2000" dirty="0">
                <a:solidFill>
                  <a:schemeClr val="bg2">
                    <a:lumMod val="50000"/>
                  </a:schemeClr>
                </a:solidFill>
              </a:rPr>
              <a:t>To access the class/instance variable</a:t>
            </a:r>
          </a:p>
          <a:p>
            <a:pPr marL="571500" indent="-457200">
              <a:buFont typeface="+mj-lt"/>
              <a:buAutoNum type="arabicPeriod"/>
            </a:pPr>
            <a:r>
              <a:rPr lang="en-IN" sz="2000" dirty="0">
                <a:solidFill>
                  <a:schemeClr val="bg2">
                    <a:lumMod val="50000"/>
                  </a:schemeClr>
                </a:solidFill>
              </a:rPr>
              <a:t>Passing ‘this’ as an argument in the method call</a:t>
            </a:r>
          </a:p>
          <a:p>
            <a:pPr marL="571500" indent="-457200">
              <a:buFont typeface="+mj-lt"/>
              <a:buAutoNum type="arabicPeriod"/>
            </a:pPr>
            <a:r>
              <a:rPr lang="en-IN" sz="2000" dirty="0">
                <a:solidFill>
                  <a:schemeClr val="bg2">
                    <a:lumMod val="50000"/>
                  </a:schemeClr>
                </a:solidFill>
              </a:rPr>
              <a:t>To implicitly invoking the current class method</a:t>
            </a:r>
          </a:p>
          <a:p>
            <a:pPr marL="571500" indent="-457200">
              <a:buFont typeface="+mj-lt"/>
              <a:buAutoNum type="arabicPeriod"/>
            </a:pPr>
            <a:r>
              <a:rPr lang="en-IN" sz="2000" dirty="0">
                <a:solidFill>
                  <a:schemeClr val="bg2">
                    <a:lumMod val="50000"/>
                  </a:schemeClr>
                </a:solidFill>
              </a:rPr>
              <a:t>Returning current object from method</a:t>
            </a:r>
          </a:p>
          <a:p>
            <a:pPr marL="571500" indent="-457200">
              <a:buFont typeface="+mj-lt"/>
              <a:buAutoNum type="arabicPeriod"/>
            </a:pPr>
            <a:r>
              <a:rPr lang="en-IN" sz="2000" dirty="0">
                <a:solidFill>
                  <a:schemeClr val="bg2">
                    <a:lumMod val="50000"/>
                  </a:schemeClr>
                </a:solidFill>
              </a:rPr>
              <a:t>Passing ‘this’ as an argument to constructor</a:t>
            </a:r>
          </a:p>
        </p:txBody>
      </p:sp>
    </p:spTree>
    <p:extLst>
      <p:ext uri="{BB962C8B-B14F-4D97-AF65-F5344CB8AC3E}">
        <p14:creationId xmlns:p14="http://schemas.microsoft.com/office/powerpoint/2010/main" val="9861810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3858-FE50-18BA-A1A3-A719AB4A9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CAB37-530E-8284-7D2E-85688E4661B7}"/>
              </a:ext>
            </a:extLst>
          </p:cNvPr>
          <p:cNvSpPr>
            <a:spLocks noGrp="1"/>
          </p:cNvSpPr>
          <p:nvPr>
            <p:ph type="title"/>
          </p:nvPr>
        </p:nvSpPr>
        <p:spPr>
          <a:xfrm>
            <a:off x="311700" y="77355"/>
            <a:ext cx="8520600" cy="707400"/>
          </a:xfrm>
        </p:spPr>
        <p:txBody>
          <a:bodyPr>
            <a:normAutofit fontScale="90000"/>
          </a:bodyPr>
          <a:lstStyle/>
          <a:p>
            <a:r>
              <a:rPr lang="en-IN" dirty="0"/>
              <a:t>Accessing class variable</a:t>
            </a:r>
          </a:p>
        </p:txBody>
      </p:sp>
      <p:pic>
        <p:nvPicPr>
          <p:cNvPr id="5" name="Picture 4">
            <a:extLst>
              <a:ext uri="{FF2B5EF4-FFF2-40B4-BE49-F238E27FC236}">
                <a16:creationId xmlns:a16="http://schemas.microsoft.com/office/drawing/2014/main" id="{ADE41926-FBFF-2221-38F8-FC6ACBC80B88}"/>
              </a:ext>
            </a:extLst>
          </p:cNvPr>
          <p:cNvPicPr>
            <a:picLocks noChangeAspect="1"/>
          </p:cNvPicPr>
          <p:nvPr/>
        </p:nvPicPr>
        <p:blipFill>
          <a:blip r:embed="rId2"/>
          <a:stretch>
            <a:fillRect/>
          </a:stretch>
        </p:blipFill>
        <p:spPr>
          <a:xfrm>
            <a:off x="311700" y="888274"/>
            <a:ext cx="5035809" cy="4177871"/>
          </a:xfrm>
          <a:prstGeom prst="rect">
            <a:avLst/>
          </a:prstGeom>
        </p:spPr>
      </p:pic>
      <p:pic>
        <p:nvPicPr>
          <p:cNvPr id="7" name="Picture 6">
            <a:extLst>
              <a:ext uri="{FF2B5EF4-FFF2-40B4-BE49-F238E27FC236}">
                <a16:creationId xmlns:a16="http://schemas.microsoft.com/office/drawing/2014/main" id="{E2DEC1F6-DAF7-A686-3927-B6854F94580E}"/>
              </a:ext>
            </a:extLst>
          </p:cNvPr>
          <p:cNvPicPr>
            <a:picLocks noChangeAspect="1"/>
          </p:cNvPicPr>
          <p:nvPr/>
        </p:nvPicPr>
        <p:blipFill>
          <a:blip r:embed="rId3"/>
          <a:stretch>
            <a:fillRect/>
          </a:stretch>
        </p:blipFill>
        <p:spPr>
          <a:xfrm>
            <a:off x="4764035" y="1787408"/>
            <a:ext cx="4379965" cy="1376525"/>
          </a:xfrm>
          <a:prstGeom prst="rect">
            <a:avLst/>
          </a:prstGeom>
        </p:spPr>
      </p:pic>
    </p:spTree>
    <p:extLst>
      <p:ext uri="{BB962C8B-B14F-4D97-AF65-F5344CB8AC3E}">
        <p14:creationId xmlns:p14="http://schemas.microsoft.com/office/powerpoint/2010/main" val="30111135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4D78E-594A-C63A-A0F9-A885B98E8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B1634-95E2-A6EE-5006-1FE1A637469A}"/>
              </a:ext>
            </a:extLst>
          </p:cNvPr>
          <p:cNvSpPr>
            <a:spLocks noGrp="1"/>
          </p:cNvSpPr>
          <p:nvPr>
            <p:ph type="title"/>
          </p:nvPr>
        </p:nvSpPr>
        <p:spPr>
          <a:xfrm>
            <a:off x="311700" y="77355"/>
            <a:ext cx="8520600" cy="707400"/>
          </a:xfrm>
        </p:spPr>
        <p:txBody>
          <a:bodyPr>
            <a:normAutofit fontScale="90000"/>
          </a:bodyPr>
          <a:lstStyle/>
          <a:p>
            <a:r>
              <a:rPr lang="en-IN" dirty="0"/>
              <a:t>‘this’ as method parameter</a:t>
            </a:r>
          </a:p>
        </p:txBody>
      </p:sp>
      <p:pic>
        <p:nvPicPr>
          <p:cNvPr id="4" name="Picture 3">
            <a:extLst>
              <a:ext uri="{FF2B5EF4-FFF2-40B4-BE49-F238E27FC236}">
                <a16:creationId xmlns:a16="http://schemas.microsoft.com/office/drawing/2014/main" id="{EAF78AA6-0CB8-EE1C-61B0-DF6D4BAA563E}"/>
              </a:ext>
            </a:extLst>
          </p:cNvPr>
          <p:cNvPicPr>
            <a:picLocks noChangeAspect="1"/>
          </p:cNvPicPr>
          <p:nvPr/>
        </p:nvPicPr>
        <p:blipFill>
          <a:blip r:embed="rId2"/>
          <a:stretch>
            <a:fillRect/>
          </a:stretch>
        </p:blipFill>
        <p:spPr>
          <a:xfrm>
            <a:off x="5355771" y="1306287"/>
            <a:ext cx="3605736" cy="1763964"/>
          </a:xfrm>
          <a:prstGeom prst="rect">
            <a:avLst/>
          </a:prstGeom>
        </p:spPr>
      </p:pic>
      <p:pic>
        <p:nvPicPr>
          <p:cNvPr id="8" name="Picture 7">
            <a:extLst>
              <a:ext uri="{FF2B5EF4-FFF2-40B4-BE49-F238E27FC236}">
                <a16:creationId xmlns:a16="http://schemas.microsoft.com/office/drawing/2014/main" id="{56CBA837-3845-55CD-C04F-DFEBAF211D44}"/>
              </a:ext>
            </a:extLst>
          </p:cNvPr>
          <p:cNvPicPr>
            <a:picLocks noChangeAspect="1"/>
          </p:cNvPicPr>
          <p:nvPr/>
        </p:nvPicPr>
        <p:blipFill>
          <a:blip r:embed="rId3"/>
          <a:stretch>
            <a:fillRect/>
          </a:stretch>
        </p:blipFill>
        <p:spPr>
          <a:xfrm>
            <a:off x="182493" y="609599"/>
            <a:ext cx="4349974" cy="4456545"/>
          </a:xfrm>
          <a:prstGeom prst="rect">
            <a:avLst/>
          </a:prstGeom>
        </p:spPr>
      </p:pic>
    </p:spTree>
    <p:extLst>
      <p:ext uri="{BB962C8B-B14F-4D97-AF65-F5344CB8AC3E}">
        <p14:creationId xmlns:p14="http://schemas.microsoft.com/office/powerpoint/2010/main" val="38071983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547A3-14C6-20B2-64E1-296BCF50B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104B2-9419-C154-DF67-C51427480230}"/>
              </a:ext>
            </a:extLst>
          </p:cNvPr>
          <p:cNvSpPr>
            <a:spLocks noGrp="1"/>
          </p:cNvSpPr>
          <p:nvPr>
            <p:ph type="title"/>
          </p:nvPr>
        </p:nvSpPr>
        <p:spPr>
          <a:xfrm>
            <a:off x="311700" y="77355"/>
            <a:ext cx="8520600" cy="707400"/>
          </a:xfrm>
        </p:spPr>
        <p:txBody>
          <a:bodyPr>
            <a:normAutofit fontScale="90000"/>
          </a:bodyPr>
          <a:lstStyle/>
          <a:p>
            <a:r>
              <a:rPr lang="en-IN" dirty="0"/>
              <a:t>Invoking current class method</a:t>
            </a:r>
          </a:p>
        </p:txBody>
      </p:sp>
      <p:pic>
        <p:nvPicPr>
          <p:cNvPr id="5" name="Picture 4">
            <a:extLst>
              <a:ext uri="{FF2B5EF4-FFF2-40B4-BE49-F238E27FC236}">
                <a16:creationId xmlns:a16="http://schemas.microsoft.com/office/drawing/2014/main" id="{BBC40744-01E6-AE7E-6190-2FF8629FE1BD}"/>
              </a:ext>
            </a:extLst>
          </p:cNvPr>
          <p:cNvPicPr>
            <a:picLocks noChangeAspect="1"/>
          </p:cNvPicPr>
          <p:nvPr/>
        </p:nvPicPr>
        <p:blipFill>
          <a:blip r:embed="rId2"/>
          <a:stretch>
            <a:fillRect/>
          </a:stretch>
        </p:blipFill>
        <p:spPr>
          <a:xfrm>
            <a:off x="311700" y="752381"/>
            <a:ext cx="4667490" cy="3638737"/>
          </a:xfrm>
          <a:prstGeom prst="rect">
            <a:avLst/>
          </a:prstGeom>
        </p:spPr>
      </p:pic>
      <p:pic>
        <p:nvPicPr>
          <p:cNvPr id="7" name="Picture 6">
            <a:extLst>
              <a:ext uri="{FF2B5EF4-FFF2-40B4-BE49-F238E27FC236}">
                <a16:creationId xmlns:a16="http://schemas.microsoft.com/office/drawing/2014/main" id="{18EC199D-301E-CAC2-3085-A5723E8B9EB2}"/>
              </a:ext>
            </a:extLst>
          </p:cNvPr>
          <p:cNvPicPr>
            <a:picLocks noChangeAspect="1"/>
          </p:cNvPicPr>
          <p:nvPr/>
        </p:nvPicPr>
        <p:blipFill>
          <a:blip r:embed="rId3"/>
          <a:stretch>
            <a:fillRect/>
          </a:stretch>
        </p:blipFill>
        <p:spPr>
          <a:xfrm>
            <a:off x="4979190" y="1301995"/>
            <a:ext cx="3721291" cy="1728588"/>
          </a:xfrm>
          <a:prstGeom prst="rect">
            <a:avLst/>
          </a:prstGeom>
        </p:spPr>
      </p:pic>
    </p:spTree>
    <p:extLst>
      <p:ext uri="{BB962C8B-B14F-4D97-AF65-F5344CB8AC3E}">
        <p14:creationId xmlns:p14="http://schemas.microsoft.com/office/powerpoint/2010/main" val="1856790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BFF8E-4A0A-81A4-318C-73D9E2C8F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12E8A-BC93-E93D-C1DA-47EA7C009A9E}"/>
              </a:ext>
            </a:extLst>
          </p:cNvPr>
          <p:cNvSpPr>
            <a:spLocks noGrp="1"/>
          </p:cNvSpPr>
          <p:nvPr>
            <p:ph type="title"/>
          </p:nvPr>
        </p:nvSpPr>
        <p:spPr>
          <a:xfrm>
            <a:off x="137529" y="0"/>
            <a:ext cx="8520600" cy="707400"/>
          </a:xfrm>
        </p:spPr>
        <p:txBody>
          <a:bodyPr>
            <a:normAutofit fontScale="90000"/>
          </a:bodyPr>
          <a:lstStyle/>
          <a:p>
            <a:r>
              <a:rPr lang="en-IN" dirty="0"/>
              <a:t>Return with ‘this’</a:t>
            </a:r>
          </a:p>
        </p:txBody>
      </p:sp>
      <p:pic>
        <p:nvPicPr>
          <p:cNvPr id="4" name="Picture 3">
            <a:extLst>
              <a:ext uri="{FF2B5EF4-FFF2-40B4-BE49-F238E27FC236}">
                <a16:creationId xmlns:a16="http://schemas.microsoft.com/office/drawing/2014/main" id="{60219A3F-B71F-E4EE-FFDB-E4B2E85A26BA}"/>
              </a:ext>
            </a:extLst>
          </p:cNvPr>
          <p:cNvPicPr>
            <a:picLocks noChangeAspect="1"/>
          </p:cNvPicPr>
          <p:nvPr/>
        </p:nvPicPr>
        <p:blipFill>
          <a:blip r:embed="rId2"/>
          <a:stretch>
            <a:fillRect/>
          </a:stretch>
        </p:blipFill>
        <p:spPr>
          <a:xfrm>
            <a:off x="311700" y="574765"/>
            <a:ext cx="5044071" cy="4389121"/>
          </a:xfrm>
          <a:prstGeom prst="rect">
            <a:avLst/>
          </a:prstGeom>
        </p:spPr>
      </p:pic>
      <p:pic>
        <p:nvPicPr>
          <p:cNvPr id="8" name="Picture 7">
            <a:extLst>
              <a:ext uri="{FF2B5EF4-FFF2-40B4-BE49-F238E27FC236}">
                <a16:creationId xmlns:a16="http://schemas.microsoft.com/office/drawing/2014/main" id="{6FED811D-04E1-4E0D-8F4C-7C856637C361}"/>
              </a:ext>
            </a:extLst>
          </p:cNvPr>
          <p:cNvPicPr>
            <a:picLocks noChangeAspect="1"/>
          </p:cNvPicPr>
          <p:nvPr/>
        </p:nvPicPr>
        <p:blipFill>
          <a:blip r:embed="rId3"/>
          <a:stretch>
            <a:fillRect/>
          </a:stretch>
        </p:blipFill>
        <p:spPr>
          <a:xfrm>
            <a:off x="5072907" y="1033939"/>
            <a:ext cx="3759393" cy="1326083"/>
          </a:xfrm>
          <a:prstGeom prst="rect">
            <a:avLst/>
          </a:prstGeom>
        </p:spPr>
      </p:pic>
    </p:spTree>
    <p:extLst>
      <p:ext uri="{BB962C8B-B14F-4D97-AF65-F5344CB8AC3E}">
        <p14:creationId xmlns:p14="http://schemas.microsoft.com/office/powerpoint/2010/main" val="21583714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68C1D-5590-83D8-DE70-42F33BBC64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94E44-06CB-03A2-2451-B8EF896F1548}"/>
              </a:ext>
            </a:extLst>
          </p:cNvPr>
          <p:cNvSpPr>
            <a:spLocks noGrp="1"/>
          </p:cNvSpPr>
          <p:nvPr>
            <p:ph type="title"/>
          </p:nvPr>
        </p:nvSpPr>
        <p:spPr>
          <a:xfrm>
            <a:off x="137529" y="0"/>
            <a:ext cx="8520600" cy="707400"/>
          </a:xfrm>
        </p:spPr>
        <p:txBody>
          <a:bodyPr>
            <a:normAutofit fontScale="90000"/>
          </a:bodyPr>
          <a:lstStyle/>
          <a:p>
            <a:r>
              <a:rPr lang="en-IN" dirty="0"/>
              <a:t>Argument to constructor</a:t>
            </a:r>
          </a:p>
        </p:txBody>
      </p:sp>
      <p:pic>
        <p:nvPicPr>
          <p:cNvPr id="7" name="Picture 6">
            <a:extLst>
              <a:ext uri="{FF2B5EF4-FFF2-40B4-BE49-F238E27FC236}">
                <a16:creationId xmlns:a16="http://schemas.microsoft.com/office/drawing/2014/main" id="{30B7BFAB-6EED-D6F2-2064-19AD69398B54}"/>
              </a:ext>
            </a:extLst>
          </p:cNvPr>
          <p:cNvPicPr>
            <a:picLocks noChangeAspect="1"/>
          </p:cNvPicPr>
          <p:nvPr/>
        </p:nvPicPr>
        <p:blipFill>
          <a:blip r:embed="rId2"/>
          <a:stretch>
            <a:fillRect/>
          </a:stretch>
        </p:blipFill>
        <p:spPr>
          <a:xfrm>
            <a:off x="311026" y="707400"/>
            <a:ext cx="4864350" cy="4303954"/>
          </a:xfrm>
          <a:prstGeom prst="rect">
            <a:avLst/>
          </a:prstGeom>
        </p:spPr>
      </p:pic>
      <p:pic>
        <p:nvPicPr>
          <p:cNvPr id="10" name="Picture 9">
            <a:extLst>
              <a:ext uri="{FF2B5EF4-FFF2-40B4-BE49-F238E27FC236}">
                <a16:creationId xmlns:a16="http://schemas.microsoft.com/office/drawing/2014/main" id="{E5CE8DB2-6DF4-609F-A67A-21CE824366B9}"/>
              </a:ext>
            </a:extLst>
          </p:cNvPr>
          <p:cNvPicPr>
            <a:picLocks noChangeAspect="1"/>
          </p:cNvPicPr>
          <p:nvPr/>
        </p:nvPicPr>
        <p:blipFill>
          <a:blip r:embed="rId3"/>
          <a:stretch>
            <a:fillRect/>
          </a:stretch>
        </p:blipFill>
        <p:spPr>
          <a:xfrm>
            <a:off x="4687382" y="1152868"/>
            <a:ext cx="4145591" cy="1320365"/>
          </a:xfrm>
          <a:prstGeom prst="rect">
            <a:avLst/>
          </a:prstGeom>
        </p:spPr>
      </p:pic>
    </p:spTree>
    <p:extLst>
      <p:ext uri="{BB962C8B-B14F-4D97-AF65-F5344CB8AC3E}">
        <p14:creationId xmlns:p14="http://schemas.microsoft.com/office/powerpoint/2010/main" val="41670821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6B265-1336-2713-C119-1D763E86949B}"/>
              </a:ext>
            </a:extLst>
          </p:cNvPr>
          <p:cNvSpPr>
            <a:spLocks noGrp="1"/>
          </p:cNvSpPr>
          <p:nvPr>
            <p:ph type="title"/>
          </p:nvPr>
        </p:nvSpPr>
        <p:spPr/>
        <p:txBody>
          <a:bodyPr>
            <a:normAutofit fontScale="90000"/>
          </a:bodyPr>
          <a:lstStyle/>
          <a:p>
            <a:r>
              <a:rPr lang="en-IN" dirty="0"/>
              <a:t>this() method</a:t>
            </a:r>
          </a:p>
        </p:txBody>
      </p:sp>
      <p:sp>
        <p:nvSpPr>
          <p:cNvPr id="3" name="Text Placeholder 2">
            <a:extLst>
              <a:ext uri="{FF2B5EF4-FFF2-40B4-BE49-F238E27FC236}">
                <a16:creationId xmlns:a16="http://schemas.microsoft.com/office/drawing/2014/main" id="{89C59EF6-5637-BBC7-6D0A-D0CC3D4D2686}"/>
              </a:ext>
            </a:extLst>
          </p:cNvPr>
          <p:cNvSpPr>
            <a:spLocks noGrp="1"/>
          </p:cNvSpPr>
          <p:nvPr>
            <p:ph type="body" idx="1"/>
          </p:nvPr>
        </p:nvSpPr>
        <p:spPr/>
        <p:txBody>
          <a:bodyPr>
            <a:normAutofit/>
          </a:bodyPr>
          <a:lstStyle/>
          <a:p>
            <a:r>
              <a:rPr lang="en-IN" sz="2000" dirty="0"/>
              <a:t>this() is a special call used </a:t>
            </a:r>
            <a:r>
              <a:rPr lang="en-IN" sz="2000" b="1" dirty="0"/>
              <a:t>only inside a constructor</a:t>
            </a:r>
            <a:r>
              <a:rPr lang="en-IN" sz="2000" dirty="0"/>
              <a:t> to call another constructor of the </a:t>
            </a:r>
            <a:r>
              <a:rPr lang="en-IN" sz="2000" i="1" dirty="0"/>
              <a:t>same</a:t>
            </a:r>
            <a:r>
              <a:rPr lang="en-IN" sz="2000" dirty="0"/>
              <a:t> class. </a:t>
            </a:r>
          </a:p>
          <a:p>
            <a:r>
              <a:rPr lang="en-IN" sz="2000" dirty="0"/>
              <a:t>It lets you reuse initialization logic instead of duplicating it across multiple constructors.</a:t>
            </a:r>
          </a:p>
          <a:p>
            <a:r>
              <a:rPr lang="en-IN" sz="2000" dirty="0"/>
              <a:t>this() must be the first statement of the constructor where it is used.</a:t>
            </a:r>
          </a:p>
        </p:txBody>
      </p:sp>
    </p:spTree>
    <p:extLst>
      <p:ext uri="{BB962C8B-B14F-4D97-AF65-F5344CB8AC3E}">
        <p14:creationId xmlns:p14="http://schemas.microsoft.com/office/powerpoint/2010/main" val="2441760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6E3CA-2B9C-6DBA-BC31-DA16C668A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9149C-92F4-41FE-FBF3-2940222BD854}"/>
              </a:ext>
            </a:extLst>
          </p:cNvPr>
          <p:cNvSpPr>
            <a:spLocks noGrp="1"/>
          </p:cNvSpPr>
          <p:nvPr>
            <p:ph type="title"/>
          </p:nvPr>
        </p:nvSpPr>
        <p:spPr>
          <a:xfrm>
            <a:off x="76569" y="79265"/>
            <a:ext cx="8520600" cy="707400"/>
          </a:xfrm>
        </p:spPr>
        <p:txBody>
          <a:bodyPr>
            <a:normAutofit fontScale="90000"/>
          </a:bodyPr>
          <a:lstStyle/>
          <a:p>
            <a:r>
              <a:rPr lang="en-IN" dirty="0"/>
              <a:t>this() method</a:t>
            </a:r>
          </a:p>
        </p:txBody>
      </p:sp>
      <p:pic>
        <p:nvPicPr>
          <p:cNvPr id="5" name="Picture 4">
            <a:extLst>
              <a:ext uri="{FF2B5EF4-FFF2-40B4-BE49-F238E27FC236}">
                <a16:creationId xmlns:a16="http://schemas.microsoft.com/office/drawing/2014/main" id="{1A4BFBB4-8F55-949B-242F-6C81CD5D354B}"/>
              </a:ext>
            </a:extLst>
          </p:cNvPr>
          <p:cNvPicPr>
            <a:picLocks noChangeAspect="1"/>
          </p:cNvPicPr>
          <p:nvPr/>
        </p:nvPicPr>
        <p:blipFill>
          <a:blip r:embed="rId2"/>
          <a:stretch>
            <a:fillRect/>
          </a:stretch>
        </p:blipFill>
        <p:spPr>
          <a:xfrm>
            <a:off x="-1" y="786665"/>
            <a:ext cx="6810103" cy="3816546"/>
          </a:xfrm>
          <a:prstGeom prst="rect">
            <a:avLst/>
          </a:prstGeom>
        </p:spPr>
      </p:pic>
      <p:pic>
        <p:nvPicPr>
          <p:cNvPr id="7" name="Picture 6">
            <a:extLst>
              <a:ext uri="{FF2B5EF4-FFF2-40B4-BE49-F238E27FC236}">
                <a16:creationId xmlns:a16="http://schemas.microsoft.com/office/drawing/2014/main" id="{30819DD3-92C6-C574-D87A-2F7F08F6E374}"/>
              </a:ext>
            </a:extLst>
          </p:cNvPr>
          <p:cNvPicPr>
            <a:picLocks noChangeAspect="1"/>
          </p:cNvPicPr>
          <p:nvPr/>
        </p:nvPicPr>
        <p:blipFill>
          <a:blip r:embed="rId3"/>
          <a:stretch>
            <a:fillRect/>
          </a:stretch>
        </p:blipFill>
        <p:spPr>
          <a:xfrm>
            <a:off x="4747526" y="2725783"/>
            <a:ext cx="3759393" cy="1764781"/>
          </a:xfrm>
          <a:prstGeom prst="rect">
            <a:avLst/>
          </a:prstGeom>
        </p:spPr>
      </p:pic>
    </p:spTree>
    <p:extLst>
      <p:ext uri="{BB962C8B-B14F-4D97-AF65-F5344CB8AC3E}">
        <p14:creationId xmlns:p14="http://schemas.microsoft.com/office/powerpoint/2010/main" val="42112327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980F4-7557-436A-7D89-2D39461F5839}"/>
              </a:ext>
            </a:extLst>
          </p:cNvPr>
          <p:cNvSpPr>
            <a:spLocks noGrp="1"/>
          </p:cNvSpPr>
          <p:nvPr>
            <p:ph type="title"/>
          </p:nvPr>
        </p:nvSpPr>
        <p:spPr/>
        <p:txBody>
          <a:bodyPr>
            <a:normAutofit fontScale="90000"/>
          </a:bodyPr>
          <a:lstStyle/>
          <a:p>
            <a:r>
              <a:rPr lang="en-IN" dirty="0"/>
              <a:t>Static keyword</a:t>
            </a:r>
          </a:p>
        </p:txBody>
      </p:sp>
      <p:sp>
        <p:nvSpPr>
          <p:cNvPr id="3" name="Text Placeholder 2">
            <a:extLst>
              <a:ext uri="{FF2B5EF4-FFF2-40B4-BE49-F238E27FC236}">
                <a16:creationId xmlns:a16="http://schemas.microsoft.com/office/drawing/2014/main" id="{371F4B60-7D8F-DA8C-8EB5-8D723299D182}"/>
              </a:ext>
            </a:extLst>
          </p:cNvPr>
          <p:cNvSpPr>
            <a:spLocks noGrp="1"/>
          </p:cNvSpPr>
          <p:nvPr>
            <p:ph type="body" idx="1"/>
          </p:nvPr>
        </p:nvSpPr>
        <p:spPr/>
        <p:txBody>
          <a:bodyPr>
            <a:normAutofit/>
          </a:bodyPr>
          <a:lstStyle/>
          <a:p>
            <a:r>
              <a:rPr lang="en-IN" sz="2000" dirty="0"/>
              <a:t>The main purpose of the static keyword is efficient memory management of class members.</a:t>
            </a:r>
          </a:p>
          <a:p>
            <a:r>
              <a:rPr lang="en-IN" b="1" dirty="0"/>
              <a:t>“static”</a:t>
            </a:r>
            <a:r>
              <a:rPr lang="en-IN" sz="2000" dirty="0"/>
              <a:t> means a member (variable, method, block, or nested class) belongs to the </a:t>
            </a:r>
            <a:r>
              <a:rPr lang="en-IN" sz="2000" b="1" dirty="0"/>
              <a:t>class itself</a:t>
            </a:r>
            <a:r>
              <a:rPr lang="en-IN" sz="2000" dirty="0"/>
              <a:t>, not to any individual object. </a:t>
            </a:r>
          </a:p>
          <a:p>
            <a:r>
              <a:rPr lang="en-IN" sz="2000" dirty="0"/>
              <a:t>It's shared across all instances instead of being copied per object.</a:t>
            </a:r>
          </a:p>
        </p:txBody>
      </p:sp>
    </p:spTree>
    <p:extLst>
      <p:ext uri="{BB962C8B-B14F-4D97-AF65-F5344CB8AC3E}">
        <p14:creationId xmlns:p14="http://schemas.microsoft.com/office/powerpoint/2010/main" val="2205068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6FAD9-FC35-4C66-5DE9-5C0360F0AAC3}"/>
              </a:ext>
            </a:extLst>
          </p:cNvPr>
          <p:cNvSpPr>
            <a:spLocks noGrp="1"/>
          </p:cNvSpPr>
          <p:nvPr>
            <p:ph type="title"/>
          </p:nvPr>
        </p:nvSpPr>
        <p:spPr>
          <a:xfrm>
            <a:off x="128820" y="79265"/>
            <a:ext cx="8520600" cy="707400"/>
          </a:xfrm>
        </p:spPr>
        <p:txBody>
          <a:bodyPr>
            <a:normAutofit fontScale="90000"/>
          </a:bodyPr>
          <a:lstStyle/>
          <a:p>
            <a:r>
              <a:rPr lang="en-IN" dirty="0"/>
              <a:t>Static keyword</a:t>
            </a:r>
          </a:p>
        </p:txBody>
      </p:sp>
      <p:pic>
        <p:nvPicPr>
          <p:cNvPr id="7" name="Picture 6">
            <a:extLst>
              <a:ext uri="{FF2B5EF4-FFF2-40B4-BE49-F238E27FC236}">
                <a16:creationId xmlns:a16="http://schemas.microsoft.com/office/drawing/2014/main" id="{2872D728-88CF-90F5-286A-BA5AAE716545}"/>
              </a:ext>
            </a:extLst>
          </p:cNvPr>
          <p:cNvPicPr>
            <a:picLocks noChangeAspect="1"/>
          </p:cNvPicPr>
          <p:nvPr/>
        </p:nvPicPr>
        <p:blipFill>
          <a:blip r:embed="rId2"/>
          <a:stretch>
            <a:fillRect/>
          </a:stretch>
        </p:blipFill>
        <p:spPr>
          <a:xfrm>
            <a:off x="5277114" y="1193074"/>
            <a:ext cx="3797495" cy="2382012"/>
          </a:xfrm>
          <a:prstGeom prst="rect">
            <a:avLst/>
          </a:prstGeom>
        </p:spPr>
      </p:pic>
      <p:pic>
        <p:nvPicPr>
          <p:cNvPr id="9" name="Picture 8">
            <a:extLst>
              <a:ext uri="{FF2B5EF4-FFF2-40B4-BE49-F238E27FC236}">
                <a16:creationId xmlns:a16="http://schemas.microsoft.com/office/drawing/2014/main" id="{50F99421-3A17-83E2-6FE5-2DAB0A5D49CC}"/>
              </a:ext>
            </a:extLst>
          </p:cNvPr>
          <p:cNvPicPr>
            <a:picLocks noChangeAspect="1"/>
          </p:cNvPicPr>
          <p:nvPr/>
        </p:nvPicPr>
        <p:blipFill>
          <a:blip r:embed="rId3"/>
          <a:stretch>
            <a:fillRect/>
          </a:stretch>
        </p:blipFill>
        <p:spPr>
          <a:xfrm>
            <a:off x="364093" y="786665"/>
            <a:ext cx="4845299" cy="4124969"/>
          </a:xfrm>
          <a:prstGeom prst="rect">
            <a:avLst/>
          </a:prstGeom>
        </p:spPr>
      </p:pic>
    </p:spTree>
    <p:extLst>
      <p:ext uri="{BB962C8B-B14F-4D97-AF65-F5344CB8AC3E}">
        <p14:creationId xmlns:p14="http://schemas.microsoft.com/office/powerpoint/2010/main" val="14044872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AE256-D0FE-BB5B-DAE2-E2667CEB8643}"/>
              </a:ext>
            </a:extLst>
          </p:cNvPr>
          <p:cNvSpPr>
            <a:spLocks noGrp="1"/>
          </p:cNvSpPr>
          <p:nvPr>
            <p:ph type="title"/>
          </p:nvPr>
        </p:nvSpPr>
        <p:spPr/>
        <p:txBody>
          <a:bodyPr>
            <a:normAutofit fontScale="90000"/>
          </a:bodyPr>
          <a:lstStyle/>
          <a:p>
            <a:r>
              <a:rPr lang="en-IN" dirty="0"/>
              <a:t>Static Keywords - Points to remember</a:t>
            </a:r>
          </a:p>
        </p:txBody>
      </p:sp>
      <p:sp>
        <p:nvSpPr>
          <p:cNvPr id="3" name="Text Placeholder 2">
            <a:extLst>
              <a:ext uri="{FF2B5EF4-FFF2-40B4-BE49-F238E27FC236}">
                <a16:creationId xmlns:a16="http://schemas.microsoft.com/office/drawing/2014/main" id="{1CBCC042-CC8F-659E-1F2F-40537993E775}"/>
              </a:ext>
            </a:extLst>
          </p:cNvPr>
          <p:cNvSpPr>
            <a:spLocks noGrp="1"/>
          </p:cNvSpPr>
          <p:nvPr>
            <p:ph type="body" idx="1"/>
          </p:nvPr>
        </p:nvSpPr>
        <p:spPr/>
        <p:txBody>
          <a:bodyPr/>
          <a:lstStyle/>
          <a:p>
            <a:pPr lvl="0"/>
            <a:r>
              <a:rPr lang="en-IN" dirty="0"/>
              <a:t>Can </a:t>
            </a:r>
            <a:r>
              <a:rPr lang="en-IN" b="1" dirty="0"/>
              <a:t>only</a:t>
            </a:r>
            <a:r>
              <a:rPr lang="en-IN" dirty="0"/>
              <a:t> directly access other static members (variables/methods) of the class.</a:t>
            </a:r>
          </a:p>
          <a:p>
            <a:pPr lvl="0"/>
            <a:r>
              <a:rPr lang="en-IN" b="1" dirty="0"/>
              <a:t>Cannot</a:t>
            </a:r>
            <a:r>
              <a:rPr lang="en-IN" dirty="0"/>
              <a:t> use this or super — there's no current object.</a:t>
            </a:r>
          </a:p>
          <a:p>
            <a:pPr lvl="0"/>
            <a:r>
              <a:rPr lang="en-IN" dirty="0"/>
              <a:t>Cannot directly call non-static (instance) methods or fields.</a:t>
            </a:r>
          </a:p>
        </p:txBody>
      </p:sp>
    </p:spTree>
    <p:extLst>
      <p:ext uri="{BB962C8B-B14F-4D97-AF65-F5344CB8AC3E}">
        <p14:creationId xmlns:p14="http://schemas.microsoft.com/office/powerpoint/2010/main" val="5521121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AD1A6-E4F9-FC69-3707-EFC7B2DA71A4}"/>
              </a:ext>
            </a:extLst>
          </p:cNvPr>
          <p:cNvSpPr>
            <a:spLocks noGrp="1"/>
          </p:cNvSpPr>
          <p:nvPr>
            <p:ph type="title"/>
          </p:nvPr>
        </p:nvSpPr>
        <p:spPr/>
        <p:txBody>
          <a:bodyPr>
            <a:normAutofit fontScale="90000"/>
          </a:bodyPr>
          <a:lstStyle/>
          <a:p>
            <a:r>
              <a:rPr lang="en-IN" dirty="0"/>
              <a:t>final Keyword</a:t>
            </a:r>
          </a:p>
        </p:txBody>
      </p:sp>
      <p:sp>
        <p:nvSpPr>
          <p:cNvPr id="3" name="Text Placeholder 2">
            <a:extLst>
              <a:ext uri="{FF2B5EF4-FFF2-40B4-BE49-F238E27FC236}">
                <a16:creationId xmlns:a16="http://schemas.microsoft.com/office/drawing/2014/main" id="{E9B910A6-FDFE-479A-9100-60991FE0A834}"/>
              </a:ext>
            </a:extLst>
          </p:cNvPr>
          <p:cNvSpPr>
            <a:spLocks noGrp="1"/>
          </p:cNvSpPr>
          <p:nvPr>
            <p:ph type="body" idx="1"/>
          </p:nvPr>
        </p:nvSpPr>
        <p:spPr/>
        <p:txBody>
          <a:bodyPr/>
          <a:lstStyle/>
          <a:p>
            <a:r>
              <a:rPr lang="en-IN" dirty="0"/>
              <a:t>final means "cannot be changed once set." </a:t>
            </a:r>
          </a:p>
          <a:p>
            <a:r>
              <a:rPr lang="en-IN" dirty="0"/>
              <a:t>It can be applied to </a:t>
            </a:r>
            <a:r>
              <a:rPr lang="en-IN" b="1" dirty="0"/>
              <a:t>variables</a:t>
            </a:r>
            <a:r>
              <a:rPr lang="en-IN" dirty="0"/>
              <a:t>, </a:t>
            </a:r>
            <a:r>
              <a:rPr lang="en-IN" b="1" dirty="0"/>
              <a:t>methods</a:t>
            </a:r>
            <a:r>
              <a:rPr lang="en-IN" dirty="0"/>
              <a:t>, and </a:t>
            </a:r>
            <a:r>
              <a:rPr lang="en-IN" b="1" dirty="0"/>
              <a:t>classes</a:t>
            </a:r>
            <a:r>
              <a:rPr lang="en-IN" dirty="0"/>
              <a:t> — each with a different effect.</a:t>
            </a:r>
          </a:p>
          <a:p>
            <a:r>
              <a:rPr lang="en-IN" dirty="0"/>
              <a:t>Here, we will see only final variables.</a:t>
            </a:r>
          </a:p>
          <a:p>
            <a:r>
              <a:rPr lang="en-IN" dirty="0"/>
              <a:t>final methods &amp; classes we will see in chapter-3 (Inheritance)</a:t>
            </a:r>
          </a:p>
        </p:txBody>
      </p:sp>
    </p:spTree>
    <p:extLst>
      <p:ext uri="{BB962C8B-B14F-4D97-AF65-F5344CB8AC3E}">
        <p14:creationId xmlns:p14="http://schemas.microsoft.com/office/powerpoint/2010/main" val="42277922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A6DD-8BDA-D5FD-36BF-69B911941291}"/>
              </a:ext>
            </a:extLst>
          </p:cNvPr>
          <p:cNvSpPr>
            <a:spLocks noGrp="1"/>
          </p:cNvSpPr>
          <p:nvPr>
            <p:ph type="title"/>
          </p:nvPr>
        </p:nvSpPr>
        <p:spPr/>
        <p:txBody>
          <a:bodyPr>
            <a:normAutofit fontScale="90000"/>
          </a:bodyPr>
          <a:lstStyle/>
          <a:p>
            <a:r>
              <a:rPr lang="en-IN" dirty="0"/>
              <a:t>final variable</a:t>
            </a:r>
          </a:p>
        </p:txBody>
      </p:sp>
      <p:pic>
        <p:nvPicPr>
          <p:cNvPr id="5" name="Picture 4">
            <a:extLst>
              <a:ext uri="{FF2B5EF4-FFF2-40B4-BE49-F238E27FC236}">
                <a16:creationId xmlns:a16="http://schemas.microsoft.com/office/drawing/2014/main" id="{50E444B2-04FA-5C44-04B2-D5B361EC8CC0}"/>
              </a:ext>
            </a:extLst>
          </p:cNvPr>
          <p:cNvPicPr>
            <a:picLocks noChangeAspect="1"/>
          </p:cNvPicPr>
          <p:nvPr/>
        </p:nvPicPr>
        <p:blipFill>
          <a:blip r:embed="rId2"/>
          <a:stretch>
            <a:fillRect/>
          </a:stretch>
        </p:blipFill>
        <p:spPr>
          <a:xfrm>
            <a:off x="512880" y="1273108"/>
            <a:ext cx="4286470" cy="3425367"/>
          </a:xfrm>
          <a:prstGeom prst="rect">
            <a:avLst/>
          </a:prstGeom>
        </p:spPr>
      </p:pic>
      <p:pic>
        <p:nvPicPr>
          <p:cNvPr id="7" name="Picture 6">
            <a:extLst>
              <a:ext uri="{FF2B5EF4-FFF2-40B4-BE49-F238E27FC236}">
                <a16:creationId xmlns:a16="http://schemas.microsoft.com/office/drawing/2014/main" id="{6E18E76A-F8C5-3C19-F3A4-2FFA2271A5B8}"/>
              </a:ext>
            </a:extLst>
          </p:cNvPr>
          <p:cNvPicPr>
            <a:picLocks noChangeAspect="1"/>
          </p:cNvPicPr>
          <p:nvPr/>
        </p:nvPicPr>
        <p:blipFill>
          <a:blip r:embed="rId3"/>
          <a:stretch>
            <a:fillRect/>
          </a:stretch>
        </p:blipFill>
        <p:spPr>
          <a:xfrm>
            <a:off x="4733289" y="1152425"/>
            <a:ext cx="4099011" cy="1564649"/>
          </a:xfrm>
          <a:prstGeom prst="rect">
            <a:avLst/>
          </a:prstGeom>
        </p:spPr>
      </p:pic>
    </p:spTree>
    <p:extLst>
      <p:ext uri="{BB962C8B-B14F-4D97-AF65-F5344CB8AC3E}">
        <p14:creationId xmlns:p14="http://schemas.microsoft.com/office/powerpoint/2010/main" val="32486807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276AF-6C90-7559-3AFA-452218CC9CC2}"/>
              </a:ext>
            </a:extLst>
          </p:cNvPr>
          <p:cNvSpPr>
            <a:spLocks noGrp="1"/>
          </p:cNvSpPr>
          <p:nvPr>
            <p:ph type="title"/>
          </p:nvPr>
        </p:nvSpPr>
        <p:spPr/>
        <p:txBody>
          <a:bodyPr>
            <a:normAutofit fontScale="90000"/>
          </a:bodyPr>
          <a:lstStyle/>
          <a:p>
            <a:r>
              <a:rPr lang="en-IN" dirty="0"/>
              <a:t>Garbage collection</a:t>
            </a:r>
          </a:p>
        </p:txBody>
      </p:sp>
      <p:sp>
        <p:nvSpPr>
          <p:cNvPr id="3" name="Text Placeholder 2">
            <a:extLst>
              <a:ext uri="{FF2B5EF4-FFF2-40B4-BE49-F238E27FC236}">
                <a16:creationId xmlns:a16="http://schemas.microsoft.com/office/drawing/2014/main" id="{F7238B8C-5299-F001-5642-F3766DB8B6D3}"/>
              </a:ext>
            </a:extLst>
          </p:cNvPr>
          <p:cNvSpPr>
            <a:spLocks noGrp="1"/>
          </p:cNvSpPr>
          <p:nvPr>
            <p:ph type="body" idx="1"/>
          </p:nvPr>
        </p:nvSpPr>
        <p:spPr/>
        <p:txBody>
          <a:bodyPr/>
          <a:lstStyle/>
          <a:p>
            <a:r>
              <a:rPr lang="en-IN" dirty="0"/>
              <a:t>In java, objects are created dynamically using the new operator. </a:t>
            </a:r>
          </a:p>
          <a:p>
            <a:r>
              <a:rPr lang="en-IN" dirty="0"/>
              <a:t>After an object is no longer needed, the memory occupied by that object should be made available for reuse.</a:t>
            </a:r>
          </a:p>
          <a:p>
            <a:r>
              <a:rPr lang="en-IN" dirty="0"/>
              <a:t>In the languages like C/C++, the programmer has to manually remove dynamically created objects using the delete operators.</a:t>
            </a:r>
          </a:p>
          <a:p>
            <a:r>
              <a:rPr lang="en-IN" dirty="0"/>
              <a:t>Java does not require this, it automatically manages unused objects using the mechanism called Garbage collection.</a:t>
            </a:r>
          </a:p>
        </p:txBody>
      </p:sp>
    </p:spTree>
    <p:extLst>
      <p:ext uri="{BB962C8B-B14F-4D97-AF65-F5344CB8AC3E}">
        <p14:creationId xmlns:p14="http://schemas.microsoft.com/office/powerpoint/2010/main" val="27581288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22F55-4E96-7BA5-136E-66F1440BB12E}"/>
              </a:ext>
            </a:extLst>
          </p:cNvPr>
          <p:cNvSpPr>
            <a:spLocks noGrp="1"/>
          </p:cNvSpPr>
          <p:nvPr>
            <p:ph type="title"/>
          </p:nvPr>
        </p:nvSpPr>
        <p:spPr/>
        <p:txBody>
          <a:bodyPr>
            <a:normAutofit fontScale="90000"/>
          </a:bodyPr>
          <a:lstStyle/>
          <a:p>
            <a:r>
              <a:rPr lang="en-IN" dirty="0"/>
              <a:t>Garbage Collection working</a:t>
            </a:r>
          </a:p>
        </p:txBody>
      </p:sp>
      <p:sp>
        <p:nvSpPr>
          <p:cNvPr id="3" name="Text Placeholder 2">
            <a:extLst>
              <a:ext uri="{FF2B5EF4-FFF2-40B4-BE49-F238E27FC236}">
                <a16:creationId xmlns:a16="http://schemas.microsoft.com/office/drawing/2014/main" id="{9F92E223-A416-0538-D1D6-0886E89E0D30}"/>
              </a:ext>
            </a:extLst>
          </p:cNvPr>
          <p:cNvSpPr>
            <a:spLocks noGrp="1"/>
          </p:cNvSpPr>
          <p:nvPr>
            <p:ph type="body" idx="1"/>
          </p:nvPr>
        </p:nvSpPr>
        <p:spPr/>
        <p:txBody>
          <a:bodyPr/>
          <a:lstStyle/>
          <a:p>
            <a:pPr>
              <a:buFont typeface="+mj-lt"/>
              <a:buAutoNum type="arabicPeriod"/>
            </a:pPr>
            <a:r>
              <a:rPr lang="en-IN" dirty="0"/>
              <a:t>When an object is created, it occupies some memory</a:t>
            </a:r>
          </a:p>
          <a:p>
            <a:pPr>
              <a:buFont typeface="+mj-lt"/>
              <a:buAutoNum type="arabicPeriod"/>
            </a:pPr>
            <a:r>
              <a:rPr lang="en-IN" dirty="0"/>
              <a:t>If no reference points to that object anymore, the object becomes eligible for garbage collection</a:t>
            </a:r>
          </a:p>
          <a:p>
            <a:pPr>
              <a:buFont typeface="+mj-lt"/>
              <a:buAutoNum type="arabicPeriod"/>
            </a:pPr>
            <a:r>
              <a:rPr lang="en-IN" dirty="0"/>
              <a:t>The GC identifies such unused objects &amp; can reclaim the memory occupied by them</a:t>
            </a:r>
          </a:p>
          <a:p>
            <a:pPr>
              <a:buFont typeface="+mj-lt"/>
              <a:buAutoNum type="arabicPeriod"/>
            </a:pPr>
            <a:r>
              <a:rPr lang="en-IN" dirty="0"/>
              <a:t>The programmer doesn’t explicitly destroy objects</a:t>
            </a:r>
          </a:p>
          <a:p>
            <a:pPr>
              <a:buFont typeface="+mj-lt"/>
              <a:buAutoNum type="arabicPeriod"/>
            </a:pPr>
            <a:r>
              <a:rPr lang="en-IN" dirty="0"/>
              <a:t>GC happens automatically &amp; at the JVM’s Discretion. It is not guaranteed to happen immediately after an object becomes unused</a:t>
            </a:r>
          </a:p>
        </p:txBody>
      </p:sp>
    </p:spTree>
    <p:extLst>
      <p:ext uri="{BB962C8B-B14F-4D97-AF65-F5344CB8AC3E}">
        <p14:creationId xmlns:p14="http://schemas.microsoft.com/office/powerpoint/2010/main" val="24030827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DBFC-D9BD-11A7-AD1B-C02D3DE02A2E}"/>
              </a:ext>
            </a:extLst>
          </p:cNvPr>
          <p:cNvSpPr>
            <a:spLocks noGrp="1"/>
          </p:cNvSpPr>
          <p:nvPr>
            <p:ph type="title"/>
          </p:nvPr>
        </p:nvSpPr>
        <p:spPr/>
        <p:txBody>
          <a:bodyPr>
            <a:normAutofit fontScale="90000"/>
          </a:bodyPr>
          <a:lstStyle/>
          <a:p>
            <a:r>
              <a:rPr lang="en-IN" dirty="0"/>
              <a:t>Making object eligible for GC</a:t>
            </a:r>
          </a:p>
        </p:txBody>
      </p:sp>
      <p:sp>
        <p:nvSpPr>
          <p:cNvPr id="3" name="Text Placeholder 2">
            <a:extLst>
              <a:ext uri="{FF2B5EF4-FFF2-40B4-BE49-F238E27FC236}">
                <a16:creationId xmlns:a16="http://schemas.microsoft.com/office/drawing/2014/main" id="{EC3A3EAC-F5D4-4387-4762-FB32BDA57214}"/>
              </a:ext>
            </a:extLst>
          </p:cNvPr>
          <p:cNvSpPr>
            <a:spLocks noGrp="1"/>
          </p:cNvSpPr>
          <p:nvPr>
            <p:ph type="body" idx="1"/>
          </p:nvPr>
        </p:nvSpPr>
        <p:spPr/>
        <p:txBody>
          <a:bodyPr/>
          <a:lstStyle/>
          <a:p>
            <a:r>
              <a:rPr lang="en-IN" dirty="0"/>
              <a:t>Using null keyword</a:t>
            </a:r>
          </a:p>
          <a:p>
            <a:r>
              <a:rPr lang="en-IN" dirty="0"/>
              <a:t>Reassigning the reference variable</a:t>
            </a:r>
          </a:p>
          <a:p>
            <a:r>
              <a:rPr lang="en-IN" dirty="0"/>
              <a:t>Object created inside a method</a:t>
            </a:r>
          </a:p>
          <a:p>
            <a:r>
              <a:rPr lang="en-IN" dirty="0"/>
              <a:t>Island of Isolation</a:t>
            </a:r>
          </a:p>
        </p:txBody>
      </p:sp>
    </p:spTree>
    <p:extLst>
      <p:ext uri="{BB962C8B-B14F-4D97-AF65-F5344CB8AC3E}">
        <p14:creationId xmlns:p14="http://schemas.microsoft.com/office/powerpoint/2010/main" val="13135439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B7E4-65BA-2DB5-5C56-8323687AD491}"/>
              </a:ext>
            </a:extLst>
          </p:cNvPr>
          <p:cNvSpPr>
            <a:spLocks noGrp="1"/>
          </p:cNvSpPr>
          <p:nvPr>
            <p:ph type="title"/>
          </p:nvPr>
        </p:nvSpPr>
        <p:spPr>
          <a:xfrm>
            <a:off x="85277" y="87974"/>
            <a:ext cx="8520600" cy="707400"/>
          </a:xfrm>
        </p:spPr>
        <p:txBody>
          <a:bodyPr>
            <a:normAutofit fontScale="90000"/>
          </a:bodyPr>
          <a:lstStyle/>
          <a:p>
            <a:r>
              <a:rPr lang="en-IN" dirty="0"/>
              <a:t>Using null keyword</a:t>
            </a:r>
          </a:p>
        </p:txBody>
      </p:sp>
      <p:pic>
        <p:nvPicPr>
          <p:cNvPr id="5" name="Picture 4">
            <a:extLst>
              <a:ext uri="{FF2B5EF4-FFF2-40B4-BE49-F238E27FC236}">
                <a16:creationId xmlns:a16="http://schemas.microsoft.com/office/drawing/2014/main" id="{8C215D74-0CDA-78C2-FB05-2C22531C7DC4}"/>
              </a:ext>
            </a:extLst>
          </p:cNvPr>
          <p:cNvPicPr>
            <a:picLocks noChangeAspect="1"/>
          </p:cNvPicPr>
          <p:nvPr/>
        </p:nvPicPr>
        <p:blipFill>
          <a:blip r:embed="rId2"/>
          <a:stretch>
            <a:fillRect/>
          </a:stretch>
        </p:blipFill>
        <p:spPr>
          <a:xfrm>
            <a:off x="1111072" y="634900"/>
            <a:ext cx="6921856" cy="3873699"/>
          </a:xfrm>
          <a:prstGeom prst="rect">
            <a:avLst/>
          </a:prstGeom>
        </p:spPr>
      </p:pic>
    </p:spTree>
    <p:extLst>
      <p:ext uri="{BB962C8B-B14F-4D97-AF65-F5344CB8AC3E}">
        <p14:creationId xmlns:p14="http://schemas.microsoft.com/office/powerpoint/2010/main" val="15921380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9F1B-1B35-C6E7-1678-0CA75F086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26F4A-721E-B14A-F681-6D7E95FB9A98}"/>
              </a:ext>
            </a:extLst>
          </p:cNvPr>
          <p:cNvSpPr>
            <a:spLocks noGrp="1"/>
          </p:cNvSpPr>
          <p:nvPr>
            <p:ph type="title"/>
          </p:nvPr>
        </p:nvSpPr>
        <p:spPr>
          <a:xfrm>
            <a:off x="85277" y="87974"/>
            <a:ext cx="8520600" cy="707400"/>
          </a:xfrm>
        </p:spPr>
        <p:txBody>
          <a:bodyPr>
            <a:normAutofit fontScale="90000"/>
          </a:bodyPr>
          <a:lstStyle/>
          <a:p>
            <a:r>
              <a:rPr lang="en-IN" dirty="0"/>
              <a:t>Reassigning the reference </a:t>
            </a:r>
            <a:r>
              <a:rPr lang="en-IN" dirty="0" err="1"/>
              <a:t>varaible</a:t>
            </a:r>
            <a:endParaRPr lang="en-IN" dirty="0"/>
          </a:p>
        </p:txBody>
      </p:sp>
      <p:pic>
        <p:nvPicPr>
          <p:cNvPr id="4" name="Picture 3">
            <a:extLst>
              <a:ext uri="{FF2B5EF4-FFF2-40B4-BE49-F238E27FC236}">
                <a16:creationId xmlns:a16="http://schemas.microsoft.com/office/drawing/2014/main" id="{5B4F0244-749E-04F3-A2AB-F6324A4F95EE}"/>
              </a:ext>
            </a:extLst>
          </p:cNvPr>
          <p:cNvPicPr>
            <a:picLocks noChangeAspect="1"/>
          </p:cNvPicPr>
          <p:nvPr/>
        </p:nvPicPr>
        <p:blipFill>
          <a:blip r:embed="rId2"/>
          <a:stretch>
            <a:fillRect/>
          </a:stretch>
        </p:blipFill>
        <p:spPr>
          <a:xfrm>
            <a:off x="1101578" y="795374"/>
            <a:ext cx="5721644" cy="4172164"/>
          </a:xfrm>
          <a:prstGeom prst="rect">
            <a:avLst/>
          </a:prstGeom>
        </p:spPr>
      </p:pic>
    </p:spTree>
    <p:extLst>
      <p:ext uri="{BB962C8B-B14F-4D97-AF65-F5344CB8AC3E}">
        <p14:creationId xmlns:p14="http://schemas.microsoft.com/office/powerpoint/2010/main" val="21579283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9B617-2F41-8A52-FF52-98DA3AD89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0FBD7-2C81-A766-0B2E-775B80B3EEF6}"/>
              </a:ext>
            </a:extLst>
          </p:cNvPr>
          <p:cNvSpPr>
            <a:spLocks noGrp="1"/>
          </p:cNvSpPr>
          <p:nvPr>
            <p:ph type="title"/>
          </p:nvPr>
        </p:nvSpPr>
        <p:spPr>
          <a:xfrm>
            <a:off x="85277" y="87974"/>
            <a:ext cx="8520600" cy="707400"/>
          </a:xfrm>
        </p:spPr>
        <p:txBody>
          <a:bodyPr>
            <a:normAutofit fontScale="90000"/>
          </a:bodyPr>
          <a:lstStyle/>
          <a:p>
            <a:r>
              <a:rPr lang="en-IN" dirty="0"/>
              <a:t>Object created inside Method</a:t>
            </a:r>
          </a:p>
        </p:txBody>
      </p:sp>
      <p:pic>
        <p:nvPicPr>
          <p:cNvPr id="4" name="Picture 3">
            <a:extLst>
              <a:ext uri="{FF2B5EF4-FFF2-40B4-BE49-F238E27FC236}">
                <a16:creationId xmlns:a16="http://schemas.microsoft.com/office/drawing/2014/main" id="{25323EE2-51D4-A5F8-AB94-2D9B304A6FB0}"/>
              </a:ext>
            </a:extLst>
          </p:cNvPr>
          <p:cNvPicPr>
            <a:picLocks noChangeAspect="1"/>
          </p:cNvPicPr>
          <p:nvPr/>
        </p:nvPicPr>
        <p:blipFill>
          <a:blip r:embed="rId2"/>
          <a:stretch>
            <a:fillRect/>
          </a:stretch>
        </p:blipFill>
        <p:spPr>
          <a:xfrm>
            <a:off x="1163616" y="610298"/>
            <a:ext cx="6102664" cy="4445228"/>
          </a:xfrm>
          <a:prstGeom prst="rect">
            <a:avLst/>
          </a:prstGeom>
        </p:spPr>
      </p:pic>
    </p:spTree>
    <p:extLst>
      <p:ext uri="{BB962C8B-B14F-4D97-AF65-F5344CB8AC3E}">
        <p14:creationId xmlns:p14="http://schemas.microsoft.com/office/powerpoint/2010/main" val="40087530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BEB09-5860-1381-D923-1A422DC97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FA028-9776-0910-8DB1-6E3B7E27EFC9}"/>
              </a:ext>
            </a:extLst>
          </p:cNvPr>
          <p:cNvSpPr>
            <a:spLocks noGrp="1"/>
          </p:cNvSpPr>
          <p:nvPr>
            <p:ph type="title"/>
          </p:nvPr>
        </p:nvSpPr>
        <p:spPr>
          <a:xfrm>
            <a:off x="85277" y="87974"/>
            <a:ext cx="8520600" cy="707400"/>
          </a:xfrm>
        </p:spPr>
        <p:txBody>
          <a:bodyPr>
            <a:normAutofit fontScale="90000"/>
          </a:bodyPr>
          <a:lstStyle/>
          <a:p>
            <a:r>
              <a:rPr lang="en-IN" dirty="0"/>
              <a:t>Isolation of Island</a:t>
            </a:r>
          </a:p>
        </p:txBody>
      </p:sp>
      <p:pic>
        <p:nvPicPr>
          <p:cNvPr id="4" name="Picture 3">
            <a:extLst>
              <a:ext uri="{FF2B5EF4-FFF2-40B4-BE49-F238E27FC236}">
                <a16:creationId xmlns:a16="http://schemas.microsoft.com/office/drawing/2014/main" id="{A02BD730-8EA3-9C59-5C79-D9FB77C99C72}"/>
              </a:ext>
            </a:extLst>
          </p:cNvPr>
          <p:cNvPicPr>
            <a:picLocks noChangeAspect="1"/>
          </p:cNvPicPr>
          <p:nvPr/>
        </p:nvPicPr>
        <p:blipFill>
          <a:blip r:embed="rId2"/>
          <a:stretch>
            <a:fillRect/>
          </a:stretch>
        </p:blipFill>
        <p:spPr>
          <a:xfrm>
            <a:off x="360861" y="635180"/>
            <a:ext cx="4594860" cy="4259427"/>
          </a:xfrm>
          <a:prstGeom prst="rect">
            <a:avLst/>
          </a:prstGeom>
        </p:spPr>
      </p:pic>
    </p:spTree>
    <p:extLst>
      <p:ext uri="{BB962C8B-B14F-4D97-AF65-F5344CB8AC3E}">
        <p14:creationId xmlns:p14="http://schemas.microsoft.com/office/powerpoint/2010/main" val="1165718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FC707-6B43-E762-3C75-23A1D3DECF21}"/>
              </a:ext>
            </a:extLst>
          </p:cNvPr>
          <p:cNvSpPr>
            <a:spLocks noGrp="1"/>
          </p:cNvSpPr>
          <p:nvPr>
            <p:ph type="title"/>
          </p:nvPr>
        </p:nvSpPr>
        <p:spPr/>
        <p:txBody>
          <a:bodyPr>
            <a:normAutofit fontScale="90000"/>
          </a:bodyPr>
          <a:lstStyle/>
          <a:p>
            <a:r>
              <a:rPr lang="en-IN" dirty="0"/>
              <a:t>Methods for requesting GC to run</a:t>
            </a:r>
          </a:p>
        </p:txBody>
      </p:sp>
      <p:sp>
        <p:nvSpPr>
          <p:cNvPr id="3" name="Text Placeholder 2">
            <a:extLst>
              <a:ext uri="{FF2B5EF4-FFF2-40B4-BE49-F238E27FC236}">
                <a16:creationId xmlns:a16="http://schemas.microsoft.com/office/drawing/2014/main" id="{D15672C6-1438-701C-632C-92C43542CB1E}"/>
              </a:ext>
            </a:extLst>
          </p:cNvPr>
          <p:cNvSpPr>
            <a:spLocks noGrp="1"/>
          </p:cNvSpPr>
          <p:nvPr>
            <p:ph type="body" idx="1"/>
          </p:nvPr>
        </p:nvSpPr>
        <p:spPr/>
        <p:txBody>
          <a:bodyPr>
            <a:normAutofit/>
          </a:bodyPr>
          <a:lstStyle/>
          <a:p>
            <a:r>
              <a:rPr lang="en-IN" sz="2000" dirty="0"/>
              <a:t>By using System class method</a:t>
            </a:r>
          </a:p>
          <a:p>
            <a:pPr lvl="1"/>
            <a:r>
              <a:rPr lang="en-IN" sz="1600" dirty="0" err="1"/>
              <a:t>System.gc</a:t>
            </a:r>
            <a:r>
              <a:rPr lang="en-IN" sz="1600" dirty="0"/>
              <a:t>()</a:t>
            </a:r>
          </a:p>
          <a:p>
            <a:r>
              <a:rPr lang="en-IN" sz="2000" dirty="0"/>
              <a:t>By using runtime class</a:t>
            </a:r>
          </a:p>
          <a:p>
            <a:pPr lvl="1"/>
            <a:r>
              <a:rPr lang="en-IN" sz="1600" dirty="0" err="1"/>
              <a:t>Objectname.gc</a:t>
            </a:r>
            <a:r>
              <a:rPr lang="en-IN" sz="1600" dirty="0"/>
              <a:t>()</a:t>
            </a:r>
          </a:p>
          <a:p>
            <a:pPr lvl="1"/>
            <a:endParaRPr lang="en-IN" sz="1600" dirty="0"/>
          </a:p>
          <a:p>
            <a:pPr marL="596900" lvl="1" indent="0">
              <a:buNone/>
            </a:pPr>
            <a:r>
              <a:rPr lang="en-IN" sz="1600" dirty="0"/>
              <a:t> When we request GC to run finalize() method is called internally. </a:t>
            </a:r>
          </a:p>
        </p:txBody>
      </p:sp>
    </p:spTree>
    <p:extLst>
      <p:ext uri="{BB962C8B-B14F-4D97-AF65-F5344CB8AC3E}">
        <p14:creationId xmlns:p14="http://schemas.microsoft.com/office/powerpoint/2010/main" val="28199243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16018-6E5B-CD7C-7BF9-42CD8606577B}"/>
              </a:ext>
            </a:extLst>
          </p:cNvPr>
          <p:cNvSpPr>
            <a:spLocks noGrp="1"/>
          </p:cNvSpPr>
          <p:nvPr>
            <p:ph type="title"/>
          </p:nvPr>
        </p:nvSpPr>
        <p:spPr>
          <a:xfrm>
            <a:off x="66771" y="102125"/>
            <a:ext cx="8520600" cy="707400"/>
          </a:xfrm>
        </p:spPr>
        <p:txBody>
          <a:bodyPr>
            <a:normAutofit fontScale="90000"/>
          </a:bodyPr>
          <a:lstStyle/>
          <a:p>
            <a:r>
              <a:rPr lang="en-IN" dirty="0"/>
              <a:t>Using System class</a:t>
            </a:r>
          </a:p>
        </p:txBody>
      </p:sp>
      <p:pic>
        <p:nvPicPr>
          <p:cNvPr id="5" name="Picture 4">
            <a:extLst>
              <a:ext uri="{FF2B5EF4-FFF2-40B4-BE49-F238E27FC236}">
                <a16:creationId xmlns:a16="http://schemas.microsoft.com/office/drawing/2014/main" id="{F6961F0B-D9FD-5CD9-1A85-9927DE0A46D8}"/>
              </a:ext>
            </a:extLst>
          </p:cNvPr>
          <p:cNvPicPr>
            <a:picLocks noChangeAspect="1"/>
          </p:cNvPicPr>
          <p:nvPr/>
        </p:nvPicPr>
        <p:blipFill>
          <a:blip r:embed="rId2"/>
          <a:stretch>
            <a:fillRect/>
          </a:stretch>
        </p:blipFill>
        <p:spPr>
          <a:xfrm>
            <a:off x="1342859" y="809524"/>
            <a:ext cx="6458282" cy="4000715"/>
          </a:xfrm>
          <a:prstGeom prst="rect">
            <a:avLst/>
          </a:prstGeom>
        </p:spPr>
      </p:pic>
    </p:spTree>
    <p:extLst>
      <p:ext uri="{BB962C8B-B14F-4D97-AF65-F5344CB8AC3E}">
        <p14:creationId xmlns:p14="http://schemas.microsoft.com/office/powerpoint/2010/main" val="3310944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C07CA-10D3-7652-EFBB-474E37CCAFDD}"/>
              </a:ext>
            </a:extLst>
          </p:cNvPr>
          <p:cNvSpPr>
            <a:spLocks noGrp="1"/>
          </p:cNvSpPr>
          <p:nvPr>
            <p:ph type="title"/>
          </p:nvPr>
        </p:nvSpPr>
        <p:spPr>
          <a:xfrm>
            <a:off x="0" y="61303"/>
            <a:ext cx="8520600" cy="707400"/>
          </a:xfrm>
        </p:spPr>
        <p:txBody>
          <a:bodyPr>
            <a:normAutofit fontScale="90000"/>
          </a:bodyPr>
          <a:lstStyle/>
          <a:p>
            <a:r>
              <a:rPr lang="en-IN" dirty="0"/>
              <a:t>Using runtime class</a:t>
            </a:r>
          </a:p>
        </p:txBody>
      </p:sp>
      <p:pic>
        <p:nvPicPr>
          <p:cNvPr id="5" name="Picture 4">
            <a:extLst>
              <a:ext uri="{FF2B5EF4-FFF2-40B4-BE49-F238E27FC236}">
                <a16:creationId xmlns:a16="http://schemas.microsoft.com/office/drawing/2014/main" id="{4A6D23B9-7475-6575-C236-1F1B65445EAA}"/>
              </a:ext>
            </a:extLst>
          </p:cNvPr>
          <p:cNvPicPr>
            <a:picLocks noChangeAspect="1"/>
          </p:cNvPicPr>
          <p:nvPr/>
        </p:nvPicPr>
        <p:blipFill>
          <a:blip r:embed="rId2"/>
          <a:stretch>
            <a:fillRect/>
          </a:stretch>
        </p:blipFill>
        <p:spPr>
          <a:xfrm>
            <a:off x="1806433" y="768703"/>
            <a:ext cx="5531134" cy="4092339"/>
          </a:xfrm>
          <a:prstGeom prst="rect">
            <a:avLst/>
          </a:prstGeom>
        </p:spPr>
      </p:pic>
    </p:spTree>
    <p:extLst>
      <p:ext uri="{BB962C8B-B14F-4D97-AF65-F5344CB8AC3E}">
        <p14:creationId xmlns:p14="http://schemas.microsoft.com/office/powerpoint/2010/main" val="9024766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B398E-1EDF-C076-8ADC-16822C987C14}"/>
              </a:ext>
            </a:extLst>
          </p:cNvPr>
          <p:cNvSpPr>
            <a:spLocks noGrp="1"/>
          </p:cNvSpPr>
          <p:nvPr>
            <p:ph type="title"/>
          </p:nvPr>
        </p:nvSpPr>
        <p:spPr/>
        <p:txBody>
          <a:bodyPr>
            <a:normAutofit fontScale="90000"/>
          </a:bodyPr>
          <a:lstStyle/>
          <a:p>
            <a:r>
              <a:rPr lang="en-US" dirty="0"/>
              <a:t>Nested Classes</a:t>
            </a:r>
            <a:endParaRPr lang="en-IN" dirty="0"/>
          </a:p>
        </p:txBody>
      </p:sp>
      <p:sp>
        <p:nvSpPr>
          <p:cNvPr id="3" name="Text Placeholder 2">
            <a:extLst>
              <a:ext uri="{FF2B5EF4-FFF2-40B4-BE49-F238E27FC236}">
                <a16:creationId xmlns:a16="http://schemas.microsoft.com/office/drawing/2014/main" id="{8D31D92D-2382-32D0-C902-DC7111C068F9}"/>
              </a:ext>
            </a:extLst>
          </p:cNvPr>
          <p:cNvSpPr>
            <a:spLocks noGrp="1"/>
          </p:cNvSpPr>
          <p:nvPr>
            <p:ph type="body" idx="1"/>
          </p:nvPr>
        </p:nvSpPr>
        <p:spPr/>
        <p:txBody>
          <a:bodyPr/>
          <a:lstStyle/>
          <a:p>
            <a:r>
              <a:rPr lang="en-US" dirty="0"/>
              <a:t>A class that is declared inside another class is called inner class.</a:t>
            </a:r>
          </a:p>
          <a:p>
            <a:r>
              <a:rPr lang="en-US" dirty="0"/>
              <a:t>A nested class is associated with its enclosing class(outer class). It is not treated as a completely independent class in terms of its enclosing scope.</a:t>
            </a:r>
          </a:p>
          <a:p>
            <a:r>
              <a:rPr lang="en-US" dirty="0"/>
              <a:t>A nested class can access the members of its outer class, including private members.</a:t>
            </a:r>
          </a:p>
          <a:p>
            <a:r>
              <a:rPr lang="en-IN" dirty="0"/>
              <a:t>But outer class does not automatically get direct access to the inner class’s instance members. It would need the object of inner to access its instance variable.</a:t>
            </a:r>
          </a:p>
        </p:txBody>
      </p:sp>
    </p:spTree>
    <p:extLst>
      <p:ext uri="{BB962C8B-B14F-4D97-AF65-F5344CB8AC3E}">
        <p14:creationId xmlns:p14="http://schemas.microsoft.com/office/powerpoint/2010/main" val="8603430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1E4A4-675F-92FF-8D31-2F55CD25C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66DB0-8794-09B3-B3AE-7512BA313F9D}"/>
              </a:ext>
            </a:extLst>
          </p:cNvPr>
          <p:cNvSpPr>
            <a:spLocks noGrp="1"/>
          </p:cNvSpPr>
          <p:nvPr>
            <p:ph type="title"/>
          </p:nvPr>
        </p:nvSpPr>
        <p:spPr/>
        <p:txBody>
          <a:bodyPr>
            <a:normAutofit fontScale="90000"/>
          </a:bodyPr>
          <a:lstStyle/>
          <a:p>
            <a:r>
              <a:rPr lang="en-US" dirty="0"/>
              <a:t>Nested Classes</a:t>
            </a:r>
            <a:endParaRPr lang="en-IN" dirty="0"/>
          </a:p>
        </p:txBody>
      </p:sp>
      <p:sp>
        <p:nvSpPr>
          <p:cNvPr id="3" name="Text Placeholder 2">
            <a:extLst>
              <a:ext uri="{FF2B5EF4-FFF2-40B4-BE49-F238E27FC236}">
                <a16:creationId xmlns:a16="http://schemas.microsoft.com/office/drawing/2014/main" id="{F7F8AB45-C3EB-03DC-8BA7-5B8D9459D025}"/>
              </a:ext>
            </a:extLst>
          </p:cNvPr>
          <p:cNvSpPr>
            <a:spLocks noGrp="1"/>
          </p:cNvSpPr>
          <p:nvPr>
            <p:ph type="body" idx="1"/>
          </p:nvPr>
        </p:nvSpPr>
        <p:spPr/>
        <p:txBody>
          <a:bodyPr/>
          <a:lstStyle/>
          <a:p>
            <a:pPr marL="114300" indent="0">
              <a:buNone/>
            </a:pPr>
            <a:r>
              <a:rPr lang="en-US" b="1" dirty="0"/>
              <a:t>Syntax:</a:t>
            </a:r>
          </a:p>
          <a:p>
            <a:pPr marL="114300" indent="0">
              <a:buNone/>
            </a:pPr>
            <a:r>
              <a:rPr lang="en-US" dirty="0"/>
              <a:t>public class Outer{</a:t>
            </a:r>
          </a:p>
          <a:p>
            <a:pPr marL="114300" indent="0">
              <a:buNone/>
            </a:pPr>
            <a:r>
              <a:rPr lang="en-US" dirty="0"/>
              <a:t>	public class Inner{</a:t>
            </a:r>
          </a:p>
          <a:p>
            <a:pPr marL="114300" indent="0">
              <a:buNone/>
            </a:pPr>
            <a:r>
              <a:rPr lang="en-US" dirty="0"/>
              <a:t>		//Statements</a:t>
            </a:r>
          </a:p>
          <a:p>
            <a:pPr marL="114300" indent="0">
              <a:buNone/>
            </a:pPr>
            <a:r>
              <a:rPr lang="en-US" dirty="0"/>
              <a:t>	}</a:t>
            </a:r>
          </a:p>
          <a:p>
            <a:pPr marL="114300" indent="0">
              <a:buNone/>
            </a:pPr>
            <a:r>
              <a:rPr lang="en-US" dirty="0"/>
              <a:t>	//Statements</a:t>
            </a:r>
          </a:p>
          <a:p>
            <a:pPr marL="114300" indent="0">
              <a:buNone/>
            </a:pPr>
            <a:r>
              <a:rPr lang="en-US" dirty="0"/>
              <a:t>}</a:t>
            </a:r>
            <a:endParaRPr lang="en-IN" dirty="0"/>
          </a:p>
        </p:txBody>
      </p:sp>
    </p:spTree>
    <p:extLst>
      <p:ext uri="{BB962C8B-B14F-4D97-AF65-F5344CB8AC3E}">
        <p14:creationId xmlns:p14="http://schemas.microsoft.com/office/powerpoint/2010/main" val="30554173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E5C7-9A77-71DE-C2B0-C9E837B9F95A}"/>
              </a:ext>
            </a:extLst>
          </p:cNvPr>
          <p:cNvSpPr>
            <a:spLocks noGrp="1"/>
          </p:cNvSpPr>
          <p:nvPr>
            <p:ph type="title"/>
          </p:nvPr>
        </p:nvSpPr>
        <p:spPr/>
        <p:txBody>
          <a:bodyPr>
            <a:normAutofit fontScale="90000"/>
          </a:bodyPr>
          <a:lstStyle/>
          <a:p>
            <a:r>
              <a:rPr lang="en-US" dirty="0"/>
              <a:t>Types of inner class</a:t>
            </a:r>
            <a:endParaRPr lang="en-IN" dirty="0"/>
          </a:p>
        </p:txBody>
      </p:sp>
      <p:sp>
        <p:nvSpPr>
          <p:cNvPr id="3" name="Text Placeholder 2">
            <a:extLst>
              <a:ext uri="{FF2B5EF4-FFF2-40B4-BE49-F238E27FC236}">
                <a16:creationId xmlns:a16="http://schemas.microsoft.com/office/drawing/2014/main" id="{443623EC-2AE2-AD74-A365-E480B3A6F321}"/>
              </a:ext>
            </a:extLst>
          </p:cNvPr>
          <p:cNvSpPr>
            <a:spLocks noGrp="1"/>
          </p:cNvSpPr>
          <p:nvPr>
            <p:ph type="body" idx="1"/>
          </p:nvPr>
        </p:nvSpPr>
        <p:spPr/>
        <p:txBody>
          <a:bodyPr/>
          <a:lstStyle/>
          <a:p>
            <a:pPr>
              <a:buFont typeface="+mj-lt"/>
              <a:buAutoNum type="arabicPeriod"/>
            </a:pPr>
            <a:r>
              <a:rPr lang="en-US" dirty="0"/>
              <a:t>Member Inner Class</a:t>
            </a:r>
          </a:p>
          <a:p>
            <a:pPr>
              <a:buFont typeface="+mj-lt"/>
              <a:buAutoNum type="arabicPeriod"/>
            </a:pPr>
            <a:r>
              <a:rPr lang="en-US" dirty="0"/>
              <a:t>Static Nested Class</a:t>
            </a:r>
          </a:p>
          <a:p>
            <a:pPr>
              <a:buFont typeface="+mj-lt"/>
              <a:buAutoNum type="arabicPeriod"/>
            </a:pPr>
            <a:r>
              <a:rPr lang="en-US" dirty="0"/>
              <a:t>Method local Inner Class</a:t>
            </a:r>
          </a:p>
          <a:p>
            <a:pPr>
              <a:buFont typeface="+mj-lt"/>
              <a:buAutoNum type="arabicPeriod"/>
            </a:pPr>
            <a:r>
              <a:rPr lang="en-US" dirty="0"/>
              <a:t>Anonymous Inner Class</a:t>
            </a:r>
          </a:p>
        </p:txBody>
      </p:sp>
    </p:spTree>
    <p:extLst>
      <p:ext uri="{BB962C8B-B14F-4D97-AF65-F5344CB8AC3E}">
        <p14:creationId xmlns:p14="http://schemas.microsoft.com/office/powerpoint/2010/main" val="4564069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C589-406C-DE73-A003-8F782F8F4998}"/>
              </a:ext>
            </a:extLst>
          </p:cNvPr>
          <p:cNvSpPr>
            <a:spLocks noGrp="1"/>
          </p:cNvSpPr>
          <p:nvPr>
            <p:ph type="title"/>
          </p:nvPr>
        </p:nvSpPr>
        <p:spPr>
          <a:xfrm>
            <a:off x="107593" y="110289"/>
            <a:ext cx="8520600" cy="707400"/>
          </a:xfrm>
        </p:spPr>
        <p:txBody>
          <a:bodyPr>
            <a:normAutofit fontScale="90000"/>
          </a:bodyPr>
          <a:lstStyle/>
          <a:p>
            <a:r>
              <a:rPr lang="en-US" dirty="0"/>
              <a:t>Member Inner class</a:t>
            </a:r>
            <a:endParaRPr lang="en-IN" dirty="0"/>
          </a:p>
        </p:txBody>
      </p:sp>
      <p:sp>
        <p:nvSpPr>
          <p:cNvPr id="3" name="Text Placeholder 2">
            <a:extLst>
              <a:ext uri="{FF2B5EF4-FFF2-40B4-BE49-F238E27FC236}">
                <a16:creationId xmlns:a16="http://schemas.microsoft.com/office/drawing/2014/main" id="{844CF52A-F554-2D53-B6F5-F90271ADA4C2}"/>
              </a:ext>
            </a:extLst>
          </p:cNvPr>
          <p:cNvSpPr>
            <a:spLocks noGrp="1"/>
          </p:cNvSpPr>
          <p:nvPr>
            <p:ph type="body" idx="1"/>
          </p:nvPr>
        </p:nvSpPr>
        <p:spPr>
          <a:xfrm>
            <a:off x="107593" y="817689"/>
            <a:ext cx="8520600" cy="3302700"/>
          </a:xfrm>
        </p:spPr>
        <p:txBody>
          <a:bodyPr/>
          <a:lstStyle/>
          <a:p>
            <a:r>
              <a:rPr lang="en-US" dirty="0"/>
              <a:t>It is a normal inner class that is declared directly inside an outer class.</a:t>
            </a:r>
          </a:p>
          <a:p>
            <a:r>
              <a:rPr lang="en-US" dirty="0"/>
              <a:t>Class files generated for inner class </a:t>
            </a:r>
          </a:p>
          <a:p>
            <a:pPr lvl="1"/>
            <a:r>
              <a:rPr lang="en-US" dirty="0" err="1"/>
              <a:t>Outer.class</a:t>
            </a:r>
            <a:endParaRPr lang="en-US" dirty="0"/>
          </a:p>
          <a:p>
            <a:pPr lvl="1"/>
            <a:r>
              <a:rPr lang="en-US" dirty="0" err="1"/>
              <a:t>Outer$Inner.class</a:t>
            </a:r>
            <a:endParaRPr lang="en-IN" dirty="0"/>
          </a:p>
        </p:txBody>
      </p:sp>
    </p:spTree>
    <p:extLst>
      <p:ext uri="{BB962C8B-B14F-4D97-AF65-F5344CB8AC3E}">
        <p14:creationId xmlns:p14="http://schemas.microsoft.com/office/powerpoint/2010/main" val="24102499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C538D-FB8C-5951-00C7-B504F553C676}"/>
              </a:ext>
            </a:extLst>
          </p:cNvPr>
          <p:cNvSpPr>
            <a:spLocks noGrp="1"/>
          </p:cNvSpPr>
          <p:nvPr>
            <p:ph type="title"/>
          </p:nvPr>
        </p:nvSpPr>
        <p:spPr>
          <a:xfrm>
            <a:off x="74936" y="85797"/>
            <a:ext cx="8520600" cy="707400"/>
          </a:xfrm>
        </p:spPr>
        <p:txBody>
          <a:bodyPr>
            <a:normAutofit fontScale="90000"/>
          </a:bodyPr>
          <a:lstStyle/>
          <a:p>
            <a:r>
              <a:rPr lang="en-US" dirty="0"/>
              <a:t>Accessing inner class from main method of same class</a:t>
            </a:r>
            <a:endParaRPr lang="en-IN" dirty="0"/>
          </a:p>
        </p:txBody>
      </p:sp>
      <p:pic>
        <p:nvPicPr>
          <p:cNvPr id="5" name="Picture 4">
            <a:extLst>
              <a:ext uri="{FF2B5EF4-FFF2-40B4-BE49-F238E27FC236}">
                <a16:creationId xmlns:a16="http://schemas.microsoft.com/office/drawing/2014/main" id="{40C0B76F-27A4-C702-D67A-B3799AC26816}"/>
              </a:ext>
            </a:extLst>
          </p:cNvPr>
          <p:cNvPicPr>
            <a:picLocks noChangeAspect="1"/>
          </p:cNvPicPr>
          <p:nvPr/>
        </p:nvPicPr>
        <p:blipFill>
          <a:blip r:embed="rId2"/>
          <a:stretch>
            <a:fillRect/>
          </a:stretch>
        </p:blipFill>
        <p:spPr>
          <a:xfrm>
            <a:off x="396713" y="679839"/>
            <a:ext cx="6293173" cy="2559182"/>
          </a:xfrm>
          <a:prstGeom prst="rect">
            <a:avLst/>
          </a:prstGeom>
        </p:spPr>
      </p:pic>
      <p:pic>
        <p:nvPicPr>
          <p:cNvPr id="7" name="Picture 6">
            <a:extLst>
              <a:ext uri="{FF2B5EF4-FFF2-40B4-BE49-F238E27FC236}">
                <a16:creationId xmlns:a16="http://schemas.microsoft.com/office/drawing/2014/main" id="{676D3837-4A2F-6AD4-35AE-67812387C619}"/>
              </a:ext>
            </a:extLst>
          </p:cNvPr>
          <p:cNvPicPr>
            <a:picLocks noChangeAspect="1"/>
          </p:cNvPicPr>
          <p:nvPr/>
        </p:nvPicPr>
        <p:blipFill>
          <a:blip r:embed="rId3"/>
          <a:stretch>
            <a:fillRect/>
          </a:stretch>
        </p:blipFill>
        <p:spPr>
          <a:xfrm>
            <a:off x="396713" y="3731079"/>
            <a:ext cx="4844758" cy="977011"/>
          </a:xfrm>
          <a:prstGeom prst="rect">
            <a:avLst/>
          </a:prstGeom>
        </p:spPr>
      </p:pic>
    </p:spTree>
    <p:extLst>
      <p:ext uri="{BB962C8B-B14F-4D97-AF65-F5344CB8AC3E}">
        <p14:creationId xmlns:p14="http://schemas.microsoft.com/office/powerpoint/2010/main" val="40275884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51717-D30F-6C3B-73C2-AB52EB394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60D37-DC7D-DFB7-B866-DC3B4B1D18E5}"/>
              </a:ext>
            </a:extLst>
          </p:cNvPr>
          <p:cNvSpPr>
            <a:spLocks noGrp="1"/>
          </p:cNvSpPr>
          <p:nvPr>
            <p:ph type="title"/>
          </p:nvPr>
        </p:nvSpPr>
        <p:spPr>
          <a:xfrm>
            <a:off x="74936" y="85797"/>
            <a:ext cx="8520600" cy="707400"/>
          </a:xfrm>
        </p:spPr>
        <p:txBody>
          <a:bodyPr>
            <a:normAutofit fontScale="90000"/>
          </a:bodyPr>
          <a:lstStyle/>
          <a:p>
            <a:r>
              <a:rPr lang="en-US" dirty="0"/>
              <a:t>Accessing inner class from  instance method of same class</a:t>
            </a:r>
            <a:endParaRPr lang="en-IN" dirty="0"/>
          </a:p>
        </p:txBody>
      </p:sp>
      <p:pic>
        <p:nvPicPr>
          <p:cNvPr id="4" name="Picture 3">
            <a:extLst>
              <a:ext uri="{FF2B5EF4-FFF2-40B4-BE49-F238E27FC236}">
                <a16:creationId xmlns:a16="http://schemas.microsoft.com/office/drawing/2014/main" id="{D1CE055E-B4D8-4BE2-927B-03DAB0B39F5B}"/>
              </a:ext>
            </a:extLst>
          </p:cNvPr>
          <p:cNvPicPr>
            <a:picLocks noChangeAspect="1"/>
          </p:cNvPicPr>
          <p:nvPr/>
        </p:nvPicPr>
        <p:blipFill>
          <a:blip r:embed="rId2"/>
          <a:stretch>
            <a:fillRect/>
          </a:stretch>
        </p:blipFill>
        <p:spPr>
          <a:xfrm>
            <a:off x="172658" y="793197"/>
            <a:ext cx="5924854" cy="3705324"/>
          </a:xfrm>
          <a:prstGeom prst="rect">
            <a:avLst/>
          </a:prstGeom>
        </p:spPr>
      </p:pic>
      <p:pic>
        <p:nvPicPr>
          <p:cNvPr id="8" name="Picture 7">
            <a:extLst>
              <a:ext uri="{FF2B5EF4-FFF2-40B4-BE49-F238E27FC236}">
                <a16:creationId xmlns:a16="http://schemas.microsoft.com/office/drawing/2014/main" id="{DE6A28A4-C00B-EE51-2093-894BF1B63425}"/>
              </a:ext>
            </a:extLst>
          </p:cNvPr>
          <p:cNvPicPr>
            <a:picLocks noChangeAspect="1"/>
          </p:cNvPicPr>
          <p:nvPr/>
        </p:nvPicPr>
        <p:blipFill>
          <a:blip r:embed="rId3"/>
          <a:stretch>
            <a:fillRect/>
          </a:stretch>
        </p:blipFill>
        <p:spPr>
          <a:xfrm>
            <a:off x="5642634" y="2851585"/>
            <a:ext cx="3207452" cy="1361186"/>
          </a:xfrm>
          <a:prstGeom prst="rect">
            <a:avLst/>
          </a:prstGeom>
        </p:spPr>
      </p:pic>
    </p:spTree>
    <p:extLst>
      <p:ext uri="{BB962C8B-B14F-4D97-AF65-F5344CB8AC3E}">
        <p14:creationId xmlns:p14="http://schemas.microsoft.com/office/powerpoint/2010/main" val="2034036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FCAD0-9673-C034-D386-4A2D2F70E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10CEA-1777-5EDE-1072-CB7B77F99628}"/>
              </a:ext>
            </a:extLst>
          </p:cNvPr>
          <p:cNvSpPr>
            <a:spLocks noGrp="1"/>
          </p:cNvSpPr>
          <p:nvPr>
            <p:ph type="title"/>
          </p:nvPr>
        </p:nvSpPr>
        <p:spPr>
          <a:xfrm>
            <a:off x="0" y="0"/>
            <a:ext cx="8520600" cy="707400"/>
          </a:xfrm>
        </p:spPr>
        <p:txBody>
          <a:bodyPr>
            <a:normAutofit fontScale="90000"/>
          </a:bodyPr>
          <a:lstStyle/>
          <a:p>
            <a:r>
              <a:rPr lang="en-US" dirty="0"/>
              <a:t>Accessing inner class from outside of outer class</a:t>
            </a:r>
            <a:endParaRPr lang="en-IN" dirty="0"/>
          </a:p>
        </p:txBody>
      </p:sp>
      <p:pic>
        <p:nvPicPr>
          <p:cNvPr id="5" name="Picture 4">
            <a:extLst>
              <a:ext uri="{FF2B5EF4-FFF2-40B4-BE49-F238E27FC236}">
                <a16:creationId xmlns:a16="http://schemas.microsoft.com/office/drawing/2014/main" id="{9970FAE8-9951-7086-1A52-AE9949E265B8}"/>
              </a:ext>
            </a:extLst>
          </p:cNvPr>
          <p:cNvPicPr>
            <a:picLocks noChangeAspect="1"/>
          </p:cNvPicPr>
          <p:nvPr/>
        </p:nvPicPr>
        <p:blipFill>
          <a:blip r:embed="rId2"/>
          <a:stretch>
            <a:fillRect/>
          </a:stretch>
        </p:blipFill>
        <p:spPr>
          <a:xfrm>
            <a:off x="156579" y="702130"/>
            <a:ext cx="5806197" cy="4237264"/>
          </a:xfrm>
          <a:prstGeom prst="rect">
            <a:avLst/>
          </a:prstGeom>
        </p:spPr>
      </p:pic>
      <p:pic>
        <p:nvPicPr>
          <p:cNvPr id="7" name="Picture 6">
            <a:extLst>
              <a:ext uri="{FF2B5EF4-FFF2-40B4-BE49-F238E27FC236}">
                <a16:creationId xmlns:a16="http://schemas.microsoft.com/office/drawing/2014/main" id="{17FEB274-A2BD-90AF-B60D-5406179F11C8}"/>
              </a:ext>
            </a:extLst>
          </p:cNvPr>
          <p:cNvPicPr>
            <a:picLocks noChangeAspect="1"/>
          </p:cNvPicPr>
          <p:nvPr/>
        </p:nvPicPr>
        <p:blipFill>
          <a:blip r:embed="rId3"/>
          <a:stretch>
            <a:fillRect/>
          </a:stretch>
        </p:blipFill>
        <p:spPr>
          <a:xfrm>
            <a:off x="5131204" y="900294"/>
            <a:ext cx="3496989" cy="1759040"/>
          </a:xfrm>
          <a:prstGeom prst="rect">
            <a:avLst/>
          </a:prstGeom>
        </p:spPr>
      </p:pic>
    </p:spTree>
    <p:extLst>
      <p:ext uri="{BB962C8B-B14F-4D97-AF65-F5344CB8AC3E}">
        <p14:creationId xmlns:p14="http://schemas.microsoft.com/office/powerpoint/2010/main" val="36814162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218D-B2FF-48E8-56ED-AE2F7A399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79CBA-7690-17E8-8723-DDB013B5ACC1}"/>
              </a:ext>
            </a:extLst>
          </p:cNvPr>
          <p:cNvSpPr>
            <a:spLocks noGrp="1"/>
          </p:cNvSpPr>
          <p:nvPr>
            <p:ph type="title"/>
          </p:nvPr>
        </p:nvSpPr>
        <p:spPr>
          <a:xfrm>
            <a:off x="0" y="0"/>
            <a:ext cx="8520600" cy="707400"/>
          </a:xfrm>
        </p:spPr>
        <p:txBody>
          <a:bodyPr>
            <a:normAutofit fontScale="90000"/>
          </a:bodyPr>
          <a:lstStyle/>
          <a:p>
            <a:r>
              <a:rPr lang="en-US" dirty="0"/>
              <a:t>inner class with this keyword</a:t>
            </a:r>
            <a:endParaRPr lang="en-IN" dirty="0"/>
          </a:p>
        </p:txBody>
      </p:sp>
      <p:pic>
        <p:nvPicPr>
          <p:cNvPr id="4" name="Picture 3">
            <a:extLst>
              <a:ext uri="{FF2B5EF4-FFF2-40B4-BE49-F238E27FC236}">
                <a16:creationId xmlns:a16="http://schemas.microsoft.com/office/drawing/2014/main" id="{2A2A9DD6-FD97-7B2A-AB25-95CF5699D338}"/>
              </a:ext>
            </a:extLst>
          </p:cNvPr>
          <p:cNvPicPr>
            <a:picLocks noChangeAspect="1"/>
          </p:cNvPicPr>
          <p:nvPr/>
        </p:nvPicPr>
        <p:blipFill>
          <a:blip r:embed="rId2"/>
          <a:stretch>
            <a:fillRect/>
          </a:stretch>
        </p:blipFill>
        <p:spPr>
          <a:xfrm>
            <a:off x="0" y="682528"/>
            <a:ext cx="7220321" cy="3778444"/>
          </a:xfrm>
          <a:prstGeom prst="rect">
            <a:avLst/>
          </a:prstGeom>
        </p:spPr>
      </p:pic>
      <p:pic>
        <p:nvPicPr>
          <p:cNvPr id="8" name="Picture 7">
            <a:extLst>
              <a:ext uri="{FF2B5EF4-FFF2-40B4-BE49-F238E27FC236}">
                <a16:creationId xmlns:a16="http://schemas.microsoft.com/office/drawing/2014/main" id="{010FCB29-1C02-78E5-B48A-8E0B3E884FB0}"/>
              </a:ext>
            </a:extLst>
          </p:cNvPr>
          <p:cNvPicPr>
            <a:picLocks noChangeAspect="1"/>
          </p:cNvPicPr>
          <p:nvPr/>
        </p:nvPicPr>
        <p:blipFill>
          <a:blip r:embed="rId3"/>
          <a:stretch>
            <a:fillRect/>
          </a:stretch>
        </p:blipFill>
        <p:spPr>
          <a:xfrm>
            <a:off x="4636768" y="3327820"/>
            <a:ext cx="4221482" cy="1263715"/>
          </a:xfrm>
          <a:prstGeom prst="rect">
            <a:avLst/>
          </a:prstGeom>
        </p:spPr>
      </p:pic>
    </p:spTree>
    <p:extLst>
      <p:ext uri="{BB962C8B-B14F-4D97-AF65-F5344CB8AC3E}">
        <p14:creationId xmlns:p14="http://schemas.microsoft.com/office/powerpoint/2010/main" val="41272635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4F0DC-89FD-D323-6E71-FB17476A7BC8}"/>
              </a:ext>
            </a:extLst>
          </p:cNvPr>
          <p:cNvSpPr>
            <a:spLocks noGrp="1"/>
          </p:cNvSpPr>
          <p:nvPr>
            <p:ph type="title"/>
          </p:nvPr>
        </p:nvSpPr>
        <p:spPr/>
        <p:txBody>
          <a:bodyPr>
            <a:normAutofit fontScale="90000"/>
          </a:bodyPr>
          <a:lstStyle/>
          <a:p>
            <a:r>
              <a:rPr lang="en-US" dirty="0"/>
              <a:t>Static inner class</a:t>
            </a:r>
            <a:endParaRPr lang="en-IN" dirty="0"/>
          </a:p>
        </p:txBody>
      </p:sp>
      <p:sp>
        <p:nvSpPr>
          <p:cNvPr id="3" name="Text Placeholder 2">
            <a:extLst>
              <a:ext uri="{FF2B5EF4-FFF2-40B4-BE49-F238E27FC236}">
                <a16:creationId xmlns:a16="http://schemas.microsoft.com/office/drawing/2014/main" id="{8B744EA4-0FB7-5774-E7D9-DD1528320E04}"/>
              </a:ext>
            </a:extLst>
          </p:cNvPr>
          <p:cNvSpPr>
            <a:spLocks noGrp="1"/>
          </p:cNvSpPr>
          <p:nvPr>
            <p:ph type="body" idx="1"/>
          </p:nvPr>
        </p:nvSpPr>
        <p:spPr/>
        <p:txBody>
          <a:bodyPr/>
          <a:lstStyle/>
          <a:p>
            <a:r>
              <a:rPr lang="en-US" dirty="0"/>
              <a:t>An inner class with static keyword is called static inner class</a:t>
            </a:r>
          </a:p>
          <a:p>
            <a:r>
              <a:rPr lang="en-US" dirty="0"/>
              <a:t>We can’t access the non-static members of the enclosing(outer) class in the static inner classes directly. </a:t>
            </a:r>
          </a:p>
          <a:p>
            <a:r>
              <a:rPr lang="en-US" dirty="0"/>
              <a:t>To do so we will need to create the object of outer class in it.</a:t>
            </a:r>
            <a:endParaRPr lang="en-IN" dirty="0"/>
          </a:p>
        </p:txBody>
      </p:sp>
    </p:spTree>
    <p:extLst>
      <p:ext uri="{BB962C8B-B14F-4D97-AF65-F5344CB8AC3E}">
        <p14:creationId xmlns:p14="http://schemas.microsoft.com/office/powerpoint/2010/main" val="35264969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906B2-626B-5049-82D7-0094A460F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66CD7-BC18-1381-D0E8-902421728B33}"/>
              </a:ext>
            </a:extLst>
          </p:cNvPr>
          <p:cNvSpPr>
            <a:spLocks noGrp="1"/>
          </p:cNvSpPr>
          <p:nvPr>
            <p:ph type="title"/>
          </p:nvPr>
        </p:nvSpPr>
        <p:spPr>
          <a:xfrm>
            <a:off x="0" y="61304"/>
            <a:ext cx="8520600" cy="707400"/>
          </a:xfrm>
        </p:spPr>
        <p:txBody>
          <a:bodyPr>
            <a:normAutofit fontScale="90000"/>
          </a:bodyPr>
          <a:lstStyle/>
          <a:p>
            <a:r>
              <a:rPr lang="en-US" dirty="0"/>
              <a:t>Can’t access non-static member directly</a:t>
            </a:r>
            <a:endParaRPr lang="en-IN" dirty="0"/>
          </a:p>
        </p:txBody>
      </p:sp>
      <p:pic>
        <p:nvPicPr>
          <p:cNvPr id="7" name="Picture 6">
            <a:extLst>
              <a:ext uri="{FF2B5EF4-FFF2-40B4-BE49-F238E27FC236}">
                <a16:creationId xmlns:a16="http://schemas.microsoft.com/office/drawing/2014/main" id="{DFBC3B86-3471-2789-C779-6E897485BD86}"/>
              </a:ext>
            </a:extLst>
          </p:cNvPr>
          <p:cNvPicPr>
            <a:picLocks noChangeAspect="1"/>
          </p:cNvPicPr>
          <p:nvPr/>
        </p:nvPicPr>
        <p:blipFill>
          <a:blip r:embed="rId2"/>
          <a:stretch>
            <a:fillRect/>
          </a:stretch>
        </p:blipFill>
        <p:spPr>
          <a:xfrm>
            <a:off x="215743" y="587829"/>
            <a:ext cx="6083613" cy="4397048"/>
          </a:xfrm>
          <a:prstGeom prst="rect">
            <a:avLst/>
          </a:prstGeom>
        </p:spPr>
      </p:pic>
      <p:pic>
        <p:nvPicPr>
          <p:cNvPr id="9" name="Picture 8">
            <a:extLst>
              <a:ext uri="{FF2B5EF4-FFF2-40B4-BE49-F238E27FC236}">
                <a16:creationId xmlns:a16="http://schemas.microsoft.com/office/drawing/2014/main" id="{AC7964EB-2925-A8D6-0E68-BF4F8B17D0A9}"/>
              </a:ext>
            </a:extLst>
          </p:cNvPr>
          <p:cNvPicPr>
            <a:picLocks noChangeAspect="1"/>
          </p:cNvPicPr>
          <p:nvPr/>
        </p:nvPicPr>
        <p:blipFill>
          <a:blip r:embed="rId3"/>
          <a:stretch>
            <a:fillRect/>
          </a:stretch>
        </p:blipFill>
        <p:spPr>
          <a:xfrm>
            <a:off x="4952918" y="2715488"/>
            <a:ext cx="3848182" cy="1720938"/>
          </a:xfrm>
          <a:prstGeom prst="rect">
            <a:avLst/>
          </a:prstGeom>
        </p:spPr>
      </p:pic>
    </p:spTree>
    <p:extLst>
      <p:ext uri="{BB962C8B-B14F-4D97-AF65-F5344CB8AC3E}">
        <p14:creationId xmlns:p14="http://schemas.microsoft.com/office/powerpoint/2010/main" val="16146772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0385D-AE59-602E-EDFC-CEB233749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100CC-C37D-D931-5DC7-AE764F2EC433}"/>
              </a:ext>
            </a:extLst>
          </p:cNvPr>
          <p:cNvSpPr>
            <a:spLocks noGrp="1"/>
          </p:cNvSpPr>
          <p:nvPr>
            <p:ph type="title"/>
          </p:nvPr>
        </p:nvSpPr>
        <p:spPr>
          <a:xfrm>
            <a:off x="0" y="61304"/>
            <a:ext cx="8520600" cy="707400"/>
          </a:xfrm>
        </p:spPr>
        <p:txBody>
          <a:bodyPr>
            <a:normAutofit fontScale="90000"/>
          </a:bodyPr>
          <a:lstStyle/>
          <a:p>
            <a:r>
              <a:rPr lang="en-US" dirty="0"/>
              <a:t>Accessing non-static member using Outer class object</a:t>
            </a:r>
            <a:endParaRPr lang="en-IN" dirty="0"/>
          </a:p>
        </p:txBody>
      </p:sp>
      <p:pic>
        <p:nvPicPr>
          <p:cNvPr id="4" name="Picture 3">
            <a:extLst>
              <a:ext uri="{FF2B5EF4-FFF2-40B4-BE49-F238E27FC236}">
                <a16:creationId xmlns:a16="http://schemas.microsoft.com/office/drawing/2014/main" id="{427850FE-F616-41A8-0009-233E09B10623}"/>
              </a:ext>
            </a:extLst>
          </p:cNvPr>
          <p:cNvPicPr>
            <a:picLocks noChangeAspect="1"/>
          </p:cNvPicPr>
          <p:nvPr/>
        </p:nvPicPr>
        <p:blipFill>
          <a:blip r:embed="rId2"/>
          <a:stretch>
            <a:fillRect/>
          </a:stretch>
        </p:blipFill>
        <p:spPr>
          <a:xfrm>
            <a:off x="104197" y="638076"/>
            <a:ext cx="5686220" cy="4374796"/>
          </a:xfrm>
          <a:prstGeom prst="rect">
            <a:avLst/>
          </a:prstGeom>
        </p:spPr>
      </p:pic>
      <p:pic>
        <p:nvPicPr>
          <p:cNvPr id="7" name="Picture 6">
            <a:extLst>
              <a:ext uri="{FF2B5EF4-FFF2-40B4-BE49-F238E27FC236}">
                <a16:creationId xmlns:a16="http://schemas.microsoft.com/office/drawing/2014/main" id="{79B89DEE-97D6-9E2D-E59D-FD1F9DD36096}"/>
              </a:ext>
            </a:extLst>
          </p:cNvPr>
          <p:cNvPicPr>
            <a:picLocks noChangeAspect="1"/>
          </p:cNvPicPr>
          <p:nvPr/>
        </p:nvPicPr>
        <p:blipFill>
          <a:blip r:embed="rId3"/>
          <a:stretch>
            <a:fillRect/>
          </a:stretch>
        </p:blipFill>
        <p:spPr>
          <a:xfrm>
            <a:off x="5884993" y="638075"/>
            <a:ext cx="3016405" cy="1517295"/>
          </a:xfrm>
          <a:prstGeom prst="rect">
            <a:avLst/>
          </a:prstGeom>
        </p:spPr>
      </p:pic>
    </p:spTree>
    <p:extLst>
      <p:ext uri="{BB962C8B-B14F-4D97-AF65-F5344CB8AC3E}">
        <p14:creationId xmlns:p14="http://schemas.microsoft.com/office/powerpoint/2010/main" val="32139344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9F970-80D6-950D-AA3C-37B0F2EBA936}"/>
              </a:ext>
            </a:extLst>
          </p:cNvPr>
          <p:cNvSpPr>
            <a:spLocks noGrp="1"/>
          </p:cNvSpPr>
          <p:nvPr>
            <p:ph type="title"/>
          </p:nvPr>
        </p:nvSpPr>
        <p:spPr/>
        <p:txBody>
          <a:bodyPr>
            <a:normAutofit fontScale="90000"/>
          </a:bodyPr>
          <a:lstStyle/>
          <a:p>
            <a:r>
              <a:rPr lang="en-US" dirty="0"/>
              <a:t>Method local inner class</a:t>
            </a:r>
            <a:endParaRPr lang="en-IN" dirty="0"/>
          </a:p>
        </p:txBody>
      </p:sp>
      <p:sp>
        <p:nvSpPr>
          <p:cNvPr id="3" name="Text Placeholder 2">
            <a:extLst>
              <a:ext uri="{FF2B5EF4-FFF2-40B4-BE49-F238E27FC236}">
                <a16:creationId xmlns:a16="http://schemas.microsoft.com/office/drawing/2014/main" id="{5623BF12-BEA3-712B-9666-DA5802D99668}"/>
              </a:ext>
            </a:extLst>
          </p:cNvPr>
          <p:cNvSpPr>
            <a:spLocks noGrp="1"/>
          </p:cNvSpPr>
          <p:nvPr>
            <p:ph type="body" idx="1"/>
          </p:nvPr>
        </p:nvSpPr>
        <p:spPr/>
        <p:txBody>
          <a:bodyPr>
            <a:normAutofit fontScale="92500" lnSpcReduction="10000"/>
          </a:bodyPr>
          <a:lstStyle/>
          <a:p>
            <a:r>
              <a:rPr lang="en-US" dirty="0"/>
              <a:t>These are the Inner classes inside a method.</a:t>
            </a:r>
          </a:p>
          <a:p>
            <a:r>
              <a:rPr lang="en-US" dirty="0"/>
              <a:t>Need of inner class inside a method is to define method specific repeatedly required functionality.</a:t>
            </a:r>
          </a:p>
          <a:p>
            <a:r>
              <a:rPr lang="en-US" dirty="0"/>
              <a:t>We can access method local inner classes only within a method where we declare. Outside of a method we can’t access it.</a:t>
            </a:r>
          </a:p>
          <a:p>
            <a:r>
              <a:rPr lang="en-US" dirty="0"/>
              <a:t>Because of its less scope method inner classes are rarely used.</a:t>
            </a:r>
          </a:p>
          <a:p>
            <a:r>
              <a:rPr lang="en-US" dirty="0"/>
              <a:t>We can declare inside of instance(class) method or static method.</a:t>
            </a:r>
          </a:p>
          <a:p>
            <a:r>
              <a:rPr lang="en-US" dirty="0"/>
              <a:t>If we declare inner class inside instance method both static &amp; non-static variables can be accessed by it.</a:t>
            </a:r>
          </a:p>
          <a:p>
            <a:r>
              <a:rPr lang="en-US" dirty="0"/>
              <a:t>But if we declare it inside static method, we can access on static variables through it.</a:t>
            </a:r>
            <a:endParaRPr lang="en-IN" dirty="0"/>
          </a:p>
        </p:txBody>
      </p:sp>
    </p:spTree>
    <p:extLst>
      <p:ext uri="{BB962C8B-B14F-4D97-AF65-F5344CB8AC3E}">
        <p14:creationId xmlns:p14="http://schemas.microsoft.com/office/powerpoint/2010/main" val="27187816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8EA3-3F1E-0D6B-2890-8ECDCB0732EA}"/>
              </a:ext>
            </a:extLst>
          </p:cNvPr>
          <p:cNvSpPr>
            <a:spLocks noGrp="1"/>
          </p:cNvSpPr>
          <p:nvPr>
            <p:ph type="title"/>
          </p:nvPr>
        </p:nvSpPr>
        <p:spPr>
          <a:xfrm>
            <a:off x="115757" y="134783"/>
            <a:ext cx="8520600" cy="707400"/>
          </a:xfrm>
        </p:spPr>
        <p:txBody>
          <a:bodyPr>
            <a:normAutofit fontScale="90000"/>
          </a:bodyPr>
          <a:lstStyle/>
          <a:p>
            <a:r>
              <a:rPr lang="en-US" dirty="0"/>
              <a:t>Method/local inner class</a:t>
            </a:r>
            <a:endParaRPr lang="en-IN" dirty="0"/>
          </a:p>
        </p:txBody>
      </p:sp>
      <p:pic>
        <p:nvPicPr>
          <p:cNvPr id="5" name="Picture 4">
            <a:extLst>
              <a:ext uri="{FF2B5EF4-FFF2-40B4-BE49-F238E27FC236}">
                <a16:creationId xmlns:a16="http://schemas.microsoft.com/office/drawing/2014/main" id="{8CAB2818-6974-B50E-56F9-AEBFC7E70E0D}"/>
              </a:ext>
            </a:extLst>
          </p:cNvPr>
          <p:cNvPicPr>
            <a:picLocks noChangeAspect="1"/>
          </p:cNvPicPr>
          <p:nvPr/>
        </p:nvPicPr>
        <p:blipFill>
          <a:blip r:embed="rId2"/>
          <a:stretch>
            <a:fillRect/>
          </a:stretch>
        </p:blipFill>
        <p:spPr>
          <a:xfrm>
            <a:off x="115757" y="785033"/>
            <a:ext cx="6483683" cy="3895028"/>
          </a:xfrm>
          <a:prstGeom prst="rect">
            <a:avLst/>
          </a:prstGeom>
        </p:spPr>
      </p:pic>
      <p:pic>
        <p:nvPicPr>
          <p:cNvPr id="7" name="Picture 6">
            <a:extLst>
              <a:ext uri="{FF2B5EF4-FFF2-40B4-BE49-F238E27FC236}">
                <a16:creationId xmlns:a16="http://schemas.microsoft.com/office/drawing/2014/main" id="{881FD666-85BD-18DC-7AFE-5DA8ECBDBDBC}"/>
              </a:ext>
            </a:extLst>
          </p:cNvPr>
          <p:cNvPicPr>
            <a:picLocks noChangeAspect="1"/>
          </p:cNvPicPr>
          <p:nvPr/>
        </p:nvPicPr>
        <p:blipFill>
          <a:blip r:embed="rId3"/>
          <a:stretch>
            <a:fillRect/>
          </a:stretch>
        </p:blipFill>
        <p:spPr>
          <a:xfrm>
            <a:off x="4993291" y="959005"/>
            <a:ext cx="3448580" cy="1335159"/>
          </a:xfrm>
          <a:prstGeom prst="rect">
            <a:avLst/>
          </a:prstGeom>
        </p:spPr>
      </p:pic>
    </p:spTree>
    <p:extLst>
      <p:ext uri="{BB962C8B-B14F-4D97-AF65-F5344CB8AC3E}">
        <p14:creationId xmlns:p14="http://schemas.microsoft.com/office/powerpoint/2010/main" val="1155197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69E4C-49A6-E4E4-10B4-73725268C060}"/>
              </a:ext>
            </a:extLst>
          </p:cNvPr>
          <p:cNvSpPr>
            <a:spLocks noGrp="1"/>
          </p:cNvSpPr>
          <p:nvPr>
            <p:ph type="title"/>
          </p:nvPr>
        </p:nvSpPr>
        <p:spPr/>
        <p:txBody>
          <a:bodyPr>
            <a:normAutofit fontScale="90000"/>
          </a:bodyPr>
          <a:lstStyle/>
          <a:p>
            <a:r>
              <a:rPr lang="en-US" dirty="0"/>
              <a:t>Anonymous Inner Class</a:t>
            </a:r>
            <a:endParaRPr lang="en-IN" dirty="0"/>
          </a:p>
        </p:txBody>
      </p:sp>
      <p:sp>
        <p:nvSpPr>
          <p:cNvPr id="3" name="Text Placeholder 2">
            <a:extLst>
              <a:ext uri="{FF2B5EF4-FFF2-40B4-BE49-F238E27FC236}">
                <a16:creationId xmlns:a16="http://schemas.microsoft.com/office/drawing/2014/main" id="{2CCB59A3-7707-39C6-B098-490ED0400D78}"/>
              </a:ext>
            </a:extLst>
          </p:cNvPr>
          <p:cNvSpPr>
            <a:spLocks noGrp="1"/>
          </p:cNvSpPr>
          <p:nvPr>
            <p:ph type="body" idx="1"/>
          </p:nvPr>
        </p:nvSpPr>
        <p:spPr/>
        <p:txBody>
          <a:bodyPr/>
          <a:lstStyle/>
          <a:p>
            <a:r>
              <a:rPr lang="en-US" dirty="0"/>
              <a:t>An </a:t>
            </a:r>
            <a:r>
              <a:rPr lang="en-US" i="1" dirty="0"/>
              <a:t>anonymous </a:t>
            </a:r>
            <a:r>
              <a:rPr lang="en-US" dirty="0"/>
              <a:t>inner class is one that is not assigned a name.</a:t>
            </a:r>
          </a:p>
          <a:p>
            <a:r>
              <a:rPr lang="en-US" dirty="0"/>
              <a:t>Anonymous inner class are useful when:</a:t>
            </a:r>
          </a:p>
          <a:p>
            <a:pPr lvl="1"/>
            <a:r>
              <a:rPr lang="en-US" dirty="0"/>
              <a:t>We need a class only once</a:t>
            </a:r>
          </a:p>
          <a:p>
            <a:pPr lvl="1"/>
            <a:r>
              <a:rPr lang="en-US" dirty="0"/>
              <a:t>We don’t want to create a separate named class</a:t>
            </a:r>
          </a:p>
          <a:p>
            <a:pPr lvl="1"/>
            <a:r>
              <a:rPr lang="en-US" dirty="0"/>
              <a:t>Provide a quick/specific implementation of an interface or abstract class</a:t>
            </a:r>
          </a:p>
          <a:p>
            <a:pPr lvl="1"/>
            <a:r>
              <a:rPr lang="en-US" dirty="0"/>
              <a:t>Implementation is small</a:t>
            </a:r>
          </a:p>
        </p:txBody>
      </p:sp>
    </p:spTree>
    <p:extLst>
      <p:ext uri="{BB962C8B-B14F-4D97-AF65-F5344CB8AC3E}">
        <p14:creationId xmlns:p14="http://schemas.microsoft.com/office/powerpoint/2010/main" val="40173170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C956-00B3-CAA9-86E0-EF5AA22BCE07}"/>
              </a:ext>
            </a:extLst>
          </p:cNvPr>
          <p:cNvSpPr>
            <a:spLocks noGrp="1"/>
          </p:cNvSpPr>
          <p:nvPr>
            <p:ph type="title"/>
          </p:nvPr>
        </p:nvSpPr>
        <p:spPr>
          <a:xfrm>
            <a:off x="148414" y="93961"/>
            <a:ext cx="8520600" cy="707400"/>
          </a:xfrm>
        </p:spPr>
        <p:txBody>
          <a:bodyPr>
            <a:normAutofit fontScale="90000"/>
          </a:bodyPr>
          <a:lstStyle/>
          <a:p>
            <a:r>
              <a:rPr lang="en-US" dirty="0"/>
              <a:t>Anonymous inner class</a:t>
            </a:r>
            <a:endParaRPr lang="en-IN" dirty="0"/>
          </a:p>
        </p:txBody>
      </p:sp>
      <p:pic>
        <p:nvPicPr>
          <p:cNvPr id="5" name="Picture 4">
            <a:extLst>
              <a:ext uri="{FF2B5EF4-FFF2-40B4-BE49-F238E27FC236}">
                <a16:creationId xmlns:a16="http://schemas.microsoft.com/office/drawing/2014/main" id="{0F1729C5-9734-1229-F11D-5D5ADDA6B24C}"/>
              </a:ext>
            </a:extLst>
          </p:cNvPr>
          <p:cNvPicPr>
            <a:picLocks noChangeAspect="1"/>
          </p:cNvPicPr>
          <p:nvPr/>
        </p:nvPicPr>
        <p:blipFill>
          <a:blip r:embed="rId2"/>
          <a:stretch>
            <a:fillRect/>
          </a:stretch>
        </p:blipFill>
        <p:spPr>
          <a:xfrm>
            <a:off x="212272" y="825410"/>
            <a:ext cx="4898572" cy="3492679"/>
          </a:xfrm>
          <a:prstGeom prst="rect">
            <a:avLst/>
          </a:prstGeom>
        </p:spPr>
      </p:pic>
      <p:pic>
        <p:nvPicPr>
          <p:cNvPr id="7" name="Picture 6">
            <a:extLst>
              <a:ext uri="{FF2B5EF4-FFF2-40B4-BE49-F238E27FC236}">
                <a16:creationId xmlns:a16="http://schemas.microsoft.com/office/drawing/2014/main" id="{3A95D8A9-B9BD-A57D-52FE-9D602EB5C453}"/>
              </a:ext>
            </a:extLst>
          </p:cNvPr>
          <p:cNvPicPr>
            <a:picLocks noChangeAspect="1"/>
          </p:cNvPicPr>
          <p:nvPr/>
        </p:nvPicPr>
        <p:blipFill>
          <a:blip r:embed="rId3"/>
          <a:stretch>
            <a:fillRect/>
          </a:stretch>
        </p:blipFill>
        <p:spPr>
          <a:xfrm>
            <a:off x="4645479" y="825410"/>
            <a:ext cx="3562533" cy="791119"/>
          </a:xfrm>
          <a:prstGeom prst="rect">
            <a:avLst/>
          </a:prstGeom>
        </p:spPr>
      </p:pic>
    </p:spTree>
    <p:extLst>
      <p:ext uri="{BB962C8B-B14F-4D97-AF65-F5344CB8AC3E}">
        <p14:creationId xmlns:p14="http://schemas.microsoft.com/office/powerpoint/2010/main" val="251009582"/>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3456</TotalTime>
  <Words>3496</Words>
  <Application>Microsoft Office PowerPoint</Application>
  <PresentationFormat>On-screen Show (16:9)</PresentationFormat>
  <Paragraphs>304</Paragraphs>
  <Slides>88</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Calibri</vt:lpstr>
      <vt:lpstr>PT Sans Narrow</vt:lpstr>
      <vt:lpstr>Open Sans</vt:lpstr>
      <vt:lpstr>Wingdings</vt:lpstr>
      <vt:lpstr>Arial</vt:lpstr>
      <vt:lpstr>Tropic</vt:lpstr>
      <vt:lpstr>Unit-2</vt:lpstr>
      <vt:lpstr>Object oriented programming(OOP)</vt:lpstr>
      <vt:lpstr>OOP Principles</vt:lpstr>
      <vt:lpstr>OOP Principles</vt:lpstr>
      <vt:lpstr>Encapsulation</vt:lpstr>
      <vt:lpstr>Encapsulation (Cont..)</vt:lpstr>
      <vt:lpstr>Example</vt:lpstr>
      <vt:lpstr>Inheritance</vt:lpstr>
      <vt:lpstr>Example</vt:lpstr>
      <vt:lpstr>Example</vt:lpstr>
      <vt:lpstr>Abstraction</vt:lpstr>
      <vt:lpstr>Polymorphism</vt:lpstr>
      <vt:lpstr>Example</vt:lpstr>
      <vt:lpstr>Example</vt:lpstr>
      <vt:lpstr>Classes &amp; Objects</vt:lpstr>
      <vt:lpstr>Class</vt:lpstr>
      <vt:lpstr>Class - Syntax</vt:lpstr>
      <vt:lpstr>Declaring Class</vt:lpstr>
      <vt:lpstr>Objects</vt:lpstr>
      <vt:lpstr>Creating Object using new operator</vt:lpstr>
      <vt:lpstr>New operator</vt:lpstr>
      <vt:lpstr>Declaring object</vt:lpstr>
      <vt:lpstr>Example of class and Object</vt:lpstr>
      <vt:lpstr>Difference in classes and object</vt:lpstr>
      <vt:lpstr>Access Controls and Modifiers</vt:lpstr>
      <vt:lpstr>Access Specifier</vt:lpstr>
      <vt:lpstr>Access Specifier</vt:lpstr>
      <vt:lpstr>Methods</vt:lpstr>
      <vt:lpstr>Methods</vt:lpstr>
      <vt:lpstr>Methods</vt:lpstr>
      <vt:lpstr>Method (Cont..)</vt:lpstr>
      <vt:lpstr>Method (Cont..)</vt:lpstr>
      <vt:lpstr>Why Method?</vt:lpstr>
      <vt:lpstr>Example</vt:lpstr>
      <vt:lpstr>Method Overloading</vt:lpstr>
      <vt:lpstr>Example</vt:lpstr>
      <vt:lpstr>Recursion</vt:lpstr>
      <vt:lpstr>Recursion</vt:lpstr>
      <vt:lpstr>Example</vt:lpstr>
      <vt:lpstr>Constructor</vt:lpstr>
      <vt:lpstr>Constructor (Cont..)</vt:lpstr>
      <vt:lpstr>No-argument Constructor</vt:lpstr>
      <vt:lpstr>Example</vt:lpstr>
      <vt:lpstr>Default Constructor</vt:lpstr>
      <vt:lpstr>Example</vt:lpstr>
      <vt:lpstr>Parameterized Constructor</vt:lpstr>
      <vt:lpstr>Example</vt:lpstr>
      <vt:lpstr>Constructor Overloading</vt:lpstr>
      <vt:lpstr>Example</vt:lpstr>
      <vt:lpstr>this keyword</vt:lpstr>
      <vt:lpstr>this keyword When to use?</vt:lpstr>
      <vt:lpstr>Accessing class variable</vt:lpstr>
      <vt:lpstr>‘this’ as method parameter</vt:lpstr>
      <vt:lpstr>Invoking current class method</vt:lpstr>
      <vt:lpstr>Return with ‘this’</vt:lpstr>
      <vt:lpstr>Argument to constructor</vt:lpstr>
      <vt:lpstr>this() method</vt:lpstr>
      <vt:lpstr>this() method</vt:lpstr>
      <vt:lpstr>Static keyword</vt:lpstr>
      <vt:lpstr>Static keyword</vt:lpstr>
      <vt:lpstr>Static Keywords - Points to remember</vt:lpstr>
      <vt:lpstr>final Keyword</vt:lpstr>
      <vt:lpstr>final variable</vt:lpstr>
      <vt:lpstr>Garbage collection</vt:lpstr>
      <vt:lpstr>Garbage Collection working</vt:lpstr>
      <vt:lpstr>Making object eligible for GC</vt:lpstr>
      <vt:lpstr>Using null keyword</vt:lpstr>
      <vt:lpstr>Reassigning the reference varaible</vt:lpstr>
      <vt:lpstr>Object created inside Method</vt:lpstr>
      <vt:lpstr>Isolation of Island</vt:lpstr>
      <vt:lpstr>Methods for requesting GC to run</vt:lpstr>
      <vt:lpstr>Using System class</vt:lpstr>
      <vt:lpstr>Using runtime class</vt:lpstr>
      <vt:lpstr>Nested Classes</vt:lpstr>
      <vt:lpstr>Nested Classes</vt:lpstr>
      <vt:lpstr>Types of inner class</vt:lpstr>
      <vt:lpstr>Member Inner class</vt:lpstr>
      <vt:lpstr>Accessing inner class from main method of same class</vt:lpstr>
      <vt:lpstr>Accessing inner class from  instance method of same class</vt:lpstr>
      <vt:lpstr>Accessing inner class from outside of outer class</vt:lpstr>
      <vt:lpstr>inner class with this keyword</vt:lpstr>
      <vt:lpstr>Static inner class</vt:lpstr>
      <vt:lpstr>Can’t access non-static member directly</vt:lpstr>
      <vt:lpstr>Accessing non-static member using Outer class object</vt:lpstr>
      <vt:lpstr>Method local inner class</vt:lpstr>
      <vt:lpstr>Method/local inner class</vt:lpstr>
      <vt:lpstr>Anonymous Inner Class</vt:lpstr>
      <vt:lpstr>Anonymous inner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Nikhil Durgapal</cp:lastModifiedBy>
  <cp:revision>21</cp:revision>
  <dcterms:modified xsi:type="dcterms:W3CDTF">2026-09-08T10:21:05Z</dcterms:modified>
</cp:coreProperties>
</file>