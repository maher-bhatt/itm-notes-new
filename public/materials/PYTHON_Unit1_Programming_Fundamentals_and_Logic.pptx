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6"/>
  </p:notesMasterIdLst>
  <p:sldIdLst>
    <p:sldId id="256" r:id="rId2"/>
    <p:sldId id="257" r:id="rId3"/>
    <p:sldId id="258" r:id="rId4"/>
    <p:sldId id="339" r:id="rId5"/>
    <p:sldId id="259" r:id="rId6"/>
    <p:sldId id="260" r:id="rId7"/>
    <p:sldId id="340" r:id="rId8"/>
    <p:sldId id="341" r:id="rId9"/>
    <p:sldId id="264" r:id="rId10"/>
    <p:sldId id="342" r:id="rId11"/>
    <p:sldId id="265" r:id="rId12"/>
    <p:sldId id="266" r:id="rId13"/>
    <p:sldId id="267" r:id="rId14"/>
    <p:sldId id="268" r:id="rId15"/>
    <p:sldId id="343" r:id="rId16"/>
    <p:sldId id="344" r:id="rId17"/>
    <p:sldId id="345" r:id="rId18"/>
    <p:sldId id="346" r:id="rId19"/>
    <p:sldId id="347" r:id="rId20"/>
    <p:sldId id="263" r:id="rId21"/>
    <p:sldId id="348" r:id="rId22"/>
    <p:sldId id="349" r:id="rId23"/>
    <p:sldId id="350" r:id="rId24"/>
    <p:sldId id="270" r:id="rId25"/>
    <p:sldId id="351" r:id="rId26"/>
    <p:sldId id="352" r:id="rId27"/>
    <p:sldId id="353" r:id="rId28"/>
    <p:sldId id="360" r:id="rId29"/>
    <p:sldId id="354" r:id="rId30"/>
    <p:sldId id="355" r:id="rId31"/>
    <p:sldId id="356" r:id="rId32"/>
    <p:sldId id="361" r:id="rId33"/>
    <p:sldId id="358" r:id="rId34"/>
    <p:sldId id="277" r:id="rId35"/>
    <p:sldId id="278" r:id="rId36"/>
    <p:sldId id="261" r:id="rId37"/>
    <p:sldId id="262" r:id="rId38"/>
    <p:sldId id="280" r:id="rId39"/>
    <p:sldId id="281" r:id="rId40"/>
    <p:sldId id="282" r:id="rId41"/>
    <p:sldId id="283" r:id="rId42"/>
    <p:sldId id="284" r:id="rId43"/>
    <p:sldId id="285" r:id="rId44"/>
    <p:sldId id="286" r:id="rId45"/>
    <p:sldId id="288" r:id="rId46"/>
    <p:sldId id="289" r:id="rId47"/>
    <p:sldId id="290" r:id="rId48"/>
    <p:sldId id="291" r:id="rId49"/>
    <p:sldId id="292" r:id="rId50"/>
    <p:sldId id="293" r:id="rId51"/>
    <p:sldId id="294" r:id="rId52"/>
    <p:sldId id="295" r:id="rId53"/>
    <p:sldId id="296" r:id="rId54"/>
    <p:sldId id="297" r:id="rId55"/>
    <p:sldId id="299" r:id="rId56"/>
    <p:sldId id="300" r:id="rId57"/>
    <p:sldId id="362" r:id="rId58"/>
    <p:sldId id="301" r:id="rId59"/>
    <p:sldId id="302" r:id="rId60"/>
    <p:sldId id="303" r:id="rId61"/>
    <p:sldId id="304" r:id="rId62"/>
    <p:sldId id="305" r:id="rId63"/>
    <p:sldId id="307" r:id="rId64"/>
    <p:sldId id="308" r:id="rId65"/>
    <p:sldId id="363" r:id="rId66"/>
    <p:sldId id="309" r:id="rId67"/>
    <p:sldId id="364" r:id="rId68"/>
    <p:sldId id="310" r:id="rId69"/>
    <p:sldId id="311" r:id="rId70"/>
    <p:sldId id="312" r:id="rId71"/>
    <p:sldId id="313" r:id="rId72"/>
    <p:sldId id="365" r:id="rId73"/>
    <p:sldId id="314" r:id="rId74"/>
    <p:sldId id="315" r:id="rId75"/>
    <p:sldId id="316" r:id="rId76"/>
    <p:sldId id="367" r:id="rId77"/>
    <p:sldId id="375" r:id="rId78"/>
    <p:sldId id="298" r:id="rId79"/>
    <p:sldId id="376" r:id="rId80"/>
    <p:sldId id="377" r:id="rId81"/>
    <p:sldId id="378" r:id="rId82"/>
    <p:sldId id="379" r:id="rId83"/>
    <p:sldId id="380" r:id="rId84"/>
    <p:sldId id="381" r:id="rId85"/>
    <p:sldId id="382" r:id="rId86"/>
    <p:sldId id="383" r:id="rId87"/>
    <p:sldId id="306" r:id="rId88"/>
    <p:sldId id="318" r:id="rId89"/>
    <p:sldId id="319" r:id="rId90"/>
    <p:sldId id="320" r:id="rId91"/>
    <p:sldId id="273" r:id="rId92"/>
    <p:sldId id="366" r:id="rId93"/>
    <p:sldId id="321" r:id="rId94"/>
    <p:sldId id="274" r:id="rId95"/>
    <p:sldId id="322" r:id="rId96"/>
    <p:sldId id="323" r:id="rId97"/>
    <p:sldId id="325" r:id="rId98"/>
    <p:sldId id="384" r:id="rId99"/>
    <p:sldId id="287" r:id="rId100"/>
    <p:sldId id="326" r:id="rId101"/>
    <p:sldId id="385" r:id="rId102"/>
    <p:sldId id="327" r:id="rId103"/>
    <p:sldId id="275" r:id="rId104"/>
    <p:sldId id="328" r:id="rId105"/>
    <p:sldId id="329" r:id="rId106"/>
    <p:sldId id="330" r:id="rId107"/>
    <p:sldId id="386" r:id="rId108"/>
    <p:sldId id="387" r:id="rId109"/>
    <p:sldId id="388" r:id="rId110"/>
    <p:sldId id="331" r:id="rId111"/>
    <p:sldId id="332" r:id="rId112"/>
    <p:sldId id="333" r:id="rId113"/>
    <p:sldId id="334" r:id="rId114"/>
    <p:sldId id="335" r:id="rId1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presProps" Target="presProp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viewProps" Target="view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4156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Bloom’s level: Remember/Understand. Analogy: a recipe is a "program" for a cook — precise steps, in order, using defined ingredients (inputs).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Bloom’s level: Understand. Reinforce that syntax differs but logic concepts transfer between languages.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Bloom’s level: Understand. Use the recipe analogy: low-level = writing exact chemistry instructions; high-level = writing "make tea" and trusting the kitchen to know the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Bloom’s level: Understand. Emphasize the speed vs. usability trade-off that recurs throughout this unit.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Bloom’s level: Understand/Apply. Show a one-line example: MOV A,B → moving a value between registers.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Bloom’s level: Remember/Understand. This sets up the "Language Processors" section later in the unit.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Bloom’s level: Understand/Evaluate. Mention that languages: FORTRAN, ALGOL, COBOL, BASIC, Pascal, C are procedural.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Bloom’s level: Understand/Evaluate. Example Languages: Java, Python, C++, C#.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Bloom’s level: Understand/Evaluate. Example Languages: Haskell, Lisp, Scala (Python/JavaScript can be used functionally too).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Bloom’s level: Understand/Evaluate. Example Languages: Python, JavaScript, Bash, Perl.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DBB52-B274-5A6F-9169-524ACA3DB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4B30CB-9064-456B-3E46-B68F56F43B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449AE3-7337-54B0-99AE-E8C8D086AF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C1CFAE-7CF3-2FEA-BDD4-BA31964DEA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335477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300C6-C69B-BF45-7FDE-F2FD4C518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375FF0-E431-4504-DF0A-BEC75421B0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51FF80-1A41-0EBA-EB58-834D878E91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Bloom’s level: Apply/Evaluate. Ask students: "Would you pick Python or C++ to build a quick automation script? Why?"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7FED44-BBA6-423A-E256-4927E457BD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665243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Bloom’s level: Remember. This list previews vocabulary used throughout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India-first tie-in: UPI apps (Python/Java backends), IRCTC (Java), Zomato/Flipkart (JavaScript, Python, Java) all draw on this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Bloom’s level: Remember/Understand.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Bloom’s level: Understand.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Bloom’s level: Apply. Live-demo this exact workflow in VS Code if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Bloom’s level: Remember/Understand.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Bloom’s level: Remember.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Bloom’s level: Understand. Emphasize: simple code is easy to read six months later, or by a teammate.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Bloom’s level: Apply. Ask students to spot why the first version repeats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Bloom’s level: Understand.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Bloom’s level: Understand/Apply.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Bloom’s level: Understand. MVC will reappear when students study web frameworks in later semesters.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Bloom’s level: Evaluate. This principle balances Principle 2 (DRY) — discuss the tension between the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Bloom’s level: Apply. Emphasize teamwork: undocumented code frustrates collaborators on shared projects.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Bloom’s level: Understand.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Bloom’s level: Evaluate. Wrap up by asking students to rank which of the 9 principles they find hardest to follow, and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Bloom’s level: Remember/Understand.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Bloom’s level: Understand. Debugging helps identify where and why a program is going wrong, and how to fix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Bloom’s level: Understand.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Bloom’s level: Apply. Steps 4–6 continue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Bloom’s level: Apply.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Bloom’s level: Remember. Mention that VS Code’s built-in debugger (seen earlier) is also a widely-used tool for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Bloom’s level: Understand.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Bloom’s level: Remember. Each type is explored in detail on the following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Bloom’s level: Understand.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Bloom’s level: Apply/Understand.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Bloom’s level: Apply.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Bloom’s level: Understand.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Bloom’s level: Understand.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Bloom’s level: Understand.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Bloom’s level: Apply.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Bloom’s level: Apply.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Bloom’s level: Apply.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5F725-D17A-9C24-64FB-A772E01C3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CB8F6A-8207-458D-E02C-3D557D232D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B165F0-DF8B-3D0A-58DC-F7852768BD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20B965-B04B-C932-3389-81ADDCC060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8896785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Bloom’s level: Apply. Compare directly with the Algorithm slide — same logic, more code-like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Bloom’s level: Remember/Understand.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Bloom’s level: Remember. These four symbols cover almost every flowchart students will draw this semester.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Bloom’s level: Apply. This flowchart directly answers "Example 4" from the practice questions later in this unit.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Bloom’s level: Apply/Analyse. Walk through both the YES and NO branches on the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Bloom’s level: Apply. Assign as in-class or take-home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Bloom’s level: Apply/Analyse.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2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6.png"/><Relationship Id="rId4" Type="http://schemas.openxmlformats.org/officeDocument/2006/relationships/image" Target="../media/image18.png"/><Relationship Id="rId9" Type="http://schemas.openxmlformats.org/officeDocument/2006/relationships/image" Target="../media/image17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18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18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D3A7A"/>
          </a:solidFill>
          <a:ln/>
        </p:spPr>
      </p:sp>
      <p:sp>
        <p:nvSpPr>
          <p:cNvPr id="5" name="Text 3"/>
          <p:cNvSpPr/>
          <p:nvPr/>
        </p:nvSpPr>
        <p:spPr>
          <a:xfrm>
            <a:off x="4663440" y="18745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IN PYTHON-I  •  C2111C1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663440" y="22860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Programming Fundamentals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602482" y="4622801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BD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— Languages, Environments, Principles, Debugging, Processors, Algorithms &amp; Flowcharts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663440" y="3794760"/>
            <a:ext cx="502920" cy="411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59893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Semester 1  |  School of Computer Science, Engineering &amp; Technology  |  ITM (SLS) Baroda University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40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1 at a Glance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51206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sections • building from core concepts to algorithms &amp; flowcharts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160520" y="466344"/>
            <a:ext cx="457200" cy="553212"/>
          </a:xfrm>
          <a:prstGeom prst="rect">
            <a:avLst/>
          </a:prstGeom>
          <a:solidFill>
            <a:srgbClr val="E5F3F4"/>
          </a:solidFill>
          <a:ln/>
        </p:spPr>
      </p:sp>
      <p:sp>
        <p:nvSpPr>
          <p:cNvPr id="7" name="Text 5"/>
          <p:cNvSpPr/>
          <p:nvPr/>
        </p:nvSpPr>
        <p:spPr>
          <a:xfrm>
            <a:off x="4160520" y="466344"/>
            <a:ext cx="4572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411480"/>
            <a:ext cx="69037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Programming Fundamentals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54880" y="826389"/>
            <a:ext cx="6903720" cy="33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programming is, and the building blocks every language shares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60520" y="1220724"/>
            <a:ext cx="457200" cy="553212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11" name="Text 9"/>
          <p:cNvSpPr/>
          <p:nvPr/>
        </p:nvSpPr>
        <p:spPr>
          <a:xfrm>
            <a:off x="4160520" y="1220724"/>
            <a:ext cx="4572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1165860"/>
            <a:ext cx="69037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Types of Programming Languages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54880" y="1580769"/>
            <a:ext cx="6903720" cy="33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Low-level vs high-level, and the major programming paradigms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60520" y="1975104"/>
            <a:ext cx="457200" cy="553212"/>
          </a:xfrm>
          <a:prstGeom prst="rect">
            <a:avLst/>
          </a:prstGeom>
          <a:solidFill>
            <a:srgbClr val="E5F3F4"/>
          </a:solidFill>
          <a:ln/>
        </p:spPr>
      </p:sp>
      <p:sp>
        <p:nvSpPr>
          <p:cNvPr id="15" name="Text 13"/>
          <p:cNvSpPr/>
          <p:nvPr/>
        </p:nvSpPr>
        <p:spPr>
          <a:xfrm>
            <a:off x="4160520" y="1975104"/>
            <a:ext cx="4572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1920240"/>
            <a:ext cx="69037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Choosing a Programming Language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54880" y="2335149"/>
            <a:ext cx="6903720" cy="33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that guide the right choice for a task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60520" y="2729484"/>
            <a:ext cx="457200" cy="553212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4160520" y="2729484"/>
            <a:ext cx="4572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2674620"/>
            <a:ext cx="69037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Programming Environment &amp; IDEs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754880" y="3089529"/>
            <a:ext cx="6903720" cy="33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that take code from editor to execution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60520" y="3483864"/>
            <a:ext cx="457200" cy="553212"/>
          </a:xfrm>
          <a:prstGeom prst="rect">
            <a:avLst/>
          </a:prstGeom>
          <a:solidFill>
            <a:srgbClr val="E5F3F4"/>
          </a:solidFill>
          <a:ln/>
        </p:spPr>
      </p:sp>
      <p:sp>
        <p:nvSpPr>
          <p:cNvPr id="23" name="Text 21"/>
          <p:cNvSpPr/>
          <p:nvPr/>
        </p:nvSpPr>
        <p:spPr>
          <a:xfrm>
            <a:off x="4160520" y="3483864"/>
            <a:ext cx="4572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54880" y="3429000"/>
            <a:ext cx="69037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Principles of Programming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754880" y="3843909"/>
            <a:ext cx="6903720" cy="33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habits that separate maintainable code from messy code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160520" y="4238244"/>
            <a:ext cx="457200" cy="553212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27" name="Text 25"/>
          <p:cNvSpPr/>
          <p:nvPr/>
        </p:nvSpPr>
        <p:spPr>
          <a:xfrm>
            <a:off x="4160520" y="4238244"/>
            <a:ext cx="4572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754880" y="4183380"/>
            <a:ext cx="69037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Debugging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754880" y="4598289"/>
            <a:ext cx="6903720" cy="33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Finding, analysing and fixing errors systematically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160520" y="4992624"/>
            <a:ext cx="457200" cy="553212"/>
          </a:xfrm>
          <a:prstGeom prst="rect">
            <a:avLst/>
          </a:prstGeom>
          <a:solidFill>
            <a:srgbClr val="E5F3F4"/>
          </a:solidFill>
          <a:ln/>
        </p:spPr>
      </p:sp>
      <p:sp>
        <p:nvSpPr>
          <p:cNvPr id="31" name="Text 29"/>
          <p:cNvSpPr/>
          <p:nvPr/>
        </p:nvSpPr>
        <p:spPr>
          <a:xfrm>
            <a:off x="4160520" y="4992624"/>
            <a:ext cx="4572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754880" y="4937760"/>
            <a:ext cx="69037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Language Processors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754880" y="5352669"/>
            <a:ext cx="6903720" cy="33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Compilers, interpreters and assemblers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160520" y="5747004"/>
            <a:ext cx="457200" cy="553212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35" name="Text 33"/>
          <p:cNvSpPr/>
          <p:nvPr/>
        </p:nvSpPr>
        <p:spPr>
          <a:xfrm>
            <a:off x="4160520" y="5747004"/>
            <a:ext cx="4572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754880" y="5692140"/>
            <a:ext cx="69037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Algorithms &amp; Flowcharts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4754880" y="6107049"/>
            <a:ext cx="6903720" cy="33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a solution before writing a single line of code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OF 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Programming Fundamentals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93192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FF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programming is, and the building blocks every language shares</a:t>
            </a:r>
            <a:endParaRPr lang="en-US" sz="1500" dirty="0"/>
          </a:p>
        </p:txBody>
      </p:sp>
      <p:pic>
        <p:nvPicPr>
          <p:cNvPr id="7" name="Image 0" descr="/home/claude/icons/code_FFFFFF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10195560" y="5074920"/>
            <a:ext cx="1234440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C2111C1 — Programming in Python-I  |  Unit-1: Introduction to Programming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PROGRAMMING FUNDAMENTALS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Before How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18288"/>
          </a:xfrm>
          <a:prstGeom prst="rect">
            <a:avLst/>
          </a:prstGeom>
          <a:solidFill>
            <a:srgbClr val="E6F4F5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783080"/>
            <a:ext cx="10698480" cy="4206240"/>
          </a:xfrm>
          <a:prstGeom prst="roundRect">
            <a:avLst>
              <a:gd name="adj" fmla="val 2609"/>
            </a:avLst>
          </a:prstGeom>
          <a:solidFill>
            <a:srgbClr val="E6F4F5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20574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057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8288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BEFORE HOW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697480"/>
            <a:ext cx="101498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24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paying a friend back using UPI. You open the app, select the contact, enter the exact amount, confirm with your PIN, and wait for a success message — in that exact order.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a step, or do them out of order, and the payment fails. A computer program is exactly this: a precise, ordered set of instructions that must be followed exactly to get the correct result.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Fundamentals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FUNDAMENTALS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Computer Programming?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41732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11880" y="1417320"/>
            <a:ext cx="7818120" cy="10515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collection of instructions that can be executed by a computer to perform a specific task.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10881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programming is the step-by-step process of designing and developing sets of computer programs to accomplish a specific computing outcome.</a:t>
            </a:r>
            <a:endParaRPr lang="en-US" sz="2000" dirty="0"/>
          </a:p>
          <a:p>
            <a:pPr marL="342900" indent="-342900" algn="just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comprises several tasks: algorithm generation, accuracy checking, coding, analysis, and resource consumption of algorithms.</a:t>
            </a:r>
            <a:endParaRPr lang="en-US" sz="2000" dirty="0"/>
          </a:p>
          <a:p>
            <a:pPr marL="342900" indent="-342900" algn="just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purpose is to find a sequence of instructions that solves a specific problem on a computer.</a:t>
            </a:r>
            <a:endParaRPr lang="en-US" sz="2000" dirty="0"/>
          </a:p>
          <a:p>
            <a:pPr marL="342900" indent="-342900" algn="just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is manageable when approached systematically — with many languages available, choosing the right one for the task is an important early decision.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Fundamentals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FUNDAMENTALS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Programming Languages Are Like Human Languages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as human languages have grammar, programming languages have syntax.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68580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just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is made of nouns, adjectives, adverbs, prepositions, and conjunctions — elements combined using grammar rules.</a:t>
            </a:r>
            <a:endParaRPr lang="en-US" sz="2000" dirty="0"/>
          </a:p>
          <a:p>
            <a:pPr marL="228600" indent="-228600" algn="just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human languages (German, Spanish, Russian, etc.) are built from the same kinds of elements, just with different rules.</a:t>
            </a:r>
            <a:endParaRPr lang="en-US" sz="2000" dirty="0"/>
          </a:p>
          <a:p>
            <a:pPr marL="228600" indent="-228600" algn="just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languages are also made of distinct elements — and every language follows its own grammar, called syntax.</a:t>
            </a:r>
            <a:endParaRPr lang="en-US" sz="2000" dirty="0"/>
          </a:p>
          <a:p>
            <a:pPr marL="228600" indent="-228600" algn="just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of basic code elements is common across almost all programming languages, which is what makes learning a second language faster.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680960" y="1371600"/>
            <a:ext cx="3977640" cy="4937760"/>
          </a:xfrm>
          <a:prstGeom prst="rect">
            <a:avLst/>
          </a:prstGeom>
          <a:solidFill>
            <a:srgbClr val="E5F3F4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India-first example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955280" y="1965960"/>
            <a:ext cx="34747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as Hindi and English both use "if-then" logic in daily speech (e.g., “Agar recharge nahi hua, toh call nahi lagegi”), every programming language expresses the same if-then logic — only the syntax changes.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C2111C1 — Programming in Python-I  |  Unit-1: Introduction to Programming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Fundamentals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18288"/>
          </a:xfrm>
          <a:prstGeom prst="rect">
            <a:avLst/>
          </a:prstGeom>
          <a:solidFill>
            <a:srgbClr val="E6F4F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28800"/>
            <a:ext cx="1033272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24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— a single, unambiguous command the computer can execute</a:t>
            </a:r>
            <a:endParaRPr lang="en-US" sz="24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24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— instructions normally run one after another, top to bottom</a:t>
            </a:r>
            <a:endParaRPr lang="en-US" sz="24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24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Process → Output (IPO) — every program follows this basic flow</a:t>
            </a:r>
            <a:endParaRPr lang="en-US" sz="24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24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vs. Logic — syntax is language grammar; logic is the reasoning behind steps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C2111C1 — Programming in Python-I  |  Unit-1: Introduction to Programming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Input – Process – Output Model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18288"/>
          </a:xfrm>
          <a:prstGeom prst="rect">
            <a:avLst/>
          </a:prstGeom>
          <a:solidFill>
            <a:srgbClr val="E6F4F5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8346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971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to pay,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611880" y="3474720"/>
            <a:ext cx="1051560" cy="0"/>
          </a:xfrm>
          <a:prstGeom prst="line">
            <a:avLst/>
          </a:prstGeom>
          <a:noFill/>
          <a:ln w="19050">
            <a:solidFill>
              <a:srgbClr val="6B6F7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709160" y="28346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2971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09160" y="32918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balance,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 amount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498080" y="3474720"/>
            <a:ext cx="1051560" cy="0"/>
          </a:xfrm>
          <a:prstGeom prst="line">
            <a:avLst/>
          </a:prstGeom>
          <a:noFill/>
          <a:ln w="19050">
            <a:solidFill>
              <a:srgbClr val="6B6F7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595360" y="28346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4A300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0" y="2971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95360" y="32918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4572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UPI payment app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OF 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Programming Languages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93192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FF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Low-level vs high-level languages, and the major programming paradigms</a:t>
            </a:r>
            <a:endParaRPr lang="en-US" sz="1500" dirty="0"/>
          </a:p>
        </p:txBody>
      </p:sp>
      <p:pic>
        <p:nvPicPr>
          <p:cNvPr id="7" name="Image 0" descr="/home/claude/icons/language_FFFFFF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10195560" y="5074920"/>
            <a:ext cx="1234440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512064"/>
            <a:ext cx="755904" cy="755904"/>
          </a:xfrm>
          <a:prstGeom prst="ellipse">
            <a:avLst/>
          </a:prstGeom>
          <a:solidFill>
            <a:srgbClr val="0F7A7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427" y="617891"/>
            <a:ext cx="544251" cy="5442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24000" y="731520"/>
            <a:ext cx="987552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Programming </a:t>
            </a:r>
            <a:r>
              <a:rPr lang="en-US" sz="32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Langauges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09600" y="1560576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Language abstraction levels</a:t>
            </a:r>
            <a:endParaRPr lang="en-US" sz="1733" dirty="0"/>
          </a:p>
        </p:txBody>
      </p:sp>
      <p:sp>
        <p:nvSpPr>
          <p:cNvPr id="7" name="Shape 4"/>
          <p:cNvSpPr/>
          <p:nvPr/>
        </p:nvSpPr>
        <p:spPr>
          <a:xfrm>
            <a:off x="731520" y="2133600"/>
            <a:ext cx="5120640" cy="1767840"/>
          </a:xfrm>
          <a:prstGeom prst="roundRect">
            <a:avLst>
              <a:gd name="adj" fmla="val 5517"/>
            </a:avLst>
          </a:prstGeom>
          <a:solidFill>
            <a:srgbClr val="F5F7FA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75360" y="2377440"/>
            <a:ext cx="512064" cy="512064"/>
          </a:xfrm>
          <a:prstGeom prst="ellipse">
            <a:avLst/>
          </a:prstGeom>
          <a:solidFill>
            <a:srgbClr val="0F7A73"/>
          </a:solidFill>
          <a:ln/>
        </p:spPr>
      </p:sp>
      <p:sp>
        <p:nvSpPr>
          <p:cNvPr id="9" name="Text 6"/>
          <p:cNvSpPr/>
          <p:nvPr/>
        </p:nvSpPr>
        <p:spPr>
          <a:xfrm>
            <a:off x="975360" y="23774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133" dirty="0"/>
          </a:p>
        </p:txBody>
      </p:sp>
      <p:sp>
        <p:nvSpPr>
          <p:cNvPr id="10" name="Text 7"/>
          <p:cNvSpPr/>
          <p:nvPr/>
        </p:nvSpPr>
        <p:spPr>
          <a:xfrm>
            <a:off x="1645920" y="2304288"/>
            <a:ext cx="3962400" cy="1426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language — raw binary, fastest, unreadable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6339840" y="2133600"/>
            <a:ext cx="5120640" cy="1767840"/>
          </a:xfrm>
          <a:prstGeom prst="roundRect">
            <a:avLst>
              <a:gd name="adj" fmla="val 5517"/>
            </a:avLst>
          </a:prstGeom>
          <a:solidFill>
            <a:srgbClr val="F5F7FA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0" y="2377440"/>
            <a:ext cx="512064" cy="512064"/>
          </a:xfrm>
          <a:prstGeom prst="ellipse">
            <a:avLst/>
          </a:prstGeom>
          <a:solidFill>
            <a:srgbClr val="C77A1E"/>
          </a:solidFill>
          <a:ln/>
        </p:spPr>
      </p:sp>
      <p:sp>
        <p:nvSpPr>
          <p:cNvPr id="13" name="Text 10"/>
          <p:cNvSpPr/>
          <p:nvPr/>
        </p:nvSpPr>
        <p:spPr>
          <a:xfrm>
            <a:off x="6583680" y="23774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133" dirty="0"/>
          </a:p>
        </p:txBody>
      </p:sp>
      <p:sp>
        <p:nvSpPr>
          <p:cNvPr id="14" name="Text 11"/>
          <p:cNvSpPr/>
          <p:nvPr/>
        </p:nvSpPr>
        <p:spPr>
          <a:xfrm>
            <a:off x="7254240" y="2304288"/>
            <a:ext cx="3962400" cy="1426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language — mnemonics (MOV, ADD), hardware-specific</a:t>
            </a: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2875280" y="4511040"/>
            <a:ext cx="5120640" cy="1767840"/>
          </a:xfrm>
          <a:prstGeom prst="roundRect">
            <a:avLst>
              <a:gd name="adj" fmla="val 5517"/>
            </a:avLst>
          </a:prstGeom>
          <a:solidFill>
            <a:srgbClr val="F5F7FA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966720" y="4882896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4"/>
          <p:cNvSpPr/>
          <p:nvPr/>
        </p:nvSpPr>
        <p:spPr>
          <a:xfrm>
            <a:off x="2964688" y="48828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133" dirty="0"/>
          </a:p>
        </p:txBody>
      </p:sp>
      <p:sp>
        <p:nvSpPr>
          <p:cNvPr id="18" name="Text 15"/>
          <p:cNvSpPr/>
          <p:nvPr/>
        </p:nvSpPr>
        <p:spPr>
          <a:xfrm>
            <a:off x="3627120" y="4767072"/>
            <a:ext cx="3962400" cy="1426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language — Python, Java: readable, portable</a:t>
            </a: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583680" y="45110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133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Programming Languages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PROGRAMMING LANGUAGES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Broad Categories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languages fall into two broad categories, each with further sub-types: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30352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830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LEVEL LANGUAGES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5303520" cy="822960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791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Language (1GL)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299008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of 0s and 1s — directly understood by the processor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5303520" cy="822960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63931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Language (2GL)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395020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Mnemonic codes like ADD, SUB — converted to machine code by an assembler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63640" y="1783080"/>
            <a:ext cx="534924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783080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LEVEL LANGUAGES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2587752" cy="822960"/>
          </a:xfrm>
          <a:prstGeom prst="rect">
            <a:avLst/>
          </a:prstGeom>
          <a:solidFill>
            <a:srgbClr val="FDF0DA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2606040"/>
            <a:ext cx="2587752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(3GL)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988552" y="2606040"/>
            <a:ext cx="2587752" cy="822960"/>
          </a:xfrm>
          <a:prstGeom prst="rect">
            <a:avLst/>
          </a:prstGeom>
          <a:solidFill>
            <a:srgbClr val="FDF0DA"/>
          </a:solidFill>
          <a:ln/>
        </p:spPr>
      </p:sp>
      <p:sp>
        <p:nvSpPr>
          <p:cNvPr id="20" name="Text 18"/>
          <p:cNvSpPr/>
          <p:nvPr/>
        </p:nvSpPr>
        <p:spPr>
          <a:xfrm>
            <a:off x="8988552" y="2606040"/>
            <a:ext cx="2587752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63640" y="3566160"/>
            <a:ext cx="2587752" cy="822960"/>
          </a:xfrm>
          <a:prstGeom prst="rect">
            <a:avLst/>
          </a:prstGeom>
          <a:solidFill>
            <a:srgbClr val="FDF0DA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3566160"/>
            <a:ext cx="2587752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8988552" y="3566160"/>
            <a:ext cx="2587752" cy="822960"/>
          </a:xfrm>
          <a:prstGeom prst="rect">
            <a:avLst/>
          </a:prstGeom>
          <a:solidFill>
            <a:srgbClr val="FDF0DA"/>
          </a:solidFill>
          <a:ln/>
        </p:spPr>
      </p:sp>
      <p:sp>
        <p:nvSpPr>
          <p:cNvPr id="24" name="Text 22"/>
          <p:cNvSpPr/>
          <p:nvPr/>
        </p:nvSpPr>
        <p:spPr>
          <a:xfrm>
            <a:off x="8988552" y="3566160"/>
            <a:ext cx="2587752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" y="4709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these, specialized languages also exist — Query languages (SQL), Markup languages (HTML), and Domain-Specific Languages (DSLs).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Level Language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LEVEL LANGUAGE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Language (1GL)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fundamental language a computer directly understands — strings of binary digits (0s and 1s).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1984248"/>
            <a:ext cx="5349240" cy="4370832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984248"/>
            <a:ext cx="534924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98424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642616"/>
            <a:ext cx="4800600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understood by the processor, so execution is very fast — no translation is needed.</a:t>
            </a:r>
            <a:endParaRPr lang="en-US" sz="2400" dirty="0"/>
          </a:p>
          <a:p>
            <a:pPr marL="342900" indent="-342900" algn="just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very little memory to run.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263640" y="1984248"/>
            <a:ext cx="5349240" cy="4370832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6263640" y="1984248"/>
            <a:ext cx="5349240" cy="502920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98424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Demerits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37960" y="2642616"/>
            <a:ext cx="4800600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difficult to program — every instruction must be written in 0s and 1s.</a:t>
            </a:r>
            <a:endParaRPr lang="en-US" sz="2400" dirty="0"/>
          </a:p>
          <a:p>
            <a:pPr marL="342900" indent="-342900" algn="just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is time-consuming.</a:t>
            </a:r>
            <a:endParaRPr lang="en-US" sz="2400" dirty="0"/>
          </a:p>
          <a:p>
            <a:pPr marL="342900" indent="-342900" algn="just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hard to find errors and debug.</a:t>
            </a:r>
            <a:endParaRPr lang="en-US" sz="2400" dirty="0"/>
          </a:p>
          <a:p>
            <a:pPr marL="342900" indent="-342900" algn="just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only by experts.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Level Language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LEVEL LANGUAGE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Assembly Language (2GL)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mnemonic codes (e.g., ADD, SUB, DIV) instead of raw binary; converted to machine code (object code) by an assembler.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1984248"/>
            <a:ext cx="5349240" cy="4370832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984248"/>
            <a:ext cx="534924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98424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642616"/>
            <a:ext cx="4800600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to program than 1GL using mnemonics (ADD, SUB, DIV, etc.).</a:t>
            </a:r>
            <a:endParaRPr lang="en-US" sz="2000" dirty="0"/>
          </a:p>
          <a:p>
            <a:pPr marL="342900" indent="-342900" algn="just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programming process than machine language.</a:t>
            </a:r>
            <a:endParaRPr lang="en-US" sz="2000" dirty="0"/>
          </a:p>
          <a:p>
            <a:pPr marL="342900" indent="-342900" algn="just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are identified more easily than in 1GL.</a:t>
            </a:r>
            <a:endParaRPr lang="en-US" sz="2000" dirty="0"/>
          </a:p>
          <a:p>
            <a:pPr marL="342900" indent="-342900" algn="just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to debug than machine language.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63640" y="1984248"/>
            <a:ext cx="5349240" cy="4370832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6263640" y="1984248"/>
            <a:ext cx="5349240" cy="502920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98424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Demerits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37960" y="2642616"/>
            <a:ext cx="4800600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directly understandable by the computer — needs a translator (assembler).</a:t>
            </a:r>
            <a:endParaRPr lang="en-US" sz="2000" dirty="0"/>
          </a:p>
          <a:p>
            <a:pPr marL="342900" indent="-342900" algn="just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Hardware-dependent — forces programmers to think in terms of architecture.</a:t>
            </a:r>
            <a:endParaRPr lang="en-US" sz="2000" dirty="0"/>
          </a:p>
          <a:p>
            <a:pPr marL="342900" indent="-342900" algn="just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 portability across machines.</a:t>
            </a:r>
            <a:endParaRPr lang="en-US" sz="2000" dirty="0"/>
          </a:p>
          <a:p>
            <a:pPr marL="342900" indent="-342900" algn="just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Programmers must memorise mnemonic codes for every task.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Level Language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LEVEL LANGUAGE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Level Language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closely resemble human (English-like) language and mathematical notation.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10881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easier to learn than low-level languages.</a:t>
            </a:r>
            <a:endParaRPr lang="en-US" sz="2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less time to write, and errors are easier to locate and fix.</a:t>
            </a:r>
            <a:endParaRPr lang="en-US" sz="2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into machine language by a translator program — either an interpreter or a compiler.</a:t>
            </a:r>
            <a:endParaRPr lang="en-US" sz="2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in everyday use: Python, Java, C++, JavaScript.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8016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Programming Paradigms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 •  Object-Oriented  •  Functional  •  Scripting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" y="3749040"/>
            <a:ext cx="640080" cy="640080"/>
          </a:xfrm>
          <a:prstGeom prst="ellipse">
            <a:avLst/>
          </a:prstGeom>
          <a:solidFill>
            <a:srgbClr val="0F717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749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20040" y="44348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Procedural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240280" y="3749040"/>
            <a:ext cx="640080" cy="640080"/>
          </a:xfrm>
          <a:prstGeom prst="ellipse">
            <a:avLst/>
          </a:prstGeom>
          <a:solidFill>
            <a:srgbClr val="F0932B"/>
          </a:solidFill>
          <a:ln/>
        </p:spPr>
      </p:sp>
      <p:sp>
        <p:nvSpPr>
          <p:cNvPr id="13" name="Text 11"/>
          <p:cNvSpPr/>
          <p:nvPr/>
        </p:nvSpPr>
        <p:spPr>
          <a:xfrm>
            <a:off x="2240280" y="3749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920240" y="44348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OOP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840480" y="3749040"/>
            <a:ext cx="640080" cy="640080"/>
          </a:xfrm>
          <a:prstGeom prst="ellipse">
            <a:avLst/>
          </a:prstGeom>
          <a:solidFill>
            <a:srgbClr val="8B7FD6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0" y="3749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520440" y="44348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440680" y="3749040"/>
            <a:ext cx="640080" cy="640080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19" name="Text 17"/>
          <p:cNvSpPr/>
          <p:nvPr/>
        </p:nvSpPr>
        <p:spPr>
          <a:xfrm>
            <a:off x="5440680" y="3749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120640" y="44348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Scripting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0080" y="6080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AA6D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Science, Engineering &amp; Technology (SOCSET)  |  ITM (SLS) Baroda University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Is a Programming Paradigm?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666F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fundamental style — or approach — for structuring and writing computer programs.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57784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148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Definition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49377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marR="0" lvl="0" indent="-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8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programming paradigm is a way of thinking about and organising code — how data flows, how logic is expressed, and how a problem is broken down.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8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It is not a language, but a philosophy that many languages can follow (e.g., Python supports procedural, OOP, and functional styles).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8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paradigm affects readability, reusability, testability, and how easily a team can maintain the software.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8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four major paradigms every programmer should recognise.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0" y="192024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29400" y="2148840"/>
            <a:ext cx="502920" cy="502920"/>
          </a:xfrm>
          <a:prstGeom prst="ellipse">
            <a:avLst/>
          </a:prstGeom>
          <a:solidFill>
            <a:srgbClr val="0F7173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629400" y="27889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Procedural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629400" y="3127248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666F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instructions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189720" y="192024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418320" y="2148840"/>
            <a:ext cx="502920" cy="502920"/>
          </a:xfrm>
          <a:prstGeom prst="ellipse">
            <a:avLst/>
          </a:prstGeom>
          <a:solidFill>
            <a:srgbClr val="F0932B"/>
          </a:solidFill>
          <a:ln/>
        </p:spPr>
      </p:sp>
      <p:sp>
        <p:nvSpPr>
          <p:cNvPr id="16" name="Text 14"/>
          <p:cNvSpPr/>
          <p:nvPr/>
        </p:nvSpPr>
        <p:spPr>
          <a:xfrm>
            <a:off x="941832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418320" y="27889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Object-Oriented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418320" y="3127248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666F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Objects bundling data + behaviour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400800" y="402336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29400" y="4251960"/>
            <a:ext cx="502920" cy="502920"/>
          </a:xfrm>
          <a:prstGeom prst="ellipse">
            <a:avLst/>
          </a:prstGeom>
          <a:solidFill>
            <a:srgbClr val="8B7FD6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629400" y="4892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Functional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629400" y="5230368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666F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 as pure functions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189720" y="402336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418320" y="4251960"/>
            <a:ext cx="502920" cy="502920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26" name="Text 24"/>
          <p:cNvSpPr/>
          <p:nvPr/>
        </p:nvSpPr>
        <p:spPr>
          <a:xfrm>
            <a:off x="9418320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418320" y="4892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Scripting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418320" y="5230368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666F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automation &amp; glue code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66F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Paradigms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66F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0F717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PARADIGM 1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Procedural Programming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666F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Programs as a sequence of step-by-step instructions organised into procedures (functions).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424160" y="502920"/>
            <a:ext cx="822960" cy="822960"/>
          </a:xfrm>
          <a:prstGeom prst="ellipse">
            <a:avLst/>
          </a:prstGeom>
          <a:solidFill>
            <a:srgbClr val="0F7173"/>
          </a:solidFill>
          <a:ln/>
        </p:spPr>
      </p:sp>
      <p:sp>
        <p:nvSpPr>
          <p:cNvPr id="7" name="Text 5"/>
          <p:cNvSpPr/>
          <p:nvPr/>
        </p:nvSpPr>
        <p:spPr>
          <a:xfrm>
            <a:off x="10424160" y="502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539496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21945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Core Idea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68680" y="2606040"/>
            <a:ext cx="47548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marR="0" lvl="0" indent="-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8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Follows a top-down approach: the program is divided into procedures / functions that are called in sequence.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8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Emphasises 'how' a task is done — a clear, ordered recipe of instructions.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8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Uses global and local variables that are modified as the program executes.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8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flows via sequence, selection (if-else) and iteration (loops).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8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Examples of procedural languages: C, Pascal, BASIC, FORTRAN, and COBOL.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172200" y="1965960"/>
            <a:ext cx="5468112" cy="4160520"/>
          </a:xfrm>
          <a:prstGeom prst="roundRect">
            <a:avLst>
              <a:gd name="adj" fmla="val 1978"/>
            </a:avLst>
          </a:prstGeom>
          <a:solidFill>
            <a:srgbClr val="1E2761"/>
          </a:solidFill>
          <a:ln w="12700">
            <a:solidFill>
              <a:srgbClr val="E3E7EE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21945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Key Characteristics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92240" y="2679192"/>
            <a:ext cx="128016" cy="128016"/>
          </a:xfrm>
          <a:prstGeom prst="ellipse">
            <a:avLst/>
          </a:prstGeom>
          <a:solidFill>
            <a:srgbClr val="F0932B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254203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Functions / Procedures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766560" y="287121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Reusable blocks that perform a specific task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92240" y="3520440"/>
            <a:ext cx="128016" cy="128016"/>
          </a:xfrm>
          <a:prstGeom prst="ellipse">
            <a:avLst/>
          </a:prstGeom>
          <a:solidFill>
            <a:srgbClr val="F0932B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33832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Execution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766560" y="371246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run in the order they are written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492240" y="4361688"/>
            <a:ext cx="128016" cy="128016"/>
          </a:xfrm>
          <a:prstGeom prst="ellipse">
            <a:avLst/>
          </a:prstGeom>
          <a:solidFill>
            <a:srgbClr val="F0932B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0" y="422452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Shared State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766560" y="455371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Variables passed between or shared across functions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492240" y="5202936"/>
            <a:ext cx="128016" cy="128016"/>
          </a:xfrm>
          <a:prstGeom prst="ellipse">
            <a:avLst/>
          </a:prstGeom>
          <a:solidFill>
            <a:srgbClr val="F0932B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5065776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Modularity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766560" y="53949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Large problems split into smaller callable procedures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66F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Programming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66F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0F717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PARADIGM 1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Procedural Programming — Example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666F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Calculating the final bill for a Flipkart-style order using plain functions.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6492240" cy="4160520"/>
          </a:xfrm>
          <a:prstGeom prst="roundRect">
            <a:avLst>
              <a:gd name="adj" fmla="val 1758"/>
            </a:avLst>
          </a:prstGeom>
          <a:solidFill>
            <a:srgbClr val="12182E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112264"/>
            <a:ext cx="100584" cy="100584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" y="2112264"/>
            <a:ext cx="100584" cy="10058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1042416" y="2112264"/>
            <a:ext cx="100584" cy="1005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2048256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billing.py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2423160"/>
            <a:ext cx="5943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4B5FD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93C5FD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apply_discount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(price, percent):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price - (price * percent / 100)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4B5FD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93C5FD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add_gst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(price, gst_rate=18):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price + (price * gst_rate / 100)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4B5FD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93C5FD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generate_bill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(mrp, discount_pct):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price = apply_discount(mrp, discount_pct)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 = add_gst(price)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EE7B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"Final Amount: ₹"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round(final, 2))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Sequential calls — step by step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93C5FD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generate_bill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CD34D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1999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CD34D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315200" y="1965960"/>
            <a:ext cx="4325112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35240" y="2194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It Works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635240" y="2606040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marR="0" lvl="0" indent="-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228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Each task (discount, GST, billing) is its own procedure.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228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generate_bill() calls the other functions in a fixed sequence.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228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 (price) is passed explicitly between functions — there is no bundled object.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228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Easy to trace top-to-bottom, ideal for straightforward, linear tasks.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66F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Programming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66F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0F717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PARADIGM 1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Procedural Programming — Trade-offs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68112" cy="4160520"/>
          </a:xfrm>
          <a:prstGeom prst="roundRect">
            <a:avLst>
              <a:gd name="adj" fmla="val 1978"/>
            </a:avLst>
          </a:prstGeom>
          <a:solidFill>
            <a:srgbClr val="E4F3F2"/>
          </a:solidFill>
          <a:ln w="12700">
            <a:solidFill>
              <a:srgbClr val="E3E7EE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1945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F7173"/>
                </a:solidFill>
                <a:effectLst/>
                <a:uLnTx/>
                <a:uFillTx/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Advantages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marR="0" lvl="0" indent="-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B4A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Simple and intuitive — easy for beginners to read top to bottom.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B4A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Efficient use of memory and fast execution (close to hardware, e.g. C).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B4A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Straightforward to debug for small, linear programs.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B4A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Well suited to tasks with a clear, fixed sequence of steps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B4A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172200" y="1965960"/>
            <a:ext cx="5468112" cy="4160520"/>
          </a:xfrm>
          <a:prstGeom prst="roundRect">
            <a:avLst>
              <a:gd name="adj" fmla="val 1978"/>
            </a:avLst>
          </a:prstGeom>
          <a:solidFill>
            <a:srgbClr val="FDECE0"/>
          </a:solidFill>
          <a:ln w="12700">
            <a:solidFill>
              <a:srgbClr val="E3E7EE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21945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B5651D"/>
                </a:solidFill>
                <a:effectLst/>
                <a:uLnTx/>
                <a:uFillTx/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Disadvantages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92240" y="26060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marR="0" lvl="0" indent="-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A3B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Hard to scale — large programs become long and difficult to manage.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A3B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Global/shared data can be modified anywhere, making bugs hard to trace.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A3B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Poor real-world modelling; doesn't map naturally to complex entities.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A3B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Low reusability of code across unrelated projects.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66F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Programming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66F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Programming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PROGRAMMING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Is It Used? — Real-World Applications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programming remains the backbone of systems where performance and direct hardware control matter most</a:t>
            </a: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84248"/>
            <a:ext cx="5349240" cy="4370832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984248"/>
            <a:ext cx="534924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98424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 Cases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642616"/>
            <a:ext cx="4800600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 kernels and device drivers</a:t>
            </a:r>
            <a:endParaRPr lang="en-US" sz="2000" dirty="0"/>
          </a:p>
          <a:p>
            <a:pPr marL="342900" indent="-342900" algn="just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systems and firmware (e.g. microwave, washing machine controllers)</a:t>
            </a:r>
            <a:endParaRPr lang="en-US" sz="2000" dirty="0"/>
          </a:p>
          <a:p>
            <a:pPr marL="342900" indent="-342900" algn="just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and numerical computing (legacy FORTRAN code)</a:t>
            </a:r>
            <a:endParaRPr lang="en-US" sz="2000" dirty="0"/>
          </a:p>
          <a:p>
            <a:pPr marL="342900" indent="-342900" algn="just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automation scripts and utilities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F093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PARADIGM 2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Object-Oriented Programming (OOP)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666F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Programs modelled as a collection of objects that bundle data (attributes) and behaviour (methods).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424160" y="502920"/>
            <a:ext cx="822960" cy="822960"/>
          </a:xfrm>
          <a:prstGeom prst="ellipse">
            <a:avLst/>
          </a:prstGeom>
          <a:solidFill>
            <a:srgbClr val="F0932B"/>
          </a:solidFill>
          <a:ln/>
        </p:spPr>
      </p:sp>
      <p:sp>
        <p:nvSpPr>
          <p:cNvPr id="7" name="Text 5"/>
          <p:cNvSpPr/>
          <p:nvPr/>
        </p:nvSpPr>
        <p:spPr>
          <a:xfrm>
            <a:off x="10424160" y="502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539496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21945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Core Idea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68680" y="2606040"/>
            <a:ext cx="47548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marR="0" lvl="0" indent="-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228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entities are modelled as objects, created from blueprints called classes.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228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Each object holds its own data (attributes/fields) and the functions (methods) that operate on it.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228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'what' interacts with 'what' — systems of collaborating objects.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228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Examples of OOP languages: Java, C++, Python, C#, and Kotlin.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309360" y="19659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Four Pillars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172200" y="2377440"/>
            <a:ext cx="265176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55080" y="25603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0932B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2560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355080" y="30632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Encapsulation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355080" y="336499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666F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Bundling data &amp; methods; hiding internal state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961120" y="2377440"/>
            <a:ext cx="265176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0" y="25603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0932B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0" y="2560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144000" y="30632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Inheritance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144000" y="336499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666F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class reuses/extends another class's features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172200" y="4297680"/>
            <a:ext cx="265176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55080" y="44805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0932B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4480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355080" y="49834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Polymorphism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355080" y="528523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666F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Same method behaves differently per object type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961120" y="4297680"/>
            <a:ext cx="265176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144000" y="44805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0932B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0" y="4480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144000" y="49834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Abstraction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144000" y="528523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666F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Exposing essential details, hiding complexity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66F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66F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F093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PARADIGM 2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OOP — Example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666F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simple UPIWallet class modelling a digital wallet, similar to Paytm or PhonePe.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6492240" cy="4160520"/>
          </a:xfrm>
          <a:prstGeom prst="roundRect">
            <a:avLst>
              <a:gd name="adj" fmla="val 1758"/>
            </a:avLst>
          </a:prstGeom>
          <a:solidFill>
            <a:srgbClr val="12182E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112264"/>
            <a:ext cx="100584" cy="100584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" y="2112264"/>
            <a:ext cx="100584" cy="10058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1042416" y="2112264"/>
            <a:ext cx="100584" cy="1005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2048256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wallet.py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2423160"/>
            <a:ext cx="5943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4B5FD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93C5FD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UPIWallet: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4B5FD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93C5FD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(self, owner, balance=0):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self.owner = owner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self.balance = balance   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encapsulated data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4B5FD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93C5FD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deposit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(self, amount):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self.balance += amount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4B5FD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93C5FD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(self, amount, to):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amount &lt;= self.balance: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self.balance -= amount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print(f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EE7B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"Paid ₹{amount} to {to}"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shivi_wallet = 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93C5FD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UPIWallet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EE7B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"Shivi"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CD34D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shivi_wallet.pay(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CD34D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EE7B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"Swiggy"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315200" y="1965960"/>
            <a:ext cx="4325112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35240" y="2194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It Works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635240" y="2606040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marR="0" lvl="0" indent="-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228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UPIWallet is a class — a blueprint for wallet objects.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228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owner and balance are encapsulated inside each object.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228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deposit() and pay() are methods that act on that object's own data.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228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shivi_wallet is an instance (object) created from the class.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228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SavingsWallet class could inherit UPIWallet and add interest logic.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66F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66F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F093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PARADIGM 2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OOP — Trade-offs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68112" cy="4160520"/>
          </a:xfrm>
          <a:prstGeom prst="roundRect">
            <a:avLst>
              <a:gd name="adj" fmla="val 1978"/>
            </a:avLst>
          </a:prstGeom>
          <a:solidFill>
            <a:srgbClr val="E4F3F2"/>
          </a:solidFill>
          <a:ln w="12700">
            <a:solidFill>
              <a:srgbClr val="E3E7EE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1945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F7173"/>
                </a:solidFill>
                <a:effectLst/>
                <a:uLnTx/>
                <a:uFillTx/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Advantages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marR="0" lvl="0" indent="-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B4A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Models real-world entities naturally (Customer, Order, Vehicle).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B4A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 protects data; inheritance promotes reuse.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B4A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Scales well to large, complex applications (e.g. banking, e-commerce).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B4A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Easier team collaboration — objects can be developed independently.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172200" y="1965960"/>
            <a:ext cx="5468112" cy="4160520"/>
          </a:xfrm>
          <a:prstGeom prst="roundRect">
            <a:avLst>
              <a:gd name="adj" fmla="val 1978"/>
            </a:avLst>
          </a:prstGeom>
          <a:solidFill>
            <a:srgbClr val="FDECE0"/>
          </a:solidFill>
          <a:ln w="12700">
            <a:solidFill>
              <a:srgbClr val="E3E7EE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21945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B5651D"/>
                </a:solidFill>
                <a:effectLst/>
                <a:uLnTx/>
                <a:uFillTx/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Disadvantages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92240" y="26060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7A3B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More upfront design effort — classes and relationships must be planned.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7A3B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Can run slower / use more memory than simple procedural code.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7A3B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Deep inheritance hierarchies can become confusing to trace.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7A3B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Steeper learning curve for beginners than plain procedures.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66F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66F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Is It Used? — Real-World Applications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is the dominant paradigm for large, evolving applications with many interacting components</a:t>
            </a: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84248"/>
            <a:ext cx="5349240" cy="4370832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984248"/>
            <a:ext cx="534924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98424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 Cases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642616"/>
            <a:ext cx="4800600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software (banking, ERP, HR systems)</a:t>
            </a:r>
            <a:endParaRPr lang="en-US" sz="2000" dirty="0"/>
          </a:p>
          <a:p>
            <a:pPr marL="342900" indent="-342900" algn="just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&amp; desktop applications (Android apps in Java/Kotlin)</a:t>
            </a:r>
            <a:endParaRPr lang="en-US" sz="2000" dirty="0"/>
          </a:p>
          <a:p>
            <a:pPr marL="342900" indent="-342900" algn="just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development (characters, enemies, and items as objects)</a:t>
            </a:r>
            <a:endParaRPr lang="en-US" sz="2000" dirty="0"/>
          </a:p>
          <a:p>
            <a:pPr marL="342900" indent="-342900" algn="just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frameworks and simulation software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8B7FD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PARADIGM 3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Functional Programming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666F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 is treated as the evaluation of mathematical functions, avoiding shared state and mutable data.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424160" y="502920"/>
            <a:ext cx="822960" cy="822960"/>
          </a:xfrm>
          <a:prstGeom prst="ellipse">
            <a:avLst/>
          </a:prstGeom>
          <a:solidFill>
            <a:srgbClr val="8B7FD6"/>
          </a:solidFill>
          <a:ln/>
        </p:spPr>
      </p:sp>
      <p:sp>
        <p:nvSpPr>
          <p:cNvPr id="7" name="Text 5"/>
          <p:cNvSpPr/>
          <p:nvPr/>
        </p:nvSpPr>
        <p:spPr>
          <a:xfrm>
            <a:off x="10424160" y="502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539496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21945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Core Idea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68680" y="2606040"/>
            <a:ext cx="47548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marR="0" lvl="0" indent="-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228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Functions are treated as first-class citizens — they can be passed as arguments, returned, and stored in variables.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228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Emphasises pure functions: same input always gives the same output, with no side effects.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228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 is immutable — instead of changing data, new data is produced.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228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Examples: Haskell, Erlang, Scala, Clojure; also supported in Python and JavaScript.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172200" y="1965960"/>
            <a:ext cx="5468112" cy="4160520"/>
          </a:xfrm>
          <a:prstGeom prst="roundRect">
            <a:avLst>
              <a:gd name="adj" fmla="val 1978"/>
            </a:avLst>
          </a:prstGeom>
          <a:solidFill>
            <a:srgbClr val="1E2761"/>
          </a:solidFill>
          <a:ln w="12700">
            <a:solidFill>
              <a:srgbClr val="E3E7EE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21945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Key Concepts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92240" y="2679192"/>
            <a:ext cx="128016" cy="128016"/>
          </a:xfrm>
          <a:prstGeom prst="ellipse">
            <a:avLst/>
          </a:prstGeom>
          <a:solidFill>
            <a:srgbClr val="C4B5FD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254203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Pure Functions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766560" y="287121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 side effects; output depends only on input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92240" y="3520440"/>
            <a:ext cx="128016" cy="128016"/>
          </a:xfrm>
          <a:prstGeom prst="ellipse">
            <a:avLst/>
          </a:prstGeom>
          <a:solidFill>
            <a:srgbClr val="C4B5FD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33832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Immutability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766560" y="371246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 is never modified in place, only transformed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492240" y="4361688"/>
            <a:ext cx="128016" cy="128016"/>
          </a:xfrm>
          <a:prstGeom prst="ellipse">
            <a:avLst/>
          </a:prstGeom>
          <a:solidFill>
            <a:srgbClr val="C4B5FD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0" y="422452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Higher-Order Functions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766560" y="455371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Functions that take/return other functions (map, filter)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492240" y="5202936"/>
            <a:ext cx="128016" cy="128016"/>
          </a:xfrm>
          <a:prstGeom prst="ellipse">
            <a:avLst/>
          </a:prstGeom>
          <a:solidFill>
            <a:srgbClr val="C4B5FD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5065776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Recursion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766560" y="53949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Loops are often replaced by functions calling themselves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66F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Programming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66F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8B7FD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PARADIGM 3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Functional Programming — Example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666F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Filtering and transforming a list of Swiggy orders using pure functions.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6492240" cy="4160520"/>
          </a:xfrm>
          <a:prstGeom prst="roundRect">
            <a:avLst>
              <a:gd name="adj" fmla="val 1758"/>
            </a:avLst>
          </a:prstGeom>
          <a:solidFill>
            <a:srgbClr val="12182E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112264"/>
            <a:ext cx="100584" cy="100584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" y="2112264"/>
            <a:ext cx="100584" cy="10058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1042416" y="2112264"/>
            <a:ext cx="100584" cy="1005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2048256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orders.py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2423160"/>
            <a:ext cx="5943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 = [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EE7B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"item"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EE7B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"Thali"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EE7B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"amount"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CD34D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220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EE7B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"item"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EE7B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"Biryani"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EE7B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"amount"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CD34D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540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EE7B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"item"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EE7B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"Dosa"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EE7B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"amount"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CD34D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Pure function — no side effects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add_gst = 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4B5FD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 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o: {**o, 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EE7B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"amount"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o[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EE7B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"amount"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]*1.05}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Higher-order functions: filter + map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big_orders = list(filter(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4B5FD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 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o: o[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EE7B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"amount"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]&gt;200, orders))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billed = list(map(add_gst, big_orders))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315200" y="1965960"/>
            <a:ext cx="4325112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35240" y="2194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It Works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635240" y="2606040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marR="0" lvl="0" indent="-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8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add_gst() is pure — it returns a new dictionary instead of changing the original order.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8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filter() and map() are higher-order functions — they take add_gst and a lambda as arguments.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8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orders list is never mutated — a hallmark of immutability.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8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reads as a chain of transformations, not a sequence of state changes.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66F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Programming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66F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8B7FD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PARADIGM 3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Functional Programming — Trade-offs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68112" cy="4160520"/>
          </a:xfrm>
          <a:prstGeom prst="roundRect">
            <a:avLst>
              <a:gd name="adj" fmla="val 1978"/>
            </a:avLst>
          </a:prstGeom>
          <a:solidFill>
            <a:srgbClr val="E4F3F2"/>
          </a:solidFill>
          <a:ln w="12700">
            <a:solidFill>
              <a:srgbClr val="E3E7EE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1945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F7173"/>
                </a:solidFill>
                <a:effectLst/>
                <a:uLnTx/>
                <a:uFillTx/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Advantages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marR="0" lvl="0" indent="-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B4A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and easier to test — pure functions have no hidden state.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B4A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Naturally suited to parallel / concurrent execution (no shared mutable state).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B4A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Concise code for data transformations (map, filter, reduce pipelines).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B4A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Fewer bugs caused by unexpected state changes.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172200" y="1965960"/>
            <a:ext cx="5468112" cy="4160520"/>
          </a:xfrm>
          <a:prstGeom prst="roundRect">
            <a:avLst>
              <a:gd name="adj" fmla="val 1978"/>
            </a:avLst>
          </a:prstGeom>
          <a:solidFill>
            <a:srgbClr val="FDECE0"/>
          </a:solidFill>
          <a:ln w="12700">
            <a:solidFill>
              <a:srgbClr val="E3E7EE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21945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B5651D"/>
                </a:solidFill>
                <a:effectLst/>
                <a:uLnTx/>
                <a:uFillTx/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Disadvantages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92240" y="26060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marR="0" lvl="0" indent="-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7A3B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Can feel unintuitive to beginners used to step-by-step logic.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7A3B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Recursion-heavy code may be less efficient without optimisation.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7A3B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Immutable data structures can use more memory (new copies vs. edits).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7A3B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Fewer developers are fluent in pure functional style in industry teams.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66F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Programming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66F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Programming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PROGRAMMING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Is It Used? — Real-World Applications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programming shines wherever correctness, concurrency, and predictable behaviour matter most.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1984248"/>
            <a:ext cx="5349240" cy="4370832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984248"/>
            <a:ext cx="534924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98424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 Cases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642616"/>
            <a:ext cx="4800600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pipelines and ETL processing (Apache Spark uses functional operations)</a:t>
            </a:r>
            <a:endParaRPr lang="en-US" sz="2000" dirty="0"/>
          </a:p>
          <a:p>
            <a:pPr marL="342900" indent="-342900" algn="just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and parallel systems, since immutable data avoids race conditions</a:t>
            </a:r>
            <a:endParaRPr lang="en-US" sz="2000" dirty="0"/>
          </a:p>
          <a:p>
            <a:pPr marL="342900" indent="-342900" algn="just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modelling, where correctness and predictability are critical</a:t>
            </a:r>
            <a:endParaRPr lang="en-US" sz="2000" dirty="0"/>
          </a:p>
          <a:p>
            <a:pPr marL="342900" indent="-342900" algn="just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data transformations (map/filter/reduce style pipelines)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3FA79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PARADIGM 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Scripting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666F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High-level, often interpreted code written to automate tasks or 'glue' other programs and systems together.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424160" y="502920"/>
            <a:ext cx="822960" cy="822960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7" name="Text 5"/>
          <p:cNvSpPr/>
          <p:nvPr/>
        </p:nvSpPr>
        <p:spPr>
          <a:xfrm>
            <a:off x="10424160" y="502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539496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21945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Core Idea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68680" y="2606040"/>
            <a:ext cx="47548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marR="0" lvl="0" indent="-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8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Scripting languages are typically interpreted (run line-by-line), not compiled — fast to write and test.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8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Used to automate repetitive tasks: file handling, web scraping, report generation, system administration.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8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Often 'glue code' that connects existing tools, APIs, or applications together.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8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Not a strict paradigm like the other three — scripting languages usually borrow procedural, OOP, and functional features.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8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Examples: Python, JavaScript, Bash/Shell, PHP, Perl, PowerShell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228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172200" y="1965960"/>
            <a:ext cx="5468112" cy="4160520"/>
          </a:xfrm>
          <a:prstGeom prst="roundRect">
            <a:avLst>
              <a:gd name="adj" fmla="val 1978"/>
            </a:avLst>
          </a:prstGeom>
          <a:solidFill>
            <a:srgbClr val="1E2761"/>
          </a:solidFill>
          <a:ln w="12700">
            <a:solidFill>
              <a:srgbClr val="E3E7EE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21945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Key Characteristics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92240" y="2679192"/>
            <a:ext cx="128016" cy="128016"/>
          </a:xfrm>
          <a:prstGeom prst="ellipse">
            <a:avLst/>
          </a:prstGeom>
          <a:solidFill>
            <a:srgbClr val="9FE6DA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254203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Interpreted Execution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766560" y="287121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Runs directly without a separate compile step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92240" y="3520440"/>
            <a:ext cx="128016" cy="128016"/>
          </a:xfrm>
          <a:prstGeom prst="ellipse">
            <a:avLst/>
          </a:prstGeom>
          <a:solidFill>
            <a:srgbClr val="9FE6DA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33832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Rapid Development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766560" y="371246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Short scripts written and tested in minutes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492240" y="4361688"/>
            <a:ext cx="128016" cy="128016"/>
          </a:xfrm>
          <a:prstGeom prst="ellipse">
            <a:avLst/>
          </a:prstGeom>
          <a:solidFill>
            <a:srgbClr val="9FE6DA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0" y="422452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Automation-First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766560" y="455371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Ideal for repetitive or scheduled tasks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492240" y="5202936"/>
            <a:ext cx="128016" cy="128016"/>
          </a:xfrm>
          <a:prstGeom prst="ellipse">
            <a:avLst/>
          </a:prstGeom>
          <a:solidFill>
            <a:srgbClr val="9FE6DA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5065776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Dynamic Typing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766560" y="53949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Variable types checked and resolved at runtime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66F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Scripting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66F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3FA79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PARADIGM 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Scripting — Example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666F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short automation script that organises Aadhaar-verified student PDFs into folders.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6492240" cy="4160520"/>
          </a:xfrm>
          <a:prstGeom prst="roundRect">
            <a:avLst>
              <a:gd name="adj" fmla="val 1758"/>
            </a:avLst>
          </a:prstGeom>
          <a:solidFill>
            <a:srgbClr val="12182E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112264"/>
            <a:ext cx="100584" cy="100584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" y="2112264"/>
            <a:ext cx="100584" cy="10058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1042416" y="2112264"/>
            <a:ext cx="100584" cy="1005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2048256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organize_files.py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2423160"/>
            <a:ext cx="5943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4B5FD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os, shutil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 = 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EE7B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"./uploads"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4B5FD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in os.listdir(src):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4B5FD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file.endswith(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EE7B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".pdf"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dest = 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EE7B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"./verified_pdfs"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4B5FD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dest = 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EE7B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"./others"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os.makedirs(dest, exist_ok=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CD34D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shutil.move(f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EE7B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"{src}/{file}"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dest)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6EE7B7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"✅ Files organised!"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315200" y="1965960"/>
            <a:ext cx="4325112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35240" y="2194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It Works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635240" y="2606040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228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whole script runs top to bottom — no compilation step needed.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228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It automates a repetitive, manual task (sorting files).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228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Uses built-in OS libraries to 'glue' the file system together.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228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Could be scheduled to run automatically every night (cron job).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228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Notice it borrows procedural style — scripting is flexible, not a fixed paradigm.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66F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Scripting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66F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3FA79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PARADIGM 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Scripting — Trade-offs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68112" cy="4160520"/>
          </a:xfrm>
          <a:prstGeom prst="roundRect">
            <a:avLst>
              <a:gd name="adj" fmla="val 1978"/>
            </a:avLst>
          </a:prstGeom>
          <a:solidFill>
            <a:srgbClr val="E4F3F2"/>
          </a:solidFill>
          <a:ln w="12700">
            <a:solidFill>
              <a:srgbClr val="E3E7EE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1945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F7173"/>
                </a:solidFill>
                <a:effectLst/>
                <a:uLnTx/>
                <a:uFillTx/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Advantages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marR="0" lvl="0" indent="-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B4A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Very fast to write, test, and modify — no compilation step.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B4A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Excellent for automation, prototyping, and connecting different tools.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B4A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Large ecosystem of ready-made libraries (pip, npm) speeds up development.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B4A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Easy for beginners to pick up and see immediate results.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172200" y="1965960"/>
            <a:ext cx="5468112" cy="4160520"/>
          </a:xfrm>
          <a:prstGeom prst="roundRect">
            <a:avLst>
              <a:gd name="adj" fmla="val 1978"/>
            </a:avLst>
          </a:prstGeom>
          <a:solidFill>
            <a:srgbClr val="FDECE0"/>
          </a:solidFill>
          <a:ln w="12700">
            <a:solidFill>
              <a:srgbClr val="E3E7EE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21945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B5651D"/>
                </a:solidFill>
                <a:effectLst/>
                <a:uLnTx/>
                <a:uFillTx/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Disadvantages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92240" y="26060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marR="0" lvl="0" indent="-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7A3B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Generally slower at runtime than compiled languages.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7A3B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Dynamic typing can hide errors until the script actually runs.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7A3B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Not always ideal for very large, performance-critical applications.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7A3B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Security risks if scripts run with excessive system permissions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7A3B1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66F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Scripting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66F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Scripting Programming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SCRIPTING PROGRAMMING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Is It Used? — Real-World Applications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Scripting is everywhere behind the scenes — automating the small, repetitive jobs that keep larger systems running.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84248"/>
            <a:ext cx="5349240" cy="4370832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984248"/>
            <a:ext cx="534924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98424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 Cases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642616"/>
            <a:ext cx="4800600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DevOps: deployment scripts, CI/CD pipelines, server automation</a:t>
            </a:r>
            <a:endParaRPr lang="en-US" sz="2000" dirty="0"/>
          </a:p>
          <a:p>
            <a:pPr marL="342900" indent="-342900" algn="just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development: client-side interactivity (JavaScript)</a:t>
            </a:r>
            <a:endParaRPr lang="en-US" sz="2000" dirty="0"/>
          </a:p>
          <a:p>
            <a:pPr marL="342900" indent="-342900" algn="just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wrangling: quick CSV/Excel cleaning and reporting scripts</a:t>
            </a:r>
            <a:endParaRPr lang="en-US" sz="2000" dirty="0"/>
          </a:p>
          <a:p>
            <a:pPr marL="342900" indent="-342900" algn="just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administration: scheduled backups, log rotation, monitoring</a:t>
            </a:r>
            <a:endParaRPr 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F093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Choosing the Right Paradigm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666F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Indian tech examples of each paradigm at work.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44068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240280"/>
            <a:ext cx="502920" cy="502920"/>
          </a:xfrm>
          <a:prstGeom prst="ellipse">
            <a:avLst/>
          </a:prstGeom>
          <a:solidFill>
            <a:srgbClr val="0F717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417320" y="2212848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ISRO Mission Software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" y="288036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F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Embedded flight &amp; control systems favour procedural C for speed and predictability.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172200" y="2011680"/>
            <a:ext cx="544068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0" y="2240280"/>
            <a:ext cx="502920" cy="502920"/>
          </a:xfrm>
          <a:prstGeom prst="ellipse">
            <a:avLst/>
          </a:prstGeom>
          <a:solidFill>
            <a:srgbClr val="F0932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040880" y="2212848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Flipkart / Ola Platforms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00800" y="288036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F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backend services use OOP (Java) to model Users, Orders, Drivers as objects.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544068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4343400"/>
            <a:ext cx="502920" cy="502920"/>
          </a:xfrm>
          <a:prstGeom prst="ellipse">
            <a:avLst/>
          </a:prstGeom>
          <a:solidFill>
            <a:srgbClr val="8B7FD6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417320" y="4315968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Swiggy Recommendation Engine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77240" y="498348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F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pipelines use functional-style transformations (map/filter/reduce) for scale and safety.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172200" y="4114800"/>
            <a:ext cx="544068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4343400"/>
            <a:ext cx="502920" cy="502920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040880" y="4315968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IT &amp; DevOps Automation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00800" y="498348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F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Python and Bash scripts automate deployments, backups, and report generation across Indian IT firms.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66F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Paradigm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66F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809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B0160D-7572-9EB4-AE56-A7732FF66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9DDED426-608D-8CA5-DE30-5894F78E15C5}"/>
              </a:ext>
            </a:extLst>
          </p:cNvPr>
          <p:cNvSpPr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300" normalizeH="0" baseline="0" noProof="0" dirty="0">
                <a:ln>
                  <a:noFill/>
                </a:ln>
                <a:solidFill>
                  <a:srgbClr val="F4A3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SECTION 3 OF 8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69AA6DD-EC19-1531-E9FD-5B37D5750DED}"/>
              </a:ext>
            </a:extLst>
          </p:cNvPr>
          <p:cNvSpPr/>
          <p:nvPr/>
        </p:nvSpPr>
        <p:spPr>
          <a:xfrm>
            <a:off x="822960" y="274320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Choosing a Programming Language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0F7236B-3F30-A924-E5B6-8D74E4D096BD}"/>
              </a:ext>
            </a:extLst>
          </p:cNvPr>
          <p:cNvSpPr/>
          <p:nvPr/>
        </p:nvSpPr>
        <p:spPr>
          <a:xfrm>
            <a:off x="822960" y="393192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DFF5F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Factors that guide the right choice for a task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 0" descr="/home/claude/icons/balance_FFFFFF.png">
            <a:extLst>
              <a:ext uri="{FF2B5EF4-FFF2-40B4-BE49-F238E27FC236}">
                <a16:creationId xmlns:a16="http://schemas.microsoft.com/office/drawing/2014/main" id="{8170B81C-1B60-AC87-0E2D-79BA41D2135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10195560" y="5074920"/>
            <a:ext cx="1234440" cy="1234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8736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D3B285-DF46-CED5-7A1F-80A230D8B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E286A27-3A79-A979-A582-D224086CEB72}"/>
              </a:ext>
            </a:extLst>
          </p:cNvPr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A9A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Programming Language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01E5E66-479F-7BD4-D05C-A29C2616D479}"/>
              </a:ext>
            </a:extLst>
          </p:cNvPr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A9A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2899525-039C-B5E6-B510-8757275B9454}"/>
              </a:ext>
            </a:extLst>
          </p:cNvPr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200" normalizeH="0" baseline="0" noProof="0" dirty="0">
                <a:ln>
                  <a:noFill/>
                </a:ln>
                <a:solidFill>
                  <a:srgbClr val="02809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PROGRAMMING LANGUAGE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ACB9AF5-B0A6-42AF-FCFE-1996503475B0}"/>
              </a:ext>
            </a:extLst>
          </p:cNvPr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How to Choose a Programming Language?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F4865AF-BA7D-EAE3-4C12-733C32CCB860}"/>
              </a:ext>
            </a:extLst>
          </p:cNvPr>
          <p:cNvSpPr/>
          <p:nvPr/>
        </p:nvSpPr>
        <p:spPr>
          <a:xfrm>
            <a:off x="548640" y="14173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Every language has its own syntax; several languages can solve the same problem — the right choice depends on these factors: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7EB1704-0A0E-0268-8853-E87B4C31D5E8}"/>
              </a:ext>
            </a:extLst>
          </p:cNvPr>
          <p:cNvSpPr/>
          <p:nvPr/>
        </p:nvSpPr>
        <p:spPr>
          <a:xfrm>
            <a:off x="548640" y="1920240"/>
            <a:ext cx="3505200" cy="1965960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6B4790C-37B1-9125-5513-3AFE7B78888C}"/>
              </a:ext>
            </a:extLst>
          </p:cNvPr>
          <p:cNvSpPr/>
          <p:nvPr/>
        </p:nvSpPr>
        <p:spPr>
          <a:xfrm>
            <a:off x="2008632" y="2121408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0" descr="/home/claude/icons/compass_FFFFFF.png">
            <a:extLst>
              <a:ext uri="{FF2B5EF4-FFF2-40B4-BE49-F238E27FC236}">
                <a16:creationId xmlns:a16="http://schemas.microsoft.com/office/drawing/2014/main" id="{BDFA917C-15AE-F2F5-5E89-497138C7D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6648" y="2249424"/>
            <a:ext cx="329184" cy="329184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DC0D256E-5816-1461-8939-0ACDA6F9126F}"/>
              </a:ext>
            </a:extLst>
          </p:cNvPr>
          <p:cNvSpPr/>
          <p:nvPr/>
        </p:nvSpPr>
        <p:spPr>
          <a:xfrm>
            <a:off x="658368" y="2788920"/>
            <a:ext cx="3285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Task Fit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C0CB66E-B5E4-B6F8-A7EB-7829923D0B4F}"/>
              </a:ext>
            </a:extLst>
          </p:cNvPr>
          <p:cNvSpPr/>
          <p:nvPr/>
        </p:nvSpPr>
        <p:spPr>
          <a:xfrm>
            <a:off x="685800" y="3136392"/>
            <a:ext cx="323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Does the language suit the business/application requirement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7E97EB8C-4350-82BB-1E4B-F87AAB8E45B3}"/>
              </a:ext>
            </a:extLst>
          </p:cNvPr>
          <p:cNvSpPr/>
          <p:nvPr/>
        </p:nvSpPr>
        <p:spPr>
          <a:xfrm>
            <a:off x="4328160" y="1920240"/>
            <a:ext cx="3505200" cy="1965960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4960C015-6504-F5A7-568F-E279939BCC37}"/>
              </a:ext>
            </a:extLst>
          </p:cNvPr>
          <p:cNvSpPr/>
          <p:nvPr/>
        </p:nvSpPr>
        <p:spPr>
          <a:xfrm>
            <a:off x="5788152" y="2121408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/home/claude/icons/graduationcap_FFFFFF.png">
            <a:extLst>
              <a:ext uri="{FF2B5EF4-FFF2-40B4-BE49-F238E27FC236}">
                <a16:creationId xmlns:a16="http://schemas.microsoft.com/office/drawing/2014/main" id="{642741DC-01EB-699E-89E6-B302AA41E0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6168" y="2249424"/>
            <a:ext cx="329184" cy="329184"/>
          </a:xfrm>
          <a:prstGeom prst="rect">
            <a:avLst/>
          </a:prstGeom>
        </p:spPr>
      </p:pic>
      <p:sp>
        <p:nvSpPr>
          <p:cNvPr id="15" name="Text 11">
            <a:extLst>
              <a:ext uri="{FF2B5EF4-FFF2-40B4-BE49-F238E27FC236}">
                <a16:creationId xmlns:a16="http://schemas.microsoft.com/office/drawing/2014/main" id="{25662078-E107-D883-4F68-D91060F0031D}"/>
              </a:ext>
            </a:extLst>
          </p:cNvPr>
          <p:cNvSpPr/>
          <p:nvPr/>
        </p:nvSpPr>
        <p:spPr>
          <a:xfrm>
            <a:off x="4437888" y="2788920"/>
            <a:ext cx="3285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Your Skill Level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1732B6A8-C77C-8139-FF80-934319E9A3F1}"/>
              </a:ext>
            </a:extLst>
          </p:cNvPr>
          <p:cNvSpPr/>
          <p:nvPr/>
        </p:nvSpPr>
        <p:spPr>
          <a:xfrm>
            <a:off x="4465320" y="3136392"/>
            <a:ext cx="323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Your familiarity with the language affects delivery speed and quality.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0328FF18-1287-B5D7-B2FC-8791DC6A76F5}"/>
              </a:ext>
            </a:extLst>
          </p:cNvPr>
          <p:cNvSpPr/>
          <p:nvPr/>
        </p:nvSpPr>
        <p:spPr>
          <a:xfrm>
            <a:off x="8107680" y="1920240"/>
            <a:ext cx="3505200" cy="1965960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0551057E-95F5-4659-9948-FB3F7708DD1A}"/>
              </a:ext>
            </a:extLst>
          </p:cNvPr>
          <p:cNvSpPr/>
          <p:nvPr/>
        </p:nvSpPr>
        <p:spPr>
          <a:xfrm>
            <a:off x="9567672" y="2121408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2" descr="/home/claude/icons/bolt_FFFFFF.png">
            <a:extLst>
              <a:ext uri="{FF2B5EF4-FFF2-40B4-BE49-F238E27FC236}">
                <a16:creationId xmlns:a16="http://schemas.microsoft.com/office/drawing/2014/main" id="{D5F22218-5B30-C96F-D790-B7FA6F00BB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5688" y="2249424"/>
            <a:ext cx="329184" cy="329184"/>
          </a:xfrm>
          <a:prstGeom prst="rect">
            <a:avLst/>
          </a:prstGeom>
        </p:spPr>
      </p:pic>
      <p:sp>
        <p:nvSpPr>
          <p:cNvPr id="20" name="Text 15">
            <a:extLst>
              <a:ext uri="{FF2B5EF4-FFF2-40B4-BE49-F238E27FC236}">
                <a16:creationId xmlns:a16="http://schemas.microsoft.com/office/drawing/2014/main" id="{A6CFF891-7503-1075-56D4-D22BDCEA1C17}"/>
              </a:ext>
            </a:extLst>
          </p:cNvPr>
          <p:cNvSpPr/>
          <p:nvPr/>
        </p:nvSpPr>
        <p:spPr>
          <a:xfrm>
            <a:off x="8217408" y="2788920"/>
            <a:ext cx="3285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F5A41DFE-A5BC-9A7F-FFEB-B4D00370A5D8}"/>
              </a:ext>
            </a:extLst>
          </p:cNvPr>
          <p:cNvSpPr/>
          <p:nvPr/>
        </p:nvSpPr>
        <p:spPr>
          <a:xfrm>
            <a:off x="8244840" y="3136392"/>
            <a:ext cx="323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Expected performance and speed of the final system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DAE0817F-8314-45A5-FE2E-FC175335A749}"/>
              </a:ext>
            </a:extLst>
          </p:cNvPr>
          <p:cNvSpPr/>
          <p:nvPr/>
        </p:nvSpPr>
        <p:spPr>
          <a:xfrm>
            <a:off x="548640" y="4160520"/>
            <a:ext cx="3505200" cy="1965960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59FC6299-AC0C-DD0F-6D82-A9177759B7B0}"/>
              </a:ext>
            </a:extLst>
          </p:cNvPr>
          <p:cNvSpPr/>
          <p:nvPr/>
        </p:nvSpPr>
        <p:spPr>
          <a:xfrm>
            <a:off x="2008632" y="4361688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3" descr="/home/claude/icons/network_FFFFFF.png">
            <a:extLst>
              <a:ext uri="{FF2B5EF4-FFF2-40B4-BE49-F238E27FC236}">
                <a16:creationId xmlns:a16="http://schemas.microsoft.com/office/drawing/2014/main" id="{98957FAC-93D1-10E6-81EA-453F7BC2F1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36648" y="4489704"/>
            <a:ext cx="329184" cy="329184"/>
          </a:xfrm>
          <a:prstGeom prst="rect">
            <a:avLst/>
          </a:prstGeom>
        </p:spPr>
      </p:pic>
      <p:sp>
        <p:nvSpPr>
          <p:cNvPr id="25" name="Text 19">
            <a:extLst>
              <a:ext uri="{FF2B5EF4-FFF2-40B4-BE49-F238E27FC236}">
                <a16:creationId xmlns:a16="http://schemas.microsoft.com/office/drawing/2014/main" id="{1A5A3B68-1C28-8C15-52C5-329C3FAA4D8F}"/>
              </a:ext>
            </a:extLst>
          </p:cNvPr>
          <p:cNvSpPr/>
          <p:nvPr/>
        </p:nvSpPr>
        <p:spPr>
          <a:xfrm>
            <a:off x="658368" y="5029200"/>
            <a:ext cx="3285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Users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4C3FDB67-4AB5-CBC4-F9CC-6C228090EFFE}"/>
              </a:ext>
            </a:extLst>
          </p:cNvPr>
          <p:cNvSpPr/>
          <p:nvPr/>
        </p:nvSpPr>
        <p:spPr>
          <a:xfrm>
            <a:off x="685800" y="5376672"/>
            <a:ext cx="323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How many users the system must serve simultaneously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1">
            <a:extLst>
              <a:ext uri="{FF2B5EF4-FFF2-40B4-BE49-F238E27FC236}">
                <a16:creationId xmlns:a16="http://schemas.microsoft.com/office/drawing/2014/main" id="{A685E19C-ABB4-6D5F-D75E-D547E23FBA24}"/>
              </a:ext>
            </a:extLst>
          </p:cNvPr>
          <p:cNvSpPr/>
          <p:nvPr/>
        </p:nvSpPr>
        <p:spPr>
          <a:xfrm>
            <a:off x="4328160" y="4160520"/>
            <a:ext cx="3505200" cy="1965960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28" name="Shape 22">
            <a:extLst>
              <a:ext uri="{FF2B5EF4-FFF2-40B4-BE49-F238E27FC236}">
                <a16:creationId xmlns:a16="http://schemas.microsoft.com/office/drawing/2014/main" id="{79125874-F24B-0797-67E8-0772A837F03D}"/>
              </a:ext>
            </a:extLst>
          </p:cNvPr>
          <p:cNvSpPr/>
          <p:nvPr/>
        </p:nvSpPr>
        <p:spPr>
          <a:xfrm>
            <a:off x="5788152" y="4361688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9" name="Image 4" descr="/home/claude/icons/shield_FFFFFF.png">
            <a:extLst>
              <a:ext uri="{FF2B5EF4-FFF2-40B4-BE49-F238E27FC236}">
                <a16:creationId xmlns:a16="http://schemas.microsoft.com/office/drawing/2014/main" id="{41E7AFD7-BCFF-25A6-A394-3DF3E12B51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16168" y="4489704"/>
            <a:ext cx="329184" cy="329184"/>
          </a:xfrm>
          <a:prstGeom prst="rect">
            <a:avLst/>
          </a:prstGeom>
        </p:spPr>
      </p:pic>
      <p:sp>
        <p:nvSpPr>
          <p:cNvPr id="30" name="Text 23">
            <a:extLst>
              <a:ext uri="{FF2B5EF4-FFF2-40B4-BE49-F238E27FC236}">
                <a16:creationId xmlns:a16="http://schemas.microsoft.com/office/drawing/2014/main" id="{52883157-F308-85FF-E28E-4B14695690A4}"/>
              </a:ext>
            </a:extLst>
          </p:cNvPr>
          <p:cNvSpPr/>
          <p:nvPr/>
        </p:nvSpPr>
        <p:spPr>
          <a:xfrm>
            <a:off x="4437888" y="5029200"/>
            <a:ext cx="3285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4">
            <a:extLst>
              <a:ext uri="{FF2B5EF4-FFF2-40B4-BE49-F238E27FC236}">
                <a16:creationId xmlns:a16="http://schemas.microsoft.com/office/drawing/2014/main" id="{77DA7284-D913-F714-3A09-586058A54294}"/>
              </a:ext>
            </a:extLst>
          </p:cNvPr>
          <p:cNvSpPr/>
          <p:nvPr/>
        </p:nvSpPr>
        <p:spPr>
          <a:xfrm>
            <a:off x="4465320" y="5376672"/>
            <a:ext cx="323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Built-in safety features and ecosystem security track record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25">
            <a:extLst>
              <a:ext uri="{FF2B5EF4-FFF2-40B4-BE49-F238E27FC236}">
                <a16:creationId xmlns:a16="http://schemas.microsoft.com/office/drawing/2014/main" id="{38DE2BFA-B3E9-7092-91CD-262B0E9B91E2}"/>
              </a:ext>
            </a:extLst>
          </p:cNvPr>
          <p:cNvSpPr/>
          <p:nvPr/>
        </p:nvSpPr>
        <p:spPr>
          <a:xfrm>
            <a:off x="8107680" y="4160520"/>
            <a:ext cx="3505200" cy="1965960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33" name="Shape 26">
            <a:extLst>
              <a:ext uri="{FF2B5EF4-FFF2-40B4-BE49-F238E27FC236}">
                <a16:creationId xmlns:a16="http://schemas.microsoft.com/office/drawing/2014/main" id="{5426DC4E-9DC5-5187-CEB9-03EA71899541}"/>
              </a:ext>
            </a:extLst>
          </p:cNvPr>
          <p:cNvSpPr/>
          <p:nvPr/>
        </p:nvSpPr>
        <p:spPr>
          <a:xfrm>
            <a:off x="9567672" y="4361688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4" name="Image 5" descr="/home/claude/icons/mobile_FFFFFF.png">
            <a:extLst>
              <a:ext uri="{FF2B5EF4-FFF2-40B4-BE49-F238E27FC236}">
                <a16:creationId xmlns:a16="http://schemas.microsoft.com/office/drawing/2014/main" id="{198B356E-07D1-CF3E-1B17-1D22C9A1BF4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95688" y="4489704"/>
            <a:ext cx="329184" cy="329184"/>
          </a:xfrm>
          <a:prstGeom prst="rect">
            <a:avLst/>
          </a:prstGeom>
        </p:spPr>
      </p:pic>
      <p:sp>
        <p:nvSpPr>
          <p:cNvPr id="35" name="Text 27">
            <a:extLst>
              <a:ext uri="{FF2B5EF4-FFF2-40B4-BE49-F238E27FC236}">
                <a16:creationId xmlns:a16="http://schemas.microsoft.com/office/drawing/2014/main" id="{006F3414-5BE1-20ED-C994-243EDDA2392A}"/>
              </a:ext>
            </a:extLst>
          </p:cNvPr>
          <p:cNvSpPr/>
          <p:nvPr/>
        </p:nvSpPr>
        <p:spPr>
          <a:xfrm>
            <a:off x="8217408" y="5029200"/>
            <a:ext cx="3285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Compatibility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28">
            <a:extLst>
              <a:ext uri="{FF2B5EF4-FFF2-40B4-BE49-F238E27FC236}">
                <a16:creationId xmlns:a16="http://schemas.microsoft.com/office/drawing/2014/main" id="{E9C21D10-F26E-A4F5-E11C-84050B90BFFD}"/>
              </a:ext>
            </a:extLst>
          </p:cNvPr>
          <p:cNvSpPr/>
          <p:nvPr/>
        </p:nvSpPr>
        <p:spPr>
          <a:xfrm>
            <a:off x="8244840" y="5376672"/>
            <a:ext cx="323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Support across web, mobile, and other devices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1840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Fundamentals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FUNDAMENTALS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Elements of a Programming Language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important building blocks shared across programming languages: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10881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Environment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and Arithmetical Operators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If-Else Conditions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Numbers, Characters and Arrays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and Output Operations</a:t>
            </a:r>
            <a:endParaRPr lang="en-US"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Fundamentals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FUNDAMENTALS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 of Programming Languages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7945155"/>
              </p:ext>
            </p:extLst>
          </p:nvPr>
        </p:nvGraphicFramePr>
        <p:xfrm>
          <a:off x="548640" y="1371600"/>
          <a:ext cx="11064240" cy="50800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6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3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 Applications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&amp; internet development, scientific/numeric applications, desktop GUIs, business applications; widely used in AI and Machine Learning.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3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apps, web apps, and Big Data systems.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science projects, statistical computing, machine learning.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3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JavaScript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Web/mobile app development, game development, desktop apps.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3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C++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Game development, advanced computation, graphics compilers.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3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C#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cross-platform applications, web applications.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3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PHP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development, content management systems, e-commerce apps.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3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Querying and managing data in any database.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OF 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Programming Environment &amp; IDEs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93192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FF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that take code from editor to execution</a:t>
            </a:r>
            <a:endParaRPr lang="en-US" sz="1500" dirty="0"/>
          </a:p>
        </p:txBody>
      </p:sp>
      <p:pic>
        <p:nvPicPr>
          <p:cNvPr id="7" name="Image 0" descr="/home/claude/icons/laptop_FFFFFF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10195560" y="5074920"/>
            <a:ext cx="1234440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Environment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ENVIRONMENT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Programming Environment?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of tools and software providing everything needed to write, edit, compile, debug, and run programs.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68580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just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helps developers write code efficiently through syntax highlighting, error checking, version control, and execution support.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680960" y="1371600"/>
            <a:ext cx="3977640" cy="4937760"/>
          </a:xfrm>
          <a:prstGeom prst="rect">
            <a:avLst/>
          </a:prstGeom>
          <a:solidFill>
            <a:srgbClr val="E5F3F4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955280" y="1965960"/>
            <a:ext cx="34747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Editor / IDE — for writing code</a:t>
            </a:r>
            <a:endParaRPr lang="en-US" sz="2000" dirty="0"/>
          </a:p>
          <a:p>
            <a:pPr marL="0" indent="0" algn="just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Compiler / Interpreter — converts code to machine-readable form</a:t>
            </a:r>
            <a:endParaRPr lang="en-US" sz="2000" dirty="0"/>
          </a:p>
          <a:p>
            <a:pPr marL="0" indent="0" algn="just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Debugger — finds and fixes errors</a:t>
            </a:r>
            <a:endParaRPr lang="en-US" sz="2000" dirty="0"/>
          </a:p>
          <a:p>
            <a:pPr marL="0" indent="0" algn="just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Terminal / Console — runs programs and shows output</a:t>
            </a:r>
            <a:endParaRPr lang="en-US" sz="2000" dirty="0"/>
          </a:p>
          <a:p>
            <a:pPr marL="0" indent="0" algn="just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Version Control Tools — tracks code changes (e.g., Git)</a:t>
            </a:r>
            <a:endParaRPr lang="en-US" sz="2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Environment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ENVIRONMENT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Environment Setup Matters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 is not part of any programming language itself — but it is the first step before writing any program</a:t>
            </a:r>
            <a:r>
              <a:rPr lang="en-US" sz="13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82296" cy="960120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0312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r>
              <a:rPr lang="en-US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setup is the base on top of which all programming happens.”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48640" y="3291840"/>
            <a:ext cx="108813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spcAft>
                <a:spcPts val="9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means installing the required software on your PC to write, compile, and execute programs.</a:t>
            </a:r>
            <a:endParaRPr lang="en-US" sz="2400" dirty="0"/>
          </a:p>
          <a:p>
            <a:pPr marL="342900" indent="-342900" algn="just">
              <a:spcAft>
                <a:spcPts val="9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to browse the Internet you need a working connection and a web browser (Chrome, Safari, etc.) — similarly, to program you need an editor, a compiler/interpreter, and a way to run your code.</a:t>
            </a:r>
            <a:endParaRPr lang="en-US" sz="2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Environment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ENVIRONMENT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Python Environment Using VS Code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say you’re writing a Python program — here’s the environment workflow: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3505200" cy="1874520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22860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9" name="Image 0" descr="/home/claude/icons/edi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395728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2267712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Editor / IDE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1520" y="2880360"/>
            <a:ext cx="313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Visual Studio Code, a popular IDE</a:t>
            </a: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328160" y="2103120"/>
            <a:ext cx="3505200" cy="1874520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4511040" y="22860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1" descr="/home/claude/icons/fil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0768" y="2395728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05400" y="2267712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Writing Code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511040" y="2926080"/>
            <a:ext cx="313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Python code in main.py.</a:t>
            </a:r>
            <a:endParaRPr lang="en-US" dirty="0"/>
          </a:p>
        </p:txBody>
      </p:sp>
      <p:sp>
        <p:nvSpPr>
          <p:cNvPr id="17" name="Shape 13"/>
          <p:cNvSpPr/>
          <p:nvPr/>
        </p:nvSpPr>
        <p:spPr>
          <a:xfrm>
            <a:off x="8107680" y="2103120"/>
            <a:ext cx="3505200" cy="1874520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18" name="Shape 14"/>
          <p:cNvSpPr/>
          <p:nvPr/>
        </p:nvSpPr>
        <p:spPr>
          <a:xfrm>
            <a:off x="8290560" y="22860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9" name="Image 2" descr="/home/claude/icons/highlighter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0288" y="2395728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884920" y="2267712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Syntax Help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290560" y="2880360"/>
            <a:ext cx="313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highlights errors, suggests completions, shows docs.</a:t>
            </a:r>
            <a:endParaRPr lang="en-US" dirty="0"/>
          </a:p>
        </p:txBody>
      </p:sp>
      <p:sp>
        <p:nvSpPr>
          <p:cNvPr id="22" name="Shape 17"/>
          <p:cNvSpPr/>
          <p:nvPr/>
        </p:nvSpPr>
        <p:spPr>
          <a:xfrm>
            <a:off x="548640" y="4251960"/>
            <a:ext cx="3505200" cy="1874520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23" name="Shape 18"/>
          <p:cNvSpPr/>
          <p:nvPr/>
        </p:nvSpPr>
        <p:spPr>
          <a:xfrm>
            <a:off x="731520" y="44348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4" name="Image 3" descr="/home/claude/icons/play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4544568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25880" y="4416552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Running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731520" y="5029200"/>
            <a:ext cx="313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"Run" or type "python main.py" in the terminal</a:t>
            </a: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4328160" y="4251960"/>
            <a:ext cx="3505200" cy="1874520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28" name="Shape 22"/>
          <p:cNvSpPr/>
          <p:nvPr/>
        </p:nvSpPr>
        <p:spPr>
          <a:xfrm>
            <a:off x="4511040" y="44348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9" name="Image 4" descr="/home/claude/icons/bug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0768" y="4544568"/>
            <a:ext cx="237744" cy="23774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105400" y="4416552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Debugging</a:t>
            </a:r>
            <a:endParaRPr lang="en-US" sz="1600" dirty="0"/>
          </a:p>
        </p:txBody>
      </p:sp>
      <p:sp>
        <p:nvSpPr>
          <p:cNvPr id="31" name="Text 24"/>
          <p:cNvSpPr/>
          <p:nvPr/>
        </p:nvSpPr>
        <p:spPr>
          <a:xfrm>
            <a:off x="4511040" y="5029200"/>
            <a:ext cx="313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breakpoints and use the debugger to trace errors</a:t>
            </a: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8107680" y="4251960"/>
            <a:ext cx="3505200" cy="1874520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33" name="Shape 26"/>
          <p:cNvSpPr/>
          <p:nvPr/>
        </p:nvSpPr>
        <p:spPr>
          <a:xfrm>
            <a:off x="8290560" y="44348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4" name="Image 5" descr="/home/claude/icons/branch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0288" y="4544568"/>
            <a:ext cx="237744" cy="23774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8884920" y="4416552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Version Control</a:t>
            </a:r>
            <a:endParaRPr lang="en-US" sz="1600" dirty="0"/>
          </a:p>
        </p:txBody>
      </p:sp>
      <p:sp>
        <p:nvSpPr>
          <p:cNvPr id="36" name="Text 28"/>
          <p:cNvSpPr/>
          <p:nvPr/>
        </p:nvSpPr>
        <p:spPr>
          <a:xfrm>
            <a:off x="8290560" y="5029200"/>
            <a:ext cx="313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Git (built into VS Code) to commit &amp; push to GitHub</a:t>
            </a: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Development Environment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DEVELOPMENT ENVIRONMENT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IDE?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41732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11880" y="1417320"/>
            <a:ext cx="7818120" cy="10515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Integrated Development Environment combines all the tools a programmer needs — to write, test, debug, and run code — in one place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10881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spcAft>
                <a:spcPts val="9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IDE normally consists of at least: a file system, text editor, linker, compiler, and integrated tools.</a:t>
            </a:r>
            <a:endParaRPr lang="en-US" sz="2400" dirty="0"/>
          </a:p>
          <a:p>
            <a:pPr marL="342900" indent="-342900" algn="just">
              <a:spcAft>
                <a:spcPts val="9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saves developers from switching between many separate standalone tools.</a:t>
            </a:r>
            <a:endParaRPr lang="en-US" sz="2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Development Environment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DEVELOPMENT ENVIRONMENT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of an IDE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2560320" cy="1965960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7" name="Shape 5"/>
          <p:cNvSpPr/>
          <p:nvPr/>
        </p:nvSpPr>
        <p:spPr>
          <a:xfrm>
            <a:off x="1536192" y="1618488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/home/claude/icons/edi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208" y="1746504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228600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Editor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263347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write your code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3383280" y="1417320"/>
            <a:ext cx="2560320" cy="1965960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12" name="Shape 9"/>
          <p:cNvSpPr/>
          <p:nvPr/>
        </p:nvSpPr>
        <p:spPr>
          <a:xfrm>
            <a:off x="4370832" y="1618488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icons/cog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848" y="1746504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93008" y="228600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/ Interpreter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520440" y="263347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code into machine language</a:t>
            </a:r>
            <a:endParaRPr lang="en-US" dirty="0"/>
          </a:p>
        </p:txBody>
      </p:sp>
      <p:sp>
        <p:nvSpPr>
          <p:cNvPr id="16" name="Shape 12"/>
          <p:cNvSpPr/>
          <p:nvPr/>
        </p:nvSpPr>
        <p:spPr>
          <a:xfrm>
            <a:off x="6217920" y="1417320"/>
            <a:ext cx="2560320" cy="1965960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17" name="Shape 13"/>
          <p:cNvSpPr/>
          <p:nvPr/>
        </p:nvSpPr>
        <p:spPr>
          <a:xfrm>
            <a:off x="7205472" y="1618488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/home/claude/icons/bug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3488" y="1746504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27648" y="228600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Debugger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355080" y="263347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find and fix errors</a:t>
            </a:r>
            <a:endParaRPr lang="en-US" dirty="0"/>
          </a:p>
        </p:txBody>
      </p:sp>
      <p:sp>
        <p:nvSpPr>
          <p:cNvPr id="21" name="Shape 16"/>
          <p:cNvSpPr/>
          <p:nvPr/>
        </p:nvSpPr>
        <p:spPr>
          <a:xfrm>
            <a:off x="9052560" y="1417320"/>
            <a:ext cx="2560320" cy="1965960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22" name="Shape 17"/>
          <p:cNvSpPr/>
          <p:nvPr/>
        </p:nvSpPr>
        <p:spPr>
          <a:xfrm>
            <a:off x="10040112" y="1618488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3" descr="/home/claude/icons/highlighter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8128" y="1746504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162288" y="228600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</a:t>
            </a: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Highlighting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9189720" y="263347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Colours keywords &amp; variables for readability</a:t>
            </a:r>
            <a:endParaRPr lang="en-US" dirty="0"/>
          </a:p>
        </p:txBody>
      </p:sp>
      <p:sp>
        <p:nvSpPr>
          <p:cNvPr id="26" name="Shape 20"/>
          <p:cNvSpPr/>
          <p:nvPr/>
        </p:nvSpPr>
        <p:spPr>
          <a:xfrm>
            <a:off x="548640" y="3657600"/>
            <a:ext cx="2560320" cy="1965960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27" name="Shape 21"/>
          <p:cNvSpPr/>
          <p:nvPr/>
        </p:nvSpPr>
        <p:spPr>
          <a:xfrm>
            <a:off x="1536192" y="3858768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4" descr="/home/claude/icons/folder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4208" y="3986784"/>
            <a:ext cx="329184" cy="32918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58368" y="452628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685800" y="487375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Organises your code files</a:t>
            </a:r>
            <a:endParaRPr lang="en-US" dirty="0"/>
          </a:p>
        </p:txBody>
      </p:sp>
      <p:sp>
        <p:nvSpPr>
          <p:cNvPr id="31" name="Shape 24"/>
          <p:cNvSpPr/>
          <p:nvPr/>
        </p:nvSpPr>
        <p:spPr>
          <a:xfrm>
            <a:off x="3383280" y="3657600"/>
            <a:ext cx="2560320" cy="1965960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32" name="Shape 25"/>
          <p:cNvSpPr/>
          <p:nvPr/>
        </p:nvSpPr>
        <p:spPr>
          <a:xfrm>
            <a:off x="4370832" y="3858768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3" name="Image 5" descr="/home/claude/icons/terminal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98848" y="3986784"/>
            <a:ext cx="329184" cy="32918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493008" y="452628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/ Console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3520440" y="487375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you run your program</a:t>
            </a:r>
            <a:endParaRPr lang="en-US" dirty="0"/>
          </a:p>
        </p:txBody>
      </p:sp>
      <p:sp>
        <p:nvSpPr>
          <p:cNvPr id="36" name="Shape 28"/>
          <p:cNvSpPr/>
          <p:nvPr/>
        </p:nvSpPr>
        <p:spPr>
          <a:xfrm>
            <a:off x="6217920" y="3657600"/>
            <a:ext cx="2560320" cy="1965960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37" name="Shape 29"/>
          <p:cNvSpPr/>
          <p:nvPr/>
        </p:nvSpPr>
        <p:spPr>
          <a:xfrm>
            <a:off x="7205472" y="3858768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8" name="Image 6" descr="/home/claude/icons/branch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33488" y="3986784"/>
            <a:ext cx="329184" cy="329184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327648" y="452628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Tools</a:t>
            </a:r>
            <a:endParaRPr lang="en-US" sz="1400" dirty="0"/>
          </a:p>
        </p:txBody>
      </p:sp>
      <p:sp>
        <p:nvSpPr>
          <p:cNvPr id="40" name="Text 31"/>
          <p:cNvSpPr/>
          <p:nvPr/>
        </p:nvSpPr>
        <p:spPr>
          <a:xfrm>
            <a:off x="6355080" y="487375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Git, database and Docker extensions, etc</a:t>
            </a: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Development Environment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DEVELOPMENT ENVIRONMENT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Examples of IDEs by Language</a:t>
            </a:r>
            <a:endParaRPr lang="en-US" sz="30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2070912"/>
              </p:ext>
            </p:extLst>
          </p:nvPr>
        </p:nvGraphicFramePr>
        <p:xfrm>
          <a:off x="548640" y="1371600"/>
          <a:ext cx="11064240" cy="498348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63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05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Popular IDEs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05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PyCharm, VS Code, Thonny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05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IntelliJ IDEA, Eclipse, NetBeans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05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/ C++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Code::Blocks, CLion, Dev-C++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05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JavaScript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WebStorm, VS Code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05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Studio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OF 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Principles of Programming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93192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FF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habits that separate maintainable code from messy code</a:t>
            </a:r>
            <a:endParaRPr lang="en-US" sz="1500" dirty="0"/>
          </a:p>
        </p:txBody>
      </p:sp>
      <p:pic>
        <p:nvPicPr>
          <p:cNvPr id="7" name="Image 0" descr="/home/claude/icons/listol_FFFFFF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10195560" y="5074920"/>
            <a:ext cx="1234440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1 of 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1 OF 9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It Simple (KIS)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4160520"/>
          </a:xfrm>
          <a:prstGeom prst="rect">
            <a:avLst/>
          </a:prstGeom>
          <a:solidFill>
            <a:srgbClr val="1B1F2E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618488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618488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234440" y="1618488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9692640" y="15453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1874520"/>
            <a:ext cx="10424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E8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addNumbers(num1, num2) {</a:t>
            </a:r>
            <a:endParaRPr lang="en-US" sz="2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E8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num1 + num2;</a:t>
            </a:r>
            <a:endParaRPr lang="en-US" sz="2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E8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code as simply as possible — don’t get caught up trying to be clever. If a script can be written in one line, write it in one line. Use clear variable names, and reuse existing libraries instead of reinventing them.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2 of 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2 OF 9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DRY Code (Don’t Repeat Yourself)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4160520"/>
          </a:xfrm>
          <a:prstGeom prst="rect">
            <a:avLst/>
          </a:prstGeom>
          <a:solidFill>
            <a:srgbClr val="1B1F2E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618488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618488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234440" y="1618488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9692640" y="15453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1874520"/>
            <a:ext cx="10424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NOT DRY — repeats the same operation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addSequence(number) {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number += 1; number += 2; number += 3;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number += 4; number += 5;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number;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DRY — uses iteration instead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addSequenceDRY(number) {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(let i = 1; i &lt;= 5; i++) number += i;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number;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Copy-pasting the same logic repeatedly is a common mistake. Instead, use loops or reusable functions — DRY code is far easier to maintain: debugging one loop that handles 50 repetitions beats debugging 50 duplicated blocks.</a:t>
            </a:r>
            <a:endParaRPr lang="en-US" sz="2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3 of 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3 OF 9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/ Closed Principle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should be open to extension but closed to modification.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1956816"/>
            <a:ext cx="10881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just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when releasing a library or framework that others will use.</a:t>
            </a:r>
            <a:endParaRPr lang="en-US" sz="2400" dirty="0"/>
          </a:p>
          <a:p>
            <a:pPr marL="228600" indent="-228600" algn="just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release code that others modify directly, a later update can break their code and frustrate them.</a:t>
            </a:r>
            <a:endParaRPr lang="en-US" sz="2400" dirty="0"/>
          </a:p>
          <a:p>
            <a:pPr marL="228600" indent="-228600" algn="just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Instead, design code that prevents direct modification but encourages extension — separating core behaviour from customised behaviour.</a:t>
            </a:r>
            <a:endParaRPr lang="en-US" sz="2400" dirty="0"/>
          </a:p>
          <a:p>
            <a:pPr marL="228600" indent="-228600" algn="just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more stable code that is easier to maintain long-term.</a:t>
            </a:r>
            <a:endParaRPr lang="en-US" sz="2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4 of 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4 OF 9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Responsibility Principle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class should have only one reason to change.” — Robert C. Martin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10881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just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class or module should provide only one specific functionality.</a:t>
            </a:r>
            <a:endParaRPr lang="en-US" sz="2400" dirty="0"/>
          </a:p>
          <a:p>
            <a:pPr marL="228600" indent="-228600" algn="just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often start focused but grow complex over time — refactor and split them as they do.</a:t>
            </a:r>
            <a:endParaRPr lang="en-US" sz="2400" dirty="0"/>
          </a:p>
          <a:p>
            <a:pPr marL="228600" indent="-228600" algn="just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Overloaded classes cause two problems: harder debugging (isolating the faulty module) and harder extension (adding new functionality safely).</a:t>
            </a:r>
            <a:endParaRPr lang="en-US" sz="2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5 of 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5 OF 9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Separation of Concerns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abstract version of Single Responsibility — a program is split into independent containers that don’t access each other directly.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3444240" cy="2011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240280"/>
            <a:ext cx="344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307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1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the data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020312" y="2834640"/>
            <a:ext cx="310896" cy="274320"/>
          </a:xfrm>
          <a:prstGeom prst="rightArrow">
            <a:avLst/>
          </a:prstGeom>
          <a:solidFill>
            <a:srgbClr val="5A5A5A"/>
          </a:solidFill>
          <a:ln/>
        </p:spPr>
      </p:sp>
      <p:sp>
        <p:nvSpPr>
          <p:cNvPr id="11" name="Shape 9"/>
          <p:cNvSpPr/>
          <p:nvPr/>
        </p:nvSpPr>
        <p:spPr>
          <a:xfrm>
            <a:off x="4358640" y="1965960"/>
            <a:ext cx="3444240" cy="20116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358640" y="2240280"/>
            <a:ext cx="344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41520" y="2834640"/>
            <a:ext cx="307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1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the logic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7830312" y="2834640"/>
            <a:ext cx="310896" cy="274320"/>
          </a:xfrm>
          <a:prstGeom prst="rightArrow">
            <a:avLst/>
          </a:prstGeom>
          <a:solidFill>
            <a:srgbClr val="5A5A5A"/>
          </a:solidFill>
          <a:ln/>
        </p:spPr>
      </p:sp>
      <p:sp>
        <p:nvSpPr>
          <p:cNvPr id="15" name="Shape 13"/>
          <p:cNvSpPr/>
          <p:nvPr/>
        </p:nvSpPr>
        <p:spPr>
          <a:xfrm>
            <a:off x="8168640" y="1965960"/>
            <a:ext cx="3444240" cy="2011680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16" name="Text 14"/>
          <p:cNvSpPr/>
          <p:nvPr/>
        </p:nvSpPr>
        <p:spPr>
          <a:xfrm>
            <a:off x="8168640" y="2240280"/>
            <a:ext cx="344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51520" y="2834640"/>
            <a:ext cx="307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1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what the page displays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48640" y="42976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2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(Model-View-Controller) is a well-known example — common in today’s popular web frameworks. Each piece is independent: rendering code doesn’t need to know how data is saved, and vice-versa. This makes the whole system easy to debug and modify.</a:t>
            </a:r>
            <a:endParaRPr lang="en-US" sz="2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6 of 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6 OF 9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Aren’t Gonna Need It (YAGNI)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code for functionality on the chance you might need it in the future.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10881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just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try to solve a problem that doesn’t exist yet.</a:t>
            </a:r>
            <a:endParaRPr lang="en-US" sz="2400" dirty="0"/>
          </a:p>
          <a:p>
            <a:pPr marL="228600" indent="-228600" algn="just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 effort to write DRY code, programmers sometimes over-abstract — inexperienced developers especially try to write the most generic code possible.</a:t>
            </a:r>
            <a:endParaRPr lang="en-US" sz="2400" dirty="0"/>
          </a:p>
          <a:p>
            <a:pPr marL="228600" indent="-228600" algn="just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abstraction causes bloated, hard-to-maintain code.</a:t>
            </a:r>
            <a:endParaRPr lang="en-US" sz="2400" dirty="0"/>
          </a:p>
          <a:p>
            <a:pPr marL="228600" indent="-228600" algn="just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DRY only when you actually notice repeated code — don’t plan too far ahead at the expense of the current task.</a:t>
            </a:r>
            <a:endParaRPr lang="en-US" sz="24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7 of 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7 OF 9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Your Code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4160520"/>
          </a:xfrm>
          <a:prstGeom prst="rect">
            <a:avLst/>
          </a:prstGeom>
          <a:solidFill>
            <a:srgbClr val="1B1F2E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618488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618488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234440" y="1618488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9692640" y="15453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1874520"/>
            <a:ext cx="10424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E8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This function adds 5 to the input if it is odd,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E8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otherwise returns the number unchanged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E8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evenOrOdd(number):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E8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number % 2 == 0: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E8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number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E8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E8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number + 5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2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explain objects, clarify variables, and make functions easier to understand — leave them even if the code feels obvious today. Six months later (or to a teammate), it won’t be.</a:t>
            </a:r>
            <a:endParaRPr lang="en-US" sz="2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8 of 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8 OF 9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Refactor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will not be perfect the first time — and that’s normal.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10881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just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 means reviewing your code and optimising it, while keeping results exactly the same.</a:t>
            </a:r>
            <a:endParaRPr lang="en-US" sz="2400" dirty="0"/>
          </a:p>
          <a:p>
            <a:pPr marL="228600" indent="-228600" algn="just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Codebases evolve constantly — revisiting, rewriting, or redesigning chunks of code is completely normal.</a:t>
            </a:r>
            <a:endParaRPr lang="en-US" sz="2400" dirty="0"/>
          </a:p>
          <a:p>
            <a:pPr marL="228600" indent="-228600" algn="just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you get more familiar with a project, use that knowledge to make code more DRY or simpler (KIS).</a:t>
            </a:r>
            <a:endParaRPr lang="en-US" sz="24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9 of 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9 OF 9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Code at All Costs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pack a ton of logic into a single line.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10881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just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clear instructions in comments and documentation.</a:t>
            </a:r>
            <a:endParaRPr lang="en-US" sz="2000" dirty="0"/>
          </a:p>
          <a:p>
            <a:pPr marL="228600" indent="-228600" algn="just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code is easy to read, it will be easy to maintain.</a:t>
            </a:r>
            <a:endParaRPr lang="en-US" sz="2000" dirty="0"/>
          </a:p>
          <a:p>
            <a:pPr marL="228600" indent="-228600" algn="just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programmers and readable code go hand-in-hand.</a:t>
            </a:r>
            <a:endParaRPr lang="en-US" sz="2000" dirty="0"/>
          </a:p>
          <a:p>
            <a:pPr marL="228600" indent="-228600" algn="just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Adhere to style guides — whether set by the language community or your company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OF 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Debugging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93192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FF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Finding, analysing and fixing errors systematically</a:t>
            </a:r>
            <a:endParaRPr lang="en-US" sz="15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Debugging?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41732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DEBUGGING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11880" y="1417320"/>
            <a:ext cx="7818120" cy="10515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just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of finding and fixing a bug (error) in software.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10881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spcAft>
                <a:spcPts val="9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undergoes heavy testing, updating, troubleshooting, and maintenance throughout development.</a:t>
            </a:r>
            <a:endParaRPr lang="en-US" sz="2400" dirty="0"/>
          </a:p>
          <a:p>
            <a:pPr marL="342900" indent="-342900" algn="just">
              <a:spcAft>
                <a:spcPts val="9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routinely contains errors and bugs that must be identified and removed.</a:t>
            </a:r>
            <a:endParaRPr lang="en-US" sz="2400" dirty="0"/>
          </a:p>
          <a:p>
            <a:pPr marL="342900" indent="-342900" algn="just">
              <a:spcAft>
                <a:spcPts val="9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is a continuous activity that runs alongside development, not a one-time event at the end.</a:t>
            </a:r>
            <a:endParaRPr lang="en-US" sz="24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A06826-0F1E-3AE0-1E08-EC5DCDC0BD4A}"/>
              </a:ext>
            </a:extLst>
          </p:cNvPr>
          <p:cNvSpPr txBox="1"/>
          <p:nvPr/>
        </p:nvSpPr>
        <p:spPr>
          <a:xfrm>
            <a:off x="558800" y="601681"/>
            <a:ext cx="11033760" cy="2905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spcAft>
                <a:spcPts val="600"/>
              </a:spcAft>
              <a:buNone/>
            </a:pPr>
            <a:r>
              <a:rPr lang="en-IN" sz="240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Debugging is the systematic process of locating, analysing, and correcting defects — commonly called “bugs” — in a computer program so that it behaves as intended. </a:t>
            </a:r>
          </a:p>
          <a:p>
            <a:pPr algn="just">
              <a:lnSpc>
                <a:spcPct val="125000"/>
              </a:lnSpc>
              <a:spcAft>
                <a:spcPts val="600"/>
              </a:spcAft>
              <a:buNone/>
            </a:pPr>
            <a:r>
              <a:rPr lang="en-IN" sz="240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Every program a student writes will fail at least once — this is normal and expected. Debugging is not a sign of poor programming; it is a core engineering skill that separates a programmer who merely writes code from one who can be trusted to deliver working software.</a:t>
            </a:r>
          </a:p>
        </p:txBody>
      </p:sp>
    </p:spTree>
    <p:extLst>
      <p:ext uri="{BB962C8B-B14F-4D97-AF65-F5344CB8AC3E}">
        <p14:creationId xmlns:p14="http://schemas.microsoft.com/office/powerpoint/2010/main" val="267464209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Types of Bugs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writing a program, mistakes (bugs) commonly fall into three categories: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3669792" cy="2316480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8" name="Shape 6"/>
          <p:cNvSpPr/>
          <p:nvPr/>
        </p:nvSpPr>
        <p:spPr>
          <a:xfrm>
            <a:off x="2008632" y="2121408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0" descr="/home/claude/icons/exclam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6648" y="2249424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2788920"/>
            <a:ext cx="3285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Errors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85800" y="3136392"/>
            <a:ext cx="323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Typos or incorrect grammar in the code (e.g. a missing colon or bracket)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328160" y="1920240"/>
            <a:ext cx="3669792" cy="2316480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5788152" y="2121408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/home/claude/icons/brain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6168" y="2249424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437888" y="2788920"/>
            <a:ext cx="3285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Errors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4465320" y="3136392"/>
            <a:ext cx="323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runs, but produces wrong calculations or outcomes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8107680" y="1920240"/>
            <a:ext cx="3505200" cy="2316480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18" name="Shape 14"/>
          <p:cNvSpPr/>
          <p:nvPr/>
        </p:nvSpPr>
        <p:spPr>
          <a:xfrm>
            <a:off x="9567672" y="2121408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2" descr="/home/claude/icons/cpu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5688" y="2249424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17408" y="2788920"/>
            <a:ext cx="3285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Errors</a:t>
            </a: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8244840" y="3136392"/>
            <a:ext cx="323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that occur during execution, e.g. dividing by zero</a:t>
            </a:r>
            <a:endParaRPr lang="en-US" sz="2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Need Debugging?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begins as soon as code is written, and continues as code combines into a full software product</a:t>
            </a:r>
            <a:r>
              <a:rPr lang="en-US" sz="14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10881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just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an error condition immediately — enabling earlier detection and a less stressful development process.</a:t>
            </a:r>
            <a:endParaRPr lang="en-US" sz="2800" dirty="0"/>
          </a:p>
          <a:p>
            <a:pPr marL="228600" indent="-228600" algn="just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maximum useful information about data structures, allowing easy interpretation.</a:t>
            </a:r>
            <a:endParaRPr lang="en-US" sz="2800" dirty="0"/>
          </a:p>
          <a:p>
            <a:pPr marL="228600" indent="-228600" algn="just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developers reduce useless and distracting information.</a:t>
            </a:r>
            <a:endParaRPr lang="en-US" sz="2800" dirty="0"/>
          </a:p>
          <a:p>
            <a:pPr marL="228600" indent="-228600" algn="just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complex, one-use testing code — saving time and energy in software development.</a:t>
            </a:r>
            <a:endParaRPr lang="en-US" sz="28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Involved in Debugging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systematic, six-step process for tracking down and fixing bugs</a:t>
            </a: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3304032" cy="3108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4871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13232" y="2971800"/>
            <a:ext cx="2974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Error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13232" y="3611880"/>
            <a:ext cx="29748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E4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pin down what the error actually is — misidentifying it wastes development time.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870960" y="3803904"/>
            <a:ext cx="274320" cy="256032"/>
          </a:xfrm>
          <a:prstGeom prst="rightArrow">
            <a:avLst/>
          </a:prstGeom>
          <a:solidFill>
            <a:srgbClr val="F4A300"/>
          </a:solidFill>
          <a:ln/>
        </p:spPr>
      </p:sp>
      <p:sp>
        <p:nvSpPr>
          <p:cNvPr id="12" name="Shape 10"/>
          <p:cNvSpPr/>
          <p:nvPr/>
        </p:nvSpPr>
        <p:spPr>
          <a:xfrm>
            <a:off x="4428744" y="2377440"/>
            <a:ext cx="3304032" cy="3108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4565904" y="24871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93336" y="2971800"/>
            <a:ext cx="2974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Error Location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593336" y="3611880"/>
            <a:ext cx="29748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E4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code to find exactly where the error occurs.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751064" y="3803904"/>
            <a:ext cx="274320" cy="256032"/>
          </a:xfrm>
          <a:prstGeom prst="rightArrow">
            <a:avLst/>
          </a:prstGeom>
          <a:solidFill>
            <a:srgbClr val="F4A300"/>
          </a:solidFill>
          <a:ln/>
        </p:spPr>
      </p:sp>
      <p:sp>
        <p:nvSpPr>
          <p:cNvPr id="17" name="Shape 15"/>
          <p:cNvSpPr/>
          <p:nvPr/>
        </p:nvSpPr>
        <p:spPr>
          <a:xfrm>
            <a:off x="8308848" y="2377440"/>
            <a:ext cx="3304032" cy="3108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446008" y="24871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473440" y="2971800"/>
            <a:ext cx="2974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the Error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473440" y="3611880"/>
            <a:ext cx="29748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E4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bottom-up approach from the error location to understand it and check for related errors.</a:t>
            </a:r>
            <a:endParaRPr lang="en-US" sz="2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Involved in Debugging (contd.)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304032" cy="3108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9842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</a:rPr>
              <a:t>4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13232" y="2468880"/>
            <a:ext cx="2974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Analysis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13232" y="3108960"/>
            <a:ext cx="29748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E4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automated tests for areas where more errors may appear, using a test framework.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870960" y="3300984"/>
            <a:ext cx="274320" cy="256032"/>
          </a:xfrm>
          <a:prstGeom prst="rightArrow">
            <a:avLst/>
          </a:prstGeom>
          <a:solidFill>
            <a:srgbClr val="F4A300"/>
          </a:solidFill>
          <a:ln/>
        </p:spPr>
      </p:sp>
      <p:sp>
        <p:nvSpPr>
          <p:cNvPr id="11" name="Shape 9"/>
          <p:cNvSpPr/>
          <p:nvPr/>
        </p:nvSpPr>
        <p:spPr>
          <a:xfrm>
            <a:off x="4428744" y="1874520"/>
            <a:ext cx="3304032" cy="3108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565904" y="19842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</a:rPr>
              <a:t>5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93336" y="2468880"/>
            <a:ext cx="2974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Lateral Damage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93336" y="3108960"/>
            <a:ext cx="29748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4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all unit tests for the code you plan to change; run them — they should all pass first.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751064" y="3300984"/>
            <a:ext cx="274320" cy="256032"/>
          </a:xfrm>
          <a:prstGeom prst="rightArrow">
            <a:avLst/>
          </a:prstGeom>
          <a:solidFill>
            <a:srgbClr val="F4A300"/>
          </a:solidFill>
          <a:ln/>
        </p:spPr>
      </p:sp>
      <p:sp>
        <p:nvSpPr>
          <p:cNvPr id="16" name="Shape 14"/>
          <p:cNvSpPr/>
          <p:nvPr/>
        </p:nvSpPr>
        <p:spPr>
          <a:xfrm>
            <a:off x="8308848" y="1874520"/>
            <a:ext cx="3304032" cy="3108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446008" y="19842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</a:rPr>
              <a:t>6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73440" y="2468880"/>
            <a:ext cx="2974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&amp; Validate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473440" y="3108960"/>
            <a:ext cx="29748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E4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all identified errors, then re-run all test scripts to confirm they pass.</a:t>
            </a:r>
            <a:endParaRPr lang="en-US" sz="2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Debugging Tools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debugging tool is a computer program used to test and debug other programs.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10881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just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public-domain debugging tools are available, such as gdb and dbx, which offer console-based command-line interfaces.</a:t>
            </a:r>
            <a:endParaRPr lang="en-US" sz="2400" dirty="0"/>
          </a:p>
          <a:p>
            <a:pPr marL="228600" indent="-228600" algn="just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tools include code-based tracers, interpreters, and automated profilers.</a:t>
            </a:r>
            <a:endParaRPr lang="en-US" sz="2400" dirty="0"/>
          </a:p>
          <a:p>
            <a:pPr marL="228600" indent="-228600" algn="just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widely used debuggers: Radare2, WinDbg, Valgrind.</a:t>
            </a:r>
            <a:endParaRPr lang="en-US" sz="24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OF 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Processors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93192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FF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Compilers, interpreters and assemblers</a:t>
            </a:r>
            <a:endParaRPr lang="en-US" sz="1500" dirty="0"/>
          </a:p>
        </p:txBody>
      </p:sp>
      <p:pic>
        <p:nvPicPr>
          <p:cNvPr id="7" name="Image 0" descr="/home/claude/icons/microchip_FFFFFF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10195560" y="5074920"/>
            <a:ext cx="1234440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Processors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PROCESSORS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Language Processor?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computer only understands instructions in machine code (0s and 1s) — writing programs directly in machine code is tedious.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10881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just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language is machine-dependent, yet its mnemonics are still not directly understandable by the machine.</a:t>
            </a:r>
            <a:endParaRPr lang="en-US" sz="2400" dirty="0"/>
          </a:p>
          <a:p>
            <a:pPr marL="228600" indent="-228600" algn="just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languages, by contrast, are machine-independent.</a:t>
            </a:r>
            <a:endParaRPr lang="en-US" sz="2400" dirty="0"/>
          </a:p>
          <a:p>
            <a:pPr marL="228600" indent="-228600" algn="just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 are mostly written in high-level languages like Java, C++, or Python — called source code — which cannot be executed directly.</a:t>
            </a:r>
            <a:endParaRPr lang="en-US" sz="2400" dirty="0"/>
          </a:p>
          <a:p>
            <a:pPr marL="228600" indent="-228600" algn="just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special translator system software converts high-level source code into machine code. This is called a Language Processor, and the translated result is called object code (or object program).</a:t>
            </a:r>
            <a:endParaRPr lang="en-US" sz="24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DB4FFA-A588-2E43-0552-499428AB1001}"/>
              </a:ext>
            </a:extLst>
          </p:cNvPr>
          <p:cNvSpPr txBox="1"/>
          <p:nvPr/>
        </p:nvSpPr>
        <p:spPr>
          <a:xfrm>
            <a:off x="518160" y="521744"/>
            <a:ext cx="10901680" cy="4377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0"/>
              </a:spcBef>
              <a:spcAft>
                <a:spcPts val="750"/>
              </a:spcAft>
              <a:buNone/>
            </a:pPr>
            <a:r>
              <a:rPr lang="en-IN" sz="2400" b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2.Why Do We Need Language Processors?</a:t>
            </a:r>
            <a:endParaRPr lang="en-IN" sz="2400" b="1" dirty="0">
              <a:effectLst/>
              <a:latin typeface="Calibri" panose="020F0502020204030204" pitchFamily="34" charset="0"/>
            </a:endParaRPr>
          </a:p>
          <a:p>
            <a:pPr algn="just">
              <a:lnSpc>
                <a:spcPct val="125000"/>
              </a:lnSpc>
              <a:spcAft>
                <a:spcPts val="600"/>
              </a:spcAft>
              <a:buNone/>
            </a:pPr>
            <a:r>
              <a:rPr lang="en-IN" sz="240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 computer's processor (CPU) can only execute instructions in machine language — a sequence of 0s and 1s specific to its hardware architecture. </a:t>
            </a:r>
          </a:p>
          <a:p>
            <a:pPr algn="just">
              <a:lnSpc>
                <a:spcPct val="125000"/>
              </a:lnSpc>
              <a:spcAft>
                <a:spcPts val="600"/>
              </a:spcAft>
              <a:buNone/>
            </a:pPr>
            <a:r>
              <a:rPr lang="en-IN" sz="240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Humans, however, write programs in high-level languages (Python, C, Java) or low-level assembly language, because these are far easier to read, write, and maintain. </a:t>
            </a:r>
          </a:p>
          <a:p>
            <a:pPr algn="just">
              <a:lnSpc>
                <a:spcPct val="125000"/>
              </a:lnSpc>
              <a:spcAft>
                <a:spcPts val="600"/>
              </a:spcAft>
              <a:buNone/>
            </a:pPr>
            <a:r>
              <a:rPr lang="en-IN" sz="240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 language processor (also called a language translator) is system software that converts a program written in one language — the source language — into an equivalent program in another language, usually machine language, called the target language.</a:t>
            </a:r>
          </a:p>
        </p:txBody>
      </p:sp>
    </p:spTree>
    <p:extLst>
      <p:ext uri="{BB962C8B-B14F-4D97-AF65-F5344CB8AC3E}">
        <p14:creationId xmlns:p14="http://schemas.microsoft.com/office/powerpoint/2010/main" val="34906687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Processors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PROCESSORS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Types of Language Processors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88136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just">
              <a:spcAft>
                <a:spcPts val="1000"/>
              </a:spcAft>
              <a:buSzPct val="100000"/>
              <a:buChar char="•"/>
            </a:pPr>
            <a:r>
              <a:rPr lang="en-US" sz="2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</a:t>
            </a:r>
            <a:endParaRPr lang="en-US" sz="2400" dirty="0"/>
          </a:p>
          <a:p>
            <a:pPr marL="228600" indent="-228600" algn="just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complete high-level source program in one go and translates it into an equivalent machine-language program.</a:t>
            </a:r>
            <a:endParaRPr lang="en-US" sz="2400" dirty="0"/>
          </a:p>
          <a:p>
            <a:pPr marL="228600" indent="-228600" algn="just">
              <a:spcAft>
                <a:spcPts val="1000"/>
              </a:spcAft>
              <a:buSzPct val="100000"/>
              <a:buChar char="•"/>
            </a:pPr>
            <a:r>
              <a:rPr lang="en-US" sz="2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Interpreter</a:t>
            </a:r>
            <a:endParaRPr lang="en-US" sz="2400" dirty="0"/>
          </a:p>
          <a:p>
            <a:pPr marL="228600" indent="-228600" algn="just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and executes high-level code line-by-line, without producing a separate machine-code file first.</a:t>
            </a:r>
            <a:endParaRPr lang="en-US" sz="2400" dirty="0"/>
          </a:p>
          <a:p>
            <a:pPr marL="228600" indent="-228600" algn="just">
              <a:spcAft>
                <a:spcPts val="1000"/>
              </a:spcAft>
              <a:buSzPct val="100000"/>
              <a:buChar char="•"/>
            </a:pPr>
            <a:r>
              <a:rPr lang="en-US" sz="2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Assembler</a:t>
            </a:r>
            <a:endParaRPr lang="en-US" sz="2400" dirty="0"/>
          </a:p>
          <a:p>
            <a:pPr marL="228600" indent="-228600" algn="just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assembly-language instructions into machine code.</a:t>
            </a:r>
            <a:endParaRPr lang="en-US" sz="24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20BD64E-3663-19A6-5288-13777E0786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0568034"/>
              </p:ext>
            </p:extLst>
          </p:nvPr>
        </p:nvGraphicFramePr>
        <p:xfrm>
          <a:off x="716280" y="176054"/>
          <a:ext cx="10515600" cy="355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9531">
                  <a:extLst>
                    <a:ext uri="{9D8B030D-6E8A-4147-A177-3AD203B41FA5}">
                      <a16:colId xmlns:a16="http://schemas.microsoft.com/office/drawing/2014/main" val="1020995173"/>
                    </a:ext>
                  </a:extLst>
                </a:gridCol>
                <a:gridCol w="2789853">
                  <a:extLst>
                    <a:ext uri="{9D8B030D-6E8A-4147-A177-3AD203B41FA5}">
                      <a16:colId xmlns:a16="http://schemas.microsoft.com/office/drawing/2014/main" val="2190925043"/>
                    </a:ext>
                  </a:extLst>
                </a:gridCol>
                <a:gridCol w="2789853">
                  <a:extLst>
                    <a:ext uri="{9D8B030D-6E8A-4147-A177-3AD203B41FA5}">
                      <a16:colId xmlns:a16="http://schemas.microsoft.com/office/drawing/2014/main" val="1409322633"/>
                    </a:ext>
                  </a:extLst>
                </a:gridCol>
                <a:gridCol w="3326363">
                  <a:extLst>
                    <a:ext uri="{9D8B030D-6E8A-4147-A177-3AD203B41FA5}">
                      <a16:colId xmlns:a16="http://schemas.microsoft.com/office/drawing/2014/main" val="2381120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effectLst/>
                        </a:rPr>
                        <a:t>Processor</a:t>
                      </a:r>
                      <a:endParaRPr lang="en-IN" sz="2000" b="1" dirty="0">
                        <a:solidFill>
                          <a:srgbClr val="22222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95250" marR="95250" marT="63500" marB="63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effectLst/>
                        </a:rPr>
                        <a:t>Input</a:t>
                      </a:r>
                      <a:endParaRPr lang="en-IN" sz="2000" b="1">
                        <a:solidFill>
                          <a:srgbClr val="22222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95250" marR="95250" marT="63500" marB="63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effectLst/>
                        </a:rPr>
                        <a:t>Output</a:t>
                      </a:r>
                      <a:endParaRPr lang="en-IN" sz="2000" b="1">
                        <a:solidFill>
                          <a:srgbClr val="22222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95250" marR="95250" marT="63500" marB="63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effectLst/>
                        </a:rPr>
                        <a:t>Core Idea</a:t>
                      </a:r>
                      <a:endParaRPr lang="en-IN" sz="2000" b="1" dirty="0">
                        <a:solidFill>
                          <a:srgbClr val="22222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95250" marR="95250" marT="63500" marB="63500" anchor="ctr"/>
                </a:tc>
                <a:extLst>
                  <a:ext uri="{0D108BD9-81ED-4DB2-BD59-A6C34878D82A}">
                    <a16:rowId xmlns:a16="http://schemas.microsoft.com/office/drawing/2014/main" val="39772983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Assembler</a:t>
                      </a:r>
                      <a:endParaRPr lang="en-IN" sz="2000">
                        <a:solidFill>
                          <a:srgbClr val="22222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95250" marR="95250" marT="63500" marB="63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effectLst/>
                        </a:rPr>
                        <a:t>Assembly language (mnemonics like MOV, ADD)</a:t>
                      </a:r>
                      <a:endParaRPr lang="en-IN" sz="2000" dirty="0">
                        <a:solidFill>
                          <a:srgbClr val="22222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95250" marR="95250" marT="63500" marB="63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effectLst/>
                        </a:rPr>
                        <a:t>Machine code (binary/object code)</a:t>
                      </a:r>
                      <a:endParaRPr lang="en-IN" sz="2000" dirty="0">
                        <a:solidFill>
                          <a:srgbClr val="22222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95250" marR="95250" marT="63500" marB="63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One-to-one translation of each mnemonic instruction into its binary equivalent</a:t>
                      </a:r>
                      <a:endParaRPr lang="en-IN" sz="2000">
                        <a:solidFill>
                          <a:srgbClr val="22222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95250" marR="95250" marT="63500" marB="63500" anchor="ctr"/>
                </a:tc>
                <a:extLst>
                  <a:ext uri="{0D108BD9-81ED-4DB2-BD59-A6C34878D82A}">
                    <a16:rowId xmlns:a16="http://schemas.microsoft.com/office/drawing/2014/main" val="1455967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Compiler</a:t>
                      </a:r>
                      <a:endParaRPr lang="en-IN" sz="2000">
                        <a:solidFill>
                          <a:srgbClr val="22222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95250" marR="95250" marT="63500" marB="63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effectLst/>
                        </a:rPr>
                        <a:t>High-level language (entire source file, e.g., C, C++)</a:t>
                      </a:r>
                      <a:endParaRPr lang="en-IN" sz="2000" dirty="0">
                        <a:solidFill>
                          <a:srgbClr val="22222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95250" marR="95250" marT="63500" marB="63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Machine code / object code (executable file)</a:t>
                      </a:r>
                      <a:endParaRPr lang="en-IN" sz="2000">
                        <a:solidFill>
                          <a:srgbClr val="22222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95250" marR="95250" marT="63500" marB="63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effectLst/>
                        </a:rPr>
                        <a:t>Translates the whole program at once, before execution begins</a:t>
                      </a:r>
                      <a:endParaRPr lang="en-IN" sz="2000" dirty="0">
                        <a:solidFill>
                          <a:srgbClr val="22222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95250" marR="95250" marT="63500" marB="63500" anchor="ctr"/>
                </a:tc>
                <a:extLst>
                  <a:ext uri="{0D108BD9-81ED-4DB2-BD59-A6C34878D82A}">
                    <a16:rowId xmlns:a16="http://schemas.microsoft.com/office/drawing/2014/main" val="33079992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Interpreter</a:t>
                      </a:r>
                      <a:endParaRPr lang="en-IN" sz="2000">
                        <a:solidFill>
                          <a:srgbClr val="22222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95250" marR="95250" marT="63500" marB="63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High-level language (e.g., Python)</a:t>
                      </a:r>
                      <a:endParaRPr lang="en-IN" sz="2000">
                        <a:solidFill>
                          <a:srgbClr val="22222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95250" marR="95250" marT="63500" marB="63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Direct execution, line-by-line — no separate executable is saved</a:t>
                      </a:r>
                      <a:endParaRPr lang="en-IN" sz="2000">
                        <a:solidFill>
                          <a:srgbClr val="22222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95250" marR="95250" marT="63500" marB="63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effectLst/>
                        </a:rPr>
                        <a:t>Translates and executes one statement at a time</a:t>
                      </a:r>
                      <a:endParaRPr lang="en-IN" sz="2000" dirty="0">
                        <a:solidFill>
                          <a:srgbClr val="22222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95250" marR="95250" marT="63500" marB="63500" anchor="ctr"/>
                </a:tc>
                <a:extLst>
                  <a:ext uri="{0D108BD9-81ED-4DB2-BD59-A6C34878D82A}">
                    <a16:rowId xmlns:a16="http://schemas.microsoft.com/office/drawing/2014/main" val="11091171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692590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Processor — Compiler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PROCESSOR — COMPILER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Compiler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2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entire source program written in a high-level language, in one go, and translates it into an equivalent machine-language program.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10881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just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languages: C, C++, C#, Java.</a:t>
            </a:r>
            <a:endParaRPr lang="en-US" sz="2000" dirty="0"/>
          </a:p>
          <a:p>
            <a:pPr marL="228600" indent="-228600" algn="just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code is translated to object code successfully only if it is free of errors.</a:t>
            </a:r>
            <a:endParaRPr lang="en-US" sz="2000" dirty="0"/>
          </a:p>
          <a:p>
            <a:pPr marL="228600" indent="-228600" algn="just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reports all errors at the end of compilation, with line numbers.</a:t>
            </a:r>
            <a:endParaRPr lang="en-US" sz="2000" dirty="0"/>
          </a:p>
          <a:p>
            <a:pPr marL="228600" indent="-228600" algn="just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must be removed before the compiler can successfully recompile the source code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 dirty="0"/>
          </a:p>
        </p:txBody>
      </p:sp>
      <p:pic>
        <p:nvPicPr>
          <p:cNvPr id="9" name="Picture 8" descr="Compiler - HPC Wiki">
            <a:extLst>
              <a:ext uri="{FF2B5EF4-FFF2-40B4-BE49-F238E27FC236}">
                <a16:creationId xmlns:a16="http://schemas.microsoft.com/office/drawing/2014/main" id="{662830EB-DE41-FDC7-8FA8-DFB00F8892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5572" y="4390085"/>
            <a:ext cx="8165148" cy="2101189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Processor — Compiler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PROCESSOR — COMPILER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Compiler Works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078480" cy="2377440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7" name="Shape 5"/>
          <p:cNvSpPr/>
          <p:nvPr/>
        </p:nvSpPr>
        <p:spPr>
          <a:xfrm>
            <a:off x="1767840" y="23774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0" descr="/home/claude/icons/fil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25146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154680"/>
            <a:ext cx="289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85800" y="3566160"/>
            <a:ext cx="280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program (e.g. C, C++, Java)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3828288" y="3145536"/>
            <a:ext cx="347472" cy="292608"/>
          </a:xfrm>
          <a:prstGeom prst="rightArrow">
            <a:avLst/>
          </a:prstGeom>
          <a:solidFill>
            <a:srgbClr val="F4A300"/>
          </a:solidFill>
          <a:ln/>
        </p:spPr>
      </p:sp>
      <p:sp>
        <p:nvSpPr>
          <p:cNvPr id="12" name="Shape 9"/>
          <p:cNvSpPr/>
          <p:nvPr/>
        </p:nvSpPr>
        <p:spPr>
          <a:xfrm>
            <a:off x="4541520" y="2103120"/>
            <a:ext cx="3078480" cy="2377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Shape 10"/>
          <p:cNvSpPr/>
          <p:nvPr/>
        </p:nvSpPr>
        <p:spPr>
          <a:xfrm>
            <a:off x="5760720" y="2377440"/>
            <a:ext cx="640080" cy="640080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14" name="Image 1" descr="/home/claude/icons/cogs_1E27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251460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32960" y="3154680"/>
            <a:ext cx="289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4678680" y="3566160"/>
            <a:ext cx="280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4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the entire program in one pass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7674864" y="3145536"/>
            <a:ext cx="347472" cy="292608"/>
          </a:xfrm>
          <a:prstGeom prst="rightArrow">
            <a:avLst/>
          </a:prstGeom>
          <a:solidFill>
            <a:srgbClr val="F4A300"/>
          </a:solidFill>
          <a:ln/>
        </p:spPr>
      </p:sp>
      <p:sp>
        <p:nvSpPr>
          <p:cNvPr id="18" name="Shape 14"/>
          <p:cNvSpPr/>
          <p:nvPr/>
        </p:nvSpPr>
        <p:spPr>
          <a:xfrm>
            <a:off x="8534400" y="2103120"/>
            <a:ext cx="3078480" cy="2377440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19" name="Shape 15"/>
          <p:cNvSpPr/>
          <p:nvPr/>
        </p:nvSpPr>
        <p:spPr>
          <a:xfrm>
            <a:off x="9753600" y="23774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0" name="Image 2" descr="/home/claude/icons/checkcircl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0760" y="251460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625840" y="3154680"/>
            <a:ext cx="289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Code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8671560" y="3566160"/>
            <a:ext cx="280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Executable machine code (e.g. .exe)</a:t>
            </a:r>
            <a:endParaRPr lang="en-US" sz="2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Processor — Compiler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PROCESSOR — COMPILER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Compiler — Key Features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2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compiler is a special program that translates human-written high-level code into machine code a computer can run.</a:t>
            </a:r>
            <a:endParaRPr lang="en-US" sz="20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4077661"/>
              </p:ext>
            </p:extLst>
          </p:nvPr>
        </p:nvGraphicFramePr>
        <p:xfrm>
          <a:off x="548640" y="1874520"/>
          <a:ext cx="11064240" cy="448056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961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Explanation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Translates Entire Code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code is translated before it runs.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Execution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faster because code is already translated.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Checking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Detects syntax errors before execution.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File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Creates an executable file (like .exe on Windows).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Processor — Assembler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PROCESSOR — ASSEMBLER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Assembler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a program written in Assembly language into machine code. Input: assembly instructions. Output: object code / machine code.</a:t>
            </a:r>
            <a:endParaRPr lang="en-US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6718098"/>
              </p:ext>
            </p:extLst>
          </p:nvPr>
        </p:nvGraphicFramePr>
        <p:xfrm>
          <a:off x="548640" y="1874520"/>
          <a:ext cx="11064240" cy="4480560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93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Assembly Language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Code (Binary)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3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 A, B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01100101 11000011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93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A, B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00000110 11000011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5F0A75-8629-ED1C-385F-DF55365E2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867" y="1053445"/>
            <a:ext cx="9349974" cy="19640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C300FC3-EF12-BAC0-A7CD-52EDD43B61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216" r="896"/>
          <a:stretch>
            <a:fillRect/>
          </a:stretch>
        </p:blipFill>
        <p:spPr>
          <a:xfrm>
            <a:off x="1734473" y="3291840"/>
            <a:ext cx="8994487" cy="240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25524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Processor — Assembler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PROCESSOR — ASSEMBLER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an Assembler Works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078480" cy="2377440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7" name="Shape 5"/>
          <p:cNvSpPr/>
          <p:nvPr/>
        </p:nvSpPr>
        <p:spPr>
          <a:xfrm>
            <a:off x="1767840" y="23774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/home/claude/icons/fil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25146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154680"/>
            <a:ext cx="289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Code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85800" y="3566160"/>
            <a:ext cx="280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Mnemonics like MOV, ADD, SUB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681984" y="3145536"/>
            <a:ext cx="347472" cy="292608"/>
          </a:xfrm>
          <a:prstGeom prst="rightArrow">
            <a:avLst/>
          </a:prstGeom>
          <a:solidFill>
            <a:srgbClr val="F4A300"/>
          </a:solidFill>
          <a:ln/>
        </p:spPr>
      </p:sp>
      <p:sp>
        <p:nvSpPr>
          <p:cNvPr id="12" name="Shape 9"/>
          <p:cNvSpPr/>
          <p:nvPr/>
        </p:nvSpPr>
        <p:spPr>
          <a:xfrm>
            <a:off x="4541520" y="2103120"/>
            <a:ext cx="3078480" cy="2377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Shape 10"/>
          <p:cNvSpPr/>
          <p:nvPr/>
        </p:nvSpPr>
        <p:spPr>
          <a:xfrm>
            <a:off x="5760720" y="2377440"/>
            <a:ext cx="640080" cy="640080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14" name="Image 1" descr="/home/claude/icons/cogs_1E27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251460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32960" y="3154680"/>
            <a:ext cx="289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Assembler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4678680" y="3566160"/>
            <a:ext cx="280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4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mnemonics to binary machine code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7674864" y="3145536"/>
            <a:ext cx="347472" cy="292608"/>
          </a:xfrm>
          <a:prstGeom prst="rightArrow">
            <a:avLst/>
          </a:prstGeom>
          <a:solidFill>
            <a:srgbClr val="F4A300"/>
          </a:solidFill>
          <a:ln/>
        </p:spPr>
      </p:sp>
      <p:sp>
        <p:nvSpPr>
          <p:cNvPr id="18" name="Shape 14"/>
          <p:cNvSpPr/>
          <p:nvPr/>
        </p:nvSpPr>
        <p:spPr>
          <a:xfrm>
            <a:off x="8534400" y="2103120"/>
            <a:ext cx="3078480" cy="2377440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19" name="Shape 15"/>
          <p:cNvSpPr/>
          <p:nvPr/>
        </p:nvSpPr>
        <p:spPr>
          <a:xfrm>
            <a:off x="9753600" y="23774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2" descr="/home/claude/icons/checkcircl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0760" y="251460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625840" y="3154680"/>
            <a:ext cx="289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Code</a:t>
            </a: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8671560" y="3566160"/>
            <a:ext cx="280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machine code the CPU executes</a:t>
            </a:r>
            <a:endParaRPr lang="en-US" sz="20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Processor — Interpreter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PROCESSOR — INTERPRETER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41732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11880" y="1417320"/>
            <a:ext cx="7818120" cy="10515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just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 that reads and executes code line by line, directly — without converting the whole program into machine code first, unlike a compiler.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10881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spcAft>
                <a:spcPts val="900"/>
              </a:spcAft>
              <a:buSzPct val="100000"/>
              <a:buChar char="•"/>
            </a:pPr>
            <a:r>
              <a:rPr lang="en-US" sz="2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an interpreter is like a translator who translates and speaks each line of a speech one at a time, instead of translating the whole speech at once.</a:t>
            </a:r>
          </a:p>
          <a:p>
            <a:pPr marL="342900" indent="-342900" algn="just">
              <a:spcAft>
                <a:spcPts val="900"/>
              </a:spcAft>
              <a:buSzPct val="100000"/>
              <a:buChar char="•"/>
            </a:pPr>
            <a:r>
              <a:rPr lang="en-IN" sz="2800" dirty="0"/>
              <a:t>An interpreter translates and executes a high-level program one statement at a time, without producing a separate saved executable file</a:t>
            </a:r>
            <a:endParaRPr lang="en-US" sz="2800" dirty="0"/>
          </a:p>
          <a:p>
            <a:pPr marL="342900" indent="-342900" algn="just">
              <a:spcAft>
                <a:spcPts val="900"/>
              </a:spcAft>
              <a:buSzPct val="100000"/>
              <a:buChar char="•"/>
            </a:pPr>
            <a:r>
              <a:rPr lang="en-US" sz="2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that use interpreters: Python, JavaScript, Ruby, PHP, MATLAB.</a:t>
            </a:r>
            <a:endParaRPr lang="en-US" sz="28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Processors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PROCESSORS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Compiler vs Interpreter vs Assembler</a:t>
            </a:r>
            <a:endParaRPr lang="en-US" sz="300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6769674"/>
              </p:ext>
            </p:extLst>
          </p:nvPr>
        </p:nvGraphicFramePr>
        <p:xfrm>
          <a:off x="548640" y="1371600"/>
          <a:ext cx="11064240" cy="533654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29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Assembler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9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Translates entire high-level code at once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Translates &amp; executes line-by-line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Translates assembly into machine code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29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High-level (C, C++)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High-level (Python, JS)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Assembly language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29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code file (.exe)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separate output file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code file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29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full translation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Line-by-line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translation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29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Handling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all errors after compiling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Stops at first error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errors during conversion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29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 after compilation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Slower (interprets at runtime)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29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C, C++, Java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Python, JavaScript, Ruby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x86 ASM (low-level programming)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Building Blocks of Logic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algorithm ever written — however complex — is built from just these three patterns.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9050">
            <a:solidFill>
              <a:srgbClr val="0F6C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65960" y="2057400"/>
            <a:ext cx="731520" cy="731520"/>
          </a:xfrm>
          <a:prstGeom prst="ellipse">
            <a:avLst/>
          </a:prstGeom>
          <a:solidFill>
            <a:srgbClr val="0F6C7A"/>
          </a:solidFill>
          <a:ln/>
        </p:spPr>
      </p:sp>
      <p:sp>
        <p:nvSpPr>
          <p:cNvPr id="6" name="Text 4"/>
          <p:cNvSpPr/>
          <p:nvPr/>
        </p:nvSpPr>
        <p:spPr>
          <a:xfrm>
            <a:off x="1965960" y="2057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6C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34747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happen one after another, in order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173736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9050">
            <a:solidFill>
              <a:srgbClr val="0B25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0" y="2057400"/>
            <a:ext cx="731520" cy="7315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0" y="2057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17720" y="29718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54880" y="34747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branches the path: if this, then that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321040" y="173736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9050">
            <a:solidFill>
              <a:srgbClr val="F2A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38360" y="2057400"/>
            <a:ext cx="731520" cy="7315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9738360" y="2057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503920" y="29718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641080" y="34747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 (or group of steps) repeats until done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C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20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 1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17830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Sequence</a:t>
            </a:r>
            <a:endParaRPr kumimoji="0" lang="en-US" sz="4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7498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Steps are executed strictly in the order they are written. There is no branching, no repeating — just one instruction after another, top to bottom.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520" y="4480560"/>
            <a:ext cx="8138160" cy="1838960"/>
          </a:xfrm>
          <a:prstGeom prst="roundRect">
            <a:avLst>
              <a:gd name="adj" fmla="val 6667"/>
            </a:avLst>
          </a:prstGeom>
          <a:solidFill>
            <a:srgbClr val="0B254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46634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AS...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05840" y="498348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recipe card — you follow instruction 1, then 2, then 3. Skip a step or do them out of order, and the dish doesn't turn out right.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C7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0B2545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Sequence — Example 1: UPI Mobile Recharge</a:t>
            </a: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9728" cy="5029200"/>
          </a:xfrm>
          <a:prstGeom prst="rect">
            <a:avLst/>
          </a:prstGeom>
          <a:solidFill>
            <a:srgbClr val="0F6C7A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280160"/>
            <a:ext cx="384048" cy="384048"/>
          </a:xfrm>
          <a:prstGeom prst="ellipse">
            <a:avLst/>
          </a:prstGeom>
          <a:solidFill>
            <a:srgbClr val="0F6C7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80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444752" y="1261872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A27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Open UPI app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14400" y="1847088"/>
            <a:ext cx="384048" cy="384048"/>
          </a:xfrm>
          <a:prstGeom prst="ellipse">
            <a:avLst/>
          </a:prstGeom>
          <a:solidFill>
            <a:srgbClr val="0F6C7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847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444752" y="1828800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A27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Select 'Mobile Recharge'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14400" y="2414016"/>
            <a:ext cx="384048" cy="384048"/>
          </a:xfrm>
          <a:prstGeom prst="ellipse">
            <a:avLst/>
          </a:prstGeom>
          <a:solidFill>
            <a:srgbClr val="0F6C7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4140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444752" y="2395728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A27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Enter mobile number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14400" y="2980944"/>
            <a:ext cx="384048" cy="384048"/>
          </a:xfrm>
          <a:prstGeom prst="ellipse">
            <a:avLst/>
          </a:prstGeom>
          <a:solidFill>
            <a:srgbClr val="0F6C7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9809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444752" y="2962656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A27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Choose recharge plan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14400" y="3547872"/>
            <a:ext cx="384048" cy="384048"/>
          </a:xfrm>
          <a:prstGeom prst="ellipse">
            <a:avLst/>
          </a:prstGeom>
          <a:solidFill>
            <a:srgbClr val="0F6C7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547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444752" y="3529584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A27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Enter UPI PIN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14400" y="4114800"/>
            <a:ext cx="384048" cy="384048"/>
          </a:xfrm>
          <a:prstGeom prst="ellipse">
            <a:avLst/>
          </a:prstGeom>
          <a:solidFill>
            <a:srgbClr val="0F6C7A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114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444752" y="4096512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A27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Confirm payment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400800" y="1280160"/>
            <a:ext cx="5212080" cy="2377440"/>
          </a:xfrm>
          <a:prstGeom prst="roundRect">
            <a:avLst>
              <a:gd name="adj" fmla="val 3846"/>
            </a:avLst>
          </a:prstGeom>
          <a:solidFill>
            <a:srgbClr val="0B2545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144475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675120" y="1810512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OPEN app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"Mobile Recharge"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INPUT mobile_number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plan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INPUT upi_pin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CONFIRM payment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400800" y="3886200"/>
            <a:ext cx="5212080" cy="2331720"/>
          </a:xfrm>
          <a:prstGeom prst="roundRect">
            <a:avLst>
              <a:gd name="adj" fmla="val 3922"/>
            </a:avLst>
          </a:prstGeom>
          <a:solidFill>
            <a:srgbClr val="FCEBD0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40690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B254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IF THE ORDER BREAKS?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675120" y="443484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A27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Enter the PIN before selecting a plan, and the app has nothing to charge you for. Sequence is the contract every algorithm depends on — change the order, change (or break) the outcome.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C7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0B2545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Sequence — Example 2: ATM Cash Withdrawal</a:t>
            </a: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5C7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second everyday sequence, this time paired with a decision-free flow diagram.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3832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0F6C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01368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F6C7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34440" y="16916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A27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Insert card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251960" y="1691640"/>
            <a:ext cx="33832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0F6C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0" y="1801368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F6C7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46320" y="16916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A27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Select language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33832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0F6C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761488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F6C7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234440" y="265176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A27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Enter 4-digit PIN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251960" y="2651760"/>
            <a:ext cx="33832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0F6C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2761488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F6C7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46320" y="265176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A27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Choose 'Withdraw Cash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1A27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'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3611880"/>
            <a:ext cx="33832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0F6C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721608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F6C7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234440" y="361188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A27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Enter amount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251960" y="3611880"/>
            <a:ext cx="33832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0F6C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0" y="3721608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F6C7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846320" y="361188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A27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Collect cash &amp; card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955280" y="1691640"/>
            <a:ext cx="3657600" cy="4206240"/>
          </a:xfrm>
          <a:prstGeom prst="roundRect">
            <a:avLst>
              <a:gd name="adj" fmla="val 3000"/>
            </a:avLst>
          </a:prstGeom>
          <a:solidFill>
            <a:srgbClr val="0B2545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0" y="18745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229600" y="2240280"/>
            <a:ext cx="3200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INSERT card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language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INPUT pin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"Withdraw"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INPUT amount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DISPENSE cash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card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C7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0B2545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Sequence — Example 1: UPI Mobile Recharge</a:t>
            </a: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9728" cy="5029200"/>
          </a:xfrm>
          <a:prstGeom prst="rect">
            <a:avLst/>
          </a:prstGeom>
          <a:solidFill>
            <a:srgbClr val="0F6C7A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280160"/>
            <a:ext cx="384048" cy="384048"/>
          </a:xfrm>
          <a:prstGeom prst="ellipse">
            <a:avLst/>
          </a:prstGeom>
          <a:solidFill>
            <a:srgbClr val="0F6C7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80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444752" y="1261872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A27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Open UPI app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14400" y="1847088"/>
            <a:ext cx="384048" cy="384048"/>
          </a:xfrm>
          <a:prstGeom prst="ellipse">
            <a:avLst/>
          </a:prstGeom>
          <a:solidFill>
            <a:srgbClr val="0F6C7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847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444752" y="1828800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A27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Select 'Mobile Recharge'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14400" y="2414016"/>
            <a:ext cx="384048" cy="384048"/>
          </a:xfrm>
          <a:prstGeom prst="ellipse">
            <a:avLst/>
          </a:prstGeom>
          <a:solidFill>
            <a:srgbClr val="0F6C7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4140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444752" y="2395728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A27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Enter mobile number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14400" y="2980944"/>
            <a:ext cx="384048" cy="384048"/>
          </a:xfrm>
          <a:prstGeom prst="ellipse">
            <a:avLst/>
          </a:prstGeom>
          <a:solidFill>
            <a:srgbClr val="0F6C7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9809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444752" y="2962656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A27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Choose recharge plan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14400" y="3547872"/>
            <a:ext cx="384048" cy="384048"/>
          </a:xfrm>
          <a:prstGeom prst="ellipse">
            <a:avLst/>
          </a:prstGeom>
          <a:solidFill>
            <a:srgbClr val="0F6C7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547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444752" y="3529584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A27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Enter UPI PIN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14400" y="4114800"/>
            <a:ext cx="384048" cy="384048"/>
          </a:xfrm>
          <a:prstGeom prst="ellipse">
            <a:avLst/>
          </a:prstGeom>
          <a:solidFill>
            <a:srgbClr val="0F6C7A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114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444752" y="4096512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A27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Confirm payment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400800" y="1280160"/>
            <a:ext cx="5212080" cy="2377440"/>
          </a:xfrm>
          <a:prstGeom prst="roundRect">
            <a:avLst>
              <a:gd name="adj" fmla="val 3846"/>
            </a:avLst>
          </a:prstGeom>
          <a:solidFill>
            <a:srgbClr val="0B2545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144475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675120" y="1810512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OPEN app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"Mobile Recharge"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INPUT mobile_number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plan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INPUT upi_pin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CONFIRM payment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400800" y="3886200"/>
            <a:ext cx="5212080" cy="2331720"/>
          </a:xfrm>
          <a:prstGeom prst="roundRect">
            <a:avLst>
              <a:gd name="adj" fmla="val 3922"/>
            </a:avLst>
          </a:prstGeom>
          <a:solidFill>
            <a:srgbClr val="FCEBD0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40690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B254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IF THE ORDER BREAKS?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675120" y="443484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A27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Enter the PIN before selecting a plan, and the app has nothing to charge you for. Sequence is the contract every algorithm depends on — change the order, change (or break) the outcome.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C7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0B2545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Sequence — Example 2: ATM Cash Withdrawal</a:t>
            </a: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5C7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second everyday sequence, this time paired with a decision-free flow diagram.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3832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0F6C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01368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F6C7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34440" y="16916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A27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Insert card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251960" y="1691640"/>
            <a:ext cx="33832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0F6C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0" y="1801368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F6C7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46320" y="16916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A27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Select language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33832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0F6C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761488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F6C7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234440" y="265176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A27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Enter 4-digit PIN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251960" y="2651760"/>
            <a:ext cx="33832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0F6C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2761488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F6C7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46320" y="265176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A27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Choose 'Withdraw Cash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1A27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'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3611880"/>
            <a:ext cx="33832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0F6C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721608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F6C7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234440" y="361188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A27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Enter amount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251960" y="3611880"/>
            <a:ext cx="33832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0F6C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0" y="3721608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F6C7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846320" y="361188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A27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Collect cash &amp; card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955280" y="1691640"/>
            <a:ext cx="3657600" cy="4206240"/>
          </a:xfrm>
          <a:prstGeom prst="roundRect">
            <a:avLst>
              <a:gd name="adj" fmla="val 3000"/>
            </a:avLst>
          </a:prstGeom>
          <a:solidFill>
            <a:srgbClr val="0B2545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0" y="18745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229600" y="2240280"/>
            <a:ext cx="3200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INSERT card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language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INPUT pin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"Withdraw"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INPUT amount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DISPENSE cash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card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C7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20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 2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Selection</a:t>
            </a:r>
            <a:endParaRPr kumimoji="0" lang="en-US" sz="4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498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condition is checked, and the path taken depends on whether it's true or false. This is if–else thinking — decision-making built into the algorithm.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31520" y="4480560"/>
            <a:ext cx="7680960" cy="1371600"/>
          </a:xfrm>
          <a:prstGeom prst="roundRect">
            <a:avLst>
              <a:gd name="adj" fmla="val 6667"/>
            </a:avLst>
          </a:prstGeom>
          <a:solidFill>
            <a:srgbClr val="0F6C7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46634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AS...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05840" y="498348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fork in the road — the algorithm looks at a signpost (the condition) and takes one branch or the other, never both.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C7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0B2545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Selection — Example 1: Exam Eligibility Check</a:t>
            </a: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5C7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condition, two possible outcomes.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2468880" cy="1463040"/>
          </a:xfrm>
          <a:prstGeom prst="diamond">
            <a:avLst/>
          </a:prstGeom>
          <a:solidFill>
            <a:srgbClr val="0B2545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≥ 75%?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1440" y="374904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0F6C7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" y="37490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Eligible for exam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194560" y="374904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F2A93B"/>
          </a:solidFill>
          <a:ln/>
        </p:spPr>
      </p:sp>
      <p:sp>
        <p:nvSpPr>
          <p:cNvPr id="9" name="Text 7"/>
          <p:cNvSpPr/>
          <p:nvPr/>
        </p:nvSpPr>
        <p:spPr>
          <a:xfrm>
            <a:off x="2194560" y="37490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B254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B254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Condonation form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 flipH="1">
            <a:off x="853440" y="2834640"/>
            <a:ext cx="690880" cy="896112"/>
          </a:xfrm>
          <a:prstGeom prst="line">
            <a:avLst/>
          </a:prstGeom>
          <a:noFill/>
          <a:ln w="19050">
            <a:solidFill>
              <a:srgbClr val="5C70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97480" y="2926080"/>
            <a:ext cx="365760" cy="822960"/>
          </a:xfrm>
          <a:prstGeom prst="line">
            <a:avLst/>
          </a:prstGeom>
          <a:noFill/>
          <a:ln w="19050">
            <a:solidFill>
              <a:srgbClr val="5C70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1828800"/>
            <a:ext cx="5303520" cy="2651760"/>
          </a:xfrm>
          <a:prstGeom prst="roundRect">
            <a:avLst>
              <a:gd name="adj" fmla="val 3448"/>
            </a:avLst>
          </a:prstGeom>
          <a:solidFill>
            <a:srgbClr val="0B2545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99339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583680" y="2359152"/>
            <a:ext cx="4754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attendance &gt;= 75: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 "Eligible for exam"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 "Apply for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condonation"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8640" y="5029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5C7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MORE REAL-LIFE IF–ELSE: Is a number even or odd?  ·  Does a Flipkart order cross ₹499 for free delivery?  ·  Is a candidate eligible for a scholarship?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C7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0B2545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Selection — Example 2: Grade Calculator (Multi-Branch)</a:t>
            </a: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5C7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Selection isn't limited to two outcomes — nested or chained conditions handle several.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1206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0F6C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459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A273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 ≥ 90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937760" y="1783080"/>
            <a:ext cx="548640" cy="548640"/>
          </a:xfrm>
          <a:prstGeom prst="ellipse">
            <a:avLst/>
          </a:prstGeom>
          <a:solidFill>
            <a:srgbClr val="0F6C7A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51206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0B2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6060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A273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 ≥ 75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937760" y="2743200"/>
            <a:ext cx="548640" cy="54864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51206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F2A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5661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A273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 ≥ 40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937760" y="370332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3703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4526280"/>
            <a:ext cx="512064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5C70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5262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A273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 &lt; 40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937760" y="4663440"/>
            <a:ext cx="548640" cy="548640"/>
          </a:xfrm>
          <a:prstGeom prst="ellipse">
            <a:avLst/>
          </a:prstGeom>
          <a:solidFill>
            <a:srgbClr val="5C7080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4663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309360" y="1645920"/>
            <a:ext cx="5303520" cy="3931920"/>
          </a:xfrm>
          <a:prstGeom prst="roundRect">
            <a:avLst>
              <a:gd name="adj" fmla="val 2326"/>
            </a:avLst>
          </a:prstGeom>
          <a:solidFill>
            <a:srgbClr val="0B2545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181051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583680" y="2176272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marks &gt;= 90: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grade = "A"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 marks &gt;= 75: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grade = "B"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 marks &gt;= 40: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grade = "C"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grade = "F"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grade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C7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A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200" normalizeH="0" baseline="0" noProof="0" dirty="0">
                <a:ln>
                  <a:noFill/>
                </a:ln>
                <a:solidFill>
                  <a:srgbClr val="0B254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 3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17830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1" i="0" u="none" strike="noStrike" kern="1200" cap="none" spc="0" normalizeH="0" baseline="0" noProof="0" dirty="0">
                <a:ln>
                  <a:noFill/>
                </a:ln>
                <a:solidFill>
                  <a:srgbClr val="0B2545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Iteration</a:t>
            </a:r>
            <a:endParaRPr kumimoji="0" lang="en-US" sz="4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7498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B254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step, or group of steps, repeats until a condition is met. This is loop thinking — doing the same work efficiently, without writing it out N times.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520" y="4480560"/>
            <a:ext cx="7680960" cy="1371600"/>
          </a:xfrm>
          <a:prstGeom prst="roundRect">
            <a:avLst>
              <a:gd name="adj" fmla="val 6667"/>
            </a:avLst>
          </a:prstGeom>
          <a:solidFill>
            <a:srgbClr val="0B254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46634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AS...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05840" y="498348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Re-entering your OTP after a typo — you repeat the same action until the condition ("OTP correct") is finally met.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C7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0B2545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Iteration — Example 1: Printing Roll Numbers 1 to 60</a:t>
            </a: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5C7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counter starts, repeats a block, and stops when a limit is reached.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14400" y="1920240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2A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31089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B2545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REPEAT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B2545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until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B2545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roll &gt; 60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 rot="5400000">
            <a:off x="3886200" y="3291840"/>
            <a:ext cx="320040" cy="320040"/>
          </a:xfrm>
          <a:prstGeom prst="triangle">
            <a:avLst/>
          </a:prstGeom>
          <a:solidFill>
            <a:srgbClr val="F2A93B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0" y="2057400"/>
            <a:ext cx="2377440" cy="1280160"/>
          </a:xfrm>
          <a:prstGeom prst="roundRect">
            <a:avLst>
              <a:gd name="adj" fmla="val 7143"/>
            </a:avLst>
          </a:prstGeom>
          <a:solidFill>
            <a:srgbClr val="CFE8E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205740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F6C7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PRINT roll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F6C7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(start at 1)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0" y="3566160"/>
            <a:ext cx="2377440" cy="1280160"/>
          </a:xfrm>
          <a:prstGeom prst="roundRect">
            <a:avLst>
              <a:gd name="adj" fmla="val 7143"/>
            </a:avLst>
          </a:prstGeom>
          <a:solidFill>
            <a:srgbClr val="CFE8E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35661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F6C7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roll =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F6C7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roll + 1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315200" y="2377440"/>
            <a:ext cx="4297680" cy="2103120"/>
          </a:xfrm>
          <a:prstGeom prst="roundRect">
            <a:avLst>
              <a:gd name="adj" fmla="val 4348"/>
            </a:avLst>
          </a:prstGeom>
          <a:solidFill>
            <a:srgbClr val="0B2545"/>
          </a:solidFill>
          <a:ln/>
        </p:spPr>
      </p:sp>
      <p:sp>
        <p:nvSpPr>
          <p:cNvPr id="12" name="Text 10"/>
          <p:cNvSpPr/>
          <p:nvPr/>
        </p:nvSpPr>
        <p:spPr>
          <a:xfrm>
            <a:off x="7589520" y="254203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589520" y="2907792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 = 1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roll &lt;= 60: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 roll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roll = roll + 1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8640" y="53949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5C7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Three parts of every loop: (1) a starting value, (2) a condition checked each time, (3) an update that eventually makes the condition false</a:t>
            </a:r>
            <a:r>
              <a:rPr kumimoji="0" lang="en-US" sz="1250" b="0" i="1" u="none" strike="noStrike" kern="1200" cap="none" spc="0" normalizeH="0" baseline="0" noProof="0" dirty="0">
                <a:ln>
                  <a:noFill/>
                </a:ln>
                <a:solidFill>
                  <a:srgbClr val="5C7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C7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0B2545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Which Block Do You Need?</a:t>
            </a: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5C7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quick test you can apply to any problem statement.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7F9FA"/>
          </a:solidFill>
          <a:ln w="19050">
            <a:solidFill>
              <a:srgbClr val="0F6C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1920240" cy="1371600"/>
          </a:xfrm>
          <a:prstGeom prst="rect">
            <a:avLst/>
          </a:prstGeom>
          <a:solidFill>
            <a:srgbClr val="0F6C7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SEQUENCE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2697480" y="182880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A27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 the steps just need to happen in order, once each?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8321040" y="182880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5C7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e.g., Booking a ticket, making chai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7F9FA"/>
          </a:solidFill>
          <a:ln w="19050">
            <a:solidFill>
              <a:srgbClr val="0B25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246120"/>
            <a:ext cx="1920240" cy="13716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24612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SELECTION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697480" y="338328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A27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Does the outcome depend on a condition being true or false?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321040" y="33832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5C7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e.g., Pass/fail, eligibility, odd/even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480060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7F9FA"/>
          </a:solidFill>
          <a:ln w="19050">
            <a:solidFill>
              <a:srgbClr val="F2A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800600"/>
            <a:ext cx="1920240" cy="137160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80060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ITERATION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697480" y="493776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A273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Does the same action need to happen many times, or until something changes?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321040" y="49377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5C7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e.g., Printing a list, summing digits, retry logic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C7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OF 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Algorithms, Pseudocode &amp; Flowcharts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93192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FF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a solution before writing a single line of code</a:t>
            </a:r>
            <a:endParaRPr lang="en-US" sz="1500" dirty="0"/>
          </a:p>
        </p:txBody>
      </p:sp>
      <p:pic>
        <p:nvPicPr>
          <p:cNvPr id="7" name="Image 0" descr="/home/claude/icons/project_FFFFFF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10195560" y="5074920"/>
            <a:ext cx="1234440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&amp; Flowcharts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&amp; FLOWCHARTS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Typical Programming Task Has Two Phases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884680"/>
            <a:ext cx="5244084" cy="3108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9842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13232" y="2468880"/>
            <a:ext cx="49149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Problem-Solving Phase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13232" y="3108960"/>
            <a:ext cx="49149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2400" dirty="0">
                <a:solidFill>
                  <a:srgbClr val="E4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an ordered sequence of steps describing the solution to a problem — using an algorithm or a flowchart.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811012" y="3300984"/>
            <a:ext cx="274320" cy="256032"/>
          </a:xfrm>
          <a:prstGeom prst="rightArrow">
            <a:avLst/>
          </a:prstGeom>
          <a:solidFill>
            <a:srgbClr val="F4A300"/>
          </a:solidFill>
          <a:ln/>
        </p:spPr>
      </p:sp>
      <p:sp>
        <p:nvSpPr>
          <p:cNvPr id="11" name="Shape 9"/>
          <p:cNvSpPr/>
          <p:nvPr/>
        </p:nvSpPr>
        <p:spPr>
          <a:xfrm>
            <a:off x="6368796" y="1874520"/>
            <a:ext cx="5244084" cy="3108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505956" y="19842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33388" y="2468880"/>
            <a:ext cx="49149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Implementation Phase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533388" y="3108960"/>
            <a:ext cx="49149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2800" dirty="0">
                <a:solidFill>
                  <a:srgbClr val="E4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the planned solution in an actual programming language</a:t>
            </a:r>
            <a:r>
              <a:rPr lang="en-US" sz="1000" dirty="0">
                <a:solidFill>
                  <a:srgbClr val="E4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&amp; Flowcharts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&amp; FLOWCHARTS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in Problem Solving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88136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— produce a general algorithm</a:t>
            </a:r>
            <a:endParaRPr lang="en-US" sz="2800" dirty="0"/>
          </a:p>
          <a:p>
            <a:pPr marL="228600" indent="-228600" algn="just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it successively to get a step-by-step, detailed algorithm that is very close to a computer language.</a:t>
            </a:r>
            <a:endParaRPr lang="en-US" sz="2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— write a pseudocode</a:t>
            </a:r>
            <a:endParaRPr lang="en-US" sz="2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artificial, informal language that helps programmers develop algorithms — very similar to everyday English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Recipe for Solving a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60020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E6F3F3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525" y="191292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75485" y="1820875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Analogy: A Recipe for Chai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62000" y="2585923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dirty="0">
                <a:solidFill>
                  <a:srgbClr val="445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 water → add tea leaves → add milk → add sugar → boil → strain. A fixed, ordered sequence that always gives the same result — that's an algorithm.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6217920" y="1241754"/>
            <a:ext cx="5471160" cy="2385365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17373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805" y="191292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92240" y="2514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537960" y="267208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dirty="0">
                <a:solidFill>
                  <a:srgbClr val="445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step-by-step, unambiguous set of instructions to solve a specific problem in a finite number of steps.</a:t>
            </a:r>
            <a:endParaRPr lang="en-US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2139696" cy="2103120"/>
          </a:xfrm>
          <a:prstGeom prst="roundRect">
            <a:avLst>
              <a:gd name="adj" fmla="val 3478"/>
            </a:avLst>
          </a:prstGeom>
          <a:solidFill>
            <a:srgbClr val="FFF3E0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58368" y="39319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3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Definiteness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685800" y="4434840"/>
            <a:ext cx="186537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45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is clear &amp; unambiguous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2807208" y="3794760"/>
            <a:ext cx="2139696" cy="2103120"/>
          </a:xfrm>
          <a:prstGeom prst="roundRect">
            <a:avLst>
              <a:gd name="adj" fmla="val 3478"/>
            </a:avLst>
          </a:prstGeom>
          <a:solidFill>
            <a:srgbClr val="FFF3E0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2916936" y="39319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3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Finiteness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2944368" y="4434840"/>
            <a:ext cx="186537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45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Terminates after finite steps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5065776" y="3794760"/>
            <a:ext cx="2139696" cy="2103120"/>
          </a:xfrm>
          <a:prstGeom prst="roundRect">
            <a:avLst>
              <a:gd name="adj" fmla="val 3478"/>
            </a:avLst>
          </a:prstGeom>
          <a:solidFill>
            <a:srgbClr val="FFF3E0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5175504" y="39319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3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5202936" y="4434840"/>
            <a:ext cx="186537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45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or more well-defined inputs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7324344" y="3794760"/>
            <a:ext cx="2139696" cy="2103120"/>
          </a:xfrm>
          <a:prstGeom prst="roundRect">
            <a:avLst>
              <a:gd name="adj" fmla="val 3478"/>
            </a:avLst>
          </a:prstGeom>
          <a:solidFill>
            <a:srgbClr val="FFF3E0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7434072" y="39319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3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7461504" y="4434840"/>
            <a:ext cx="186537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45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well-defined output</a:t>
            </a:r>
            <a:endParaRPr lang="en-US" sz="2000" dirty="0"/>
          </a:p>
        </p:txBody>
      </p:sp>
      <p:sp>
        <p:nvSpPr>
          <p:cNvPr id="26" name="Shape 22"/>
          <p:cNvSpPr/>
          <p:nvPr/>
        </p:nvSpPr>
        <p:spPr>
          <a:xfrm>
            <a:off x="9518904" y="3782567"/>
            <a:ext cx="2139696" cy="2103120"/>
          </a:xfrm>
          <a:prstGeom prst="roundRect">
            <a:avLst>
              <a:gd name="adj" fmla="val 3478"/>
            </a:avLst>
          </a:prstGeom>
          <a:solidFill>
            <a:srgbClr val="FFF3E0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23"/>
          <p:cNvSpPr/>
          <p:nvPr/>
        </p:nvSpPr>
        <p:spPr>
          <a:xfrm>
            <a:off x="9692640" y="39319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3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Effectiveness</a:t>
            </a:r>
            <a:endParaRPr lang="en-US" sz="2000" dirty="0"/>
          </a:p>
        </p:txBody>
      </p:sp>
      <p:sp>
        <p:nvSpPr>
          <p:cNvPr id="28" name="Text 24"/>
          <p:cNvSpPr/>
          <p:nvPr/>
        </p:nvSpPr>
        <p:spPr>
          <a:xfrm>
            <a:off x="9720072" y="4434840"/>
            <a:ext cx="186537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45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simple enough to do by hand</a:t>
            </a:r>
            <a:endParaRPr lang="en-US" sz="2000" dirty="0"/>
          </a:p>
        </p:txBody>
      </p:sp>
      <p:sp>
        <p:nvSpPr>
          <p:cNvPr id="29" name="Text 25"/>
          <p:cNvSpPr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Course — Introduction to Programming | ITM SLS Baroda University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DD5EA86-5E6A-2464-C1D4-D1DC435094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2426684"/>
              </p:ext>
            </p:extLst>
          </p:nvPr>
        </p:nvGraphicFramePr>
        <p:xfrm>
          <a:off x="756920" y="1603534"/>
          <a:ext cx="10515600" cy="38404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44084679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59697027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382018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Property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6542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Clear</a:t>
                      </a:r>
                      <a:endParaRPr lang="en-IN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Every step is unambiguous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"Boil water" not "heat something"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6496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Finite</a:t>
                      </a:r>
                      <a:endParaRPr lang="en-IN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Must end after a limited number of steps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Recipe doesn't go on forever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5762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Input</a:t>
                      </a:r>
                      <a:endParaRPr lang="en-IN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Takes something in (can be zero or more)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Water, noodles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4747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Output</a:t>
                      </a:r>
                      <a:endParaRPr lang="en-IN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Produces a result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Cooked Maggi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90385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Effective</a:t>
                      </a:r>
                      <a:endParaRPr lang="en-IN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Each step must be doable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You can actually boil water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535725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7C85E84-7481-51F9-416D-B554172665E2}"/>
              </a:ext>
            </a:extLst>
          </p:cNvPr>
          <p:cNvSpPr txBox="1"/>
          <p:nvPr/>
        </p:nvSpPr>
        <p:spPr>
          <a:xfrm>
            <a:off x="558800" y="570428"/>
            <a:ext cx="8981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Key properties of a good algorithm: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112888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Algorithm?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4160520"/>
          </a:xfrm>
          <a:prstGeom prst="rect">
            <a:avLst/>
          </a:prstGeom>
          <a:solidFill>
            <a:srgbClr val="1B1F2E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618488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618488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234440" y="1618488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9692640" y="15453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algorithm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1874520"/>
            <a:ext cx="10424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2400" dirty="0">
                <a:solidFill>
                  <a:srgbClr val="E8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Algorithm: Sum of Two Numbers</a:t>
            </a:r>
            <a:endParaRPr lang="en-US" sz="2400" dirty="0"/>
          </a:p>
          <a:p>
            <a:pPr marL="0" indent="0" algn="just">
              <a:lnSpc>
                <a:spcPct val="125000"/>
              </a:lnSpc>
              <a:buNone/>
            </a:pPr>
            <a:r>
              <a:rPr lang="en-US" sz="2400" dirty="0">
                <a:solidFill>
                  <a:srgbClr val="E8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2400" dirty="0"/>
          </a:p>
          <a:p>
            <a:pPr marL="0" indent="0" algn="just">
              <a:lnSpc>
                <a:spcPct val="125000"/>
              </a:lnSpc>
              <a:buNone/>
            </a:pPr>
            <a:r>
              <a:rPr lang="en-US" sz="2400" dirty="0">
                <a:solidFill>
                  <a:srgbClr val="E8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Take two numbers as input</a:t>
            </a:r>
            <a:endParaRPr lang="en-US" sz="2400" dirty="0"/>
          </a:p>
          <a:p>
            <a:pPr marL="0" indent="0" algn="just">
              <a:lnSpc>
                <a:spcPct val="125000"/>
              </a:lnSpc>
              <a:buNone/>
            </a:pPr>
            <a:r>
              <a:rPr lang="en-US" sz="2400" dirty="0">
                <a:solidFill>
                  <a:srgbClr val="E8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 the numbers</a:t>
            </a:r>
            <a:endParaRPr lang="en-US" sz="2400" dirty="0"/>
          </a:p>
          <a:p>
            <a:pPr marL="0" indent="0" algn="just">
              <a:lnSpc>
                <a:spcPct val="125000"/>
              </a:lnSpc>
              <a:buNone/>
            </a:pPr>
            <a:r>
              <a:rPr lang="en-US" sz="2400" dirty="0">
                <a:solidFill>
                  <a:srgbClr val="E8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 the result</a:t>
            </a:r>
            <a:endParaRPr lang="en-US" sz="2400" dirty="0"/>
          </a:p>
          <a:p>
            <a:pPr marL="0" indent="0" algn="just">
              <a:lnSpc>
                <a:spcPct val="125000"/>
              </a:lnSpc>
              <a:buNone/>
            </a:pPr>
            <a:r>
              <a:rPr lang="en-US" sz="2400" dirty="0">
                <a:solidFill>
                  <a:srgbClr val="E8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endParaRPr lang="en-US" sz="24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100" normalizeH="0" baseline="0" noProof="0" dirty="0">
                <a:ln>
                  <a:noFill/>
                </a:ln>
                <a:solidFill>
                  <a:srgbClr val="02809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Pass / Fail Check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44506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Problem: Given a student's marks out of 100, decide Pass or Fail (pass mark = 40).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371600" y="1892808"/>
            <a:ext cx="9875520" cy="45720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189280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Step 1: Start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" y="253288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5328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371600" y="2551176"/>
            <a:ext cx="98755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554480" y="255117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Step 2: Read the value of marks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0080" y="319125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1912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371600" y="3209544"/>
            <a:ext cx="9875520" cy="45720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/>
        </p:spPr>
      </p:sp>
      <p:sp>
        <p:nvSpPr>
          <p:cNvPr id="16" name="Text 14"/>
          <p:cNvSpPr/>
          <p:nvPr/>
        </p:nvSpPr>
        <p:spPr>
          <a:xfrm>
            <a:off x="1554480" y="3209544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Step 3: If marks ≥ 40, go to Step 4, else go to Step 5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40080" y="3849624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8496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371600" y="3867912"/>
            <a:ext cx="98755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554480" y="386791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Step 4: Print "Pass" → go to Step 6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40080" y="4507992"/>
            <a:ext cx="502920" cy="50292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507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371600" y="4526280"/>
            <a:ext cx="9875520" cy="45720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/>
        </p:spPr>
      </p:sp>
      <p:sp>
        <p:nvSpPr>
          <p:cNvPr id="24" name="Text 22"/>
          <p:cNvSpPr/>
          <p:nvPr/>
        </p:nvSpPr>
        <p:spPr>
          <a:xfrm>
            <a:off x="1554480" y="45262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Step 5: Print "Fail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40080" y="5166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166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371600" y="5184648"/>
            <a:ext cx="98755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1554480" y="518464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Step 6: Stop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63880" y="57607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3E0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92480" y="580644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B36A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Misconception: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 algorithm is NOT a program. It's language-independent; a program is the algorithm written in a specific language's syntax.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A93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Need an Algorithm?</a:t>
            </a:r>
            <a:endParaRPr lang="en-US" sz="3000" dirty="0"/>
          </a:p>
        </p:txBody>
      </p:sp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5129968"/>
              </p:ext>
            </p:extLst>
          </p:nvPr>
        </p:nvGraphicFramePr>
        <p:xfrm>
          <a:off x="548640" y="1371600"/>
          <a:ext cx="11064240" cy="498602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0580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Explanation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0580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Solving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Breaks complex problems into small, logical steps.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0580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Planning Code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Helps design the logic of a program before coding.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0580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Efficiency Comparison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 algorithms can be compared by time/memory used.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0580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Allows tasks to be performed by computers or machines.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0580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Programming Base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computer programs are ultimately based on algorithms.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Design an Algorithm?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writing an algorithm, the following pre-requisites are needed</a:t>
            </a:r>
            <a:r>
              <a:rPr lang="en-US" sz="14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10881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that is to be solved.</a:t>
            </a:r>
            <a:endParaRPr lang="en-US" sz="2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constraints of the problem that must be considered while solving it.</a:t>
            </a:r>
            <a:endParaRPr lang="en-US" sz="2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 to be taken to solve the problem.</a:t>
            </a:r>
            <a:endParaRPr lang="en-US" sz="2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expected once the problem is solved.</a:t>
            </a:r>
            <a:endParaRPr lang="en-US" sz="2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to the problem, within the given constraints.</a:t>
            </a:r>
            <a:endParaRPr lang="en-US" sz="2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 is then written using these parameters so that it solves the problem.</a:t>
            </a:r>
            <a:endParaRPr lang="en-US" sz="24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Add 3 Numbers and Print Their Sum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4160520"/>
          </a:xfrm>
          <a:prstGeom prst="rect">
            <a:avLst/>
          </a:prstGeom>
          <a:solidFill>
            <a:srgbClr val="1B1F2E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618488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618488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234440" y="1618488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9692640" y="15453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algorithm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1874520"/>
            <a:ext cx="10424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E8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E8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Declare 3 integer variables num1, num2, num3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E8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Take num1, num2, num3 as input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E8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Declare an integer variable sum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E8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 the 3 numbers, store result in sum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E8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 the value of sum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E8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algorithm from declaration through output.</a:t>
            </a:r>
            <a:endParaRPr lang="en-US" sz="125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A47907-D2EE-39D6-9CA7-3459A3BBF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4AC8B45E-96BE-9BED-85E4-27F9CA4C332B}"/>
              </a:ext>
            </a:extLst>
          </p:cNvPr>
          <p:cNvSpPr/>
          <p:nvPr/>
        </p:nvSpPr>
        <p:spPr>
          <a:xfrm>
            <a:off x="822960" y="2331720"/>
            <a:ext cx="1371600" cy="13716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C2587906-0812-D70E-86D3-2F85318F67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2660904"/>
            <a:ext cx="713232" cy="713232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65EE5D5E-1A27-E41A-20D0-14391B1401AB}"/>
              </a:ext>
            </a:extLst>
          </p:cNvPr>
          <p:cNvSpPr/>
          <p:nvPr/>
        </p:nvSpPr>
        <p:spPr>
          <a:xfrm>
            <a:off x="2468880" y="2743200"/>
            <a:ext cx="8778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+mn-cs"/>
              </a:rPr>
              <a:t>Pseudocode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96CB5F8C-1A0C-6C90-A64F-AFA954082CE9}"/>
              </a:ext>
            </a:extLst>
          </p:cNvPr>
          <p:cNvSpPr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A93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Bridge Course — Introduction to Programming | ITM SLS Baroda University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F8F89A1E-13BC-5371-EECF-BE8C72E6F178}"/>
              </a:ext>
            </a:extLst>
          </p:cNvPr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A93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8575447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PSEUDOCODE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F4A3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Planning your logic before you code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613408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just" defTabSz="914400" rtl="0" eaLnBrk="1" fontAlgn="auto" latinLnBrk="0" hangingPunct="1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4A3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
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Writing the steps of an algorithm in plain, structured English — not real code — so you can plan the logic first.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3520440"/>
            <a:ext cx="3017520" cy="1234440"/>
          </a:xfrm>
          <a:prstGeom prst="roundRect">
            <a:avLst>
              <a:gd name="adj" fmla="val 5926"/>
            </a:avLst>
          </a:prstGeom>
          <a:solidFill>
            <a:srgbClr val="2B3A7A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" y="3501136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just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4A3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Analogy
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4F6F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Like jotting rough points before writing a formal letter — a rough draft for your program.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4983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00" normalizeH="0" baseline="0" noProof="0" dirty="0">
                <a:ln>
                  <a:noFill/>
                </a:ln>
                <a:solidFill>
                  <a:srgbClr val="F4A3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COMMON KEYWORDS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5349240"/>
            <a:ext cx="3017520" cy="256032"/>
          </a:xfrm>
          <a:prstGeom prst="roundRect">
            <a:avLst>
              <a:gd name="adj" fmla="val 17857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53492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START / END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5660136"/>
            <a:ext cx="3017520" cy="256032"/>
          </a:xfrm>
          <a:prstGeom prst="roundRect">
            <a:avLst>
              <a:gd name="adj" fmla="val 17857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566013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INPUT / OUTPUT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5971032"/>
            <a:ext cx="3017520" cy="256032"/>
          </a:xfrm>
          <a:prstGeom prst="roundRect">
            <a:avLst>
              <a:gd name="adj" fmla="val 17857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59710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IF / ELSE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6281928"/>
            <a:ext cx="3017520" cy="256032"/>
          </a:xfrm>
          <a:prstGeom prst="roundRect">
            <a:avLst>
              <a:gd name="adj" fmla="val 17857"/>
            </a:avLst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2819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WHILE / FOR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6592824"/>
            <a:ext cx="3017520" cy="256032"/>
          </a:xfrm>
          <a:prstGeom prst="roundRect">
            <a:avLst>
              <a:gd name="adj" fmla="val 17857"/>
            </a:avLst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65928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PRINT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114800" y="4572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RULES OF GOOD PSEUDOCODE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114800" y="960120"/>
            <a:ext cx="3657600" cy="868680"/>
          </a:xfrm>
          <a:prstGeom prst="roundRect">
            <a:avLst>
              <a:gd name="adj" fmla="val 6316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79392" y="112471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4279392" y="1124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800600" y="10698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 plain English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800600" y="13716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5B6B8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 syntax errors possible — write logic, not code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B6B8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046720" y="960120"/>
            <a:ext cx="3657600" cy="868680"/>
          </a:xfrm>
          <a:prstGeom prst="roundRect">
            <a:avLst>
              <a:gd name="adj" fmla="val 6316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11312" y="112471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8211312" y="1124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732520" y="10698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One step per line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732520" y="13716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5B6B8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Each instruction is a single, clear action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B6B8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114800" y="2057400"/>
            <a:ext cx="3657600" cy="868680"/>
          </a:xfrm>
          <a:prstGeom prst="roundRect">
            <a:avLst>
              <a:gd name="adj" fmla="val 6316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279392" y="222199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4279392" y="2221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800600" y="21671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 structured keywords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800600" y="24688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5B6B8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START, IF/ELSE, WHILE, PRINT, END — stay consistent.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046720" y="2057400"/>
            <a:ext cx="3657600" cy="868680"/>
          </a:xfrm>
          <a:prstGeom prst="roundRect">
            <a:avLst>
              <a:gd name="adj" fmla="val 6316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211312" y="222199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7" name="Text 35"/>
          <p:cNvSpPr/>
          <p:nvPr/>
        </p:nvSpPr>
        <p:spPr>
          <a:xfrm>
            <a:off x="8211312" y="2221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732520" y="21671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Stay language-independent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732520" y="24688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5B6B8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Anyone should be able to convert it into C, Python, or Java.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4114800" y="306324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EXAMPLE — CHECK EVEN OR ODD NUMBER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4114800" y="3520440"/>
            <a:ext cx="4160520" cy="2880360"/>
          </a:xfrm>
          <a:prstGeom prst="roundRect">
            <a:avLst>
              <a:gd name="adj" fmla="val 2222"/>
            </a:avLst>
          </a:prstGeom>
          <a:solidFill>
            <a:srgbClr val="16204F"/>
          </a:solidFill>
          <a:ln/>
        </p:spPr>
      </p:sp>
      <p:sp>
        <p:nvSpPr>
          <p:cNvPr id="42" name="Shape 40"/>
          <p:cNvSpPr/>
          <p:nvPr/>
        </p:nvSpPr>
        <p:spPr>
          <a:xfrm>
            <a:off x="4315968" y="3675888"/>
            <a:ext cx="128016" cy="128016"/>
          </a:xfrm>
          <a:prstGeom prst="ellipse">
            <a:avLst/>
          </a:prstGeom>
          <a:solidFill>
            <a:srgbClr val="EF6B6B"/>
          </a:solidFill>
          <a:ln/>
        </p:spPr>
      </p:sp>
      <p:sp>
        <p:nvSpPr>
          <p:cNvPr id="43" name="Shape 41"/>
          <p:cNvSpPr/>
          <p:nvPr/>
        </p:nvSpPr>
        <p:spPr>
          <a:xfrm>
            <a:off x="4535424" y="3675888"/>
            <a:ext cx="128016" cy="128016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44" name="Shape 42"/>
          <p:cNvSpPr/>
          <p:nvPr/>
        </p:nvSpPr>
        <p:spPr>
          <a:xfrm>
            <a:off x="4754880" y="3675888"/>
            <a:ext cx="128016" cy="128016"/>
          </a:xfrm>
          <a:prstGeom prst="ellipse">
            <a:avLst/>
          </a:prstGeom>
          <a:solidFill>
            <a:srgbClr val="6BCB77"/>
          </a:solidFill>
          <a:ln/>
        </p:spPr>
      </p:sp>
      <p:sp>
        <p:nvSpPr>
          <p:cNvPr id="45" name="Text 43"/>
          <p:cNvSpPr/>
          <p:nvPr/>
        </p:nvSpPr>
        <p:spPr>
          <a:xfrm>
            <a:off x="4315968" y="3931920"/>
            <a:ext cx="37947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9F7F6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9F7F6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INPUT number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9F7F6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number MOD 2 == 0 THEN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9F7F6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PRINT "Even"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9F7F6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9F7F6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PRINT "Odd"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9F7F6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IF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9F7F6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8458200" y="3520440"/>
            <a:ext cx="3447288" cy="3227832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86800" y="370332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00" normalizeH="0" baseline="0" noProof="0" dirty="0">
                <a:ln>
                  <a:noFill/>
                </a:ln>
                <a:solidFill>
                  <a:srgbClr val="F4A3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8686800" y="4069080"/>
            <a:ext cx="2788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✦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Catch logic errors before writing real code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✦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Language-independent — plan once, code in any language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✦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Easy to convert into a flowchart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✦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Makes debugging and reviewing much faster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4114800" y="6473952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rgbClr val="5B6B8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in Python-I  |  Bridge Course, Semester 1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Pseudocode?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4160520"/>
          </a:xfrm>
          <a:prstGeom prst="rect">
            <a:avLst/>
          </a:prstGeom>
          <a:solidFill>
            <a:srgbClr val="1B1F2E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618488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618488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234440" y="1618488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9692640" y="15453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pseudocode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1874520"/>
            <a:ext cx="10424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E8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2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E8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 num1, num2</a:t>
            </a:r>
            <a:endParaRPr lang="en-US" sz="2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E8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 &lt;- num1 + num2</a:t>
            </a:r>
            <a:endParaRPr lang="en-US" sz="2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E8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 sum</a:t>
            </a:r>
            <a:endParaRPr lang="en-US" sz="2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E8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"Pseudocode" literally means "false code" — it writes an algorithm in a code-like format using plain English, without worrying about real programming syntax.</a:t>
            </a:r>
            <a:endParaRPr lang="en-US" sz="24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PSEUDOCODE EXAMPLE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or Fail Checker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83792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
</a:t>
            </a:r>
            <a:endParaRPr lang="en-US" dirty="0"/>
          </a:p>
          <a:p>
            <a:pPr marL="0" indent="0">
              <a:lnSpc>
                <a:spcPts val="19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needs 40 or more marks (out of 100) to pass. Take the marks as input and print whether the student has passed or failed.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3337560"/>
            <a:ext cx="3017520" cy="1051560"/>
          </a:xfrm>
          <a:prstGeom prst="roundRect">
            <a:avLst>
              <a:gd name="adj" fmla="val 6957"/>
            </a:avLst>
          </a:prstGeom>
          <a:solidFill>
            <a:srgbClr val="2B3A7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3474720"/>
            <a:ext cx="260604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Rule
</a:t>
            </a:r>
            <a:endParaRPr lang="en-US" dirty="0"/>
          </a:p>
          <a:p>
            <a:pPr marL="0" indent="0">
              <a:lnSpc>
                <a:spcPts val="1800"/>
              </a:lnSpc>
              <a:buNone/>
            </a:pPr>
            <a:r>
              <a:rPr lang="en-US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≥ 40  →  PASS</a:t>
            </a:r>
            <a:endParaRPr lang="en-US" dirty="0"/>
          </a:p>
          <a:p>
            <a:pPr marL="0" indent="0">
              <a:lnSpc>
                <a:spcPts val="1800"/>
              </a:lnSpc>
              <a:buNone/>
            </a:pPr>
            <a:r>
              <a:rPr lang="en-US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&lt; 40  →  FAIL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4617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USED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4956048"/>
            <a:ext cx="3017520" cy="50292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95604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 —  stores the student's score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114800" y="4572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PSEUDOCODE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114800" y="914400"/>
            <a:ext cx="7589520" cy="3794760"/>
          </a:xfrm>
          <a:prstGeom prst="roundRect">
            <a:avLst>
              <a:gd name="adj" fmla="val 1687"/>
            </a:avLst>
          </a:prstGeom>
          <a:solidFill>
            <a:srgbClr val="16204F"/>
          </a:solidFill>
          <a:ln/>
        </p:spPr>
      </p:sp>
      <p:sp>
        <p:nvSpPr>
          <p:cNvPr id="14" name="Shape 12"/>
          <p:cNvSpPr/>
          <p:nvPr/>
        </p:nvSpPr>
        <p:spPr>
          <a:xfrm>
            <a:off x="4315968" y="1078992"/>
            <a:ext cx="128016" cy="128016"/>
          </a:xfrm>
          <a:prstGeom prst="ellipse">
            <a:avLst/>
          </a:prstGeom>
          <a:solidFill>
            <a:srgbClr val="EF6B6B"/>
          </a:solidFill>
          <a:ln/>
        </p:spPr>
      </p:sp>
      <p:sp>
        <p:nvSpPr>
          <p:cNvPr id="15" name="Shape 13"/>
          <p:cNvSpPr/>
          <p:nvPr/>
        </p:nvSpPr>
        <p:spPr>
          <a:xfrm>
            <a:off x="4535424" y="1078992"/>
            <a:ext cx="128016" cy="128016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6" name="Shape 14"/>
          <p:cNvSpPr/>
          <p:nvPr/>
        </p:nvSpPr>
        <p:spPr>
          <a:xfrm>
            <a:off x="4754880" y="1078992"/>
            <a:ext cx="128016" cy="128016"/>
          </a:xfrm>
          <a:prstGeom prst="ellipse">
            <a:avLst/>
          </a:prstGeom>
          <a:solidFill>
            <a:srgbClr val="6BCB77"/>
          </a:solidFill>
          <a:ln/>
        </p:spPr>
      </p:sp>
      <p:sp>
        <p:nvSpPr>
          <p:cNvPr id="17" name="Text 15"/>
          <p:cNvSpPr/>
          <p:nvPr/>
        </p:nvSpPr>
        <p:spPr>
          <a:xfrm>
            <a:off x="4434840" y="1371600"/>
            <a:ext cx="6949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700" dirty="0">
                <a:solidFill>
                  <a:srgbClr val="E9F7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17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700" dirty="0">
                <a:solidFill>
                  <a:srgbClr val="E9F7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INPUT marks</a:t>
            </a:r>
            <a:endParaRPr lang="en-US" sz="17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700" dirty="0">
                <a:solidFill>
                  <a:srgbClr val="E9F7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marks &gt;= 40 THEN</a:t>
            </a:r>
            <a:endParaRPr lang="en-US" sz="17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700" dirty="0">
                <a:solidFill>
                  <a:srgbClr val="E9F7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PRINT "Result: PASS"</a:t>
            </a:r>
            <a:endParaRPr lang="en-US" sz="17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700" dirty="0">
                <a:solidFill>
                  <a:srgbClr val="E9F7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</a:t>
            </a:r>
            <a:endParaRPr lang="en-US" sz="17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700" dirty="0">
                <a:solidFill>
                  <a:srgbClr val="E9F7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PRINT "Result: FAIL"</a:t>
            </a:r>
            <a:endParaRPr lang="en-US" sz="17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700" dirty="0">
                <a:solidFill>
                  <a:srgbClr val="E9F7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IF</a:t>
            </a:r>
            <a:endParaRPr lang="en-US" sz="17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700" dirty="0">
                <a:solidFill>
                  <a:srgbClr val="E9F7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114800" y="489204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DRY RUN — TWO SAMPLE CASES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114800" y="5321808"/>
            <a:ext cx="3657600" cy="1188720"/>
          </a:xfrm>
          <a:prstGeom prst="roundRect">
            <a:avLst>
              <a:gd name="adj" fmla="val 5385"/>
            </a:avLst>
          </a:prstGeom>
          <a:solidFill>
            <a:srgbClr val="F4F6FB"/>
          </a:solidFill>
          <a:ln/>
        </p:spPr>
      </p:sp>
      <p:sp>
        <p:nvSpPr>
          <p:cNvPr id="20" name="Shape 18"/>
          <p:cNvSpPr/>
          <p:nvPr/>
        </p:nvSpPr>
        <p:spPr>
          <a:xfrm>
            <a:off x="4315968" y="5486400"/>
            <a:ext cx="365760" cy="36576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9"/>
          <p:cNvSpPr/>
          <p:nvPr/>
        </p:nvSpPr>
        <p:spPr>
          <a:xfrm>
            <a:off x="4315968" y="5486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28032" y="548640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= 55
</a:t>
            </a:r>
            <a:endParaRPr lang="en-US" sz="24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2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≥ 40 is TRUE → Output: "Result: PASS</a:t>
            </a: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046720" y="5321808"/>
            <a:ext cx="3657600" cy="1188720"/>
          </a:xfrm>
          <a:prstGeom prst="roundRect">
            <a:avLst>
              <a:gd name="adj" fmla="val 5385"/>
            </a:avLst>
          </a:prstGeom>
          <a:solidFill>
            <a:srgbClr val="F4F6FB"/>
          </a:solidFill>
          <a:ln/>
        </p:spPr>
      </p:sp>
      <p:sp>
        <p:nvSpPr>
          <p:cNvPr id="24" name="Shape 22"/>
          <p:cNvSpPr/>
          <p:nvPr/>
        </p:nvSpPr>
        <p:spPr>
          <a:xfrm>
            <a:off x="8247888" y="5486400"/>
            <a:ext cx="365760" cy="36576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25" name="Text 23"/>
          <p:cNvSpPr/>
          <p:nvPr/>
        </p:nvSpPr>
        <p:spPr>
          <a:xfrm>
            <a:off x="8247888" y="5486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759952" y="548640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= 32
</a:t>
            </a:r>
            <a:endParaRPr lang="en-US" sz="2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2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≥ 40 is FALSE → Output: "Result: FAIL"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114800" y="658368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in Python-I  |  Bridge Course, Semester 1</a:t>
            </a:r>
            <a:endParaRPr lang="en-US" sz="95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Need a Pseudocode?</a:t>
            </a:r>
            <a:endParaRPr lang="en-US" sz="3000" dirty="0"/>
          </a:p>
        </p:txBody>
      </p:sp>
      <p:graphicFrame>
        <p:nvGraphicFramePr>
          <p:cNvPr id="7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3123746"/>
              </p:ext>
            </p:extLst>
          </p:nvPr>
        </p:nvGraphicFramePr>
        <p:xfrm>
          <a:off x="548640" y="1371600"/>
          <a:ext cx="11064240" cy="5071745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29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Explanation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9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 Planning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Helps design the structure and logic before actual coding.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29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 Communication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Understandable by both technical and non-technical people.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29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Simplifies Coding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Converts logic into near-code form, making coding easier.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29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 Error Detection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Helps identify mistakes in logic before writing actual code.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29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Educational Tool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to teach programming concepts without syntax pressure.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29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 Independence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be written without knowing any specific programming language.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29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Boosts Development Speed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Speeds up coding by pre-planning complex logic in plain steps.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822960" y="2331720"/>
            <a:ext cx="1371600" cy="13716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2660904"/>
            <a:ext cx="713232" cy="713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68880" y="2743200"/>
            <a:ext cx="8778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Flowchart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2468880" y="379476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9D3E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Visualising an algorithm the way a metro map shows a route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A93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Bridge Course — Introduction to Programming | ITM SLS Baroda University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A93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Flowchart?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41732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FLOWCHART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11880" y="1417320"/>
            <a:ext cx="7818120" cy="10515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just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 diagram that shows the steps of an algorithm using symbols like arrows, rectangles, and diamonds.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10881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spcAft>
                <a:spcPts val="900"/>
              </a:spcAft>
              <a:buSzPct val="100000"/>
              <a:buChar char="•"/>
            </a:pPr>
            <a:r>
              <a:rPr lang="en-US" sz="2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shows how a process flows, making the logic easier to understand and communicate to others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Need a Flowchart?</a:t>
            </a:r>
            <a:endParaRPr lang="en-US" sz="3000" dirty="0"/>
          </a:p>
        </p:txBody>
      </p:sp>
      <p:graphicFrame>
        <p:nvGraphicFramePr>
          <p:cNvPr id="7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7089983"/>
              </p:ext>
            </p:extLst>
          </p:nvPr>
        </p:nvGraphicFramePr>
        <p:xfrm>
          <a:off x="548640" y="1371600"/>
          <a:ext cx="11064240" cy="498602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0580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Explanation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0580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Understanding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Makes it easy to visualise the logic of a program.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0580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Detection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Helps find logic errors before writing code.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0580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Teaching &amp; Explanation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in education and documentation to explain logic.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0580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Design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in business, software, and engineering workflows.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0580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Blueprint for Coding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Acts as a guide to write code from clear logic steps.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Flowchart Symbols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2526030" cy="1920240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7" name="Shape 5"/>
          <p:cNvSpPr/>
          <p:nvPr/>
        </p:nvSpPr>
        <p:spPr>
          <a:xfrm>
            <a:off x="1308735" y="2130552"/>
            <a:ext cx="100584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880360"/>
            <a:ext cx="23431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Terminator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" y="3246120"/>
            <a:ext cx="22517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/ End of the process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94710" y="1874520"/>
            <a:ext cx="2526030" cy="1920240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4154805" y="2130552"/>
            <a:ext cx="1005840" cy="5943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3486150" y="2880360"/>
            <a:ext cx="23431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531870" y="3246120"/>
            <a:ext cx="22517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action or operation step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240780" y="1874520"/>
            <a:ext cx="2434590" cy="1920240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7000875" y="2075688"/>
            <a:ext cx="1005840" cy="713232"/>
          </a:xfrm>
          <a:prstGeom prst="diamond">
            <a:avLst/>
          </a:prstGeom>
          <a:solidFill>
            <a:srgbClr val="F4A300"/>
          </a:solidFill>
          <a:ln/>
        </p:spPr>
      </p:sp>
      <p:sp>
        <p:nvSpPr>
          <p:cNvPr id="16" name="Text 14"/>
          <p:cNvSpPr/>
          <p:nvPr/>
        </p:nvSpPr>
        <p:spPr>
          <a:xfrm>
            <a:off x="6332220" y="2880360"/>
            <a:ext cx="23431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377940" y="3246120"/>
            <a:ext cx="22517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yes/no or true/false branch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086850" y="1874520"/>
            <a:ext cx="2526030" cy="1920240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19" name="Shape 17"/>
          <p:cNvSpPr/>
          <p:nvPr/>
        </p:nvSpPr>
        <p:spPr>
          <a:xfrm>
            <a:off x="9846945" y="2130552"/>
            <a:ext cx="1005840" cy="594360"/>
          </a:xfrm>
          <a:prstGeom prst="parallelogram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9178290" y="2880360"/>
            <a:ext cx="23431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/ Output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224010" y="3246120"/>
            <a:ext cx="22517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entering or leaving the process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48640" y="4114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Arrows connect symbols to show the direction of flow through the process</a:t>
            </a: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lowchart Symbols Explained (With ...">
            <a:extLst>
              <a:ext uri="{FF2B5EF4-FFF2-40B4-BE49-F238E27FC236}">
                <a16:creationId xmlns:a16="http://schemas.microsoft.com/office/drawing/2014/main" id="{CC025E72-A374-2461-2EBF-BD704C9B3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946" y="442912"/>
            <a:ext cx="6927534" cy="6141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765689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86F35D3-80D9-C27E-E9FD-BAD1A92D6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9652" y="731087"/>
            <a:ext cx="3491812" cy="4826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751557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F62BE8-46A4-84CB-DA41-74B82BBAA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931" y="1407182"/>
            <a:ext cx="4296754" cy="43207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26B919-0DE4-17A1-87A2-F60DB7F906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219" t="7295" r="19934"/>
          <a:stretch>
            <a:fillRect/>
          </a:stretch>
        </p:blipFill>
        <p:spPr>
          <a:xfrm>
            <a:off x="6271403" y="250166"/>
            <a:ext cx="4649639" cy="6357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436860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Flowcharts — Worked Example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FLOWCHARTS — WORKED EXAMPLE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Convert Length (Feet → Centimetres)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554480" y="1783080"/>
            <a:ext cx="23774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1783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660904" y="2359152"/>
            <a:ext cx="164592" cy="201168"/>
          </a:xfrm>
          <a:prstGeom prst="downArrow">
            <a:avLst/>
          </a:prstGeom>
          <a:solidFill>
            <a:srgbClr val="5A5A5A"/>
          </a:solidFill>
          <a:ln/>
        </p:spPr>
      </p:sp>
      <p:sp>
        <p:nvSpPr>
          <p:cNvPr id="9" name="Shape 7"/>
          <p:cNvSpPr/>
          <p:nvPr/>
        </p:nvSpPr>
        <p:spPr>
          <a:xfrm>
            <a:off x="1554480" y="2587752"/>
            <a:ext cx="2377440" cy="548640"/>
          </a:xfrm>
          <a:prstGeom prst="parallelogram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1554480" y="258775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Lft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60904" y="3163824"/>
            <a:ext cx="164592" cy="201168"/>
          </a:xfrm>
          <a:prstGeom prst="downArrow">
            <a:avLst/>
          </a:prstGeom>
          <a:solidFill>
            <a:srgbClr val="5A5A5A"/>
          </a:solidFill>
          <a:ln/>
        </p:spPr>
      </p:sp>
      <p:sp>
        <p:nvSpPr>
          <p:cNvPr id="12" name="Shape 10"/>
          <p:cNvSpPr/>
          <p:nvPr/>
        </p:nvSpPr>
        <p:spPr>
          <a:xfrm>
            <a:off x="1554480" y="3392424"/>
            <a:ext cx="237744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1554480" y="339242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Lcm = Lft × 30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660904" y="3968496"/>
            <a:ext cx="164592" cy="201168"/>
          </a:xfrm>
          <a:prstGeom prst="downArrow">
            <a:avLst/>
          </a:prstGeom>
          <a:solidFill>
            <a:srgbClr val="5A5A5A"/>
          </a:solidFill>
          <a:ln/>
        </p:spPr>
      </p:sp>
      <p:sp>
        <p:nvSpPr>
          <p:cNvPr id="15" name="Shape 13"/>
          <p:cNvSpPr/>
          <p:nvPr/>
        </p:nvSpPr>
        <p:spPr>
          <a:xfrm>
            <a:off x="1554480" y="4197096"/>
            <a:ext cx="2377440" cy="548640"/>
          </a:xfrm>
          <a:prstGeom prst="parallelogram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1554480" y="419709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Lcm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660904" y="4773168"/>
            <a:ext cx="164592" cy="201168"/>
          </a:xfrm>
          <a:prstGeom prst="downArrow">
            <a:avLst/>
          </a:prstGeom>
          <a:solidFill>
            <a:srgbClr val="5A5A5A"/>
          </a:solidFill>
          <a:ln/>
        </p:spPr>
      </p:sp>
      <p:sp>
        <p:nvSpPr>
          <p:cNvPr id="18" name="Shape 16"/>
          <p:cNvSpPr/>
          <p:nvPr/>
        </p:nvSpPr>
        <p:spPr>
          <a:xfrm>
            <a:off x="1554480" y="5001768"/>
            <a:ext cx="23774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1554480" y="50017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17920" y="1783080"/>
            <a:ext cx="5394960" cy="4023360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1920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46520" y="237744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1: Input Lft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2: Lcm ← Lft × 30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3: Print Lcm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46520" y="365760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mirrors the earlier practice problem: write an algorithm and draw a flowchart to convert length in feet to centimetres.</a:t>
            </a:r>
            <a:endParaRPr lang="en-US" sz="12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FLOWCHARTS — WORKED EXAMPLE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Pass / Fail Grade Calculator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508760" y="1600200"/>
            <a:ext cx="246888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508760" y="1600200"/>
            <a:ext cx="24688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70048" y="2057400"/>
            <a:ext cx="146304" cy="164592"/>
          </a:xfrm>
          <a:prstGeom prst="downArrow">
            <a:avLst/>
          </a:prstGeom>
          <a:solidFill>
            <a:srgbClr val="5A5A5A"/>
          </a:solidFill>
          <a:ln/>
        </p:spPr>
      </p:sp>
      <p:sp>
        <p:nvSpPr>
          <p:cNvPr id="9" name="Shape 7"/>
          <p:cNvSpPr/>
          <p:nvPr/>
        </p:nvSpPr>
        <p:spPr>
          <a:xfrm>
            <a:off x="1508760" y="2221992"/>
            <a:ext cx="2468880" cy="502920"/>
          </a:xfrm>
          <a:prstGeom prst="parallelogram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1508760" y="2221992"/>
            <a:ext cx="24688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M1, M2, M3, M4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70048" y="2724912"/>
            <a:ext cx="146304" cy="164592"/>
          </a:xfrm>
          <a:prstGeom prst="downArrow">
            <a:avLst/>
          </a:prstGeom>
          <a:solidFill>
            <a:srgbClr val="5A5A5A"/>
          </a:solidFill>
          <a:ln/>
        </p:spPr>
      </p:sp>
      <p:sp>
        <p:nvSpPr>
          <p:cNvPr id="12" name="Shape 10"/>
          <p:cNvSpPr/>
          <p:nvPr/>
        </p:nvSpPr>
        <p:spPr>
          <a:xfrm>
            <a:off x="1508760" y="2889504"/>
            <a:ext cx="246888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1508760" y="2889504"/>
            <a:ext cx="24688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= (M1+M2+M3+M4)/4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70048" y="3392424"/>
            <a:ext cx="146304" cy="164592"/>
          </a:xfrm>
          <a:prstGeom prst="downArrow">
            <a:avLst/>
          </a:prstGeom>
          <a:solidFill>
            <a:srgbClr val="5A5A5A"/>
          </a:solidFill>
          <a:ln/>
        </p:spPr>
      </p:sp>
      <p:sp>
        <p:nvSpPr>
          <p:cNvPr id="15" name="Shape 13"/>
          <p:cNvSpPr/>
          <p:nvPr/>
        </p:nvSpPr>
        <p:spPr>
          <a:xfrm>
            <a:off x="1508760" y="3557016"/>
            <a:ext cx="2468880" cy="777240"/>
          </a:xfrm>
          <a:prstGeom prst="diamond">
            <a:avLst/>
          </a:prstGeom>
          <a:solidFill>
            <a:srgbClr val="F4A300"/>
          </a:solidFill>
          <a:ln/>
        </p:spPr>
      </p:sp>
      <p:sp>
        <p:nvSpPr>
          <p:cNvPr id="16" name="Text 14"/>
          <p:cNvSpPr/>
          <p:nvPr/>
        </p:nvSpPr>
        <p:spPr>
          <a:xfrm>
            <a:off x="1508760" y="3557016"/>
            <a:ext cx="246888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&lt; 50 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88720" y="3813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023360" y="3813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654296"/>
            <a:ext cx="201168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65429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"FAIL"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337560" y="4654296"/>
            <a:ext cx="201168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3337560" y="465429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"PASS"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423160" y="5385816"/>
            <a:ext cx="64008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2423160" y="538581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949440" y="1920240"/>
            <a:ext cx="4663440" cy="3566160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26" name="Text 24"/>
          <p:cNvSpPr/>
          <p:nvPr/>
        </p:nvSpPr>
        <p:spPr>
          <a:xfrm>
            <a:off x="7178040" y="2057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78040" y="2468880"/>
            <a:ext cx="4206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1: Input M1, M2, M3, M4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2: GRADE = (M1+M2+M3+M4)/4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3: if (GRADE &lt; 50) then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Print "FAIL"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Print "PASS"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endif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endParaRPr lang="en-US" sz="1150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BE8928B-040A-A8D5-E8F5-22FB6FF1EC7D}"/>
              </a:ext>
            </a:extLst>
          </p:cNvPr>
          <p:cNvCxnSpPr>
            <a:cxnSpLocks/>
            <a:stCxn id="17" idx="3"/>
          </p:cNvCxnSpPr>
          <p:nvPr/>
        </p:nvCxnSpPr>
        <p:spPr>
          <a:xfrm flipH="1">
            <a:off x="653796" y="3950208"/>
            <a:ext cx="809244" cy="24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1F93C98-653D-C037-80B2-3174DD8AD8DD}"/>
              </a:ext>
            </a:extLst>
          </p:cNvPr>
          <p:cNvCxnSpPr/>
          <p:nvPr/>
        </p:nvCxnSpPr>
        <p:spPr>
          <a:xfrm>
            <a:off x="653796" y="3962273"/>
            <a:ext cx="240284" cy="6920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678C2F4-BE7B-70A5-7654-9696B31AA950}"/>
              </a:ext>
            </a:extLst>
          </p:cNvPr>
          <p:cNvCxnSpPr>
            <a:stCxn id="15" idx="3"/>
          </p:cNvCxnSpPr>
          <p:nvPr/>
        </p:nvCxnSpPr>
        <p:spPr>
          <a:xfrm>
            <a:off x="3977640" y="3945636"/>
            <a:ext cx="817880" cy="16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83717CD-8345-B662-3425-834D531CDC0E}"/>
              </a:ext>
            </a:extLst>
          </p:cNvPr>
          <p:cNvCxnSpPr>
            <a:cxnSpLocks/>
          </p:cNvCxnSpPr>
          <p:nvPr/>
        </p:nvCxnSpPr>
        <p:spPr>
          <a:xfrm flipH="1">
            <a:off x="4714240" y="3945636"/>
            <a:ext cx="81280" cy="7086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037EB01-207F-B237-AA2D-E13018F0B69C}"/>
              </a:ext>
            </a:extLst>
          </p:cNvPr>
          <p:cNvCxnSpPr>
            <a:stCxn id="19" idx="2"/>
            <a:endCxn id="23" idx="1"/>
          </p:cNvCxnSpPr>
          <p:nvPr/>
        </p:nvCxnSpPr>
        <p:spPr>
          <a:xfrm>
            <a:off x="1645920" y="5111496"/>
            <a:ext cx="777240" cy="5029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83EAF01-5C41-DEB1-5CC7-29E4A5CDF051}"/>
              </a:ext>
            </a:extLst>
          </p:cNvPr>
          <p:cNvCxnSpPr>
            <a:stCxn id="22" idx="2"/>
            <a:endCxn id="24" idx="3"/>
          </p:cNvCxnSpPr>
          <p:nvPr/>
        </p:nvCxnSpPr>
        <p:spPr>
          <a:xfrm flipH="1">
            <a:off x="3063240" y="5111496"/>
            <a:ext cx="1280160" cy="5029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Algorithms, Pseudocode &amp; Flowcharts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ALGORITHMS, PSEUDOCODE &amp; FLOWCHARTS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Comparison: Algorithm vs Pseudocode vs Flowchart</a:t>
            </a:r>
            <a:endParaRPr lang="en-US" sz="3000" dirty="0"/>
          </a:p>
        </p:txBody>
      </p:sp>
      <p:graphicFrame>
        <p:nvGraphicFramePr>
          <p:cNvPr id="7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9324915"/>
              </p:ext>
            </p:extLst>
          </p:nvPr>
        </p:nvGraphicFramePr>
        <p:xfrm>
          <a:off x="548640" y="1371600"/>
          <a:ext cx="11064240" cy="498348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1926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Pseudocode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Flowchart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926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Step-by-step procedure to solve a problem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Code-like writing of an algorithm in plain 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Diagrammatic representation of an algorithm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926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English, list-style steps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like code (no strict syntax)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symbols: ovals, rectangles, diamonds, arrows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926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 what needs to be done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how it will be done, close to actual code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Visualise the flow and decision paths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926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Clarity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but abstract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Detailed, close to programming logic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easy to understand visually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1926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 Ready?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directly executable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Easier to convert into code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executable; used for planning only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1926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In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solving, logic planning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Pre-coding step in development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Teaching, presentations, documentation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Questions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QUESTIONS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Questions (Part 1)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82296" cy="960120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1732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what you’ve learned: write the algorithm and draw the flowchart for each problem below.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108813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spcAft>
                <a:spcPts val="9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Design a program to calculate Simple Interest using SI = P × R × T / 100, where P is principal, R is rate, and T is time.</a:t>
            </a:r>
            <a:endParaRPr lang="en-US" sz="2400" dirty="0"/>
          </a:p>
          <a:p>
            <a:pPr marL="342900" indent="-342900" algn="just">
              <a:spcAft>
                <a:spcPts val="9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Accept marks of a student in 5 subjects, calculate the average, and display a grade: Average ≥ 90 → A, 80–89 → B, 70–79 → C, below 70 → D.</a:t>
            </a:r>
            <a:endParaRPr lang="en-US" sz="2400" dirty="0"/>
          </a:p>
          <a:p>
            <a:pPr marL="342900" indent="-342900" algn="just">
              <a:spcAft>
                <a:spcPts val="9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3: Write a program that accepts three numbers and displays the largest among them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Questions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QUESTIONS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Questions (Part 2)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spcAft>
                <a:spcPts val="9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4: Write an algorithm and draw a flowchart to convert length in feet to centimetres. (See the worked example earlier in this unit.)</a:t>
            </a:r>
            <a:endParaRPr lang="en-US" sz="2400" dirty="0"/>
          </a:p>
          <a:p>
            <a:pPr marL="342900" indent="-342900" algn="just">
              <a:spcAft>
                <a:spcPts val="900"/>
              </a:spcAft>
              <a:buSzPct val="100000"/>
              <a:buChar char="•"/>
            </a:pPr>
            <a:r>
              <a:rPr lang="en-US" sz="2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5: Write an algorithm and draw a flowchart that reads the two sides of a rectangle and calculates its area.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529</TotalTime>
  <Words>10190</Words>
  <Application>Microsoft Office PowerPoint</Application>
  <PresentationFormat>Widescreen</PresentationFormat>
  <Paragraphs>1627</Paragraphs>
  <Slides>114</Slides>
  <Notes>106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114</vt:i4>
      </vt:variant>
    </vt:vector>
  </HeadingPairs>
  <TitlesOfParts>
    <vt:vector size="121" baseType="lpstr">
      <vt:lpstr>Arial</vt:lpstr>
      <vt:lpstr>Bookman Old Style</vt:lpstr>
      <vt:lpstr>Calibri</vt:lpstr>
      <vt:lpstr>Cambria</vt:lpstr>
      <vt:lpstr>Consolas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Programming Fundamentals - Unit 1</dc:title>
  <dc:subject>PptxGenJS Presentation</dc:subject>
  <dc:creator>Dr. Shivangi Matieda</dc:creator>
  <cp:lastModifiedBy>Shivangi Matieda</cp:lastModifiedBy>
  <cp:revision>15</cp:revision>
  <dcterms:created xsi:type="dcterms:W3CDTF">2026-07-18T05:12:55Z</dcterms:created>
  <dcterms:modified xsi:type="dcterms:W3CDTF">2026-08-06T16:09:53Z</dcterms:modified>
</cp:coreProperties>
</file>