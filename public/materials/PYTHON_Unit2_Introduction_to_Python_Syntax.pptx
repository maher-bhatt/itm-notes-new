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23" r:id="rId9"/>
    <p:sldId id="324" r:id="rId10"/>
    <p:sldId id="325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6" r:id="rId23"/>
    <p:sldId id="274" r:id="rId24"/>
    <p:sldId id="275" r:id="rId25"/>
    <p:sldId id="277" r:id="rId26"/>
    <p:sldId id="278" r:id="rId27"/>
    <p:sldId id="320" r:id="rId28"/>
    <p:sldId id="321" r:id="rId29"/>
    <p:sldId id="281" r:id="rId30"/>
    <p:sldId id="282" r:id="rId31"/>
    <p:sldId id="283" r:id="rId32"/>
    <p:sldId id="279" r:id="rId33"/>
    <p:sldId id="322" r:id="rId34"/>
    <p:sldId id="284" r:id="rId35"/>
    <p:sldId id="285" r:id="rId36"/>
    <p:sldId id="286" r:id="rId37"/>
    <p:sldId id="287" r:id="rId38"/>
    <p:sldId id="288" r:id="rId39"/>
    <p:sldId id="289" r:id="rId40"/>
    <p:sldId id="326" r:id="rId41"/>
    <p:sldId id="327" r:id="rId42"/>
    <p:sldId id="328" r:id="rId43"/>
    <p:sldId id="290" r:id="rId44"/>
    <p:sldId id="291" r:id="rId45"/>
    <p:sldId id="292" r:id="rId46"/>
    <p:sldId id="329" r:id="rId47"/>
    <p:sldId id="293" r:id="rId48"/>
    <p:sldId id="294" r:id="rId49"/>
    <p:sldId id="295" r:id="rId50"/>
    <p:sldId id="296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42" r:id="rId64"/>
    <p:sldId id="343" r:id="rId65"/>
    <p:sldId id="344" r:id="rId66"/>
    <p:sldId id="300" r:id="rId67"/>
    <p:sldId id="346" r:id="rId68"/>
    <p:sldId id="345" r:id="rId69"/>
    <p:sldId id="347" r:id="rId70"/>
    <p:sldId id="301" r:id="rId71"/>
    <p:sldId id="348" r:id="rId72"/>
    <p:sldId id="302" r:id="rId73"/>
    <p:sldId id="356" r:id="rId74"/>
    <p:sldId id="357" r:id="rId75"/>
    <p:sldId id="303" r:id="rId76"/>
    <p:sldId id="304" r:id="rId77"/>
    <p:sldId id="305" r:id="rId78"/>
    <p:sldId id="349" r:id="rId79"/>
    <p:sldId id="350" r:id="rId80"/>
    <p:sldId id="351" r:id="rId81"/>
    <p:sldId id="308" r:id="rId82"/>
    <p:sldId id="309" r:id="rId83"/>
    <p:sldId id="352" r:id="rId84"/>
    <p:sldId id="368" r:id="rId85"/>
    <p:sldId id="369" r:id="rId86"/>
    <p:sldId id="364" r:id="rId87"/>
    <p:sldId id="365" r:id="rId88"/>
    <p:sldId id="366" r:id="rId89"/>
    <p:sldId id="367" r:id="rId90"/>
    <p:sldId id="310" r:id="rId91"/>
    <p:sldId id="353" r:id="rId92"/>
    <p:sldId id="311" r:id="rId93"/>
    <p:sldId id="354" r:id="rId94"/>
    <p:sldId id="314" r:id="rId95"/>
    <p:sldId id="355" r:id="rId96"/>
    <p:sldId id="312" r:id="rId97"/>
    <p:sldId id="313" r:id="rId98"/>
    <p:sldId id="359" r:id="rId99"/>
    <p:sldId id="358" r:id="rId100"/>
    <p:sldId id="360" r:id="rId101"/>
    <p:sldId id="361" r:id="rId102"/>
    <p:sldId id="362" r:id="rId103"/>
    <p:sldId id="363" r:id="rId104"/>
    <p:sldId id="315" r:id="rId10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69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Ask students to recall the creator's name and the year Python's development began.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Discuss why building exception handling and classes in from v0.9 mattered for the language's later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Ask which era introduced list comprehensions, and which introduced f-strings.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Quick recall check on key dates before moving to the 2-vs-3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[Analyze] Have students explain, in their own words, why Python 3's Unicode-by-default design matters for global text (e.g. Hindi, emoji).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Ask students to name one company from the list and guess what they might use Python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Discuss which feature students find most attractive as beginners,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Ask students to match each feature to a scenario from their own future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Connect Application #3 (ML/AI) directly to the course's later units on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Poll the class on which application area interests them most for a mini-project.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Live-demo the installer and path setup, or have students verify python --version on their own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Explain trade-offs: local install gives full control; Colab removes setup friction — useful framing before the lab manual's 11 practicals.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Have students run Program 1, then modify Program 2 to print their own name and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Note that triple-quoted strings are technically string literals, not true comments — but are commonly used as block comments and docstrings.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Emphasize this early — indentation errors are the most common beginner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Show a short if/else snippet and ask students to identify the indentation levels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Reinforce the box/label metaphor before moving to dynamic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Understand] Use the physical box-with-a-label analogy on the board. Emphasize dynamic typing as the key difference from languages like C/Java that some students may have touched in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Apply] Have students individually spot which of a set of sample names on the board are valid vs. invalid before revealing the answer — quick formative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[Evaluate] Show two versions of the same snippet — one with poor names, one PEP 8-compliant — and ask which is easier to read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Quick recall of the five identifier rules before the valid/invalid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Cold-call students to justify one row each — reinforces the rules through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Ask students to predict type(x) before and after reassignment — checks understanding of dynamic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Apply] Live-demo the swap trick in the terminal — it usually draws an audible reaction and helps the multiple-assignment syntax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Give students a mixed expression and have them evaluate it by hand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[Analyze] Walk through 2 + 3 * 4 ** 2 step by step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Contrast == (comparison) with = (assignment) explicitly — a very common beginner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Ask students to rewrite total = total + price as a compound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Build a small truth-table exercise combining and/or/not on two Boolean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These operate on the binary representation of integers — preview before the worked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Have students compute a &amp; b and a | b for a=6, b=3 by hand, then verify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[Analyze] Ask why ~5 equals -6, tying it back to the -(x+1)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Ask: what does a &lt;&lt; n compute in decimal terms? (multiplies by 2**n)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Contrast membership (value present?) with identity (same object in memory?) — these are often confused.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small integers (-5 to 256) and some strings may show True for both == and is due to Python's internal caching — a common source of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pPr marL="216000" indent="-216000">
              <a:lnSpc>
                <a:spcPct val="100000"/>
              </a:lnSpc>
            </a:pPr>
            <a:r>
              <a:rPr lang="en-IN" sz="2000" b="0" strike="noStrike" spc="-1">
                <a:latin typeface="Arial"/>
              </a:rPr>
              <a:t>Bloom's Level: Remembering. Keep this brief — just enough vocabulary to make the rest of the session click.</a:t>
            </a:r>
          </a:p>
        </p:txBody>
      </p:sp>
      <p:sp>
        <p:nvSpPr>
          <p:cNvPr id="102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A2D4B691-3987-4B11-8824-4CB75C5FAAFF}" type="slidenum">
              <a:rPr lang="en-IN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51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pPr marL="216000" indent="-216000">
              <a:lnSpc>
                <a:spcPct val="100000"/>
              </a:lnSpc>
            </a:pPr>
            <a:r>
              <a:rPr lang="en-IN" sz="2000" b="0" strike="noStrike" spc="-1">
                <a:latin typeface="Arial"/>
              </a:rPr>
              <a:t>Bloom's Level: Remembering. Emphasize the quotes-vs-no-quotes distinction early; it prevents a common early error.</a:t>
            </a:r>
          </a:p>
        </p:txBody>
      </p:sp>
      <p:sp>
        <p:nvSpPr>
          <p:cNvPr id="102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A9CC8FC-CB1D-4CF7-89A4-18CA3CBEC202}" type="slidenum">
              <a:rPr lang="en-IN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52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Understand] Only sep and end matter for beginners day-to-day — flag file and flush as 'exists, rarely touched' so students aren't intimidated by the full signature. The next several slides drill into objects, sep, and end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Remember] Emphasize the quotes-are-syntax-not-output point explicitly — it's an early source of confusion when students later try to print a variable and wonder why there are no quotes around its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Apply] Contrast this with concatenation using + (which would raise a TypeError mixing str and int) — print()'s comma-joining sidesteps that entirely, which is worth pointing out as a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Apply] Have students predict the output of sep="" before revealing it — it's the edge case most likely to trip them up in the practice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Understand] \n is by far the most-used escape sequence — students will lean on it heavily once they start formatting multi-line output, so make sure it's solid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Understand] The 'always returns str' point deserves heavy emphasis here — it's foreshadowed now and drilled with a concrete failing example two slides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Apply] Live-run this in the terminal so students see the pause happen in real time — the concept of 'the program is waiting' is more intuitive live than described.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[Bloom's: Analyze] This is the single most valuable slide in the deck for preventing future debugging sessions — pause here and let a student explain, in their own words, why the error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Understand. Delivery tip: Ask students — 'If I hand you an Aadhar card, id() is like the enrollment number, type() is like which document category it belongs to.' Anchor the analogy before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Understand. Delivery tip: Emphasize 'everything in Python is an object' — write it on the board as a recurring theme for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Apply. Delivery tip: Live-type these four in the shell rather than showing static text — pause after each and predict the output together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Understand. Delivery tip: Draw a quick 'memory street' sketch on the board — houses with numbers — to make id() tangible before showing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Apply. Delivery tip: Run Example 3 live and let students be surprised that equal-looking lists have different ids — this sets up the next slide perfectly.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Ask students to name a real value for each of the five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Understand. Delivery tip: Ask students what happens if they try '390001' + 1 in the shell -- let the TypeError motivate the whole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Remember. Delivery tip: Present this as the roadmap for the rest of the lecture -- point at each box as you promise 'we'll cover this one next.'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Show type(2+3j) and type(True) live to confirm the class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Bloom's Level: Apply. Delivery tip: Spend most time on int/float since students will use these daily -- mention complex only briefly as 'exists, rarely used in this course.'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[Analyze] Use id(obj) before and after a modification to prove whether the object changed in place or was replaced.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[Evaluate] Ask students why function default arguments using mutable objects (e.g. a list) can be a subtle bug — a classic Python gotcha.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Connect this to earlier immutability discussion — strings are the running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Define strings as sequences of characters. Emphasize the three quoting styles: single, double, and triple quotes, and that triple quotes allow multi-line text. Mention str as the type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Have students type these into IDLE/Colab themselves. Discuss why triple quotes are useful for addresses, multi-line messages, and docstrings.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Walk through the diagram: index 0 is the first character, -1 is always the last. Ask students to predict city[-8] and city[8] (IndexError)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Reinforce zero-based indexing before moving to slicing.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Emphasize "stop is exclusive" — the most common slicing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Have students slice their own name string to extract initials, reverse it, and take every alternate letter. Reinforce that stop is exclusive — a very common source of off-by-one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663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Ask students to slice their own name string to get just the first three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C633-1AE1-B666-3B8E-1EE15DE40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DA511-54B9-7292-9E3C-405D9E3CB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87F3B-7806-D030-3ECF-852152B4A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 This is a common beginner pitfall. Emphasize: immutability means the object doesn't change, but the variable name can be reassigned to a new string. This sets up why string methods always return new strings.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03941-FBF3-1F9D-80BF-894F57D41B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2593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[Evaluate] Ask why reassignment works but index-assignment doesn't — ties back to "new object on change".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Note that + only works between two strings (not string + int — leads to TypeError, a good segue to type conversion). Try building a decorative separator line for console output using *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Ask students to build "Name: &lt;name&gt;, Age: &lt;age&gt;" using only + concatenation, to motivate formatting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Go through each method with a live example on IRCTC/UPI-style strings. Emphasize that these methods return new strings/booleans — they never modify the original (immutability).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[Remember] Group these as "case" and "search" families to aid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Live demo: "-".join(["2026","07","30"]) to show join() building a date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 Contrast f-strings with old-style + concatenation to show why f-strings are preferred: cleaner, and automatically converts non-string types like int/float without manual str()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[Evaluate] Ask which of the three styles (concatenation, format(), f-string) is most readable, and why f-strings are now preferred in modern Python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36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 |   C2111C1   |   SEMESTER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Python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3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history and features to variables, operators, data types and strings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Science, Engineering &amp; Technology  •  ITM (SLS) Baroda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1344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Python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9110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versions: 1.x, 2.x, 3.x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4780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features &amp; applications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72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3044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Python &amp; first program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&amp; comments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identifiers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63640" y="137160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93992" y="1344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Python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63640" y="1938528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93992" y="19110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print(), type() and id() functions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63640" y="2505456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93992" y="24780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&amp; data types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63640" y="3072384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072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93992" y="3044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vs immutable objects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263640" y="3639312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93992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DF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Python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7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Christmas-break project became one of the world's most used languages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&amp; Conception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1980s – 1990, at Centrum Wiskunde &amp; Informatica (CWI), Netherlands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Creator: Guido van Rossum, a Dutch programmer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contributing to ABC, a teaching-oriented language, and liked its simplicity — but wanted more flexibility and extensibility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language that is easy to learn and read, yet powerful enough for serious software development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began during Guido's Christmas break in December 1989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Birth of Python (1991)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release: Python 0.9.0 in February 1991, on the alt.sources newsgroup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first version already included:</a:t>
            </a:r>
            <a:endParaRPr lang="en-US" sz="24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24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24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types — str, list, dict</a:t>
            </a:r>
            <a:endParaRPr lang="en-US" sz="24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24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with inheritance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fact: the name "Python" comes from Monty Python's Flying Circus, a British comedy series — not the snake!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Version Timeline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189179"/>
              </p:ext>
            </p:extLst>
          </p:nvPr>
        </p:nvGraphicFramePr>
        <p:xfrm>
          <a:off x="548640" y="1371600"/>
          <a:ext cx="11064240" cy="2316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series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active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highlights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1.x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 – 2000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official release; functions, modules, exceptions; lambda, map, filter, reduce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2.x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– 2020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&amp; dict comprehensions, garbage collection, partial Unicode, print as a statement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3.x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 – present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 as a function, full Unicode, f-strings, async/await, type hints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Influences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— Python 1.0 released, adding lambda, map, filter, and reduce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— Python 2.0 adds list comprehensions and a cycle-detecting garbage collector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 2008 — Python 3.0 ("Py3K") released to correct the language's fundamental design flaws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— the predecessor language — supported exception handling and interfaced with the Amoeba OS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was influenced by: ABC, and Modula-3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FFB816-8D85-3BAE-2FE8-2879F780B4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3" t="3734" r="1820" b="4657"/>
          <a:stretch>
            <a:fillRect/>
          </a:stretch>
        </p:blipFill>
        <p:spPr>
          <a:xfrm>
            <a:off x="439946" y="405441"/>
            <a:ext cx="11214341" cy="598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7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C20CB-3A84-E290-2A68-A0BEB42DD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627"/>
            <a:ext cx="12192000" cy="601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08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2EBDD-692E-666F-1105-E18538F05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199"/>
            <a:ext cx="12192000" cy="609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20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2 vs Python 3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84617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Released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 Oct 2000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Dec 2008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Statement: print "hi"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Function: print("hi")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string type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ASCII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Unicode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Integer division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nearest whole number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division for int &amp; float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Iteration helper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xrange()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Library support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Legacy libraries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Actively maintained, modern libraries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 today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End-of-life since Jan 2020 (v2.7 final)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standard — this course uses Python 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DF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Introduction, Features &amp; Applications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Python is, why it is popular, and where it is used in industry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Python?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an easy-to-learn, powerful, high-level programming language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both a general-purpose programming language and a scripting language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elegant syntax, dynamic typing (language where variable types are checked at runtime), and interpreted nature make it ideal for scripting and rapid application development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interpreted and object-oriented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 top technology organizations: Google, Dropbox, Quora, Mozilla, Hewlett-Packard, Qualcomm, IBM, Cisco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Code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2148840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 syntax — can be learned in a couple of hours or days, easier than Java, C++, or C#.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0156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157276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80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 &amp; Free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30168" y="2148840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download and use on Windows, Mac, or Linux; large global contributor community.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3620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1344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Support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64808" y="2148840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array of GUI toolkits can be imported directly into the interpreter.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07084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157276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4808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99448" y="2148840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classes and object encapsulation for efficient, reusable program design.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Python (Cont.)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55448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Language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214884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away memory management and hardware architecture from the programmer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6448" y="137160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7616" y="157276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4761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3688" y="155448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Interpreted by Nature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5048" y="214884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one line at a time; no separate compile step, easing debugging. Compiles to byte-code internally.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5968" y="137160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713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713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03208" y="155448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Portable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54568" y="214884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written on Windows runs on Mac or Linux with little to no change.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" y="402336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422452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44168" y="420624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Dynamically Typed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5528" y="480060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variable's type is decided at run time, not declared in advance.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46448" y="402336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7616" y="4224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4761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3688" y="420624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Extensive Libraries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5048" y="480060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standard and third-party library ecosystem means less code written from scratch.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125968" y="402336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7136" y="422452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2713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03208" y="420624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Support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54568" y="480060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in C; can call C, C++, Java (via Jython) and .NET (via IronPython) code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PYTHON IS USED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5528" y="2148840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web app development using frameworks like Django, Flask, and Pyramid — with built-in security and scalability.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0156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157276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808" y="1554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Development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30168" y="2148840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such as PySoy and PyGame power titles like Civilization IV and Disney's Toontown Online.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3620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1344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AI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64808" y="2148840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for ML/AI thanks to libraries such as Pandas, Scikit-Learn, and NumPy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70848" y="1371600"/>
            <a:ext cx="2560320" cy="502920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157276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48088" y="1554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&amp; Visualization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99448" y="2258568"/>
            <a:ext cx="21031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and NumPy extract insights; Matplotlib and Seaborn visualize them.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PYTHON IS USED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Python (Cont.)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55448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GUI Apps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214884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Tkinter, wxWidgets, Kivy, and PyQt build calculators, to-do apps, and more complex desktop software.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6448" y="137160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7616" y="157276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4761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3688" y="155448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5048" y="214884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pulls data from websites for price comparison, job listings, and research.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5968" y="137160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7136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713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03208" y="1554480"/>
            <a:ext cx="2721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Applications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54568" y="214884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extensible platforms such as Tryton support e-commerce and ERP systems.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" y="402336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422452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44168" y="420624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&amp; Video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5528" y="480060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applications like TimPlayer and Cplay are built with Python for stable playback.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46448" y="402336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7616" y="4224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4761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3688" y="420624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Applications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5048" y="480060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Computer-Aided Design tools such as Fandango use Python for complex object modelling.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125968" y="4023360"/>
            <a:ext cx="350520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7136" y="4224528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2713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03208" y="4206240"/>
            <a:ext cx="259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Systems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54568" y="4800600"/>
            <a:ext cx="304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C-based, Python powers embedded boards such as the Raspberry Pi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DF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 Python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Python, setting the path, and writing your first program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Path &amp; Installing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Path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can reside in any directory; the OS needs a search path to find its executable code</a:t>
            </a:r>
            <a:endParaRPr lang="en-US" sz="20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via the Environment Variable settings of your computer</a:t>
            </a:r>
            <a:endParaRPr lang="en-US" sz="20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My Computer → Properties → Advanced System Settings → Environment Variables → New</a:t>
            </a:r>
            <a:endParaRPr lang="en-US" sz="20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Variable name, enter path; in Variable value, add the path up to C:\Python (or wherever Python is installed)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installer from the official site: python.org</a:t>
            </a:r>
            <a:endParaRPr lang="en-US" sz="20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releases exist for Windows, Linux/Unix, macOS, and even iOS</a:t>
            </a:r>
            <a:endParaRPr lang="en-US" sz="20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Linux/Unix systems already have Python pre-installed</a:t>
            </a:r>
            <a:endParaRPr lang="en-US" sz="20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installation: run python --version in a terminal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EXTRA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Additional: Anaconda &amp; Google Colab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beginner-friendly alternatives to a manual install, both used later in this course: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Distribution — bundles Python with Jupyter Notebook, common data-science libraries (NumPy, Pandas), and the conda package manager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— a free, browser-based Python notebook that needs zero local installation and runs on Google's servers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is convenient for coursework: files auto-save to Google Drive and GPU/TPU access is free for smaller workloads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this course: use Google Colab for practicals and a local install (or Anaconda) for offline practice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Python Program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first program, then a small program that stores and prints user information: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06880"/>
            <a:ext cx="10972800" cy="4419600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42516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842516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8425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70559" y="2567940"/>
            <a:ext cx="10604165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Program 1: Hello World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world")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Program 2: printing stored information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"Tanvi"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= "Artificial Intelligence"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"27"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print("My name is: ", name)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print("My age is: ", age)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in Python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explain code to humans; Python's interpreter ignores them entirely. Two forms: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13870"/>
            <a:ext cx="10972800" cy="3987129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92218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Single-line comment: starts with #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defining the marks of a student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90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"Tanvi"          # inline comment after code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= "Computer Science"   # defining branch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Multi-line comment style 1: repeated #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 are defining a for loop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iterate the given list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Multi-line comment style 2: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triple-quoted string used as a comment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Indentation in Python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= the spaces (or tabs) at the start of a line that define a block of code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C, C++, or Java (which use { } braces), Python uses indentation to decide which lines belong together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single most significant syntax rule in Python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indentation raises an IndentationError and interrupts execution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indentation, Python cannot tell which statement belongs to which block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Rules of Indentation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to Follow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number of spaces within one block — 4 spaces per level is the standard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are allowed, but spaces are recommended; never mix tabs and spaces in the same block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level increases after a colon ( : ) in statements like if, for, while, def, class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Indentation Applies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loops — for, while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functions and classes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conditional statements — if, elif, else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exception handling — try, except, finally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DF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Identifiers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storing data the Python way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in Python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 given to a value stored in memory, for later use — like a label on a box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created the moment a value is first assigned to it, and its value can be updated later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"Tanvi"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print(y)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Variable?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label that points to a value stored in memory.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D8F3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label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D8F3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 the box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33832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86200" y="28346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80560" y="21945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232257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232257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47488" y="232257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2560320"/>
            <a:ext cx="2889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8ECF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C25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8ECF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6FE3A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"Vadodara"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8ECF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is_pass =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C25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55280" y="219456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F1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0" y="278892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1B2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= is the assignment operator — it stores the value on the right into the name on the left. Once assigned, that name can be reused anywhere in the program without retyping the value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B1B2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0" y="43332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1B2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Unlike C or Java, Python variables need no type declaration — the type is decided automatically from the value you assign. This is called dynamic typing.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7223760" cy="1691640"/>
          </a:xfrm>
          <a:prstGeom prst="roundRect">
            <a:avLst>
              <a:gd name="adj" fmla="val 5405"/>
            </a:avLst>
          </a:prstGeom>
          <a:solidFill>
            <a:srgbClr val="FFF6E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262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B87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89204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C43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doesn't store the box's location — it stores a reference to the value. When you assign a new value to the same name, the old value is simply forgotten.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Variables, Data Types &amp; Operators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Variables — Rules &amp; Conventions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variable name reads like a sentence, and a valid one follows five simple rules.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84086"/>
              </p:ext>
            </p:extLst>
          </p:nvPr>
        </p:nvGraphicFramePr>
        <p:xfrm>
          <a:off x="457200" y="2103120"/>
          <a:ext cx="11247120" cy="32918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a letter or underscore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student_name, _temp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1roll_no ✗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Letters, digits, underscores only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marks2, roll_1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student-name ✗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Case-sensitive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and age are different names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a reserved keyword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✗   for ✗   import ✗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snake_case by convention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total_price, is_valid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TotalPrice (avoid)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8064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1F4F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practice:  </a:t>
            </a: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roll_number is clearer than rn — descriptive names make code readable months later, by you or a teammate</a:t>
            </a: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Variables,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Good Variable Names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meaningful names over short ones — roll_no is clearer than rn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names a reasonable length — roll_no_of_a_student is unnecessarily long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 with a naming style throughout a project — e.g., always roll_no or always RollNo, not a mix</a:t>
            </a:r>
            <a:endParaRPr lang="en-US" sz="24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Additional: PEP 8 (Python's official style guide) recommends snake_case for variables and functions — e.g., total_marks, student_name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Identifiers in Python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are user-defined names for variables, functions, classes, and modules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create a valid identifier: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combine lowercase, uppercase letters, digits, and underscore — e.g. myClass, var_1, print_this_to_screen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digit — 1variable is invalid, variable1 is valid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consist of digits only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 on the length of an identifier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Python keyword — e.g. import, if, else, break, continue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&amp; Invalid Identifiers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751587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ab10c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 only letters and numbers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abc_DE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 all permitted character types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lone underscore is a valid identifier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_abc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 may start with an underscore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made of digits only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9abc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start with a number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x+y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underscore is allowed as a special character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is a reserved keyword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Typing &amp; Casting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need no declared type, and can even change type after being set: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734056"/>
            <a:ext cx="11109960" cy="3595624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          # x is of type int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"Tanvi"    # x is now of type str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Casting: force a specific type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str(3)     # a will be '3'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int(3)     # b will be 3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float(3)   # c will be 3.0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the Type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Multiple Assignment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lets you assign several variables in a single line — cleaner and faster to write.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32257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2257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32257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60320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AA0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assign three at once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ECF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roll_no, name, branch =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25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21,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E3A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"Aarav", "CSE"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424281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4281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424281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480560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AA0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value to many names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ECF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y = z 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25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1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Variables, Data Types &amp; Operators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DF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in Python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assignment, logical, bitwise, and special operators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785895"/>
              </p:ext>
            </p:extLst>
          </p:nvPr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Addition: adds two operands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+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Subtraction: subtracts two operands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-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Multiplication: multiplies two operands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*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(float): true division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/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(floor): integer division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//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Modulus: remainder of division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%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Power: first operand raised to the second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**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Precedence (Order of Operations)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expression mixes operators, Python follows a fixed precedence — similar to BODMAS/PEMDAS: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Parentheses ( )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Exponent  **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Multiplication *, Division /, Floor division //, Modulus %  (left to right)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Addition +, Subtraction -  (left to right)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2 + 3 * 4 evaluates ** and * before + , giving 2 + 12 = 14, not 20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or to make code more readable for others — add parentheses explicitly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(Comparison) Operators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157993"/>
              </p:ext>
            </p:extLst>
          </p:nvPr>
        </p:nvGraphicFramePr>
        <p:xfrm>
          <a:off x="548640" y="1371600"/>
          <a:ext cx="11064240" cy="45415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Greater than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&gt; y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Less than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&lt; y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Equal to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== y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equal to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!= y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 to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&gt;= y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 to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&lt;= y</a:t>
                      </a:r>
                      <a:endParaRPr lang="en-US" sz="3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Operators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71442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to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+=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+ 5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-=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- 5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*=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*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/=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/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%=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%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//=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//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**=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**=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** 5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031556"/>
              </p:ext>
            </p:extLst>
          </p:nvPr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both operands are true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and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either operand is true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or 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the operand is false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x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D8C40-7BBA-35C8-6115-F9262F8C3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92" y="204304"/>
            <a:ext cx="11697419" cy="644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795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D57503-F4F3-5353-FD66-85093F7B2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55"/>
            <a:ext cx="12192000" cy="646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56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F81EF-CEA9-FBD8-4475-A67EB0426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921"/>
            <a:ext cx="12192000" cy="618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698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Operators — Overview</a:t>
            </a:r>
            <a:endParaRPr lang="en-US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674142"/>
              </p:ext>
            </p:extLst>
          </p:nvPr>
        </p:nvGraphicFramePr>
        <p:xfrm>
          <a:off x="548640" y="1371600"/>
          <a:ext cx="11064240" cy="3627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Bitwise AND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&amp; y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Bitwise OR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| y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NOT (one's complement)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~x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Bitwise XOR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^ y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&gt;&gt;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right shift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&gt;&gt; n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&lt;&lt;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left shift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&lt;&lt; n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AND (&amp;) and OR (|)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4 (0100 in binary), b = 5 (0101 in binary):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4, 5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   # AND -&gt; 0100 = 4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   # OR  -&gt; 0101 = 5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  b  | AND | OR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0  0  |  0  | 0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0  1  |  0  | 1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1  0  |  0  | 1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1  1  |  1  | 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XOR (^) and NOT (~)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true only when bits differ. NOT flips every bit (one's complement):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stores integers with infinite precision, but ~ still follows the rule  ~x = -(x + 1)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4, 5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^ b)     # XOR: 0100 ^ 0101 = 0001 -&gt; 1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           # binary 1010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print(~a)        # ~a = -(1010 + 1) = -11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DC6F11-B9D3-33FC-4434-DA64B97E78C8}"/>
              </a:ext>
            </a:extLst>
          </p:cNvPr>
          <p:cNvSpPr txBox="1"/>
          <p:nvPr/>
        </p:nvSpPr>
        <p:spPr>
          <a:xfrm>
            <a:off x="976941" y="878887"/>
            <a:ext cx="7554584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400" b="0" u="none" strike="noStrike" dirty="0">
                <a:effectLst/>
                <a:latin typeface="Google Sans"/>
              </a:rPr>
              <a:t>The underlying rule for any XOR operation is: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0 ^ 0 = 0</a:t>
            </a:r>
            <a:r>
              <a:rPr lang="en-IN" sz="2400" b="0" u="none" strike="noStrike" dirty="0">
                <a:effectLst/>
                <a:latin typeface="Google Sans"/>
              </a:rPr>
              <a:t> (Same)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1 ^ 1 = 0</a:t>
            </a:r>
            <a:r>
              <a:rPr lang="en-IN" sz="2400" b="0" u="none" strike="noStrike" dirty="0">
                <a:effectLst/>
                <a:latin typeface="Google Sans"/>
              </a:rPr>
              <a:t> (Same)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1 ^ 0 = 1</a:t>
            </a:r>
            <a:r>
              <a:rPr lang="en-IN" sz="2400" b="0" u="none" strike="noStrike" dirty="0">
                <a:effectLst/>
                <a:latin typeface="Google Sans"/>
              </a:rPr>
              <a:t> (Different)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0 ^ 1 = 1</a:t>
            </a:r>
            <a:r>
              <a:rPr lang="en-IN" sz="2400" b="0" u="none" strike="noStrike" dirty="0">
                <a:effectLst/>
                <a:latin typeface="Google Sans"/>
              </a:rPr>
              <a:t> (Different)</a:t>
            </a:r>
          </a:p>
        </p:txBody>
      </p:sp>
    </p:spTree>
    <p:extLst>
      <p:ext uri="{BB962C8B-B14F-4D97-AF65-F5344CB8AC3E}">
        <p14:creationId xmlns:p14="http://schemas.microsoft.com/office/powerpoint/2010/main" val="23290854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Shift Operators (&gt;&gt;  and  &lt;&lt;)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shift (&gt;&gt;): moves bits right; bits that fall off the right are discarded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(&lt;&lt;): moves bits left; bits that fall off the left are discarded, 0s fill in on the right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            # 0111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&gt;&gt; 1)    # -&gt; 0011 = 3  (shift right by 1)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&lt;&lt; 1)    # -&gt; 1110 = 14 (shift left by 1)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Operators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Operators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— True if a value is found in a sequence (string, list, tuple, set, dictionary)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— True if a value is NOT found in the sequence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 in [1, 5, 9]  →  True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Operators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— True if two variables refer to the same object in memory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— True if they do not refer to the same object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equal values are not necessarily identical objects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Equality ( == )  vs  Identity ( is )</a:t>
            </a:r>
            <a:endParaRPr lang="en-US" sz="2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32617"/>
              </p:ext>
            </p:extLst>
          </p:nvPr>
        </p:nvGraphicFramePr>
        <p:xfrm>
          <a:off x="548640" y="1371600"/>
          <a:ext cx="11064240" cy="3444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 (==)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(is)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Compares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Values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address / object identity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when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Contents match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point to the same object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Checks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Logical equality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reference equality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2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[1,2] == [1,2] -&gt; True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[1,2] is [1,2] -&gt; False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[Analyze] This slide often surprises students — spend extra time on the caching note.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DF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Functions, Input &amp; Data Types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print(), type(), id(), user input, and Python's data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CustomShape 1"/>
          <p:cNvSpPr/>
          <p:nvPr/>
        </p:nvSpPr>
        <p:spPr>
          <a:xfrm>
            <a:off x="548640" y="457200"/>
            <a:ext cx="639720" cy="639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2" name="CustomShape 2"/>
          <p:cNvSpPr/>
          <p:nvPr/>
        </p:nvSpPr>
        <p:spPr>
          <a:xfrm>
            <a:off x="548640" y="457200"/>
            <a:ext cx="639720" cy="63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IN" sz="2400" b="1" strike="noStrike" spc="-1">
                <a:solidFill>
                  <a:srgbClr val="FFFFFF"/>
                </a:solidFill>
                <a:latin typeface="Cambria"/>
                <a:ea typeface="Cambria"/>
              </a:rPr>
              <a:t>?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43" name="CustomShape 3"/>
          <p:cNvSpPr/>
          <p:nvPr/>
        </p:nvSpPr>
        <p:spPr>
          <a:xfrm>
            <a:off x="1325880" y="457200"/>
            <a:ext cx="8686440" cy="36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1300" b="1" strike="noStrike" spc="97">
                <a:solidFill>
                  <a:srgbClr val="028090"/>
                </a:solidFill>
                <a:latin typeface="Calibri"/>
                <a:ea typeface="Calibri"/>
              </a:rPr>
              <a:t>QUICK REFRESHER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644" name="CustomShape 4"/>
          <p:cNvSpPr/>
          <p:nvPr/>
        </p:nvSpPr>
        <p:spPr>
          <a:xfrm>
            <a:off x="1325880" y="804600"/>
            <a:ext cx="10058040" cy="63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2800" b="1" strike="noStrike" spc="-1">
                <a:solidFill>
                  <a:srgbClr val="1E2761"/>
                </a:solidFill>
                <a:latin typeface="Cambria"/>
                <a:ea typeface="Cambria"/>
              </a:rPr>
              <a:t>What Is a Function, Again?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645" name="CustomShape 5"/>
          <p:cNvSpPr/>
          <p:nvPr/>
        </p:nvSpPr>
        <p:spPr>
          <a:xfrm>
            <a:off x="822960" y="2103120"/>
            <a:ext cx="10515240" cy="155412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46" name="Image 0"/>
          <p:cNvPicPr/>
          <p:nvPr/>
        </p:nvPicPr>
        <p:blipFill>
          <a:blip r:embed="rId3"/>
          <a:stretch/>
        </p:blipFill>
        <p:spPr>
          <a:xfrm>
            <a:off x="1097280" y="2377440"/>
            <a:ext cx="502560" cy="502560"/>
          </a:xfrm>
          <a:prstGeom prst="rect">
            <a:avLst/>
          </a:prstGeom>
          <a:ln>
            <a:noFill/>
          </a:ln>
        </p:spPr>
      </p:pic>
      <p:sp>
        <p:nvSpPr>
          <p:cNvPr id="647" name="CustomShape 6"/>
          <p:cNvSpPr/>
          <p:nvPr/>
        </p:nvSpPr>
        <p:spPr>
          <a:xfrm>
            <a:off x="1097280" y="2286000"/>
            <a:ext cx="999744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35000"/>
              </a:lnSpc>
            </a:pPr>
            <a:r>
              <a:rPr lang="en-IN" sz="2000" b="0" strike="noStrike" spc="-1" dirty="0">
                <a:solidFill>
                  <a:srgbClr val="24303D"/>
                </a:solidFill>
                <a:latin typeface="Calibri"/>
                <a:ea typeface="Calibri"/>
              </a:rPr>
              <a:t>A function is a named, reusable block of code that performs a specific job when you “call” it by writing its name followed by parentheses.</a:t>
            </a:r>
            <a:endParaRPr lang="en-IN" sz="2000" b="0" strike="noStrike" spc="-1" dirty="0">
              <a:latin typeface="Arial"/>
            </a:endParaRPr>
          </a:p>
        </p:txBody>
      </p:sp>
      <p:sp>
        <p:nvSpPr>
          <p:cNvPr id="648" name="CustomShape 7"/>
          <p:cNvSpPr/>
          <p:nvPr/>
        </p:nvSpPr>
        <p:spPr>
          <a:xfrm>
            <a:off x="822960" y="3886200"/>
            <a:ext cx="10515240" cy="1691280"/>
          </a:xfrm>
          <a:prstGeom prst="roundRect">
            <a:avLst>
              <a:gd name="adj" fmla="val 4324"/>
            </a:avLst>
          </a:prstGeom>
          <a:solidFill>
            <a:srgbClr val="1B1F2A"/>
          </a:solidFill>
          <a:ln>
            <a:noFill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9" name="CustomShape 8"/>
          <p:cNvSpPr/>
          <p:nvPr/>
        </p:nvSpPr>
        <p:spPr>
          <a:xfrm>
            <a:off x="1051560" y="4087440"/>
            <a:ext cx="127800" cy="1278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0" name="CustomShape 9"/>
          <p:cNvSpPr/>
          <p:nvPr/>
        </p:nvSpPr>
        <p:spPr>
          <a:xfrm>
            <a:off x="1261800" y="4087440"/>
            <a:ext cx="127800" cy="1278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1" name="CustomShape 10"/>
          <p:cNvSpPr/>
          <p:nvPr/>
        </p:nvSpPr>
        <p:spPr>
          <a:xfrm>
            <a:off x="1472040" y="4087440"/>
            <a:ext cx="127800" cy="1278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2" name="CustomShape 11"/>
          <p:cNvSpPr/>
          <p:nvPr/>
        </p:nvSpPr>
        <p:spPr>
          <a:xfrm>
            <a:off x="1143000" y="4389120"/>
            <a:ext cx="9875160" cy="100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25000"/>
              </a:lnSpc>
            </a:pPr>
            <a:r>
              <a:rPr lang="en-IN" sz="2000" b="0" strike="noStrike" spc="-1" dirty="0" err="1">
                <a:solidFill>
                  <a:srgbClr val="F4A300"/>
                </a:solidFill>
                <a:latin typeface="Consolas"/>
                <a:ea typeface="Consolas"/>
              </a:rPr>
              <a:t>function_name</a:t>
            </a:r>
            <a:r>
              <a:rPr lang="en-IN" sz="2000" b="0" strike="noStrike" spc="-1" dirty="0">
                <a:solidFill>
                  <a:srgbClr val="F4A300"/>
                </a:solidFill>
                <a:latin typeface="Consolas"/>
                <a:ea typeface="Consolas"/>
              </a:rPr>
              <a:t>(argument)</a:t>
            </a:r>
            <a:endParaRPr lang="en-IN" sz="2000" b="0" strike="noStrike" spc="-1" dirty="0"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IN" sz="2000" b="0" strike="noStrike" spc="-1" dirty="0">
                <a:solidFill>
                  <a:srgbClr val="6B7684"/>
                </a:solidFill>
                <a:latin typeface="Consolas"/>
                <a:ea typeface="Consolas"/>
              </a:rPr>
              <a:t>   ↑                ↑</a:t>
            </a:r>
            <a:endParaRPr lang="en-IN" sz="2000" b="0" strike="noStrike" spc="-1" dirty="0"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IN" sz="2000" b="0" strike="noStrike" spc="-1" dirty="0">
                <a:solidFill>
                  <a:srgbClr val="6B7684"/>
                </a:solidFill>
                <a:latin typeface="Consolas"/>
                <a:ea typeface="Consolas"/>
              </a:rPr>
              <a:t>  name          the value passed in</a:t>
            </a:r>
            <a:endParaRPr lang="en-IN" sz="2000" b="0" strike="noStrike" spc="-1" dirty="0">
              <a:latin typeface="Arial"/>
            </a:endParaRPr>
          </a:p>
        </p:txBody>
      </p:sp>
      <p:sp>
        <p:nvSpPr>
          <p:cNvPr id="653" name="CustomShape 12"/>
          <p:cNvSpPr/>
          <p:nvPr/>
        </p:nvSpPr>
        <p:spPr>
          <a:xfrm>
            <a:off x="822960" y="5760720"/>
            <a:ext cx="105152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2400" b="0" i="1" strike="noStrike" spc="-1" dirty="0">
                <a:solidFill>
                  <a:srgbClr val="028090"/>
                </a:solidFill>
                <a:latin typeface="Calibri"/>
                <a:ea typeface="Calibri"/>
              </a:rPr>
              <a:t>print and input are both built-in functions — Python provides them ready-made, no setup required</a:t>
            </a:r>
            <a:r>
              <a:rPr lang="en-IN" sz="1250" b="0" i="1" strike="noStrike" spc="-1" dirty="0">
                <a:solidFill>
                  <a:srgbClr val="028090"/>
                </a:solidFill>
                <a:latin typeface="Calibri"/>
                <a:ea typeface="Calibri"/>
              </a:rPr>
              <a:t>.</a:t>
            </a:r>
            <a:endParaRPr lang="en-IN" sz="1250" b="0" strike="noStrike" spc="-1" dirty="0">
              <a:latin typeface="Arial"/>
            </a:endParaRPr>
          </a:p>
        </p:txBody>
      </p:sp>
      <p:sp>
        <p:nvSpPr>
          <p:cNvPr id="654" name="CustomShape 13"/>
          <p:cNvSpPr/>
          <p:nvPr/>
        </p:nvSpPr>
        <p:spPr>
          <a:xfrm>
            <a:off x="457200" y="6473880"/>
            <a:ext cx="9600840" cy="27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850" b="0" strike="noStrike" spc="-1">
                <a:solidFill>
                  <a:srgbClr val="6B7684"/>
                </a:solidFill>
                <a:latin typeface="Calibri"/>
                <a:ea typeface="Calibri"/>
              </a:rPr>
              <a:t>Programming in Python-I  |  print() &amp; input()  |  BTech CSE Semester 1  |  ITM (SLS) Baroda University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655" name="CustomShape 14"/>
          <p:cNvSpPr/>
          <p:nvPr/>
        </p:nvSpPr>
        <p:spPr>
          <a:xfrm>
            <a:off x="11003040" y="6473880"/>
            <a:ext cx="731160" cy="27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lang="en-IN" sz="900" b="0" strike="noStrike" spc="-1">
                <a:solidFill>
                  <a:srgbClr val="6B7684"/>
                </a:solidFill>
                <a:latin typeface="Calibri"/>
                <a:ea typeface="Calibri"/>
              </a:rPr>
              <a:t>3 / 17</a:t>
            </a:r>
            <a:endParaRPr lang="en-IN" sz="9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CustomShape 1"/>
          <p:cNvSpPr/>
          <p:nvPr/>
        </p:nvSpPr>
        <p:spPr>
          <a:xfrm>
            <a:off x="548640" y="457200"/>
            <a:ext cx="639720" cy="639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7" name="CustomShape 2"/>
          <p:cNvSpPr/>
          <p:nvPr/>
        </p:nvSpPr>
        <p:spPr>
          <a:xfrm>
            <a:off x="548640" y="457200"/>
            <a:ext cx="639720" cy="63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IN" sz="2400" b="1" strike="noStrike" spc="-1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58" name="CustomShape 3"/>
          <p:cNvSpPr/>
          <p:nvPr/>
        </p:nvSpPr>
        <p:spPr>
          <a:xfrm>
            <a:off x="1325880" y="457200"/>
            <a:ext cx="8686440" cy="36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1300" b="1" strike="noStrike" spc="97">
                <a:solidFill>
                  <a:srgbClr val="028090"/>
                </a:solidFill>
                <a:latin typeface="Calibri"/>
                <a:ea typeface="Calibri"/>
              </a:rPr>
              <a:t>OUTPUT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659" name="CustomShape 4"/>
          <p:cNvSpPr/>
          <p:nvPr/>
        </p:nvSpPr>
        <p:spPr>
          <a:xfrm>
            <a:off x="1325880" y="804600"/>
            <a:ext cx="10058040" cy="63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2800" b="1" strike="noStrike" spc="-1">
                <a:solidFill>
                  <a:srgbClr val="1E2761"/>
                </a:solidFill>
                <a:latin typeface="Cambria"/>
                <a:ea typeface="Cambria"/>
              </a:rPr>
              <a:t>print() — Basic Syntax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660" name="CustomShape 5"/>
          <p:cNvSpPr/>
          <p:nvPr/>
        </p:nvSpPr>
        <p:spPr>
          <a:xfrm>
            <a:off x="822960" y="1417320"/>
            <a:ext cx="10058040" cy="36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6B7684"/>
                </a:solidFill>
                <a:latin typeface="Calibri"/>
                <a:ea typeface="Calibri"/>
              </a:rPr>
              <a:t>print() displays whatever you give it on the screen, then moves to a new line.</a:t>
            </a:r>
            <a:endParaRPr lang="en-IN" sz="2000" b="0" strike="noStrike" spc="-1" dirty="0">
              <a:latin typeface="Arial"/>
            </a:endParaRPr>
          </a:p>
        </p:txBody>
      </p:sp>
      <p:sp>
        <p:nvSpPr>
          <p:cNvPr id="661" name="CustomShape 6"/>
          <p:cNvSpPr/>
          <p:nvPr/>
        </p:nvSpPr>
        <p:spPr>
          <a:xfrm>
            <a:off x="822960" y="2011680"/>
            <a:ext cx="10515240" cy="2514240"/>
          </a:xfrm>
          <a:prstGeom prst="roundRect">
            <a:avLst>
              <a:gd name="adj" fmla="val 2909"/>
            </a:avLst>
          </a:prstGeom>
          <a:solidFill>
            <a:srgbClr val="1B1F2A"/>
          </a:solidFill>
          <a:ln>
            <a:noFill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2" name="CustomShape 7"/>
          <p:cNvSpPr/>
          <p:nvPr/>
        </p:nvSpPr>
        <p:spPr>
          <a:xfrm>
            <a:off x="1051560" y="2212920"/>
            <a:ext cx="127800" cy="1278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3" name="CustomShape 8"/>
          <p:cNvSpPr/>
          <p:nvPr/>
        </p:nvSpPr>
        <p:spPr>
          <a:xfrm>
            <a:off x="1261800" y="2212920"/>
            <a:ext cx="127800" cy="1278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4" name="CustomShape 9"/>
          <p:cNvSpPr/>
          <p:nvPr/>
        </p:nvSpPr>
        <p:spPr>
          <a:xfrm>
            <a:off x="1472040" y="2212920"/>
            <a:ext cx="127800" cy="1278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5" name="CustomShape 10"/>
          <p:cNvSpPr/>
          <p:nvPr/>
        </p:nvSpPr>
        <p:spPr>
          <a:xfrm>
            <a:off x="1143000" y="2514600"/>
            <a:ext cx="9875160" cy="182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25000"/>
              </a:lnSpc>
            </a:pPr>
            <a:r>
              <a:rPr lang="en-IN" sz="2000" b="0" strike="noStrike" spc="-1" dirty="0">
                <a:solidFill>
                  <a:srgbClr val="D7DEE6"/>
                </a:solidFill>
                <a:latin typeface="Consolas"/>
                <a:ea typeface="Consolas"/>
              </a:rPr>
              <a:t>print("Hello, Python!")</a:t>
            </a:r>
            <a:endParaRPr lang="en-IN" sz="2000" b="0" strike="noStrike" spc="-1" dirty="0"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IN" sz="2000" b="0" strike="noStrike" spc="-1" dirty="0">
                <a:solidFill>
                  <a:srgbClr val="6EE7B7"/>
                </a:solidFill>
                <a:latin typeface="Consolas"/>
                <a:ea typeface="Consolas"/>
              </a:rPr>
              <a:t>Hello, Python!</a:t>
            </a:r>
            <a:endParaRPr lang="en-IN" sz="2000" b="0" strike="noStrike" spc="-1" dirty="0">
              <a:latin typeface="Arial"/>
            </a:endParaRPr>
          </a:p>
          <a:p>
            <a:pPr>
              <a:lnSpc>
                <a:spcPct val="125000"/>
              </a:lnSpc>
            </a:pPr>
            <a:endParaRPr lang="en-IN" sz="2000" b="0" strike="noStrike" spc="-1" dirty="0"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IN" sz="2000" b="0" strike="noStrike" spc="-1" dirty="0">
                <a:solidFill>
                  <a:srgbClr val="D7DEE6"/>
                </a:solidFill>
                <a:latin typeface="Consolas"/>
                <a:ea typeface="Consolas"/>
              </a:rPr>
              <a:t>print(25)</a:t>
            </a:r>
            <a:endParaRPr lang="en-IN" sz="2000" b="0" strike="noStrike" spc="-1" dirty="0"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IN" sz="2000" b="0" strike="noStrike" spc="-1" dirty="0">
                <a:solidFill>
                  <a:srgbClr val="6EE7B7"/>
                </a:solidFill>
                <a:latin typeface="Consolas"/>
                <a:ea typeface="Consolas"/>
              </a:rPr>
              <a:t>25</a:t>
            </a:r>
            <a:endParaRPr lang="en-IN" sz="2000" b="0" strike="noStrike" spc="-1" dirty="0">
              <a:latin typeface="Arial"/>
            </a:endParaRPr>
          </a:p>
        </p:txBody>
      </p:sp>
      <p:sp>
        <p:nvSpPr>
          <p:cNvPr id="666" name="CustomShape 11"/>
          <p:cNvSpPr/>
          <p:nvPr/>
        </p:nvSpPr>
        <p:spPr>
          <a:xfrm>
            <a:off x="822960" y="4709160"/>
            <a:ext cx="10515240" cy="1051200"/>
          </a:xfrm>
          <a:prstGeom prst="roundRect">
            <a:avLst>
              <a:gd name="adj" fmla="val 6957"/>
            </a:avLst>
          </a:prstGeom>
          <a:solidFill>
            <a:srgbClr val="EAF6F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67" name="Image 0"/>
          <p:cNvPicPr/>
          <p:nvPr/>
        </p:nvPicPr>
        <p:blipFill>
          <a:blip r:embed="rId3"/>
          <a:stretch/>
        </p:blipFill>
        <p:spPr>
          <a:xfrm>
            <a:off x="1051560" y="4937760"/>
            <a:ext cx="411120" cy="411120"/>
          </a:xfrm>
          <a:prstGeom prst="rect">
            <a:avLst/>
          </a:prstGeom>
          <a:ln>
            <a:noFill/>
          </a:ln>
        </p:spPr>
      </p:pic>
      <p:sp>
        <p:nvSpPr>
          <p:cNvPr id="668" name="CustomShape 12"/>
          <p:cNvSpPr/>
          <p:nvPr/>
        </p:nvSpPr>
        <p:spPr>
          <a:xfrm>
            <a:off x="1600200" y="4846320"/>
            <a:ext cx="9509400" cy="82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just">
              <a:lnSpc>
                <a:spcPct val="125000"/>
              </a:lnSpc>
            </a:pPr>
            <a:r>
              <a:rPr lang="en-IN" sz="2800" b="0" strike="noStrike" spc="-1" dirty="0">
                <a:solidFill>
                  <a:srgbClr val="1E2761"/>
                </a:solidFill>
                <a:latin typeface="Calibri"/>
                <a:ea typeface="Calibri"/>
              </a:rPr>
              <a:t>Text (a “string”) goes inside quotes. Numbers do not need quotes — print() can display text, numbers, or the result of a calculation</a:t>
            </a:r>
            <a:r>
              <a:rPr lang="en-IN" sz="1250" b="0" strike="noStrike" spc="-1" dirty="0">
                <a:solidFill>
                  <a:srgbClr val="1E2761"/>
                </a:solidFill>
                <a:latin typeface="Calibri"/>
                <a:ea typeface="Calibri"/>
              </a:rPr>
              <a:t>.</a:t>
            </a:r>
            <a:endParaRPr lang="en-IN" sz="1250" b="0" strike="noStrike" spc="-1" dirty="0">
              <a:latin typeface="Arial"/>
            </a:endParaRPr>
          </a:p>
        </p:txBody>
      </p:sp>
      <p:sp>
        <p:nvSpPr>
          <p:cNvPr id="669" name="CustomShape 13"/>
          <p:cNvSpPr/>
          <p:nvPr/>
        </p:nvSpPr>
        <p:spPr>
          <a:xfrm>
            <a:off x="457200" y="6473880"/>
            <a:ext cx="9600840" cy="27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IN" sz="850" b="0" strike="noStrike" spc="-1">
                <a:solidFill>
                  <a:srgbClr val="6B7684"/>
                </a:solidFill>
                <a:latin typeface="Calibri"/>
                <a:ea typeface="Calibri"/>
              </a:rPr>
              <a:t>Programming in Python-I  |  print() &amp; input()  |  BTech CSE Semester 1  |  ITM (SLS) Baroda University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670" name="CustomShape 14"/>
          <p:cNvSpPr/>
          <p:nvPr/>
        </p:nvSpPr>
        <p:spPr>
          <a:xfrm>
            <a:off x="11003040" y="6473880"/>
            <a:ext cx="731160" cy="27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lang="en-IN" sz="900" b="0" strike="noStrike" spc="-1">
                <a:solidFill>
                  <a:srgbClr val="6B7684"/>
                </a:solidFill>
                <a:latin typeface="Calibri"/>
                <a:ea typeface="Calibri"/>
              </a:rPr>
              <a:t>4 / 17</a:t>
            </a:r>
            <a:endParaRPr lang="en-IN" sz="9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Syntax of print()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can take far more than just text — here is its complete signature</a:t>
            </a: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*objects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dirty="0">
                <a:solidFill>
                  <a:srgbClr val="9A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sep=' '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dirty="0">
                <a:solidFill>
                  <a:srgbClr val="FF9A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end='\n'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dirty="0">
                <a:solidFill>
                  <a:srgbClr val="C9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file=sys.stdout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dirty="0">
                <a:solidFill>
                  <a:srgbClr val="8AF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flush=False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3429000"/>
          <a:ext cx="11247120" cy="26700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*objects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more values to display — text, numbers, variables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 '  (single space)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inserted between multiple objects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'\n'  (newline)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added after the final object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sys.stdout (screen)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output is sent — rarely changed by beginners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to force output immediately — rarely needed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and input() — Basic Syntax in Detail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print() — Displaying Text and Numbers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shows whatever you give it on screen, then moves to a new line by default</a:t>
            </a: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6309360" cy="36576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32257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2257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32257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60320"/>
            <a:ext cx="5907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Python!"</a:t>
            </a:r>
            <a:r>
              <a:rPr lang="en-US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Python!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r>
              <a:rPr lang="en-US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112726" y="2699657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F1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278892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called a "string" — must go inside quotes, single or double. Numbers do not need quotes at all: print() can display text, numbers, or the result of a calculation directly.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23760" y="45720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are a syntax marker, not part of the output — that's why "Hello, Python!" prints without its quotation marks</a:t>
            </a: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print() — Printing Multiple Values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values with commas — print() joins them with a single space automatically</a:t>
            </a: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6309360" cy="36576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32257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2257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32257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60320"/>
            <a:ext cx="5907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"Riya"</a:t>
            </a: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"Name:", name, "Age:", age</a:t>
            </a: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Riya Age: 19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949440" y="2194560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F1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278892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comma-separated item is one of the *objects in print()'s signature. It can be a string, a number, or a variable — print() automatically converts every item to text before joining them.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23760" y="45720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need to manually convert numbers to strings before printing them alongside text — print() handles that for you.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and input() — Basic Syntax in Detail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print() — The sep Parameter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controls what goes between values, instead of the default single space.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6309360" cy="36576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32257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2257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32257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60320"/>
            <a:ext cx="5907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"2026", "07", "29"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dirty="0">
                <a:solidFill>
                  <a:srgbClr val="9A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sep=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2026-07-29</a:t>
            </a: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"apple", "mango", "kiwi"</a:t>
            </a:r>
            <a:r>
              <a:rPr lang="en-US" sz="20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dirty="0">
                <a:solidFill>
                  <a:srgbClr val="9A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sep=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apple, mango, kiwi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949440" y="2194560"/>
          <a:ext cx="4754880" cy="2499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sep="-"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values with a hyphen — handy for dates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sep=", "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values comma-and-space — like a list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sep=""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separator at all — values run together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and input() — Basic Syntax in Detail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print() — Escape Sequences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 combinations, starting with a backslash, that control formatting inside a string</a:t>
            </a: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2103120"/>
          <a:ext cx="6949440" cy="3322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print("Hi\nBye")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space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print("Name:\tRiya")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\\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backslash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print("C:\\Users")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\"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double quote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print("She said \"hi\"")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\'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single quote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print('It\'s here')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210312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45552" y="223113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7"/>
          <p:cNvSpPr/>
          <p:nvPr/>
        </p:nvSpPr>
        <p:spPr>
          <a:xfrm>
            <a:off x="8046720" y="223113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Shape 8"/>
          <p:cNvSpPr/>
          <p:nvPr/>
        </p:nvSpPr>
        <p:spPr>
          <a:xfrm>
            <a:off x="8247888" y="223113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2" name="Text 9"/>
          <p:cNvSpPr/>
          <p:nvPr/>
        </p:nvSpPr>
        <p:spPr>
          <a:xfrm>
            <a:off x="7882128" y="2468880"/>
            <a:ext cx="362102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24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"Hi\nBye"</a:t>
            </a:r>
            <a:r>
              <a:rPr lang="en-US" sz="24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24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"Name:\tRiya"</a:t>
            </a:r>
            <a:r>
              <a:rPr lang="en-US" sz="24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Riya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Syntax of input()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simpler than print() — one optional argument, one guaranteed return type.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9A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variable_name</a:t>
            </a:r>
            <a:r>
              <a:rPr lang="en-US" sz="24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2400" b="1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24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4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24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1F4F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7490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C25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string shown to the user before they type. Skip it and Python waits silently.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51960" y="35204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1F4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3749040"/>
            <a:ext cx="1691640" cy="594360"/>
          </a:xfrm>
          <a:prstGeom prst="roundRect">
            <a:avLst>
              <a:gd name="adj" fmla="val 15000"/>
            </a:avLst>
          </a:prstGeom>
          <a:solidFill>
            <a:srgbClr val="9AD0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value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26280" y="42519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hands back a str — the exact text the user typed, nothing more</a:t>
            </a: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5204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1F4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37490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1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21040" y="42519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program halts at this line until the user presses Enter.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 — A Basic Example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pauses the program and waits for the user to type something and press Enter</a:t>
            </a: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32257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2257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32257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60320"/>
            <a:ext cx="62727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input(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"Which city are you from? "</a:t>
            </a: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20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city are you from? </a:t>
            </a: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Vadodara</a:t>
            </a:r>
            <a:endParaRPr lang="en-US" sz="2000" dirty="0"/>
          </a:p>
          <a:p>
            <a:pPr marL="0" indent="0" algn="just">
              <a:lnSpc>
                <a:spcPct val="13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20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"Nice! I have heard great things about"</a:t>
            </a:r>
            <a:r>
              <a:rPr lang="en-US" sz="20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city)</a:t>
            </a:r>
            <a:endParaRPr lang="en-US" sz="20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20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Nice! I have heard great things about Vadodara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06640" y="2194560"/>
            <a:ext cx="4297680" cy="3657600"/>
          </a:xfrm>
          <a:prstGeom prst="roundRect">
            <a:avLst>
              <a:gd name="adj" fmla="val 3000"/>
            </a:avLst>
          </a:prstGeom>
          <a:solidFill>
            <a:srgbClr val="F1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displays the prompt string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80960" y="34015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pauses at this exact line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0960" y="396849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text and presses Enter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80960" y="475662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text is stored in city as a string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SYNTAX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 Always Returns a String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user types a number, Python stores it as text — this trips up almost every beginner once</a:t>
            </a: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6309360" cy="36576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0A0E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32257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2257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322576"/>
            <a:ext cx="100584" cy="100584"/>
          </a:xfrm>
          <a:prstGeom prst="ellipse">
            <a:avLst/>
          </a:prstGeom>
          <a:solidFill>
            <a:srgbClr val="6FE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60320"/>
            <a:ext cx="5907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</a:t>
            </a:r>
            <a:r>
              <a:rPr lang="en-US" sz="2400" dirty="0">
                <a:solidFill>
                  <a:srgbClr val="FFC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your age: "</a:t>
            </a:r>
            <a:r>
              <a:rPr lang="en-US" sz="24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8AA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age: </a:t>
            </a: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 only concatenate str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 "int") to str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949440" y="2194560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FFF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2834640"/>
            <a:ext cx="4206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5000"/>
              </a:lnSpc>
              <a:buNone/>
            </a:pPr>
            <a:r>
              <a:rPr lang="en-US" sz="2000" dirty="0">
                <a:solidFill>
                  <a:srgbClr val="5C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holds the text "19", not the number 19 — they look identical on screen but behave completely differently. Python cannot add a whole number to text, so it raises a TypeError the moment you try.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(SLS) Baroda University   |   School of Computer Science, Engineering &amp; Technology (SoCSET)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BEFORE HOW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id() and type()?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variables are just labels pointing to objects in memory. Two big questions naturally follow: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7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60" dirty="0"/>
          </a:p>
        </p:txBody>
      </p:sp>
      <p:sp>
        <p:nvSpPr>
          <p:cNvPr id="9" name="Text 7"/>
          <p:cNvSpPr/>
          <p:nvPr/>
        </p:nvSpPr>
        <p:spPr>
          <a:xfrm>
            <a:off x="160020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box is this?"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lives at a unique memory location. Python's memory manager creates and reclaims these boxes as your program runs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id()</a:t>
            </a: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answers: which memory box holds this value, right now?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7F9FB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606040"/>
            <a:ext cx="640080" cy="64008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960" dirty="0"/>
          </a:p>
        </p:txBody>
      </p:sp>
      <p:sp>
        <p:nvSpPr>
          <p:cNvPr id="15" name="Text 13"/>
          <p:cNvSpPr/>
          <p:nvPr/>
        </p:nvSpPr>
        <p:spPr>
          <a:xfrm>
            <a:off x="745236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"What's inside the box?"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59880" y="3454017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— a variable can hold an int today and a string tomorrow. The interpreter must always know an object's type to operate on it correctly.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29400" y="4617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answers: what kind of value is stored in this box?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id() and type()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type() — Definition &amp; Syntax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type(object)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class (type) of the given object</a:t>
            </a: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in Python is an object — even numbers and functions.</a:t>
            </a:r>
            <a:endParaRPr lang="en-US" sz="2000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called with ONE argument returns that object's class.</a:t>
            </a:r>
            <a:endParaRPr lang="en-US" sz="2000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value itself is a type object, e.g. &lt;class 'int'&gt;.</a:t>
            </a:r>
            <a:endParaRPr lang="en-US" sz="2000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for debugging, validation, and dynamic dispatch.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78040" y="1691640"/>
            <a:ext cx="4553712" cy="2834640"/>
          </a:xfrm>
          <a:prstGeom prst="roundRect">
            <a:avLst>
              <a:gd name="adj" fmla="val 2581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1828800"/>
            <a:ext cx="4096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city = "Ahmedabad"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type(city)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type(city) == str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178040" y="4754880"/>
            <a:ext cx="4553712" cy="1417320"/>
          </a:xfrm>
          <a:prstGeom prst="roundRect">
            <a:avLst>
              <a:gd name="adj" fmla="val 6452"/>
            </a:avLst>
          </a:prstGeom>
          <a:solidFill>
            <a:srgbClr val="F4A300">
              <a:alpha val="12000"/>
            </a:srgbClr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86460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with three arguments type(name, bases, dict) dynamically CREATES a new class — a different, advanced use (not covered today).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id() and type()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type() in Action — Mixed Data Types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724912" cy="3337560"/>
          </a:xfrm>
          <a:prstGeom prst="roundRect">
            <a:avLst>
              <a:gd name="adj" fmla="val 2685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68880"/>
            <a:ext cx="2267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pincode = 390001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type(pincode)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38144" y="1737360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38144" y="17373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38144" y="2331720"/>
            <a:ext cx="2724912" cy="3337560"/>
          </a:xfrm>
          <a:prstGeom prst="roundRect">
            <a:avLst>
              <a:gd name="adj" fmla="val 2685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66744" y="2468880"/>
            <a:ext cx="2267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student_name = "Aarav"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type(student_name)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19088" y="1737360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17373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19088" y="2331720"/>
            <a:ext cx="2724912" cy="3337560"/>
          </a:xfrm>
          <a:prstGeom prst="roundRect">
            <a:avLst>
              <a:gd name="adj" fmla="val 2685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47688" y="2468880"/>
            <a:ext cx="2267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marks = [78, 85, 91]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type(marks)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'list'&gt;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400032" y="1737360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400032" y="17373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00032" y="2331720"/>
            <a:ext cx="2724912" cy="3337560"/>
          </a:xfrm>
          <a:prstGeom prst="roundRect">
            <a:avLst>
              <a:gd name="adj" fmla="val 2685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28632" y="2468880"/>
            <a:ext cx="2267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student = {"name": "Aarav",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 "city": "Ahmedabad"}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type(student)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'dict'&gt;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id() and type()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id() — Definition &amp; Syntax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E4F4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id(object)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unique integer identifier for the object, constant for its lifetime.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objects that exist at the same time share an id().</a:t>
            </a:r>
            <a:endParaRPr lang="en-US" sz="2000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CPython (the standard implementation), id() is the object's memory address.</a:t>
            </a:r>
            <a:endParaRPr lang="en-US" sz="2000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 is only guaranteed unique WHILE the object is alive — once garbage-collected, that id can be reused.</a:t>
            </a:r>
            <a:endParaRPr lang="en-US" sz="2000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can share the same id if they refer to the SAME object.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78040" y="1691640"/>
            <a:ext cx="4553712" cy="2834640"/>
          </a:xfrm>
          <a:prstGeom prst="roundRect">
            <a:avLst>
              <a:gd name="adj" fmla="val 2581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1828800"/>
            <a:ext cx="4096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aadhaar_holder = "Priya Sharma"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id(aadhaar_holder)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140724930012144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large integer -- like a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memory "house number"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id() and type()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id() in Action — Comparing Variables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1: same value assigned to two names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city1 = "Vadodara"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city2 = "Vadodara"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id(city1) == id(city2)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 2: same object, two labels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roll_no = [101, 102, 103]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backup = roll_no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id(roll_no) == id(backup)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98348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512064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 3: equal VALUES, but different objects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marks_a = [78, 85, 91]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marks_b = [78, 85, 91]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id(marks_a) == id(marks_b)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id() and type()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in Python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classifies what kind of value is stored and which operations apply to it</a:t>
            </a:r>
            <a:endParaRPr lang="en-US" sz="28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everything in Python is an object, data types are actually classes and variables are instances of them</a:t>
            </a:r>
            <a:endParaRPr lang="en-US" sz="28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standard built-in data types:</a:t>
            </a:r>
            <a:endParaRPr lang="en-US" sz="2800" dirty="0"/>
          </a:p>
          <a:p>
            <a:pPr marL="457200" lvl="1" indent="-2286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 •  Sequence Type  •  Boolean  •  Set  •  Dictionary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BEFORE HOW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a Language Need Data Types?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tells Python three things about a value: how much memory to reserve, what operations are valid, and how to interpret the raw bits</a:t>
            </a: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7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432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9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int, a float, and a long string need very different amounts of storage. The type tells Python how many bytes to allocate.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51960" y="24231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7F9FB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743200"/>
            <a:ext cx="594360" cy="5943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90" dirty="0"/>
          </a:p>
        </p:txBody>
      </p:sp>
      <p:sp>
        <p:nvSpPr>
          <p:cNvPr id="14" name="Text 12"/>
          <p:cNvSpPr/>
          <p:nvPr/>
        </p:nvSpPr>
        <p:spPr>
          <a:xfrm>
            <a:off x="45262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9776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"390001" + "001" concatenates text, but 390001 + 1 adds numbers. The type decides what + , - , * actually do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4231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7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743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9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9776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types incorrectly (e.g. adding a string fee to a numeric fee) raises errors early -- catching mistakes before they become bugs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Data Types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w To Declare Data Type in Python ...">
            <a:extLst>
              <a:ext uri="{FF2B5EF4-FFF2-40B4-BE49-F238E27FC236}">
                <a16:creationId xmlns:a16="http://schemas.microsoft.com/office/drawing/2014/main" id="{8D0064AE-3EE3-618A-373D-7CF60889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284" y="885375"/>
            <a:ext cx="5740538" cy="449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653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Python's Built-in Data Types — The 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028090">
              <a:alpha val="1200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47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int, float, complex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4A300">
              <a:alpha val="12000"/>
            </a:srgbClr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47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E2761">
              <a:alpha val="12000"/>
            </a:srgbClr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8275320" y="1947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list, tuple, range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028090">
              <a:alpha val="1200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51960" y="34290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4A300">
              <a:alpha val="12000"/>
            </a:srgbClr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set, frozenset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46720" y="34290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E2761">
              <a:alpha val="12000"/>
            </a:srgbClr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7532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4A300">
              <a:alpha val="12000"/>
            </a:srgbClr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120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special value:  </a:t>
            </a: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represents "no value", its own type NoneType.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Data Types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Numeric, Sequence &amp; Boolean Types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— int, float, complex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positive/negative whole numbers, unlimited size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real numbers with a decimal point (or scientific notation using e/E)</a:t>
            </a:r>
            <a:endParaRPr lang="en-US" sz="2800" dirty="0"/>
          </a:p>
          <a:p>
            <a:pPr marL="457200" lvl="1" indent="-228600" algn="just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complex: written as (real) + (imaginary)j, e.g. 2 + 3j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Type — ordered collections: String, List, Tuple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— bool, with values True or False (capitalized) only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type() to confirm the data type of any object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int, float, complex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whole numbers, positive or negative, no size limit (e.g. roll_no).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real numbers with a decimal point (e.g. cgpa, fees with paise).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— numbers with a real and imaginary part: a + bj (rare in intro courses).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3657600" cy="2880360"/>
          </a:xfrm>
          <a:prstGeom prst="roundRect">
            <a:avLst>
              <a:gd name="adj" fmla="val 2540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38328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roll_no = 45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type(roll_no)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cgpa = 8.75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type(cgpa)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51960" y="3246120"/>
            <a:ext cx="3657600" cy="2880360"/>
          </a:xfrm>
          <a:prstGeom prst="roundRect">
            <a:avLst>
              <a:gd name="adj" fmla="val 2540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338328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fees = 125000.50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hostel_fee = 45000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total = fees + hostel_fee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total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170000.5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type(total)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046720" y="3246120"/>
            <a:ext cx="3657600" cy="2880360"/>
          </a:xfrm>
          <a:prstGeom prst="roundRect">
            <a:avLst>
              <a:gd name="adj" fmla="val 2540"/>
            </a:avLst>
          </a:prstGeom>
          <a:solidFill>
            <a:srgbClr val="0D2B33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338328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signal = 3 + 4j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type(signal)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'complex'&gt;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signal.real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signal.imag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E8F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int + float always promotes the result to float (see Example 2).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Python-I  |  C2111C1  |  Data Types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Mutable vs Immutable Objects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32588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3F5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Mutable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changed in place after creation — same object, same memory id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list, dict, set, byte array</a:t>
            </a:r>
            <a:endParaRPr lang="en-US" sz="28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lst.append(1) modifies the same list object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changed after creation — any "change" creates a new object</a:t>
            </a:r>
            <a:endParaRPr lang="en-US" sz="28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int, float, complex, string, tuple, frozenset, bytes</a:t>
            </a:r>
            <a:endParaRPr lang="en-US" sz="28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 = s + "x" creates a brand-new string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4B229B-1675-C1E8-11F5-1D47D2821A5B}"/>
              </a:ext>
            </a:extLst>
          </p:cNvPr>
          <p:cNvSpPr txBox="1"/>
          <p:nvPr/>
        </p:nvSpPr>
        <p:spPr>
          <a:xfrm>
            <a:off x="319176" y="492299"/>
            <a:ext cx="11559397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b="0" u="none" strike="noStrike" dirty="0">
                <a:effectLst/>
              </a:rPr>
              <a:t>A mutable object allows you to change, add, or remove its contents without changing its unique memory identity (id()). </a:t>
            </a:r>
          </a:p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b="1" u="none" strike="noStrike" dirty="0">
                <a:effectLst/>
              </a:rPr>
              <a:t>Example using a List</a:t>
            </a:r>
            <a:endParaRPr lang="en-IN" b="0" u="none" strike="noStrike" dirty="0">
              <a:effectLst/>
            </a:endParaRP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>
                <a:effectLst/>
              </a:rPr>
              <a:t># Create a mutable list</a:t>
            </a: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 err="1">
                <a:effectLst/>
              </a:rPr>
              <a:t>my_list</a:t>
            </a:r>
            <a:r>
              <a:rPr lang="en-IN" b="0" u="none" strike="noStrike" dirty="0">
                <a:effectLst/>
              </a:rPr>
              <a:t> = [1, 2, 3]</a:t>
            </a: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>
                <a:effectLst/>
              </a:rPr>
              <a:t>print("Original ID:", id(</a:t>
            </a:r>
            <a:r>
              <a:rPr lang="en-IN" b="0" u="none" strike="noStrike" dirty="0" err="1">
                <a:effectLst/>
              </a:rPr>
              <a:t>my_list</a:t>
            </a:r>
            <a:r>
              <a:rPr lang="en-IN" b="0" u="none" strike="noStrike" dirty="0">
                <a:effectLst/>
              </a:rPr>
              <a:t>))  # Example: 140228392</a:t>
            </a: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>
                <a:effectLst/>
              </a:rPr>
              <a:t># Modify an element in-place</a:t>
            </a: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 err="1">
                <a:effectLst/>
              </a:rPr>
              <a:t>my_list</a:t>
            </a:r>
            <a:r>
              <a:rPr lang="en-IN" b="0" u="none" strike="noStrike" dirty="0">
                <a:effectLst/>
              </a:rPr>
              <a:t>[0] = 99</a:t>
            </a: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 err="1">
                <a:effectLst/>
              </a:rPr>
              <a:t>my_list.append</a:t>
            </a:r>
            <a:r>
              <a:rPr lang="en-IN" b="0" u="none" strike="noStrike" dirty="0">
                <a:effectLst/>
              </a:rPr>
              <a:t>(4)</a:t>
            </a: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>
                <a:effectLst/>
              </a:rPr>
              <a:t>print("Modified List:", </a:t>
            </a:r>
            <a:r>
              <a:rPr lang="en-IN" b="0" u="none" strike="noStrike" dirty="0" err="1">
                <a:effectLst/>
              </a:rPr>
              <a:t>my_list</a:t>
            </a:r>
            <a:r>
              <a:rPr lang="en-IN" b="0" u="none" strike="noStrike" dirty="0">
                <a:effectLst/>
              </a:rPr>
              <a:t>)    # Output: [99, 2, 3, 4]</a:t>
            </a:r>
          </a:p>
          <a:p>
            <a:pPr marL="0" marR="0" algn="just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b="0" u="none" strike="noStrike" dirty="0">
                <a:effectLst/>
              </a:rPr>
              <a:t>print("Same ID? :", id(</a:t>
            </a:r>
            <a:r>
              <a:rPr lang="en-IN" b="0" u="none" strike="noStrike" dirty="0" err="1">
                <a:effectLst/>
              </a:rPr>
              <a:t>my_list</a:t>
            </a:r>
            <a:r>
              <a:rPr lang="en-IN" b="0" u="none" strike="noStrike" dirty="0">
                <a:effectLst/>
              </a:rPr>
              <a:t>))      # Example: 140228392 (The ID did not change)</a:t>
            </a:r>
          </a:p>
        </p:txBody>
      </p:sp>
    </p:spTree>
    <p:extLst>
      <p:ext uri="{BB962C8B-B14F-4D97-AF65-F5344CB8AC3E}">
        <p14:creationId xmlns:p14="http://schemas.microsoft.com/office/powerpoint/2010/main" val="42374352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9F4624-D378-10EE-AF52-305AE7AD5A9A}"/>
              </a:ext>
            </a:extLst>
          </p:cNvPr>
          <p:cNvSpPr txBox="1"/>
          <p:nvPr/>
        </p:nvSpPr>
        <p:spPr>
          <a:xfrm>
            <a:off x="810883" y="680874"/>
            <a:ext cx="10351698" cy="586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600" b="0" u="none" strike="noStrike" dirty="0">
                <a:effectLst/>
              </a:rPr>
              <a:t>An immutable object cannot be modified once it is created. If you try to perform an operation that alters its value, Python will automatically spawn a new object at a completely different memory address. 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600" b="1" u="none" strike="noStrike" dirty="0">
                <a:effectLst/>
              </a:rPr>
              <a:t>Example using a String</a:t>
            </a:r>
            <a:endParaRPr lang="en-IN" sz="1600" b="0" u="none" strike="noStrike" dirty="0">
              <a:effectLst/>
            </a:endParaRP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>
                <a:effectLst/>
              </a:rPr>
              <a:t># Create an immutable string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 err="1">
                <a:effectLst/>
              </a:rPr>
              <a:t>my_string</a:t>
            </a:r>
            <a:r>
              <a:rPr lang="en-IN" sz="1600" b="0" u="none" strike="noStrike" dirty="0">
                <a:effectLst/>
              </a:rPr>
              <a:t> = "Hello"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>
                <a:effectLst/>
              </a:rPr>
              <a:t>print("Original ID:", id(</a:t>
            </a:r>
            <a:r>
              <a:rPr lang="en-IN" sz="1600" b="0" u="none" strike="noStrike" dirty="0" err="1">
                <a:effectLst/>
              </a:rPr>
              <a:t>my_string</a:t>
            </a:r>
            <a:r>
              <a:rPr lang="en-IN" sz="1600" b="0" u="none" strike="noStrike" dirty="0">
                <a:effectLst/>
              </a:rPr>
              <a:t>))  # Example: 140559200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>
                <a:effectLst/>
              </a:rPr>
              <a:t># Attempting direct modification will crash your code: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>
                <a:effectLst/>
              </a:rPr>
              <a:t># </a:t>
            </a:r>
            <a:r>
              <a:rPr lang="en-IN" sz="1600" b="0" u="none" strike="noStrike" dirty="0" err="1">
                <a:effectLst/>
              </a:rPr>
              <a:t>my_string</a:t>
            </a:r>
            <a:r>
              <a:rPr lang="en-IN" sz="1600" b="0" u="none" strike="noStrike" dirty="0">
                <a:effectLst/>
              </a:rPr>
              <a:t>[0] = 'Y' -&gt; Throws a </a:t>
            </a:r>
            <a:r>
              <a:rPr lang="en-IN" sz="1600" b="0" u="none" strike="noStrike" dirty="0" err="1">
                <a:effectLst/>
              </a:rPr>
              <a:t>TypeError</a:t>
            </a:r>
            <a:r>
              <a:rPr lang="en-IN" sz="1600" b="0" u="none" strike="noStrike" dirty="0">
                <a:effectLst/>
              </a:rPr>
              <a:t>!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>
                <a:effectLst/>
              </a:rPr>
              <a:t># Modifying via concatenation creates a new object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 err="1">
                <a:effectLst/>
              </a:rPr>
              <a:t>my_string</a:t>
            </a:r>
            <a:r>
              <a:rPr lang="en-IN" sz="1600" b="0" u="none" strike="noStrike" dirty="0">
                <a:effectLst/>
              </a:rPr>
              <a:t> = </a:t>
            </a:r>
            <a:r>
              <a:rPr lang="en-IN" sz="1600" b="0" u="none" strike="noStrike" dirty="0" err="1">
                <a:effectLst/>
              </a:rPr>
              <a:t>my_string</a:t>
            </a:r>
            <a:r>
              <a:rPr lang="en-IN" sz="1600" b="0" u="none" strike="noStrike" dirty="0">
                <a:effectLst/>
              </a:rPr>
              <a:t> + " World"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>
                <a:effectLst/>
              </a:rPr>
              <a:t>print("New String:", </a:t>
            </a:r>
            <a:r>
              <a:rPr lang="en-IN" sz="1600" b="0" u="none" strike="noStrike" dirty="0" err="1">
                <a:effectLst/>
              </a:rPr>
              <a:t>my_string</a:t>
            </a:r>
            <a:r>
              <a:rPr lang="en-IN" sz="1600" b="0" u="none" strike="noStrike" dirty="0">
                <a:effectLst/>
              </a:rPr>
              <a:t>)      # Output: Hello World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IN" sz="1600" b="0" u="none" strike="noStrike" dirty="0">
                <a:effectLst/>
              </a:rPr>
              <a:t>print("New ID:", id(</a:t>
            </a:r>
            <a:r>
              <a:rPr lang="en-IN" sz="1600" b="0" u="none" strike="noStrike" dirty="0" err="1">
                <a:effectLst/>
              </a:rPr>
              <a:t>my_string</a:t>
            </a:r>
            <a:r>
              <a:rPr lang="en-IN" sz="1600" b="0" u="none" strike="noStrike" dirty="0">
                <a:effectLst/>
              </a:rPr>
              <a:t>))       # Example: 140559850 (The ID changed!)</a:t>
            </a:r>
          </a:p>
        </p:txBody>
      </p:sp>
    </p:spTree>
    <p:extLst>
      <p:ext uri="{BB962C8B-B14F-4D97-AF65-F5344CB8AC3E}">
        <p14:creationId xmlns:p14="http://schemas.microsoft.com/office/powerpoint/2010/main" val="31367206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Mutability at a Glance</a:t>
            </a:r>
            <a:endParaRPr lang="en-US" sz="2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577729"/>
              </p:ext>
            </p:extLst>
          </p:nvPr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change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float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Immutable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+ 1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object created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Immutable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s + "x"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string created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Immutable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allowed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if attempted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frozenset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Immutable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allowed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if attempted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Mutable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lst.append(1)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object modified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dictionary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Mutable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d["x"] = 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object modified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Mutable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s.add(3)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object modified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DF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Strings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indexing, slicing, formatting, and manipulating 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String?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sequence of characters — e.g. English has 26 letters, but computers store everything as binary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a string is an immutable sequence of Unicode code points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cannot be changed in place — any "change" returns a brand-new string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Python str is Unicode, it can represent Hindi, emojis, accented characters, and more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String?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</a:t>
            </a: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characters</a:t>
            </a:r>
            <a:r>
              <a:rPr lang="en-US" sz="2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letters, digits, symbols, or spaces — enclosed in quotes.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1097280" y="25786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620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created, a string's characters cannot be changed in place</a:t>
            </a: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1097280" y="34930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7764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has a fixed position (index), starting from 0.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1097280" y="44074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type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46908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data type for text is called str.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46520" y="14173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11112" y="15453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15453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15453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5179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quote_styles.py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02552" y="1801368"/>
            <a:ext cx="47000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02552" y="1801368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Three ways to write a string
</a:t>
            </a: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= 'Vadodara'
city    = "Ahmedabad"
quote   = '''Truth alone
triumphs, not falsehood'''
print(type(name))
</a:t>
            </a:r>
            <a:r>
              <a:rPr lang="en-US" sz="20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&lt;class 'str'&gt;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&amp;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Strings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text to a variable using = and any matching pair of quotes.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2258568"/>
            <a:ext cx="497433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" y="1883146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single_quote  = 'Gujarat'
double_quote  = "Baroda University"
empty_string  = ''
</a:t>
            </a:r>
            <a:r>
              <a:rPr lang="en-US" sz="14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Multi-line string with triple quotes
</a:t>
            </a: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= '''ITM (SLS) Baroda University
Vadodara, Gujarat'''
print(single_quote)
print(address)
</a:t>
            </a:r>
            <a:r>
              <a:rPr lang="en-US" sz="14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
</a:t>
            </a: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Gujarat
# ITM (SLS) Baroda University
# Vadodara, Gujarat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18745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quote should I use?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2606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double quotes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2880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text itself contains an apostrophe: "It's a demo"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474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single quotes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3749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 for short, simple text.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triple quotes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4617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text spanning multiple lines, or docstrings.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+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Indexing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in a string has a position number called an </a:t>
            </a: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2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Python supports both positive (left→right) and negative (right→left) indices.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610612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610612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610612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10612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8436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8843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88436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88436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6260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36626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66260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6260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44084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244084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44084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44084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1908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21908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21908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1908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99732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999732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99732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9732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77556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87755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877556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77556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755380" y="24688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87553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755380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55380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5236" y="2093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 →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595360" y="33675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Negative index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737360" y="4160520"/>
            <a:ext cx="8686800" cy="1965960"/>
          </a:xfrm>
          <a:prstGeom prst="roundRect">
            <a:avLst>
              <a:gd name="adj" fmla="val 372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901952" y="42885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1" name="Shape 39"/>
          <p:cNvSpPr/>
          <p:nvPr/>
        </p:nvSpPr>
        <p:spPr>
          <a:xfrm>
            <a:off x="2103120" y="42885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04288" y="42885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43" name="Text 41"/>
          <p:cNvSpPr/>
          <p:nvPr/>
        </p:nvSpPr>
        <p:spPr>
          <a:xfrm>
            <a:off x="2560320" y="4261104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indexing.py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993392" y="4544568"/>
            <a:ext cx="8174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993392" y="4553712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"VADODARA"
print(city[0])     </a:t>
            </a:r>
            <a:r>
              <a:rPr lang="en-US" sz="20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  (first character)
</a:t>
            </a: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print(city[3])     </a:t>
            </a:r>
            <a:r>
              <a:rPr lang="en-US" sz="20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
</a:t>
            </a: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print(city[-1])    </a:t>
            </a:r>
            <a:r>
              <a:rPr lang="en-US" sz="20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(last character)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Characters — Example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0" cy="4663440"/>
          </a:xfrm>
          <a:prstGeom prst="roundRect">
            <a:avLst>
              <a:gd name="adj" fmla="val 1176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0934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160934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Shape 6"/>
          <p:cNvSpPr/>
          <p:nvPr/>
        </p:nvSpPr>
        <p:spPr>
          <a:xfrm>
            <a:off x="1216152" y="16093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10424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'python_program'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 =', s)          # s = python_program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print('s[0] =', s[0])    # first character -&gt; p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print('s[-1] =', s[-1])  # last character  -&gt; m</a:t>
            </a: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print(‘s[2] =‘, s[2])  # </a:t>
            </a: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print(‘s[-3] =', s[-3])  #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Strings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3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extracts a substring using the [start:stop:step] operator</a:t>
            </a:r>
            <a:endParaRPr lang="en-US" sz="32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3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index where slicing begins (inclusive); default is 0</a:t>
            </a:r>
            <a:endParaRPr lang="en-US" sz="32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3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index where slicing ends (exclusive); default is the string's length</a:t>
            </a:r>
            <a:endParaRPr lang="en-US" sz="3200" dirty="0"/>
          </a:p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3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— how many characters to jump each time (stride); default is 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SUBSTRINGS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Slicing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</a:t>
            </a:r>
            <a:r>
              <a:rPr lang="en-US" sz="28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string[start : stop : step]</a:t>
            </a: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stop is excluded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53212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55117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55117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55117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523744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slicing.py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807208"/>
            <a:ext cx="502005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4672" y="2807208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 = "ITM BARODA"
place[0:3]      </a:t>
            </a:r>
            <a:r>
              <a:rPr lang="en-US" sz="20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'ITM'
</a:t>
            </a: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place[4:]       </a:t>
            </a:r>
            <a:r>
              <a:rPr lang="en-US" sz="20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'BARODA'
</a:t>
            </a: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place[:3]       </a:t>
            </a:r>
            <a:r>
              <a:rPr lang="en-US" sz="20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'ITM'
</a:t>
            </a: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place[::-1]     </a:t>
            </a:r>
            <a:r>
              <a:rPr lang="en-US" sz="20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reversed string
</a:t>
            </a: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place[::2]      </a:t>
            </a:r>
            <a:r>
              <a:rPr lang="en-US" sz="20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2nd char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4231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651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slice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32004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to begin from (included). Default: 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409651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096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4078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4343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to stop before (excluded). Default: end of string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83680" y="499262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9743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86600" y="5239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characters to skip. Default: 1; use -1 to reverse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ython.&#10;&#10;AI-generated content may be incorrect.">
            <a:extLst>
              <a:ext uri="{FF2B5EF4-FFF2-40B4-BE49-F238E27FC236}">
                <a16:creationId xmlns:a16="http://schemas.microsoft.com/office/drawing/2014/main" id="{A01AB9E4-A3BD-0697-B837-84B98619C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32" y="955590"/>
            <a:ext cx="7925906" cy="771633"/>
          </a:xfrm>
          <a:prstGeom prst="rect">
            <a:avLst/>
          </a:prstGeom>
        </p:spPr>
      </p:pic>
      <p:pic>
        <p:nvPicPr>
          <p:cNvPr id="5" name="Picture 4" descr="The image depicts a code snippet explaining how to slice strings in Python, specifically showing examples of extracting a range of characters and slicing from the beginning.&#10;&#10;AI-generated content may be incorrect.">
            <a:extLst>
              <a:ext uri="{FF2B5EF4-FFF2-40B4-BE49-F238E27FC236}">
                <a16:creationId xmlns:a16="http://schemas.microsoft.com/office/drawing/2014/main" id="{BAF03876-8FCA-DB95-F8E6-4F22DD7DF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32" y="1836021"/>
            <a:ext cx="9735909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301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text description of how to slice a string in Python, specifically how to extract parts of it using indices and the step parameter.&#10;&#10;AI-generated content may be incorrect.">
            <a:extLst>
              <a:ext uri="{FF2B5EF4-FFF2-40B4-BE49-F238E27FC236}">
                <a16:creationId xmlns:a16="http://schemas.microsoft.com/office/drawing/2014/main" id="{92CA7318-C05F-AA4A-63F5-29973892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37" y="672682"/>
            <a:ext cx="9459645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13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ython&#10;&#10;AI-generated content may be incorrect.">
            <a:extLst>
              <a:ext uri="{FF2B5EF4-FFF2-40B4-BE49-F238E27FC236}">
                <a16:creationId xmlns:a16="http://schemas.microsoft.com/office/drawing/2014/main" id="{0A180AC1-46C4-2F3C-9EA2-12E50A56C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97" y="503681"/>
            <a:ext cx="8487960" cy="933580"/>
          </a:xfrm>
          <a:prstGeom prst="rect">
            <a:avLst/>
          </a:prstGeom>
        </p:spPr>
      </p:pic>
      <p:pic>
        <p:nvPicPr>
          <p:cNvPr id="5" name="Picture 4" descr="The image displays a snippet of Python code demonstrating how to extract substrings from a string.&#10;&#10;AI-generated content may be incorrect.">
            <a:extLst>
              <a:ext uri="{FF2B5EF4-FFF2-40B4-BE49-F238E27FC236}">
                <a16:creationId xmlns:a16="http://schemas.microsoft.com/office/drawing/2014/main" id="{707205A4-B083-19A2-1006-965CD6F7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19" y="1890961"/>
            <a:ext cx="8335538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036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ython&#10;&#10;AI-generated content may be incorrect.">
            <a:extLst>
              <a:ext uri="{FF2B5EF4-FFF2-40B4-BE49-F238E27FC236}">
                <a16:creationId xmlns:a16="http://schemas.microsoft.com/office/drawing/2014/main" id="{16DA9316-AA8C-D025-E83B-B5F597DC9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82" y="1295102"/>
            <a:ext cx="10107436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290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ogramming&#10;&#10;AI-generated content may be incorrect.">
            <a:extLst>
              <a:ext uri="{FF2B5EF4-FFF2-40B4-BE49-F238E27FC236}">
                <a16:creationId xmlns:a16="http://schemas.microsoft.com/office/drawing/2014/main" id="{13FF0AC3-0F4A-613D-A51C-2F591440D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19" y="647521"/>
            <a:ext cx="7964011" cy="1267002"/>
          </a:xfrm>
          <a:prstGeom prst="rect">
            <a:avLst/>
          </a:prstGeom>
        </p:spPr>
      </p:pic>
      <p:pic>
        <p:nvPicPr>
          <p:cNvPr id="5" name="Picture 4" descr="The image displays two code examples demonstrating how to extract every second character from a string, one reading left-to-right and the other right-to-left.&#10;&#10;AI-generated content may be incorrect.">
            <a:extLst>
              <a:ext uri="{FF2B5EF4-FFF2-40B4-BE49-F238E27FC236}">
                <a16:creationId xmlns:a16="http://schemas.microsoft.com/office/drawing/2014/main" id="{1BC69074-B153-2270-A6AB-25F44A1B1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8" y="2120383"/>
            <a:ext cx="11650701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374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table with positions numbered from 0 to 9, characters 'G', 'O', 'd', 'e', 'n', 'G', 'a', 't', 'e', and negative indices from -10 to -2.&#10;&#10;AI-generated content may be incorrect.">
            <a:extLst>
              <a:ext uri="{FF2B5EF4-FFF2-40B4-BE49-F238E27FC236}">
                <a16:creationId xmlns:a16="http://schemas.microsoft.com/office/drawing/2014/main" id="{014BDD40-F4E5-E11B-E933-AD8259072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32" y="578665"/>
            <a:ext cx="8125959" cy="1629002"/>
          </a:xfrm>
          <a:prstGeom prst="rect">
            <a:avLst/>
          </a:prstGeom>
        </p:spPr>
      </p:pic>
      <p:pic>
        <p:nvPicPr>
          <p:cNvPr id="5" name="Picture 4" descr="GoldenGate&#10;&#10;AI-generated content may be incorrect.">
            <a:extLst>
              <a:ext uri="{FF2B5EF4-FFF2-40B4-BE49-F238E27FC236}">
                <a16:creationId xmlns:a16="http://schemas.microsoft.com/office/drawing/2014/main" id="{D004DE04-B169-1484-8064-3BCE30A49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98" y="2285305"/>
            <a:ext cx="10311370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553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— Worked Examples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0" cy="4663440"/>
          </a:xfrm>
          <a:prstGeom prst="roundRect">
            <a:avLst>
              <a:gd name="adj" fmla="val 1176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0934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160934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Shape 6"/>
          <p:cNvSpPr/>
          <p:nvPr/>
        </p:nvSpPr>
        <p:spPr>
          <a:xfrm>
            <a:off x="1216152" y="16093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10424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"Hello, World!"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print(b[1:5])     #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print(b[:5])      #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print(b[2:])      #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number_string = "1020304050"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print(number_string[0:-1:2])  #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print(number_string[::-1])    # 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40D8-EBAC-C52D-4317-DCB59B2EE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DDAF76-598A-ECF8-1E6A-ACB2A3218F36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RULE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56F7CA-754E-61D9-E805-EB7C9981C561}"/>
              </a:ext>
            </a:extLst>
          </p:cNvPr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Are Immutable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A50142-2D50-557F-5C31-A0D0329A76AC}"/>
              </a:ext>
            </a:extLst>
          </p:cNvPr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string is created, its characters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changed in place</a:t>
            </a: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Any "modification" actually creates a brand-new string.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BCEF8F-D94D-3EBE-DDAE-3047F945FB28}"/>
              </a:ext>
            </a:extLst>
          </p:cNvPr>
          <p:cNvSpPr/>
          <p:nvPr/>
        </p:nvSpPr>
        <p:spPr>
          <a:xfrm>
            <a:off x="548640" y="21488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1387C3C-B95B-7B7C-775B-F4283882ECE9}"/>
              </a:ext>
            </a:extLst>
          </p:cNvPr>
          <p:cNvSpPr/>
          <p:nvPr/>
        </p:nvSpPr>
        <p:spPr>
          <a:xfrm>
            <a:off x="713232" y="22768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8A4EBA-3375-0116-8071-3692B0CBDAE4}"/>
              </a:ext>
            </a:extLst>
          </p:cNvPr>
          <p:cNvSpPr/>
          <p:nvPr/>
        </p:nvSpPr>
        <p:spPr>
          <a:xfrm>
            <a:off x="914400" y="22768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6C18C4-1232-5331-B326-F6EC3F34D2F3}"/>
              </a:ext>
            </a:extLst>
          </p:cNvPr>
          <p:cNvSpPr/>
          <p:nvPr/>
        </p:nvSpPr>
        <p:spPr>
          <a:xfrm>
            <a:off x="1115568" y="22768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43702B-4DC4-19DE-557C-843329B20FCD}"/>
              </a:ext>
            </a:extLst>
          </p:cNvPr>
          <p:cNvSpPr/>
          <p:nvPr/>
        </p:nvSpPr>
        <p:spPr>
          <a:xfrm>
            <a:off x="804672" y="2532888"/>
            <a:ext cx="48828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8DB91C-9D3F-24E8-9299-0F412FEC96BE}"/>
              </a:ext>
            </a:extLst>
          </p:cNvPr>
          <p:cNvSpPr/>
          <p:nvPr/>
        </p:nvSpPr>
        <p:spPr>
          <a:xfrm>
            <a:off x="804672" y="253288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"Baroda"
city[0] = 'V'
</a:t>
            </a:r>
            <a:r>
              <a:rPr lang="en-US" sz="16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Traceback (most recent call last):
</a:t>
            </a:r>
            <a:r>
              <a:rPr lang="en-US" sz="16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TypeError: 'str' object does not
# support item assignment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5540F03-769C-0E49-5C06-E133F78762A3}"/>
              </a:ext>
            </a:extLst>
          </p:cNvPr>
          <p:cNvSpPr/>
          <p:nvPr/>
        </p:nvSpPr>
        <p:spPr>
          <a:xfrm>
            <a:off x="548640" y="4526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change a character directly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F7B28C-F4A6-5218-6B0F-288F40DC764F}"/>
              </a:ext>
            </a:extLst>
          </p:cNvPr>
          <p:cNvSpPr/>
          <p:nvPr/>
        </p:nvSpPr>
        <p:spPr>
          <a:xfrm>
            <a:off x="6263640" y="21488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E3B9DB9-B8D2-BEF7-B286-5482C9556B2B}"/>
              </a:ext>
            </a:extLst>
          </p:cNvPr>
          <p:cNvSpPr/>
          <p:nvPr/>
        </p:nvSpPr>
        <p:spPr>
          <a:xfrm>
            <a:off x="6428232" y="227685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9602000-8007-3583-20C8-6813D2957A11}"/>
              </a:ext>
            </a:extLst>
          </p:cNvPr>
          <p:cNvSpPr/>
          <p:nvPr/>
        </p:nvSpPr>
        <p:spPr>
          <a:xfrm>
            <a:off x="6629400" y="22768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AD6D7E6-923B-893B-08E8-CD5FDCEFC146}"/>
              </a:ext>
            </a:extLst>
          </p:cNvPr>
          <p:cNvSpPr/>
          <p:nvPr/>
        </p:nvSpPr>
        <p:spPr>
          <a:xfrm>
            <a:off x="6830568" y="22768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7C25A24-40BE-7FC8-2109-E0CED63FBD5F}"/>
              </a:ext>
            </a:extLst>
          </p:cNvPr>
          <p:cNvSpPr/>
          <p:nvPr/>
        </p:nvSpPr>
        <p:spPr>
          <a:xfrm>
            <a:off x="7086600" y="2249424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this_works.py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19B9118-48EE-FB7A-8D52-CDB24713AC58}"/>
              </a:ext>
            </a:extLst>
          </p:cNvPr>
          <p:cNvSpPr/>
          <p:nvPr/>
        </p:nvSpPr>
        <p:spPr>
          <a:xfrm>
            <a:off x="6519672" y="2532888"/>
            <a:ext cx="48828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CD2D27-1493-6FDD-1425-4C1CBAC4EE2D}"/>
              </a:ext>
            </a:extLst>
          </p:cNvPr>
          <p:cNvSpPr/>
          <p:nvPr/>
        </p:nvSpPr>
        <p:spPr>
          <a:xfrm>
            <a:off x="6519672" y="253288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"Baroda"
city = 'V' + city[1:]
print(city)
</a:t>
            </a:r>
            <a:r>
              <a:rPr lang="en-US" sz="16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Vadora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0E23456-C44F-043E-3306-BD77D49EF1D0}"/>
              </a:ext>
            </a:extLst>
          </p:cNvPr>
          <p:cNvSpPr/>
          <p:nvPr/>
        </p:nvSpPr>
        <p:spPr>
          <a:xfrm>
            <a:off x="6291072" y="45948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Reassigning the variable to a new string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55ED94-B383-1987-43AD-5C3B6387710E}"/>
              </a:ext>
            </a:extLst>
          </p:cNvPr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C626566-E260-EAF6-FE88-19390604820B}"/>
              </a:ext>
            </a:extLst>
          </p:cNvPr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346545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Are Immutable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a string cannot be changed once assigned — but the whole string can be reassigned, or deleted with del: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my_string = 'pythonprogram'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my_string[5] = 'a'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'str' object does not support item assignment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my_string = 'Python'   # reassignment is fine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print(my_string)       # Python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my_string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print(my_string)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NameError: name 'my_string' is not defined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AND  * 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 &amp; Repetition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or more strings end-to-end using +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4800600" cy="2651760"/>
          </a:xfrm>
          <a:prstGeom prst="roundRect">
            <a:avLst>
              <a:gd name="adj" fmla="val 2069"/>
            </a:avLst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4612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= "IRCTC"
second = "Ticket"
combo = first + " " + second
print(combo)
</a:t>
            </a:r>
            <a:r>
              <a:rPr lang="en-US" sz="20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IRCTC Ticket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 string a fixed number of times using *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83680" y="3063240"/>
            <a:ext cx="4800600" cy="2651760"/>
          </a:xfrm>
          <a:prstGeom prst="roundRect">
            <a:avLst>
              <a:gd name="adj" fmla="val 2069"/>
            </a:avLst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24612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 = "-" * 20
print(border)
print("Ram" * 3)
</a:t>
            </a:r>
            <a:r>
              <a:rPr lang="en-US" sz="16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
</a:t>
            </a:r>
            <a:r>
              <a:rPr lang="en-US" sz="16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--------------------
# RamRamRam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Concatenation, Repetition &amp; Length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strings with + is concatenation; * repeats a string; len() returns its length: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str1, str2 = 'Hello', 'World!'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print(str1 + str2)      # HelloWorld!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print(str1 + " " + str2)# Hello World!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print(str1 * 3)         # HelloHelloHello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"Hello, World!"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print(len(a))            # 13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METHODS,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Methods — Case &amp; 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Conversion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upper()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'delhi'.upper()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'DELHI'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lower()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'DELHI'.lower()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35021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'delhi'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title()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'new delhi'.title()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1520" y="45537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'New Delhi'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056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capitalize()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'gujarat'.capitalize()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56052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'Gujarat'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Check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find()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194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'Vadodara'.find('do')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24505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63640" y="288036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46520" y="3246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'banana'.count('a')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46520" y="35021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263640" y="393192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19" y="3794760"/>
            <a:ext cx="260258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startswith()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46520" y="42976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'UPI123'.startswith('UPI')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46520" y="45537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263640" y="49834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056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446520" y="53492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'IIT' in 'IIT Bombay'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46520" y="56052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String Methods — Case &amp; Search</a:t>
            </a:r>
            <a:endParaRPr lang="en-US" sz="26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872448"/>
              </p:ext>
            </p:extLst>
          </p:nvPr>
        </p:nvGraphicFramePr>
        <p:xfrm>
          <a:off x="548640" y="1371600"/>
          <a:ext cx="11064240" cy="49987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upper() / lower()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to upper case / lower case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capitalize() / title()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Capitalizes the first letter / each word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swapcase() / casefold()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Swaps case / aggressive lower-casing for comparisons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strip() / lstrip() / rstrip()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leading/trailing whitespace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find() / rfind() / index()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Locates the position of a substring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occurrences of a substring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isalpha() / isdigit() / isalnum()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character composition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String Methods — Modify, Split &amp; Join</a:t>
            </a:r>
            <a:endParaRPr lang="en-US" sz="26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45511"/>
              </p:ext>
            </p:extLst>
          </p:nvPr>
        </p:nvGraphicFramePr>
        <p:xfrm>
          <a:off x="548640" y="1371600"/>
          <a:ext cx="11064240" cy="49987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replace(old, new)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occurrences of a substring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split(sep)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a string into a list at each separator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splitlines()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a string at line breaks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join(iterable)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list elements into one string, using this string as separator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startswith() / endswith()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how the string begins or ends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zfill() / ljust() / rjust() / center()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Pads a string to a given width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format() / f-strings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values into a string template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8263FA-C6E4-79D9-F0EF-F3E8E5128062}"/>
              </a:ext>
            </a:extLst>
          </p:cNvPr>
          <p:cNvSpPr txBox="1"/>
          <p:nvPr/>
        </p:nvSpPr>
        <p:spPr>
          <a:xfrm>
            <a:off x="778533" y="1345569"/>
            <a:ext cx="105393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0" u="none" strike="noStrike" dirty="0">
                <a:effectLst/>
                <a:latin typeface="Google Sans"/>
              </a:rPr>
              <a:t>We need string formatting in Python because </a:t>
            </a:r>
            <a:r>
              <a:rPr lang="en-IN" sz="2800" dirty="0"/>
              <a:t>it allows us to </a:t>
            </a:r>
            <a:r>
              <a:rPr lang="en-IN" sz="2800" b="1" u="none" strike="noStrike" dirty="0">
                <a:effectLst/>
                <a:latin typeface="Google Sans"/>
              </a:rPr>
              <a:t>insert variables, evaluate expressions, and organize text data dynamically</a:t>
            </a:r>
            <a:r>
              <a:rPr lang="en-IN" sz="2800" dirty="0"/>
              <a:t> without messing up code structure.</a:t>
            </a:r>
          </a:p>
        </p:txBody>
      </p:sp>
    </p:spTree>
    <p:extLst>
      <p:ext uri="{BB962C8B-B14F-4D97-AF65-F5344CB8AC3E}">
        <p14:creationId xmlns:p14="http://schemas.microsoft.com/office/powerpoint/2010/main" val="77382351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READABLE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Formatting with f-strings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a string with </a:t>
            </a:r>
            <a:r>
              <a:rPr lang="en-US" sz="2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2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place variables inside { } to build formatted text easily</a:t>
            </a: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020306"/>
            <a:ext cx="11064240" cy="452628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13969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3969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13969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112264"/>
            <a:ext cx="9966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395728"/>
            <a:ext cx="10552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4672" y="2395728"/>
            <a:ext cx="10515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= "Priya Sharma"
amount = 450
upi_id = "priya@okhdfc"
receipt = f"Paid Rs.{amount} to {name} ({upi_id})"
print(receipt)
</a:t>
            </a:r>
            <a:r>
              <a:rPr lang="en-US" sz="16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
</a:t>
            </a:r>
            <a:r>
              <a:rPr lang="en-US" sz="16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Paid Rs.450 to Priya Sharma (</a:t>
            </a:r>
            <a:r>
              <a:rPr lang="en-US" sz="1600" dirty="0" err="1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priya@okhdfc</a:t>
            </a:r>
            <a:r>
              <a:rPr lang="en-US" sz="16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6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Numbers can be formatted too
</a:t>
            </a: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
print(f"Value of pi = {pi:.2f}")   </a:t>
            </a:r>
            <a:r>
              <a:rPr lang="en-US" sz="16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 of pi = 3.14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Programming-I  •  Strings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9D1143-45FF-99B3-54B1-BFCC932B9B11}"/>
              </a:ext>
            </a:extLst>
          </p:cNvPr>
          <p:cNvSpPr txBox="1"/>
          <p:nvPr/>
        </p:nvSpPr>
        <p:spPr>
          <a:xfrm>
            <a:off x="769908" y="612323"/>
            <a:ext cx="10858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u="none" strike="noStrike" dirty="0">
                <a:effectLst/>
                <a:latin typeface="Google Sans"/>
              </a:rPr>
              <a:t>The </a:t>
            </a: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format()</a:t>
            </a:r>
            <a:r>
              <a:rPr lang="en-IN" sz="2400" dirty="0"/>
              <a:t> method in Python </a:t>
            </a:r>
            <a:r>
              <a:rPr lang="en-IN" sz="2400" b="1" u="none" strike="noStrike" dirty="0">
                <a:effectLst/>
                <a:latin typeface="Google Sans"/>
              </a:rPr>
              <a:t>inserts values into a string using curly bracket </a:t>
            </a:r>
            <a:r>
              <a:rPr lang="en-IN" sz="2400" b="1" u="none" strike="noStrike" dirty="0">
                <a:effectLst/>
                <a:latin typeface="Courier New" panose="02070309020205020404" pitchFamily="49" charset="0"/>
              </a:rPr>
              <a:t>{}</a:t>
            </a:r>
            <a:r>
              <a:rPr lang="en-IN" sz="2400" b="1" u="none" strike="noStrike" dirty="0">
                <a:effectLst/>
                <a:latin typeface="Google Sans"/>
              </a:rPr>
              <a:t> placeholders</a:t>
            </a:r>
            <a:r>
              <a:rPr lang="en-IN" sz="2400" dirty="0"/>
              <a:t>. It returns a brand-new formatted string without changing the original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47FCC-464C-B042-AA5A-1D0A8B66811F}"/>
              </a:ext>
            </a:extLst>
          </p:cNvPr>
          <p:cNvSpPr txBox="1"/>
          <p:nvPr/>
        </p:nvSpPr>
        <p:spPr>
          <a:xfrm>
            <a:off x="731447" y="1886476"/>
            <a:ext cx="10729105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none" strike="noStrike" dirty="0">
                <a:effectLst/>
                <a:latin typeface="Google Sans"/>
              </a:rPr>
              <a:t>Basic Placeholders (Ordered)</a:t>
            </a:r>
          </a:p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400" b="0" u="none" strike="noStrike" dirty="0">
                <a:effectLst/>
                <a:latin typeface="Google Sans"/>
              </a:rPr>
              <a:t>Values insert automatically into the </a:t>
            </a: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{}</a:t>
            </a:r>
            <a:r>
              <a:rPr lang="en-IN" sz="2400" b="0" u="none" strike="noStrike" dirty="0">
                <a:effectLst/>
                <a:latin typeface="Google Sans"/>
              </a:rPr>
              <a:t> placeholders based on the exact order they are passed</a:t>
            </a:r>
          </a:p>
        </p:txBody>
      </p:sp>
      <p:pic>
        <p:nvPicPr>
          <p:cNvPr id="7" name="Picture 6" descr="A simple Python code snippet that uses the format method to replace placeholders in a string with specified values.&#10;&#10;AI-generated content may be incorrect.">
            <a:extLst>
              <a:ext uri="{FF2B5EF4-FFF2-40B4-BE49-F238E27FC236}">
                <a16:creationId xmlns:a16="http://schemas.microsoft.com/office/drawing/2014/main" id="{8483F3DF-2BBA-35AB-8F8C-49424CE78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29" y="3624271"/>
            <a:ext cx="10911920" cy="15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8814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81D93A-C455-CB98-AE44-AF5E65B0CCD2}"/>
              </a:ext>
            </a:extLst>
          </p:cNvPr>
          <p:cNvSpPr txBox="1"/>
          <p:nvPr/>
        </p:nvSpPr>
        <p:spPr>
          <a:xfrm>
            <a:off x="787159" y="500182"/>
            <a:ext cx="10996523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none" strike="noStrike" dirty="0">
                <a:effectLst/>
                <a:latin typeface="Google Sans"/>
              </a:rPr>
              <a:t>Positional Indexing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400" b="0" u="none" strike="noStrike" dirty="0">
                <a:effectLst/>
                <a:latin typeface="Google Sans"/>
              </a:rPr>
              <a:t>You can use numbers inside the braces to choose exactly which value goes where. This allows you to repeat or reorder values easily</a:t>
            </a:r>
          </a:p>
        </p:txBody>
      </p:sp>
      <p:pic>
        <p:nvPicPr>
          <p:cNvPr id="5" name="Picture 4" descr="Bob&#10;&#10;AI-generated content may be incorrect.">
            <a:extLst>
              <a:ext uri="{FF2B5EF4-FFF2-40B4-BE49-F238E27FC236}">
                <a16:creationId xmlns:a16="http://schemas.microsoft.com/office/drawing/2014/main" id="{B93FB01A-4A9F-E39D-C241-EFED353DB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74" y="2264349"/>
            <a:ext cx="11408251" cy="158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337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67CC8-50A1-F522-1F6B-B3D5EF76F21D}"/>
              </a:ext>
            </a:extLst>
          </p:cNvPr>
          <p:cNvSpPr txBox="1"/>
          <p:nvPr/>
        </p:nvSpPr>
        <p:spPr>
          <a:xfrm>
            <a:off x="787160" y="733093"/>
            <a:ext cx="1059108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Named Keyword Arguments</a:t>
            </a:r>
          </a:p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800" b="0" u="none" strike="noStrike" dirty="0">
                <a:effectLst/>
                <a:latin typeface="Google Sans"/>
              </a:rPr>
              <a:t>You can assign specific labels to your placeholders. This makes longer sentences much easier to read and maintain. </a:t>
            </a:r>
          </a:p>
        </p:txBody>
      </p:sp>
      <p:pic>
        <p:nvPicPr>
          <p:cNvPr id="5" name="Picture 4" descr="Developer&#10;&#10;AI-generated content may be incorrect.">
            <a:extLst>
              <a:ext uri="{FF2B5EF4-FFF2-40B4-BE49-F238E27FC236}">
                <a16:creationId xmlns:a16="http://schemas.microsoft.com/office/drawing/2014/main" id="{89182802-1945-17D6-C64B-3C084AC3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67" y="2947470"/>
            <a:ext cx="9455191" cy="262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1351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015CD1-D87A-D8C4-DC51-69D870779702}"/>
              </a:ext>
            </a:extLst>
          </p:cNvPr>
          <p:cNvSpPr txBox="1"/>
          <p:nvPr/>
        </p:nvSpPr>
        <p:spPr>
          <a:xfrm>
            <a:off x="1037326" y="879742"/>
            <a:ext cx="108239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400" b="0" u="none" strike="noStrike" dirty="0">
                <a:effectLst/>
                <a:latin typeface="Google Sans"/>
              </a:rPr>
              <a:t>By adding a colon </a:t>
            </a: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:</a:t>
            </a:r>
            <a:r>
              <a:rPr lang="en-IN" sz="2400" b="0" u="none" strike="noStrike" dirty="0">
                <a:effectLst/>
                <a:latin typeface="Google Sans"/>
              </a:rPr>
              <a:t> inside the placeholder, you can control padding, decimal precision, and binary/hexadecimal conversions. </a:t>
            </a:r>
          </a:p>
        </p:txBody>
      </p:sp>
      <p:pic>
        <p:nvPicPr>
          <p:cNvPr id="5" name="Picture 4" descr="The image illustrates a table with various Python format specifications, showing how to format numbers and text, including decimal precision, thousand separators, binary and hexadecimal conversion, and text alignment.&#10;&#10;AI-generated content may be incorrect.">
            <a:extLst>
              <a:ext uri="{FF2B5EF4-FFF2-40B4-BE49-F238E27FC236}">
                <a16:creationId xmlns:a16="http://schemas.microsoft.com/office/drawing/2014/main" id="{85D8F333-18FD-2F46-2C31-AFCDF28E58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459"/>
          <a:stretch>
            <a:fillRect/>
          </a:stretch>
        </p:blipFill>
        <p:spPr>
          <a:xfrm>
            <a:off x="1565021" y="2230155"/>
            <a:ext cx="8354591" cy="177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6451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Formatting: format() and f-strings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199" y="1289304"/>
            <a:ext cx="11368735" cy="4706054"/>
          </a:xfrm>
          <a:prstGeom prst="roundRect">
            <a:avLst>
              <a:gd name="adj" fmla="val 169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30266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0266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27141" y="1435608"/>
            <a:ext cx="10424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27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 = "My name is Tanvi, and I am {}"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print(txt.format(age))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quantity, itemno, price = 3, 567, 49.95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"I want {0} of item {1} for {2:.2f} rupees."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print(order.format(quantity, itemno, price))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(Python 3.6+) — cleanest modern style</a:t>
            </a:r>
            <a:endParaRPr lang="en-US" sz="2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print(f"My name is Tanvi, and I am {age}")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Unit 2: Introduction to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10629</Words>
  <Application>Microsoft Office PowerPoint</Application>
  <PresentationFormat>Widescreen</PresentationFormat>
  <Paragraphs>1464</Paragraphs>
  <Slides>104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2" baseType="lpstr">
      <vt:lpstr>Arial</vt:lpstr>
      <vt:lpstr>Calibri</vt:lpstr>
      <vt:lpstr>Cambria</vt:lpstr>
      <vt:lpstr>Consolas</vt:lpstr>
      <vt:lpstr>Courier New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Shivangi Matieda</cp:lastModifiedBy>
  <cp:revision>34</cp:revision>
  <dcterms:created xsi:type="dcterms:W3CDTF">2026-07-30T09:38:12Z</dcterms:created>
  <dcterms:modified xsi:type="dcterms:W3CDTF">2026-08-21T09:43:28Z</dcterms:modified>
</cp:coreProperties>
</file>