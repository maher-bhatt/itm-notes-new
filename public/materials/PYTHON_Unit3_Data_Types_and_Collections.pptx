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30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04" r:id="rId11"/>
    <p:sldId id="302" r:id="rId12"/>
    <p:sldId id="305" r:id="rId13"/>
    <p:sldId id="264" r:id="rId14"/>
    <p:sldId id="265" r:id="rId15"/>
    <p:sldId id="266" r:id="rId16"/>
    <p:sldId id="267" r:id="rId17"/>
    <p:sldId id="306" r:id="rId18"/>
    <p:sldId id="307" r:id="rId19"/>
    <p:sldId id="308" r:id="rId20"/>
    <p:sldId id="270" r:id="rId21"/>
    <p:sldId id="271" r:id="rId22"/>
    <p:sldId id="272" r:id="rId23"/>
    <p:sldId id="309" r:id="rId24"/>
    <p:sldId id="310" r:id="rId25"/>
    <p:sldId id="311" r:id="rId26"/>
    <p:sldId id="273" r:id="rId27"/>
    <p:sldId id="274" r:id="rId28"/>
    <p:sldId id="275" r:id="rId29"/>
    <p:sldId id="276" r:id="rId30"/>
    <p:sldId id="279" r:id="rId31"/>
    <p:sldId id="281" r:id="rId32"/>
    <p:sldId id="286" r:id="rId33"/>
    <p:sldId id="287" r:id="rId34"/>
    <p:sldId id="312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3" r:id="rId44"/>
    <p:sldId id="324" r:id="rId45"/>
    <p:sldId id="325" r:id="rId46"/>
    <p:sldId id="326" r:id="rId47"/>
    <p:sldId id="327" r:id="rId48"/>
    <p:sldId id="328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56" r:id="rId63"/>
    <p:sldId id="357" r:id="rId64"/>
    <p:sldId id="360" r:id="rId65"/>
    <p:sldId id="361" r:id="rId66"/>
    <p:sldId id="358" r:id="rId67"/>
    <p:sldId id="359" r:id="rId68"/>
    <p:sldId id="362" r:id="rId69"/>
    <p:sldId id="363" r:id="rId70"/>
    <p:sldId id="349" r:id="rId71"/>
    <p:sldId id="350" r:id="rId72"/>
    <p:sldId id="347" r:id="rId73"/>
    <p:sldId id="348" r:id="rId74"/>
    <p:sldId id="351" r:id="rId75"/>
    <p:sldId id="352" r:id="rId76"/>
    <p:sldId id="353" r:id="rId77"/>
    <p:sldId id="354" r:id="rId78"/>
    <p:sldId id="355" r:id="rId79"/>
    <p:sldId id="364" r:id="rId80"/>
    <p:sldId id="365" r:id="rId81"/>
    <p:sldId id="366" r:id="rId82"/>
    <p:sldId id="367" r:id="rId83"/>
    <p:sldId id="368" r:id="rId84"/>
    <p:sldId id="369" r:id="rId85"/>
    <p:sldId id="370" r:id="rId8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37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outcomes: Understand what a list is, create lists, access elements using indexing and slicing, modify list contents, use built-in list methods. [REMEMBER]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65704-E500-7368-5168-BC0A4917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F6773-6018-E5F8-F2F6-F67D03D52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15016-4C0E-77C2-28E2-CBF25C13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outcomes: Understand what a list is, create lists, access elements using indexing and slicing, modify list contents, use built-in list methods. [REMEMBER]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A174B-2237-F8B2-B87F-191202DCA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98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Mutable means we can change it after creation. Ordered means position matters. Use an analogy: Like a shopping cart—you can add items, remove items, rearrange them. [UNDERSTAND]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each real-world use case. Ask: Have you seen this data structure before? [UNDERSTAND]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each method. Ask: Can you create a list of your courses?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Indexing starts at 0, not 1. This is a common mistake. Show error when accessing index 4 in a 4-item list.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symmetry: index 0 = -4, index 1 = -3, etc. This is useful when you want the last element without knowing the list length.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stop is exclusive. Demonstrate with visual highlighting on the diagram.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step=-1 useful? Demonstrate reversing a string. [ANALYZE]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1885-EF05-4E0C-4C13-3BFB2E69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1F77B-428D-00DA-E213-73C0601F9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A8CA9-D08B-D25E-1423-D3D1CE57F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error case. Ask: Why cannot you assign to an index that does not exist? [APPLY]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080B9-1826-633A-7C22-6D5DC6243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Mutability is a key difference between lists, tuples, and strings. Lists give you flexibility. [UNDERSTAND]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error case. Ask: Why cannot you assign to an index that does not exist?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powerful but confusing. Emphasize: The slice size on left and right do not need to match.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common mistake of assigning append() result to a variable.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97F2-6312-6F8F-2342-ECF0D216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A2DA0-0707-6C69-DD0E-AA3BDC74B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91D27-2635-E2D9-3CAE-2D07FC395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common mistake of assigning append() result to a variable. [APPLY]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D51AB-5F4E-2BF4-D025-F9B55C669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9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EAB8-5DA6-C3D9-7793-E6519CBE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860BB-0E96-1BE4-9685-AF06046AE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EEF12-61FB-7A15-099B-519EC9773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common mistake of assigning append() result to a variable. [APPLY]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3FD1-20B1-369E-3A90-ECE061151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3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pop(). Ask: What if I do not know if the item is in the list?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difference from remove(): pop() returns the value AND requires index. Perfect for stack/queue patterns.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DAC4-963C-A89F-C55E-2DFC0EBA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01AF5-88B4-A9A5-6D06-1AA8496B4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5F61F-2340-BBB7-EEE8-75925F7E5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[UNDERSTAND]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AD370-0D81-91C6-C253-825BBD087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21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BB5-F584-13D9-CC7B-B0FE6DE36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697AF-A7BF-E0CF-AD68-A4871BD7A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7B75F-C2A5-3EDB-4104-A05AEF0EA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critical concept. Demonstrate the reference trap. Mention deep copy for nested lists. [ANALYZE]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4DFEE-543E-820C-B43B-1AE332310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04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critical concept. Demonstrate the reference trap. Mention deep copy for nested lists. [ANALYZE]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use cases. Ask: How would you find the range of values (max - min)?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useful for searching. Show the difference: one counts, one locates.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sort() modifies in-place, sorted() returns a new list.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Membership testing is common. Discuss performance: O(n) for lists vs O(1) for sets.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+ (creates new) and extend() (modifies). 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[APPLY]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immutability as the defining feature. Clarify that reassigning the variable is fine — you just can't change the elements inside. Analogy: like a printed book, you can buy a new one, but can't erase words in the current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Unpacking is one of Python's most elegant features. Show how it simplifies code compared to indexing. The *args example is Bloom's Synthesis level — let students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sets as one of Python's four core built-in collection types, distinguished by uniqueness and unordered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uniqueness + no order. Elements must be hashable (immutable) — e.g., you can't put a list inside a set, but a tuple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three creation methods, then flag the classic empty-dict-vs-empty-set trap — a frequent beginner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diagrams use a cut-out technique: shaded region shows exactly which part of A and B ends up in the result. Method-call form (.union(), .intersection(), etc.) works identically to the operators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Union combines everything — think of it as merging two guest lists into one, with no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Intersection answers 'what do these two groups have in common?' — useful for finding shared interests, mutual contacts,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 is the only one of the four operations where order changes the answer — worth pausing on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Symmetric difference is 'everything except what they share' — the mirror image of intersection.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in-place nature and the None return value — a very common beginner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properties students must internalize: idempotent on duplicates, hashability requirement, and the None return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C97A-7D25-1762-D591-00C99741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B84DA7-764A-F2BA-CA63-888F50827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CF3D0-1BBB-3C3E-9471-19F55E44D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sets as one of Python's four core built-in collection types, distinguished by uniqueness and unordered storage.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E0E4E-CF48-D09B-C8E4-0D2366690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1840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0573-1E7F-01A0-52F0-1E3DEF01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00DB4-E1A3-36AE-A5A1-F35199AC5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2CFF7-58D5-B06C-92D4-F14AB502A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EDB51-C2D7-6677-F040-7F14CA607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0661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Datatypes in Python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3  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C2111C1 | Programming in Python-I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3D219-9891-EFDC-0A6B-E18C62CA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C532C5-FBDE-91FA-1706-7C35D2C9F4D0}"/>
              </a:ext>
            </a:extLst>
          </p:cNvPr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Lists in Python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7F2013-C071-47BF-0137-6CC0F4066AF2}"/>
              </a:ext>
            </a:extLst>
          </p:cNvPr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C2111C1 | Programming in Python-I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12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List?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mutable collection of items in a single variable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store multiple data types (integers, strings, floats, objects) so it is heterogenous data 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sequenced data type, Items are indexed starting from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allow duplicates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[1, 'apple', 3.14, True]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Indices:    0      1      2    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21447"/>
            <a:ext cx="8229600" cy="7315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158607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Mutable = changeable after creation | ✓ Ordered = position matters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Lists? Real-World Context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related data together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multiple items in a loop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Flexible: Add/remove items anytime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 in programming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UPI: [₹500, ₹1200, ₹250] → Payment transaction history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IRCTC: ["A1", "A2", "B1"] → Booked train seats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Zomato: ["5-star", "4-star", "3-star"] → Customer ratings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List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199" y="1097280"/>
            <a:ext cx="29604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Square Brackets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['red', 'green', 'blue']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['red', 'green', 'blue']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= [10, 'hello', 3.14, True]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502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'hello', 3.14, True]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Using list() Constructor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list(range(5))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5021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40233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096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list: empty = []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4023360"/>
            <a:ext cx="42062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0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 (constructor): empty = list()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Elements: Indexing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square brackets with index number (starts at 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["a", "b", "c", "d"]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Index:     0      1      2     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my_list[0]  →  'a'    |    my_list[2]  →  'c'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my_list[4]  →  IndexError: list index out of range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Common Mistake: Indexing starts at 0, not 1! Accessing index 4 in 4-item list causes error.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Indexing: Access from the End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36515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negative numbers to count backward from the 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["apple", "banana", "orange", "grape"]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(forward):   0         1          2        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(backward):  -4        -3        -2        -1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my_list[-1]  →  'grape'   (last item)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my_list[-3]  →  'banana'  (3rd from end)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Useful: Get last element without knowing list length with my_list[-1]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Slicing: Extract Part of a List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61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list[start:stop:step]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= Include this index (default: 0)  |  stop = Exclude this index (default: end)  |  step = Jump by this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['a', 'b', 'c', 'd', 'e']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my_list[1:4]    →    ['b', 'c', 'd']     # indices 1, 2,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my_list[::2]    →    ['a', 'c', 'e']     # every 2nd element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my_list[-3:-1]  →    ['c', 'd']         # last 3, exclude last 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Examples &amp; Reverse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 = ["a", "b", "c", "d", "e"]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my_list[:3]  →  ["a", "b", "c"]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elements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my_list[2:]  →  ["c", "d", "e"]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 2 to 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my_list[:]  →  ["a", "b", "c", "d", "e"]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list (copy)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my_list[::-1]  →  ["e", "d", "c", "b", "a"]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492" y="3076956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03123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Flipkart: Extract first 5 customers from order list: orders[:5]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2492" y="4082796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22144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Reverse a string: "hello"[::-1]  →  "olleh"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B4"/>
                </a:solidFill>
              </a:rPr>
              <a:t>What are Nested Lists?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 list that contains one or more lists as elements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Also called multi-dimensional lists or lists of lists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Elements can be lists, strings, numbers, or other data types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Useful for representing tables, matrices, and hierarchical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82296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F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[[1, 2, 3], [4, 5, 6], [7, 8, 9]]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student_data = [["Alice", 85], ["Bob", 92], ["Charlie", 78]]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BB2B-33DB-15EA-7004-ADCB20DB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DEA3BC-D034-D163-E767-313C6EE8511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Nested List in python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A84334-F10C-F97F-5F6E-E8750CD1F0E2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26A2B8-DD16-B042-557B-F8F73355D428}"/>
              </a:ext>
            </a:extLst>
          </p:cNvPr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3B9E54-CDAA-070F-1940-90682861BEFD}"/>
              </a:ext>
            </a:extLst>
          </p:cNvPr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b="1" dirty="0"/>
              <a:t>nested list in Python</a:t>
            </a:r>
            <a:r>
              <a:rPr lang="en-IN" dirty="0"/>
              <a:t> is simply a list that contains other lists as its individual elements. This data structure is commonly used to store multi-dimensional data, such as matrices, grids, or grouped records. 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B1464E-D34D-11AD-6DC8-60600F729628}"/>
              </a:ext>
            </a:extLst>
          </p:cNvPr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D1ABB6-6760-3AB5-54E4-325D3E3B3550}"/>
              </a:ext>
            </a:extLst>
          </p:cNvPr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fruits[5] = 'grape'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assignment index out of range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361429-CA41-041A-5133-21D5E8355465}"/>
              </a:ext>
            </a:extLst>
          </p:cNvPr>
          <p:cNvSpPr/>
          <p:nvPr/>
        </p:nvSpPr>
        <p:spPr>
          <a:xfrm>
            <a:off x="351492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Nested List Access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05F4D00-008D-62FA-2635-CAA2F72EDFAB}"/>
              </a:ext>
            </a:extLst>
          </p:cNvPr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6A65DA7-9842-71D0-670E-E1CA3725337A}"/>
              </a:ext>
            </a:extLst>
          </p:cNvPr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[['a', 'b'], ['c', 'd’]]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Print(nested[0][1])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print(nested) </a:t>
            </a:r>
            <a:endParaRPr lang="en-US" sz="11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F2927C2-AF43-A68D-7B9F-47A75661ABDE}"/>
              </a:ext>
            </a:extLst>
          </p:cNvPr>
          <p:cNvSpPr/>
          <p:nvPr/>
        </p:nvSpPr>
        <p:spPr>
          <a:xfrm>
            <a:off x="457200" y="3967587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Picture 18" descr="code&#10;&#10;AI-generated content may be incorrect.">
            <a:extLst>
              <a:ext uri="{FF2B5EF4-FFF2-40B4-BE49-F238E27FC236}">
                <a16:creationId xmlns:a16="http://schemas.microsoft.com/office/drawing/2014/main" id="{114CC0AC-A753-AECA-9C9E-258FBAC3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38" y="4023359"/>
            <a:ext cx="6820852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5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B4"/>
                </a:solidFill>
              </a:rPr>
              <a:t>Accessing Elements in Nested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F0E"/>
                </a:solidFill>
              </a:rPr>
              <a:t>Using Index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939716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[[1, 2, 3], [4, 5, 6], [7, 8, 9]]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matrix[0]        # Returns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matrix[1][2]     # Returns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matrix[-1]       # Returns [7, 8, 9] (last row)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matrix[2][-1]    # Returns 9 (last element of last row)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</a:rPr>
              <a:t>Visual Representation: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786384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Matrix:           Indices:           How to Access: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         [0]                matrix[0][0] =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5, 6]    →    [1]          →     matrix[1][2] = 6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[7, 8, 9]         [2]                matrix[2][1] = 8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format: matrix[row][column]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are Mutable: Change Contents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modify, add, or remove elements after creating a 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different from tuples (immutable) and strings (immutable)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 You CAN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['red', 'green']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colors[0] = 'yellow'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print(colors)  # ✓ Works!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('red', 'green')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colors[0] = 'yellow'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TypeError! ✗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502152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5707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= Can change after creation | This is what makes lists powerful!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Single Elements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Change One Item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['apple', 'banana', 'orange']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fruits[1] = 'mango'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print(fruits)  # ['apple', 'mango', 'orange']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fruits[5] = 'grape'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IndexError: list assignment index out of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1492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Nested List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[['a', 'b'], ['c', 'd']]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nested[0][1] = 'x'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print(nested)  # [['a', 'x'], ['c', 'd']]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IRCTC: Update seat booking: seats[0] = "B2"  (new seat number)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Multiple Elements: Slicing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slice: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['red', 'green', 'blue', 'yellow']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colors[1:3] = ['purple', 'orange']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print(colors)  # ['red', 'purple', 'orange', 'yellow']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778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colors[2:2] = ['pink']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print(colors)  # ['red', 'green', 'pink', 'blue', 'yellow']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76471"/>
            <a:ext cx="8229600" cy="7315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513631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slice size on left and right don't need to match!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Single Item: append()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list.append(element)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item to the END of the list (in-place)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[10,20,30]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numbers.append(40)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# [10, 20, 30, 40]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append() returns None; it modifies in-place. Wrong: x = list.append(5) → x is None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3251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UPI: Build transaction history: transactions.append(₹500)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1093-0367-3C0F-A2C8-3CDBB92C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9">
            <a:extLst>
              <a:ext uri="{FF2B5EF4-FFF2-40B4-BE49-F238E27FC236}">
                <a16:creationId xmlns:a16="http://schemas.microsoft.com/office/drawing/2014/main" id="{49700469-149F-FE26-56CF-A84D0C7CDD8D}"/>
              </a:ext>
            </a:extLst>
          </p:cNvPr>
          <p:cNvSpPr/>
          <p:nvPr/>
        </p:nvSpPr>
        <p:spPr>
          <a:xfrm>
            <a:off x="365760" y="3099816"/>
            <a:ext cx="8321040" cy="136842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5E73154-C92C-26D3-648E-6BEDD4958F70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Single Item at particular place: insert()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CC7ED2-C47F-688D-3ECA-3310D2BDA48C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5A1ADD4-B92F-F6E2-D81D-AF1FF78DA399}"/>
              </a:ext>
            </a:extLst>
          </p:cNvPr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2D7798-B7B6-3414-C97E-ADB70E7C3090}"/>
              </a:ext>
            </a:extLst>
          </p:cNvPr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</a:t>
            </a:r>
            <a:r>
              <a:rPr lang="en-US" sz="13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list.insert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(index, element)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E56AD7-D7C6-DB70-1C1E-A4B6DAAB5711}"/>
              </a:ext>
            </a:extLst>
          </p:cNvPr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Adds an element at a </a:t>
            </a:r>
            <a:r>
              <a:rPr lang="en-IN" b="1" dirty="0"/>
              <a:t>specific index</a:t>
            </a:r>
            <a:r>
              <a:rPr lang="en-IN" sz="2000" dirty="0"/>
              <a:t> (position) in the list.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BE366F-7B60-E061-9646-BF83DE2BEB5E}"/>
              </a:ext>
            </a:extLst>
          </p:cNvPr>
          <p:cNvSpPr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E0DF6F-E39B-9E21-4CE0-5B058DD8DEBD}"/>
              </a:ext>
            </a:extLst>
          </p:cNvPr>
          <p:cNvSpPr/>
          <p:nvPr/>
        </p:nvSpPr>
        <p:spPr>
          <a:xfrm>
            <a:off x="365760" y="2029968"/>
            <a:ext cx="8229600" cy="942351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3AAFA3-9EC1-9589-1872-748C9E67024D}"/>
              </a:ext>
            </a:extLst>
          </p:cNvPr>
          <p:cNvSpPr/>
          <p:nvPr/>
        </p:nvSpPr>
        <p:spPr>
          <a:xfrm>
            <a:off x="457200" y="2117096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[10,20,30]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numbers.insert</a:t>
            </a: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(0,40)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# [40, 10, 20, 30]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BEE7C1-CFD6-7613-8A73-6064B6675CC8}"/>
              </a:ext>
            </a:extLst>
          </p:cNvPr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7CDCD-137D-2D84-DBED-350688464A6A}"/>
              </a:ext>
            </a:extLst>
          </p:cNvPr>
          <p:cNvSpPr txBox="1"/>
          <p:nvPr/>
        </p:nvSpPr>
        <p:spPr>
          <a:xfrm>
            <a:off x="365760" y="3146055"/>
            <a:ext cx="4663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fruits = ["apple", "banana"] print("Original list:", fruits)</a:t>
            </a:r>
          </a:p>
          <a:p>
            <a:r>
              <a:rPr lang="en-IN" sz="1800" b="0" u="none" strike="noStrike" dirty="0" err="1">
                <a:effectLst/>
                <a:latin typeface="Courier New" panose="02070309020205020404" pitchFamily="49" charset="0"/>
              </a:rPr>
              <a:t>fruits.insert</a:t>
            </a:r>
            <a:r>
              <a:rPr lang="en-IN" sz="1800" b="0" u="none" strike="noStrike" dirty="0">
                <a:effectLst/>
                <a:latin typeface="Courier New" panose="02070309020205020404" pitchFamily="49" charset="0"/>
              </a:rPr>
              <a:t>(1, "blueberry") print("After insert():", fruits)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014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77DDC-5619-BFED-0256-63F29CF4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9">
            <a:extLst>
              <a:ext uri="{FF2B5EF4-FFF2-40B4-BE49-F238E27FC236}">
                <a16:creationId xmlns:a16="http://schemas.microsoft.com/office/drawing/2014/main" id="{CA3D6ED6-F440-01C8-D8BF-CEAE6EE22E41}"/>
              </a:ext>
            </a:extLst>
          </p:cNvPr>
          <p:cNvSpPr/>
          <p:nvPr/>
        </p:nvSpPr>
        <p:spPr>
          <a:xfrm>
            <a:off x="365760" y="1828800"/>
            <a:ext cx="8531806" cy="323606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DB1333C-33F6-6113-E84A-99CAC152D255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Multiple Items : extend()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65F15C-CC8F-0420-0BB2-B4AD29020682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037773-7BED-96B0-4242-49A0A016BC1F}"/>
              </a:ext>
            </a:extLst>
          </p:cNvPr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F6255D-CB99-2F50-770A-B56B7B1EA61F}"/>
              </a:ext>
            </a:extLst>
          </p:cNvPr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</a:t>
            </a:r>
            <a:r>
              <a:rPr lang="en-US" sz="13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list.extend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iterable)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1FDF31-FA58-592C-C1D6-3FDFEF0DE29B}"/>
              </a:ext>
            </a:extLst>
          </p:cNvPr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Adds </a:t>
            </a:r>
            <a:r>
              <a:rPr lang="en-IN" b="1" dirty="0"/>
              <a:t>multiple elements</a:t>
            </a:r>
            <a:r>
              <a:rPr lang="en-IN" sz="2000" dirty="0"/>
              <a:t> to the end of the list.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5336B5-B291-4A1F-DB48-5B43DDDB59CF}"/>
              </a:ext>
            </a:extLst>
          </p:cNvPr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BA21CF-D050-255B-1F8B-BF17FFA2CE6E}"/>
              </a:ext>
            </a:extLst>
          </p:cNvPr>
          <p:cNvSpPr txBox="1"/>
          <p:nvPr/>
        </p:nvSpPr>
        <p:spPr>
          <a:xfrm>
            <a:off x="548640" y="1965961"/>
            <a:ext cx="60726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# Create the initial list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fruits = ["apple", "banana"]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# Create another list to add 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more_fruits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["cherry", "orange"]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# Extend the first list 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fruits.extend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more_fruits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# View the final result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print(fruits)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# Output: ['apple', 'banana', 'cherry', 'orange']</a:t>
            </a:r>
            <a:endParaRPr lang="en-IN" b="0" u="none" strike="noStrike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63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is a diagram comparing different ways to insert elements into a list, detailing their syntax and effects on list length.&#10;&#10;AI-generated content may be incorrect.">
            <a:extLst>
              <a:ext uri="{FF2B5EF4-FFF2-40B4-BE49-F238E27FC236}">
                <a16:creationId xmlns:a16="http://schemas.microsoft.com/office/drawing/2014/main" id="{E1D9FDF3-8743-B561-B6F0-D76C6209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32" t="-2401" r="1732" b="2401"/>
          <a:stretch>
            <a:fillRect/>
          </a:stretch>
        </p:blipFill>
        <p:spPr>
          <a:xfrm>
            <a:off x="116732" y="179366"/>
            <a:ext cx="8612221" cy="432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8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by Value: remove()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list.remove(element)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FIRST occurrence of element; raises ValueError if not found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Flipkart: Remove item from cart: cart.remove("phone case")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2E180F-A5C4-A757-F895-6A7D1A60AA22}"/>
              </a:ext>
            </a:extLst>
          </p:cNvPr>
          <p:cNvSpPr txBox="1"/>
          <p:nvPr/>
        </p:nvSpPr>
        <p:spPr>
          <a:xfrm>
            <a:off x="457200" y="1958177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.remove()</a:t>
            </a:r>
            <a:r>
              <a:rPr lang="en-IN" dirty="0"/>
              <a:t> when you know the </a:t>
            </a:r>
            <a:r>
              <a:rPr lang="en-IN" b="1" u="none" strike="noStrike" dirty="0">
                <a:effectLst/>
                <a:latin typeface="Google Sans"/>
              </a:rPr>
              <a:t>value</a:t>
            </a:r>
            <a:r>
              <a:rPr lang="en-IN" dirty="0"/>
              <a:t> of the item you want to delete, but you do not know its index position</a:t>
            </a:r>
          </a:p>
        </p:txBody>
      </p:sp>
      <p:pic>
        <p:nvPicPr>
          <p:cNvPr id="20" name="Picture 19" descr="banana&#10;&#10;AI-generated content may be incorrect.">
            <a:extLst>
              <a:ext uri="{FF2B5EF4-FFF2-40B4-BE49-F238E27FC236}">
                <a16:creationId xmlns:a16="http://schemas.microsoft.com/office/drawing/2014/main" id="{1E784A92-7D5C-16EF-5B66-2D97D742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9" y="2898154"/>
            <a:ext cx="8068801" cy="16194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by Index: pop()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list.pop(index)  — index is optional (default: -1, last item)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the element at given index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N" sz="2000" dirty="0"/>
              <a:t>Use .pop() when you want to delete an element at a </a:t>
            </a:r>
            <a:r>
              <a:rPr lang="en-IN" sz="2000" b="1" dirty="0"/>
              <a:t>specific index</a:t>
            </a:r>
            <a:r>
              <a:rPr lang="en-IN" sz="2000" dirty="0"/>
              <a:t> and you need to know what that element was. </a:t>
            </a:r>
            <a:endParaRPr lang="en-US" sz="2000" dirty="0"/>
          </a:p>
        </p:txBody>
      </p:sp>
      <p:pic>
        <p:nvPicPr>
          <p:cNvPr id="16" name="Picture 15" descr="The image shows a Python code snippet demonstrating the `pop` method to remove and return elements from a list at specific indices.&#10;&#10;AI-generated content may be incorrect.">
            <a:extLst>
              <a:ext uri="{FF2B5EF4-FFF2-40B4-BE49-F238E27FC236}">
                <a16:creationId xmlns:a16="http://schemas.microsoft.com/office/drawing/2014/main" id="{D0AC9423-0939-EE10-F6C4-19FEE921C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54" y="2578235"/>
            <a:ext cx="5209397" cy="24384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All : clear()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1ED0C47-C793-8260-F72F-F1531C28D171}"/>
              </a:ext>
            </a:extLst>
          </p:cNvPr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Syntax: </a:t>
            </a:r>
            <a:r>
              <a:rPr lang="en-US" dirty="0" err="1">
                <a:solidFill>
                  <a:schemeClr val="bg1"/>
                </a:solidFill>
              </a:rPr>
              <a:t>list.clear</a:t>
            </a:r>
            <a:r>
              <a:rPr lang="en-US" dirty="0">
                <a:solidFill>
                  <a:schemeClr val="bg1"/>
                </a:solidFill>
              </a:rPr>
              <a:t>()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3EBC63-4489-599F-F030-F1767EBE7F57}"/>
              </a:ext>
            </a:extLst>
          </p:cNvPr>
          <p:cNvSpPr txBox="1"/>
          <p:nvPr/>
        </p:nvSpPr>
        <p:spPr>
          <a:xfrm>
            <a:off x="346952" y="1601848"/>
            <a:ext cx="8229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 removes all elements simultaneously, leaving behind an empty list structure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[]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4DBA5B-D6AD-AB61-E535-93D7B67528F2}"/>
              </a:ext>
            </a:extLst>
          </p:cNvPr>
          <p:cNvSpPr txBox="1"/>
          <p:nvPr/>
        </p:nvSpPr>
        <p:spPr>
          <a:xfrm>
            <a:off x="346951" y="1975512"/>
            <a:ext cx="76297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0" u="none" strike="noStrike" dirty="0">
                <a:effectLst/>
                <a:latin typeface="Google Sans"/>
              </a:rPr>
              <a:t>Use </a:t>
            </a:r>
            <a:r>
              <a:rPr lang="en-IN" sz="2000" b="0" u="none" strike="noStrike" dirty="0">
                <a:effectLst/>
                <a:latin typeface="Courier New" panose="02070309020205020404" pitchFamily="49" charset="0"/>
              </a:rPr>
              <a:t>.clear()</a:t>
            </a:r>
            <a:r>
              <a:rPr lang="en-IN" sz="2000" b="0" u="none" strike="noStrike" dirty="0">
                <a:effectLst/>
                <a:latin typeface="Google Sans"/>
              </a:rPr>
              <a:t> when you want to </a:t>
            </a:r>
            <a:r>
              <a:rPr lang="en-IN" sz="2000" b="1" u="none" strike="noStrike" dirty="0">
                <a:effectLst/>
                <a:latin typeface="Google Sans"/>
              </a:rPr>
              <a:t>wipe out everything</a:t>
            </a:r>
            <a:r>
              <a:rPr lang="en-IN" sz="2000" b="0" u="none" strike="noStrike" dirty="0">
                <a:effectLst/>
                <a:latin typeface="Google Sans"/>
              </a:rPr>
              <a:t> inside the list.</a:t>
            </a:r>
            <a:r>
              <a:rPr lang="en-IN" sz="2000" dirty="0"/>
              <a:t> </a:t>
            </a:r>
          </a:p>
        </p:txBody>
      </p:sp>
      <p:pic>
        <p:nvPicPr>
          <p:cNvPr id="24" name="Picture 23" descr="The image shows a simple code snippet in Python, demonstrating the clearing of a list named 'items' containing elements 1, 2, 3, and 4, resulting in an empty list.&#10;&#10;AI-generated content may be incorrect.">
            <a:extLst>
              <a:ext uri="{FF2B5EF4-FFF2-40B4-BE49-F238E27FC236}">
                <a16:creationId xmlns:a16="http://schemas.microsoft.com/office/drawing/2014/main" id="{CFAB240D-4FF1-4415-72BC-434F53219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67" y="2882255"/>
            <a:ext cx="3610479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30C4-77B8-D3C1-FB68-004E394F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085A80-6624-7D1D-0CC4-D2D113EDCDE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list: del 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D89A3F-98D1-E225-C4F3-48D26E6A0708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90A93C3A-5B1F-4CA8-72E6-DE5E63A04053}"/>
              </a:ext>
            </a:extLst>
          </p:cNvPr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Syntax: del </a:t>
            </a:r>
            <a:r>
              <a:rPr lang="en-US" dirty="0" err="1">
                <a:solidFill>
                  <a:schemeClr val="bg1"/>
                </a:solidFill>
              </a:rPr>
              <a:t>listname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5F9A9-2FBD-3C67-923C-0DAC6999A1C6}"/>
              </a:ext>
            </a:extLst>
          </p:cNvPr>
          <p:cNvSpPr txBox="1"/>
          <p:nvPr/>
        </p:nvSpPr>
        <p:spPr>
          <a:xfrm>
            <a:off x="457199" y="1587206"/>
            <a:ext cx="8284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del</a:t>
            </a:r>
            <a:r>
              <a:rPr lang="en-IN" dirty="0"/>
              <a:t> keyword is a built-in Python statement used to delete items by </a:t>
            </a:r>
            <a:r>
              <a:rPr lang="en-IN" b="1" u="none" strike="noStrike" dirty="0">
                <a:effectLst/>
                <a:latin typeface="Google Sans"/>
              </a:rPr>
              <a:t>index or index ranges (slices)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A282A-9C8E-4989-ECDC-2CCA380D0A53}"/>
              </a:ext>
            </a:extLst>
          </p:cNvPr>
          <p:cNvSpPr txBox="1"/>
          <p:nvPr/>
        </p:nvSpPr>
        <p:spPr>
          <a:xfrm>
            <a:off x="402076" y="2233537"/>
            <a:ext cx="8229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Can remove a single item, an entire slice range, or delete the list variable completely from memory.</a:t>
            </a:r>
          </a:p>
        </p:txBody>
      </p:sp>
      <p:pic>
        <p:nvPicPr>
          <p:cNvPr id="9" name="Picture 8" descr="The image shows a Python code snippet demonstrating the deletion of elements from a list, first removing an element at index 1 and then removing a range of elements from index 1 to 2.&#10;&#10;AI-generated content may be incorrect.">
            <a:extLst>
              <a:ext uri="{FF2B5EF4-FFF2-40B4-BE49-F238E27FC236}">
                <a16:creationId xmlns:a16="http://schemas.microsoft.com/office/drawing/2014/main" id="{0D2972BD-B126-C225-5F42-F111C97A2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77" y="2879869"/>
            <a:ext cx="6258128" cy="21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17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comparison chart illustrating various Python list operations, including their syntax, functionality, and effects on the list.&#10;&#10;AI-generated content may be incorrect.">
            <a:extLst>
              <a:ext uri="{FF2B5EF4-FFF2-40B4-BE49-F238E27FC236}">
                <a16:creationId xmlns:a16="http://schemas.microsoft.com/office/drawing/2014/main" id="{A60005E7-1703-E702-6A8B-0DB2FE3BD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57" y="535406"/>
            <a:ext cx="7373566" cy="42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9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814B-D404-762E-E843-2E7CB4A5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83CD66-7A52-8A6C-DD9F-291DF44ECBD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a List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80D4EF-1F6D-4AE2-84EF-00F5A8227D6B}"/>
              </a:ext>
            </a:extLst>
          </p:cNvPr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5F91BE-D88B-0D7E-1BD4-7A89458B261F}"/>
              </a:ext>
            </a:extLst>
          </p:cNvPr>
          <p:cNvSpPr/>
          <p:nvPr/>
        </p:nvSpPr>
        <p:spPr>
          <a:xfrm>
            <a:off x="457200" y="1188721"/>
            <a:ext cx="8229600" cy="9124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D0E436-C62E-B2DA-A243-BE7A7DC01331}"/>
              </a:ext>
            </a:extLst>
          </p:cNvPr>
          <p:cNvSpPr/>
          <p:nvPr/>
        </p:nvSpPr>
        <p:spPr>
          <a:xfrm>
            <a:off x="457200" y="2329313"/>
            <a:ext cx="8344386" cy="218758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n-IN" dirty="0"/>
              <a:t>original = [10, 20, 30]</a:t>
            </a:r>
          </a:p>
          <a:p>
            <a:r>
              <a:rPr lang="en-IN" dirty="0"/>
              <a:t> # Assignment </a:t>
            </a:r>
          </a:p>
          <a:p>
            <a:r>
              <a:rPr lang="en-IN" dirty="0" err="1"/>
              <a:t>assigned_list</a:t>
            </a:r>
            <a:r>
              <a:rPr lang="en-IN" dirty="0"/>
              <a:t> = original</a:t>
            </a:r>
          </a:p>
          <a:p>
            <a:r>
              <a:rPr lang="en-IN" dirty="0"/>
              <a:t> # Modify the assigned list </a:t>
            </a:r>
          </a:p>
          <a:p>
            <a:r>
              <a:rPr lang="en-IN" dirty="0" err="1"/>
              <a:t>assigned_list.append</a:t>
            </a:r>
            <a:r>
              <a:rPr lang="en-IN" dirty="0"/>
              <a:t>(40)</a:t>
            </a:r>
          </a:p>
          <a:p>
            <a:r>
              <a:rPr lang="en-IN" dirty="0"/>
              <a:t> print("Original:", original) # Output: [10, 20, 30, 40] </a:t>
            </a:r>
          </a:p>
          <a:p>
            <a:r>
              <a:rPr lang="en-IN" dirty="0"/>
              <a:t>print("Assigned:", </a:t>
            </a:r>
            <a:r>
              <a:rPr lang="en-IN" dirty="0" err="1"/>
              <a:t>assigned_list</a:t>
            </a:r>
            <a:r>
              <a:rPr lang="en-IN" dirty="0"/>
              <a:t>) # Output: [10, 20, 30, 40]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5A8F3-1D09-0378-6D05-B99569DDE3F2}"/>
              </a:ext>
            </a:extLst>
          </p:cNvPr>
          <p:cNvSpPr txBox="1"/>
          <p:nvPr/>
        </p:nvSpPr>
        <p:spPr>
          <a:xfrm>
            <a:off x="377433" y="1183913"/>
            <a:ext cx="83644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600" b="0" u="none" strike="noStrike" dirty="0">
                <a:effectLst/>
                <a:latin typeface="Google Sans"/>
              </a:rPr>
              <a:t>Assignment does </a:t>
            </a:r>
            <a:r>
              <a:rPr lang="en-IN" sz="1600" b="1" u="none" strike="noStrike" dirty="0">
                <a:effectLst/>
                <a:latin typeface="Google Sans"/>
              </a:rPr>
              <a:t>not</a:t>
            </a:r>
            <a:r>
              <a:rPr lang="en-IN" sz="1600" b="0" u="none" strike="noStrike" dirty="0">
                <a:effectLst/>
                <a:latin typeface="Google Sans"/>
              </a:rPr>
              <a:t> copy the list. It simply creates a new reference (or alias) pointing to the exact same list in computer memory</a:t>
            </a:r>
          </a:p>
        </p:txBody>
      </p:sp>
    </p:spTree>
    <p:extLst>
      <p:ext uri="{BB962C8B-B14F-4D97-AF65-F5344CB8AC3E}">
        <p14:creationId xmlns:p14="http://schemas.microsoft.com/office/powerpoint/2010/main" val="2157036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a List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265246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n-IN"/>
              <a:t>The .copy() method creates a </a:t>
            </a:r>
            <a:r>
              <a:rPr lang="en-IN" b="1"/>
              <a:t>shallow copy</a:t>
            </a:r>
            <a:r>
              <a:rPr lang="en-IN"/>
              <a:t>. It allocates a brand-new, independent list container in memory and populates it with the elements of the original list.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" y="2638143"/>
            <a:ext cx="8229600" cy="2237521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n-US" dirty="0"/>
              <a:t>original = [10, 20, 30]</a:t>
            </a:r>
          </a:p>
          <a:p>
            <a:r>
              <a:rPr lang="en-US" dirty="0"/>
              <a:t># Using the copy function</a:t>
            </a:r>
          </a:p>
          <a:p>
            <a:r>
              <a:rPr lang="en-US" dirty="0" err="1"/>
              <a:t>copied_list</a:t>
            </a:r>
            <a:r>
              <a:rPr lang="en-US" dirty="0"/>
              <a:t> = </a:t>
            </a:r>
            <a:r>
              <a:rPr lang="en-US" dirty="0" err="1"/>
              <a:t>original.copy</a:t>
            </a:r>
            <a:r>
              <a:rPr lang="en-US" dirty="0"/>
              <a:t>()</a:t>
            </a:r>
          </a:p>
          <a:p>
            <a:r>
              <a:rPr lang="en-US" dirty="0"/>
              <a:t># Modify the copied list</a:t>
            </a:r>
          </a:p>
          <a:p>
            <a:r>
              <a:rPr lang="en-US" dirty="0" err="1"/>
              <a:t>copied_list.append</a:t>
            </a:r>
            <a:r>
              <a:rPr lang="en-US" dirty="0"/>
              <a:t>(40)</a:t>
            </a:r>
          </a:p>
          <a:p>
            <a:r>
              <a:rPr lang="en-US" dirty="0"/>
              <a:t>print("Original:", original)     # Output: [10, 20, 30] (Unchanged!)</a:t>
            </a:r>
          </a:p>
          <a:p>
            <a:r>
              <a:rPr lang="en-US" dirty="0"/>
              <a:t>print("Copied:", </a:t>
            </a:r>
            <a:r>
              <a:rPr lang="en-US" dirty="0" err="1"/>
              <a:t>copied_list</a:t>
            </a:r>
            <a:r>
              <a:rPr lang="en-US" dirty="0"/>
              <a:t>)     # Output: [10, 20, 30, 40]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Functions on Lists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11887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3017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49047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9047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len(list)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490472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len([1,2,3])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490472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64792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1792224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79222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max(list)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792224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max([10,5,20])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792224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066544"/>
            <a:ext cx="8229600" cy="30175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2093976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093976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min(list)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093976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min([10,5,20])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2093976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68296"/>
            <a:ext cx="822960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395728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239572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sum(list)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395728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sum([1,2,3])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239572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2788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 = [4.5, 3.8, 4.9]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sum(ratings) / len(ratings)  # 4.4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0050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Zomato: Calculate total order value: total = sum(item_prices)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Items: count() and index()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- How many?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list.count(element)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2, 3, 2]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print(numbers.count(2))  #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 - Where?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list.index(element)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['red', 'green', 'blue', 'green']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print(colors.index('green'))  #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 - count() returns 0, index() raises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colors.count('yellow')    # 0  (safe)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colors.index('yellow')    # ValueError! (check first)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251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IRCTC: Find first available seat: first_free = seats.index("available")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Lists: sort() and reverse()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- Arrange in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list.sort(reverse=False)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1, 4, 1, 5]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# [1, 1, 3, 4, 5]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sort: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numbers.sort(reverse=True)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# [5, 4, 3, 1, 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 - Flip order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840480" cy="320040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list.reverse()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= [1, 2, 3]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items.reverse()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print(items)  # [3, 2, 1]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modify original: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sorted(numbers)   # Returns new sorted list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reversed(numbers) # Returns iterator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395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Flipkart: Sort prices ascending: prices.sort()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Membership: in and not 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element in list  →  Returns True/False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['red', 'green', 'blue']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print('red' in colors)       # True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print('yellow' in colors)    # False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print('yellow' not in colors) # True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IRCTC: Check if seat is booked: if seat in booked_seats: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&amp; Repeat Lists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(+) - Join lists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list1 + list2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2] + [3, 4]  →  [1, 2, 3, 4]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(Creates new list)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(*) - Duplicate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list * 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'b'] * 3  →  ['a', 'b', 'a', 'b', 'a', 'b']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(Creates new list)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operations: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cart1 = ['phone', 'case']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cart2 = ['charger', 'screen']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all_items = cart1 + cart2  # ['phone', 'case', 'charger', 'screen']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251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Generate weekly schedule: daily_tasks * 4  (repeat 4 weeks)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1023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+ creates new list | extend() modifies in-place | * repeats pattern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Real-World Scenario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Zomato Restaurant 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 = ['Biryani House', 'Pizza Palace', 'Dosa Delight']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"Samosa Shop"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Sort alphabetically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"Pizza Palace" index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if "Samosa Shop" exists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restaurants.append('Samosa Shop')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restaurants.sort()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restaurants.index('Pizza Palace')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 = 'Samosa Shop' in restaurants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print(restaurants, idx, Exists)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3708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['Biryani House', 'Dosa Delight', 'Pizza Palace', 'Samosa Shop'] 2 True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Practice: Nested Lists (2D)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 Management: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= [[85, 90, 88], [92, 88, 91], [78, 85, 82]]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1, 2, 3 with 3 subject grades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Access 2nd student,1st subject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 grade: 78 → 88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1st student average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grades[1][0]  →  92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grades[2][0] = 88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sum(grades[0]) / len(grades[0])  →  87.67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1422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Updated: [[85,90,88], [92,88,91], [88,85,82]]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82930" y="1474470"/>
            <a:ext cx="72009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 in Python</a:t>
            </a:r>
            <a:endParaRPr lang="en-US" sz="4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17220" y="2297430"/>
            <a:ext cx="6515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i="1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Sequences &amp; Real-World Applications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Tuples?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45770" y="867537"/>
            <a:ext cx="377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0015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 of immutable elements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in parentheses ( 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indexing, slicing, and iteration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modified after creation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11480" y="2571750"/>
            <a:ext cx="377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VS LIST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06801"/>
              </p:ext>
            </p:extLst>
          </p:nvPr>
        </p:nvGraphicFramePr>
        <p:xfrm>
          <a:off x="411480" y="2846070"/>
          <a:ext cx="2990088" cy="1371600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491990" y="960120"/>
            <a:ext cx="4251960" cy="1714500"/>
          </a:xfrm>
          <a:prstGeom prst="roundRect">
            <a:avLst>
              <a:gd name="adj" fmla="val 320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642866" y="1056132"/>
            <a:ext cx="3950208" cy="152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2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Creating tuples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2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student_data = ("Aarav", 19, "B.Tech", 9.2)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2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 = (10, 20)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2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single_tuple = (42,)  </a:t>
            </a:r>
            <a:r>
              <a:rPr lang="en-US" sz="12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 the comma!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2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empty_tuple = ()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491990" y="2846069"/>
            <a:ext cx="4306824" cy="224474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697730" y="298323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0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can hold any data type; single-element tuples need a trailing comma. </a:t>
            </a:r>
            <a:r>
              <a:rPr lang="en-IN" sz="2000" dirty="0"/>
              <a:t>Without a trailing comma, Python cannot tell if you want to group a value or create a tuple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Creation Methods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60120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Using Parentheses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48156"/>
            <a:ext cx="4046220" cy="106299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2356" y="1344168"/>
            <a:ext cx="3744468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= ("Mumbai", "Delhi", "Bangalore")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29150" y="960120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Without Parentheses (implicit)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29150" y="1248156"/>
            <a:ext cx="4046220" cy="106299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80026" y="1344168"/>
            <a:ext cx="3744468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= 'A', 'B', 'A+', 'B+'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11480" y="2434590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Using tuple() Constructor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2722626"/>
            <a:ext cx="4046220" cy="106299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2356" y="2818638"/>
            <a:ext cx="3744468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tuple([1, 2, 3, 4, 5])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converted = tuple("hello")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29150" y="2434590"/>
            <a:ext cx="4046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Mixed Data Types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29150" y="2722626"/>
            <a:ext cx="4046220" cy="106299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780026" y="2818638"/>
            <a:ext cx="3744468" cy="8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= (1, "name", 3.14, True, None)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4011930"/>
            <a:ext cx="8298180" cy="58293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17220" y="4011930"/>
            <a:ext cx="78867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can hold any data type; single-element tuples need a trailing comma</a:t>
            </a: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2583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NEGATIVE INDEXING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00150"/>
            <a:ext cx="8298180" cy="147447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2356" y="1296162"/>
            <a:ext cx="7996428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1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metro_stations = ("Dadar", "Bandra", "Andheri", "Borivali", "Thane")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1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0        1         2         3          4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1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-5       -4        -3        -2         -1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1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print(metro_stations[0])   </a:t>
            </a:r>
            <a:r>
              <a:rPr lang="en-US" sz="11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"Dadar"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1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print(metro_stations[-1])  </a:t>
            </a:r>
            <a:r>
              <a:rPr lang="en-US" sz="11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"Thane"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1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print(metro_stations[-3])  </a:t>
            </a:r>
            <a:r>
              <a:rPr lang="en-US" sz="11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"Andheri"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11480" y="284607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TUPLES  —  TUPLE[START:STOP:STEP]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3120390"/>
            <a:ext cx="8298180" cy="10972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2356" y="3216402"/>
            <a:ext cx="79964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print(metro_stations[1:4])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("Bandra", "Andheri", "Borivali")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print(metro_stations[::2])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("Dadar", "Andheri", "Thane")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print(metro_stations[::-1])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Reversed order, full tuple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Immutability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2583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IMMUTABILITY MATTERS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00150"/>
            <a:ext cx="82981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defTabSz="685800">
              <a:spcAft>
                <a:spcPts val="3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cannot be changed after creation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3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for critical data (e.g., coordinates, dates)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3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used as dictionary keys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223666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You CAN'T Do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2571750"/>
            <a:ext cx="4160520" cy="170842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62356" y="2703009"/>
            <a:ext cx="3778758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 = (10, 20, 30)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coordinates[0] = 15  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coordinates.append(40)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AttributeError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coordinates[0]   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TypeError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714875" y="220530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You CAN Do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42866" y="2574344"/>
            <a:ext cx="4066794" cy="1643326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82896" y="2763774"/>
            <a:ext cx="3778758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old_coords = (10, 20)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new_coords = old_coords + (30,)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(10, 20, 30)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Reassign the variable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 = (5, 10, 15)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Operations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79" y="1062989"/>
            <a:ext cx="8466631" cy="3470099"/>
          </a:xfrm>
          <a:prstGeom prst="roundRect">
            <a:avLst>
              <a:gd name="adj" fmla="val 1739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2356" y="1159002"/>
            <a:ext cx="7996428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(1, 2, 3)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= (4, 5)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t1 + t2      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Concatenation -&gt; (1, 2, 3, 4, 5)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repeated = (0, 1) * 3  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Repetition -&gt; (0, 1, 0, 1, 0, 1)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 in t1)        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Membership -&gt; True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print(10 in t1)       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Membership -&gt; False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print(len(t1 + t2))    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Length -&gt; 5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Methods &amp; Functions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2583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METHODS (LIMITED SET)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00149"/>
            <a:ext cx="4160520" cy="2383941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2356" y="1296162"/>
            <a:ext cx="3778758" cy="141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 = ('A', 'B', 'A', 'A+', 'B', 'A')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print(grades.count('A'))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count() -&gt; 3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print(grades.index('B'))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index() -&gt; 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print(grades.index('A+'))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index() -&gt; 3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29150" y="92583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BUILT-IN FUNCTIONS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29150" y="1200150"/>
            <a:ext cx="4103370" cy="23839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80026" y="1296162"/>
            <a:ext cx="3778758" cy="1419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(5, 2, 8, 1, 9)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print(max(numbers))  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print(min(numbers))  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print(sum(numbers))   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4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print(sorted(numbers))  </a:t>
            </a:r>
            <a:r>
              <a:rPr lang="en-US" sz="14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5, 8, 9] (list)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5770" y="4153305"/>
            <a:ext cx="8298180" cy="685800"/>
          </a:xfrm>
          <a:prstGeom prst="roundRect">
            <a:avLst>
              <a:gd name="adj" fmla="val 8000"/>
            </a:avLst>
          </a:prstGeom>
          <a:solidFill>
            <a:srgbClr val="EAF7F9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54380" y="4153305"/>
            <a:ext cx="7886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support only count() and index() because they're immutable — no add/remove methods exist</a:t>
            </a:r>
            <a:r>
              <a:rPr lang="en-US" sz="10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Packing &amp; Unpacking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2583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00150"/>
            <a:ext cx="4080510" cy="2175818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62356" y="1296162"/>
            <a:ext cx="377875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student_id, name, cgpa = 2401, "Priya", 9.1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student_info = student_id, name, cgpa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29150" y="92583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29150" y="1200150"/>
            <a:ext cx="4080510" cy="2175818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80026" y="1296162"/>
            <a:ext cx="3778758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emp_id, emp_name, dept = (101, "Rohan", "Engineering")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print(emp_name)  </a:t>
            </a:r>
            <a:r>
              <a:rPr lang="en-US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"Rohan"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 as Dictionary Keys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11480" y="925830"/>
            <a:ext cx="377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TUPLES AS KEYS?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" y="1200150"/>
            <a:ext cx="38404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088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required for dict keys</a:t>
            </a:r>
            <a:endParaRPr lang="en-US" sz="1088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088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cannot be dictionary keys</a:t>
            </a:r>
            <a:endParaRPr lang="en-US" sz="1088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750"/>
              </a:spcAft>
              <a:buSzPct val="100000"/>
              <a:buFontTx/>
              <a:buChar char="•"/>
            </a:pPr>
            <a:r>
              <a:rPr lang="en-US" sz="1088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coordinates, composite IDs</a:t>
            </a:r>
            <a:endParaRPr lang="en-US" sz="10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91990" y="960120"/>
            <a:ext cx="4251960" cy="3360420"/>
          </a:xfrm>
          <a:prstGeom prst="roundRect">
            <a:avLst>
              <a:gd name="adj" fmla="val 1633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42866" y="1056132"/>
            <a:ext cx="3950208" cy="316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location_map = {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(19.0760, 72.8777): "Mumbai",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(28.6139, 77.2090): "Delhi",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(13.0827, 80.2707): "Chennai",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print(location_map[(19.0760, 72.8777)])  </a:t>
            </a:r>
            <a:r>
              <a:rPr lang="en-US" sz="938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"Mumbai"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location_map[(23.1815, 79.9864)] = "Indore"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coords, city in location_map.items():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938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print(f"{city}: {coords}")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288036" cy="28803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42900" y="30861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54380" y="240030"/>
            <a:ext cx="804443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vs List — When to Use?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1851660"/>
          </a:xfrm>
          <a:prstGeom prst="roundRect">
            <a:avLst>
              <a:gd name="adj" fmla="val 3600"/>
            </a:avLst>
          </a:prstGeom>
          <a:solidFill>
            <a:srgbClr val="EEF0FA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82930" y="106299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Tuple When…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82930" y="1337310"/>
            <a:ext cx="37719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should not change (e.g., RGB values)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as dictionary keys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multiple values from a function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from accidental edits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29150" y="960120"/>
            <a:ext cx="4169664" cy="1899812"/>
          </a:xfrm>
          <a:prstGeom prst="roundRect">
            <a:avLst>
              <a:gd name="adj" fmla="val 3600"/>
            </a:avLst>
          </a:prstGeom>
          <a:solidFill>
            <a:srgbClr val="EAF7F9"/>
          </a:solidFill>
          <a:ln w="12700">
            <a:solidFill>
              <a:srgbClr val="17A2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00600" y="106299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List When…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800600" y="1337310"/>
            <a:ext cx="37719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 frequent modification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dynamic, growing collection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45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but flexibility is needed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11480" y="281178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kern="0" spc="75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086100"/>
            <a:ext cx="8524494" cy="1700638"/>
          </a:xfrm>
          <a:prstGeom prst="roundRect">
            <a:avLst>
              <a:gd name="adj" fmla="val 4103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62356" y="3182112"/>
            <a:ext cx="7996428" cy="1145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rgb_color = (255, 128, 0)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Tuple: fixed configuration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["Aarav", "Priya", "Rohan"]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students.append("Neha")    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List: dynamic, can grow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2000"/>
              </a:lnSpc>
            </a:pPr>
            <a:r>
              <a:rPr lang="en-US" sz="1600" dirty="0">
                <a:solidFill>
                  <a:srgbClr val="23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= (19.076, 72.877)       </a:t>
            </a:r>
            <a:r>
              <a:rPr lang="en-US" sz="1600" i="1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Tuple: constant GPS coordinates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61654" y="4834890"/>
            <a:ext cx="274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750" dirty="0">
                <a:solidFill>
                  <a:srgbClr val="5B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is diagram compares tuples and dictionaries, highlighting their differences in features, syntax, memory, performance, and available methods.&#10;&#10;AI-generated content may be incorrect.">
            <a:extLst>
              <a:ext uri="{FF2B5EF4-FFF2-40B4-BE49-F238E27FC236}">
                <a16:creationId xmlns:a16="http://schemas.microsoft.com/office/drawing/2014/main" id="{C806526A-6D48-7D57-16A2-9A0F4389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134" y="280077"/>
            <a:ext cx="6963001" cy="39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31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77190"/>
            <a:ext cx="2125980" cy="2125980"/>
          </a:xfrm>
          <a:prstGeom prst="ellipse">
            <a:avLst/>
          </a:prstGeom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583680" y="377190"/>
            <a:ext cx="212598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4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4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3776" y="1783080"/>
            <a:ext cx="6515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3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in Python</a:t>
            </a:r>
            <a:endParaRPr lang="en-US" sz="3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4350" y="257175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Fundamentals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4350" y="449199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2900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342900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3836" y="301752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Set?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165859"/>
            <a:ext cx="4212806" cy="2861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 algn="just" defTabSz="685800">
              <a:spcAft>
                <a:spcPts val="10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unordered collection — items have no fixed position or index</a:t>
            </a:r>
          </a:p>
          <a:p>
            <a:pPr marL="257175" indent="-257175" algn="just" defTabSz="685800">
              <a:spcAft>
                <a:spcPts val="10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Heterogenous datatype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algn="just" defTabSz="685800">
              <a:spcAft>
                <a:spcPts val="10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only unique elements; duplicates are dropped automatically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algn="just" defTabSz="685800">
              <a:spcAft>
                <a:spcPts val="10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itself is mutable, but every element inside it must be immutable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algn="just" defTabSz="685800">
              <a:spcAft>
                <a:spcPts val="105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curly braces {} or built using the set() constructor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97730" y="754379"/>
            <a:ext cx="4212806" cy="1995305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21174" y="1234440"/>
            <a:ext cx="379933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my_set = {1, 2, 2, 3}
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print(my_set)
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25000"/>
              </a:lnSpc>
            </a:pPr>
            <a:r>
              <a:rPr lang="en-US" sz="16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3}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97730" y="2931795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defTabSz="685800"/>
            <a:r>
              <a:rPr lang="en-US" sz="1600" i="1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2 is stored only once — sets never repeat values.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942" y="4217670"/>
            <a:ext cx="8318754" cy="92583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6646" y="4496043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7661" y="449199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31570" y="43891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defTabSz="685800"/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vs. related types:  </a:t>
            </a:r>
            <a:r>
              <a:rPr lang="en-US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keeps order and duplicates. A tuple is like a list but immutable. A set keeps neither order nor duplicates.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2900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342900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3836" y="301752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Sets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31570"/>
            <a:ext cx="2647188" cy="21259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82930" y="1303020"/>
            <a:ext cx="342900" cy="3429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82930" y="13030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8700" y="1282446"/>
            <a:ext cx="189280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Syntax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2930" y="1783080"/>
            <a:ext cx="2304288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6374" y="1851660"/>
            <a:ext cx="2057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my_set = {1, 2, 3}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2930" y="2331720"/>
            <a:ext cx="2304288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way to write a set with known values.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50692" y="1131570"/>
            <a:ext cx="2647188" cy="21259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22142" y="1303020"/>
            <a:ext cx="342900" cy="3429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22142" y="13030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67912" y="1282446"/>
            <a:ext cx="189280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Constructor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22142" y="1783080"/>
            <a:ext cx="2304288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45586" y="1851660"/>
            <a:ext cx="2057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my_set = set()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22142" y="2331720"/>
            <a:ext cx="2304288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create an empty set.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1131570"/>
            <a:ext cx="2647188" cy="21259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61354" y="1303020"/>
            <a:ext cx="342900" cy="3429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1354" y="130302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7124" y="1282446"/>
            <a:ext cx="189280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Iterable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1354" y="1783080"/>
            <a:ext cx="2304288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84798" y="1851660"/>
            <a:ext cx="20574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my_set = set([1, 2, 3])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1354" y="2331720"/>
            <a:ext cx="2304288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/>
            <a:r>
              <a:rPr lang="en-US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list, tuple, or string into a set.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" y="3531870"/>
            <a:ext cx="8318754" cy="1028700"/>
          </a:xfrm>
          <a:prstGeom prst="roundRect">
            <a:avLst>
              <a:gd name="adj" fmla="val 6667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7220" y="3717036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7220" y="37170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65860" y="366903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defTabSz="685800"/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pitfall:  </a:t>
            </a:r>
            <a:r>
              <a:rPr lang="en-US" sz="2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r>
              <a:rPr lang="en-US" sz="20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an 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dict</a:t>
            </a:r>
            <a:r>
              <a:rPr lang="en-US" sz="20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an empty set. Always use </a:t>
            </a:r>
            <a:r>
              <a:rPr lang="en-US" sz="2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set()</a:t>
            </a:r>
            <a:r>
              <a:rPr lang="en-US" sz="20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empty set.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40030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40030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3836" y="198882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25830"/>
            <a:ext cx="4080510" cy="174879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61238" y="1371600"/>
            <a:ext cx="850392" cy="85039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72718" y="1371600"/>
            <a:ext cx="850392" cy="85039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9214" y="1687068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09394" y="1687068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66010" y="1117854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66010" y="147447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B  —  all elements from both sets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66010" y="1851660"/>
            <a:ext cx="198882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89454" y="1920240"/>
            <a:ext cx="17419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49724" y="925830"/>
            <a:ext cx="4080510" cy="174879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99482" y="1371600"/>
            <a:ext cx="850392" cy="8503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10962" y="1371600"/>
            <a:ext cx="850392" cy="8503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79542" y="1474470"/>
            <a:ext cx="301752" cy="6446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7458" y="1687068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7638" y="1687068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4254" y="1117854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04254" y="1474470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  —  elements common to both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04254" y="1851660"/>
            <a:ext cx="198882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7698" y="1920240"/>
            <a:ext cx="17419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" y="2825496"/>
            <a:ext cx="4080510" cy="174879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61238" y="3271266"/>
            <a:ext cx="850392" cy="85039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72718" y="3271266"/>
            <a:ext cx="850392" cy="8503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241298" y="3374136"/>
            <a:ext cx="301752" cy="6446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172718" y="3271266"/>
            <a:ext cx="850392" cy="850392"/>
          </a:xfrm>
          <a:prstGeom prst="ellipse">
            <a:avLst/>
          </a:prstGeom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9214" y="3586734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009394" y="3586734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366010" y="301752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366010" y="3374136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 B  —  in A, but not in 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366010" y="3751326"/>
            <a:ext cx="198882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489454" y="3819906"/>
            <a:ext cx="17419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49724" y="2825496"/>
            <a:ext cx="4080510" cy="174879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99482" y="3271266"/>
            <a:ext cx="850392" cy="85039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410962" y="3271266"/>
            <a:ext cx="850392" cy="85039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479542" y="3374136"/>
            <a:ext cx="301752" cy="6446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999482" y="3271266"/>
            <a:ext cx="850392" cy="850392"/>
          </a:xfrm>
          <a:prstGeom prst="ellipse">
            <a:avLst/>
          </a:prstGeom>
          <a:ln w="1905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10962" y="3271266"/>
            <a:ext cx="850392" cy="850392"/>
          </a:xfrm>
          <a:prstGeom prst="ellipse">
            <a:avLst/>
          </a:prstGeom>
          <a:ln w="1905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07458" y="3586734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47638" y="3586734"/>
            <a:ext cx="2057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04254" y="301752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42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Difference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604254" y="3374136"/>
            <a:ext cx="1988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△ B  —  in either, but not both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604254" y="3751326"/>
            <a:ext cx="198882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27698" y="3819906"/>
            <a:ext cx="17419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lnSpc>
                <a:spcPct val="125000"/>
              </a:lnSpc>
            </a:pPr>
            <a:r>
              <a:rPr lang="en-US" sz="20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b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kern="0" spc="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 •  1 OF 4</a:t>
            </a:r>
            <a:endParaRPr lang="en-US" sz="863" dirty="0"/>
          </a:p>
        </p:txBody>
      </p:sp>
      <p:sp>
        <p:nvSpPr>
          <p:cNvPr id="3" name="Shape 1"/>
          <p:cNvSpPr/>
          <p:nvPr/>
        </p:nvSpPr>
        <p:spPr>
          <a:xfrm>
            <a:off x="411480" y="397764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97764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3836" y="356616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06158" y="1560538"/>
            <a:ext cx="1573226" cy="157322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1868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2832011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82944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596200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2409455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11480" y="44919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B6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 2, 3, 4}      b = {3, 4, 5, 6}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7730" y="113157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∪ 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97730" y="1543050"/>
            <a:ext cx="4046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present in A, in B, or in both</a:t>
            </a:r>
            <a:r>
              <a:rPr lang="en-US" sz="10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773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69773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117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2371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682371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4715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a.union(b)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7730" y="277749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4697730" y="3003804"/>
            <a:ext cx="4212806" cy="1847056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21174" y="3072384"/>
            <a:ext cx="37993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= {1, 2, 3, 4}
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 = {3, 4, 5, 6}
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| b
</a:t>
            </a:r>
            <a:endParaRPr lang="en-US" sz="1100" dirty="0"/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3, 4, 5, 6}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kern="0" spc="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 •  2 OF 4</a:t>
            </a:r>
            <a:endParaRPr lang="en-US" sz="863" dirty="0"/>
          </a:p>
        </p:txBody>
      </p:sp>
      <p:sp>
        <p:nvSpPr>
          <p:cNvPr id="3" name="Shape 1"/>
          <p:cNvSpPr/>
          <p:nvPr/>
        </p:nvSpPr>
        <p:spPr>
          <a:xfrm>
            <a:off x="411480" y="397764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97764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3836" y="356616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06158" y="1560538"/>
            <a:ext cx="1573226" cy="157322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94269" y="1750847"/>
            <a:ext cx="558242" cy="1192607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1868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2832011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82944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596200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409455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11480" y="44919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8" dirty="0">
                <a:solidFill>
                  <a:srgbClr val="6B6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 2, 3, 4}      b = {3, 4, 5, 6}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4697730" y="113157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697730" y="1543050"/>
            <a:ext cx="4046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elements that appear in both A and B.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773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469773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82117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2371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682371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4715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a.intersection(b)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7730" y="277749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710822" y="3072384"/>
            <a:ext cx="4225776" cy="2009394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47488" y="3429000"/>
            <a:ext cx="3799332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= {1, 2, 3, 4}
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 = {3, 4, 5, 6}
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&amp; b
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{3, 4}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kern="0" spc="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 •  3 OF 4</a:t>
            </a:r>
            <a:endParaRPr lang="en-US" sz="863" dirty="0"/>
          </a:p>
        </p:txBody>
      </p:sp>
      <p:sp>
        <p:nvSpPr>
          <p:cNvPr id="3" name="Shape 1"/>
          <p:cNvSpPr/>
          <p:nvPr/>
        </p:nvSpPr>
        <p:spPr>
          <a:xfrm>
            <a:off x="411480" y="397764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97764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3836" y="356616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06158" y="1560538"/>
            <a:ext cx="1573226" cy="157322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94269" y="1750847"/>
            <a:ext cx="558242" cy="119260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1868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2832011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82944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96200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2409455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11480" y="44919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B6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 2, 3, 4}      b = {3, 4, 5, 6}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7730" y="113157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 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97730" y="1543050"/>
            <a:ext cx="4046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A that are NOT in B — direction matters.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773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469773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82117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2371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682371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4715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a.difference(b)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7730" y="277749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697730" y="2770632"/>
            <a:ext cx="4167410" cy="1814338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21174" y="3072384"/>
            <a:ext cx="3799332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= {1, 2, 3, 4}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 = {3, 4, 5, 6}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- b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2}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97730" y="4526280"/>
            <a:ext cx="4046220" cy="411480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34890" y="4526280"/>
            <a:ext cx="3771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b - a gives {5, 6} instead — the opposite result.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5486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kern="0" spc="1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 •  4 OF 4</a:t>
            </a:r>
            <a:endParaRPr lang="en-US" sz="863" dirty="0"/>
          </a:p>
        </p:txBody>
      </p:sp>
      <p:sp>
        <p:nvSpPr>
          <p:cNvPr id="3" name="Shape 1"/>
          <p:cNvSpPr/>
          <p:nvPr/>
        </p:nvSpPr>
        <p:spPr>
          <a:xfrm>
            <a:off x="411480" y="397764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97764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3836" y="356616"/>
            <a:ext cx="6172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Difference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06158" y="1560538"/>
            <a:ext cx="1573226" cy="157322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solidFill>
            <a:srgbClr val="F2A541"/>
          </a:solidFill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94269" y="1750847"/>
            <a:ext cx="558242" cy="119260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6158" y="1560538"/>
            <a:ext cx="1573226" cy="1573226"/>
          </a:xfrm>
          <a:prstGeom prst="ellipse">
            <a:avLst/>
          </a:prstGeom>
          <a:ln w="25400">
            <a:solidFill>
              <a:srgbClr val="141B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67396" y="1560538"/>
            <a:ext cx="1573226" cy="1573226"/>
          </a:xfrm>
          <a:prstGeom prst="ellipse">
            <a:avLst/>
          </a:prstGeom>
          <a:ln w="25400">
            <a:solidFill>
              <a:srgbClr val="5B7F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1868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2832011" y="1272502"/>
            <a:ext cx="34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75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82944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596200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2409455" y="2004251"/>
            <a:ext cx="7543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75" dirty="0"/>
          </a:p>
          <a:p>
            <a:pPr algn="ctr">
              <a:lnSpc>
                <a:spcPct val="115000"/>
              </a:lnSpc>
            </a:pPr>
            <a:r>
              <a:rPr lang="en-US" sz="1275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10247" y="4491990"/>
            <a:ext cx="4587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6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 2, 3, 4}      b = {3, 4, 5, 6}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7730" y="113157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△ B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97730" y="1543050"/>
            <a:ext cx="40462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either A or B, but never in both.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9773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9773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117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3710" y="195453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6823710" y="2160270"/>
            <a:ext cx="192024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47154" y="2228850"/>
            <a:ext cx="16733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a.symmetric_difference(b)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97730" y="277749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697730" y="3003804"/>
            <a:ext cx="4046220" cy="140589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1174" y="3072384"/>
            <a:ext cx="3799332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= {1, 2, 3, 4}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b = {3, 4, 5, 6}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a ^ b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5, 6}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97730" y="4526280"/>
            <a:ext cx="4046220" cy="411480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34890" y="4526280"/>
            <a:ext cx="3771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difference, order doesn't matter: b ^ a gives the same result.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2900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342900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73836" y="301752"/>
            <a:ext cx="685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add()?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11480" y="1165860"/>
            <a:ext cx="40462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single element into an existing set</a:t>
            </a:r>
            <a:endParaRPr lang="en-US" sz="1600" dirty="0"/>
          </a:p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set in place — no new set is created</a:t>
            </a:r>
            <a:endParaRPr lang="en-US" sz="1600" dirty="0"/>
          </a:p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element is already present, the set is left unchanged</a:t>
            </a:r>
            <a:endParaRPr lang="en-US" sz="1600" dirty="0"/>
          </a:p>
          <a:p>
            <a:pPr marL="257175" indent="-257175">
              <a:spcAft>
                <a:spcPts val="1050"/>
              </a:spcAft>
              <a:buSzPct val="100000"/>
              <a:buChar char="•"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must be immutable (hashable) — e.g. a number, string, or tuple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97730" y="116586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4697730" y="1385316"/>
            <a:ext cx="4046220" cy="425196"/>
          </a:xfrm>
          <a:prstGeom prst="roundRect">
            <a:avLst>
              <a:gd name="adj" fmla="val 129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34890" y="1453896"/>
            <a:ext cx="37719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set_name.add(element)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97730" y="1954530"/>
            <a:ext cx="40462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13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4697730" y="2173986"/>
            <a:ext cx="4046220" cy="133731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34890" y="2242566"/>
            <a:ext cx="37719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fruits = {"apple", "banana"}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fruits.add("cherry")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fruits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{'apple', 'banana', 'cherry'}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600450"/>
            <a:ext cx="8318754" cy="925830"/>
          </a:xfrm>
          <a:prstGeom prst="roundRect">
            <a:avLst>
              <a:gd name="adj" fmla="val 740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" y="3771900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7220" y="377190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1570" y="37033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IN" dirty="0"/>
              <a:t>create a ppt for add() function in set with example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425196" cy="4251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425196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73836" y="233172"/>
            <a:ext cx="685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Behaviors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411480" y="1028700"/>
            <a:ext cx="2647188" cy="353187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82930" y="1200150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82930" y="12001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1680210"/>
            <a:ext cx="2304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Are Ignored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582930" y="2160270"/>
            <a:ext cx="2304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element that already exists changes nothing — no error is raised.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2356" y="3188970"/>
            <a:ext cx="2345436" cy="120015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9516" y="3257550"/>
            <a:ext cx="20711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 = {1, 2, 3}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s.add(2)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50692" y="1028700"/>
            <a:ext cx="2647188" cy="353187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22142" y="1200150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22142" y="12001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22142" y="1680210"/>
            <a:ext cx="2304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Hashable Elements</a:t>
            </a:r>
            <a:endParaRPr lang="en-US" sz="1163" dirty="0"/>
          </a:p>
        </p:txBody>
      </p:sp>
      <p:sp>
        <p:nvSpPr>
          <p:cNvPr id="16" name="Text 14"/>
          <p:cNvSpPr/>
          <p:nvPr/>
        </p:nvSpPr>
        <p:spPr>
          <a:xfrm>
            <a:off x="3422142" y="2160270"/>
            <a:ext cx="2304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strings, and tuples work. Lists, dicts, and sets do not — they're mutable.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01568" y="3188970"/>
            <a:ext cx="2345436" cy="120015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38728" y="3257550"/>
            <a:ext cx="20711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s.add((1, 2))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{1, 2, 3, (1, 2)}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9904" y="1028700"/>
            <a:ext cx="2647188" cy="353187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61354" y="1200150"/>
            <a:ext cx="377190" cy="37719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1354" y="120015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1354" y="1680210"/>
            <a:ext cx="23042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63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None</a:t>
            </a:r>
            <a:endParaRPr lang="en-US" sz="1163" dirty="0"/>
          </a:p>
        </p:txBody>
      </p:sp>
      <p:sp>
        <p:nvSpPr>
          <p:cNvPr id="23" name="Text 21"/>
          <p:cNvSpPr/>
          <p:nvPr/>
        </p:nvSpPr>
        <p:spPr>
          <a:xfrm>
            <a:off x="6261354" y="2160270"/>
            <a:ext cx="230428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modifies the set in place and gives back nothing — it is never used for its return value.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0780" y="3188970"/>
            <a:ext cx="2345436" cy="1200150"/>
          </a:xfrm>
          <a:prstGeom prst="roundRect">
            <a:avLst>
              <a:gd name="adj" fmla="val 4571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77940" y="3257550"/>
            <a:ext cx="20711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result = s.add(9)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print(result)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update()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A1A1A"/>
                </a:solidFill>
              </a:rPr>
              <a:t>Adds multiple elements from an iterable (list, tuple, set, etc.) into an existing set, modifying it in-place.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set.update(iterable)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{"apple", "banana"}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fruits.update(["orange", "grape"])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{'apple', 'banana', 'orange', 'grape'}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E6F7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09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✓ update() returns None — it modifies the original set directly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remove()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Removes a specified element from a set. Raises a KeyError if the element does not exist.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set.remove(element)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{1, 2, 3, 4, 5}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numbers.remove(3)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{1, 2, 4, 5}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numbers.remove(10)  # Raises KeyError: 10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FF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09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⚠ Use remove() only when you're certain the element exists — otherwise it will crash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discard()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Removes a specified element from a set. Unlike remove(), it does nothing (no error) if the element does not exist.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set.discard(element)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{"red", "blue", "green"}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colors.discard("blue")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{'red', 'green'}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colors.discard("yellow")  # No error, no 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E6F7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09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✓ Safer than remove() — use it when the element might not exist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pop()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984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Removes and returns an arbitrary (random) element from a set. Raises a KeyError if the set is empty.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set.pop()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319272"/>
            <a:ext cx="75895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 = {"a", "b", "c", "d"}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removed = letters.pop()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print(removed)   # e.g. 'a' (arbitrary element)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print(letters)   # remaining set, e.g. {'b', 'c', 'd'}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FF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914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⚠ Since sets are unordered, pop() does not guarantee which element is removed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clear()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984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Removes all elements from a set, leaving it empty. The set object itself still exists — just with no items.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set.clear()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319272"/>
            <a:ext cx="75895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{1, 2, 3, 4, 5}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numbers.clear()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 # Output: set()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print(len(numbers))   # Output: 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E6F7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914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✓ Returns None — modifies the set in-place, does not create a new set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del Statement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984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Deletes an entire set object, freeing it from memory. This is a Python keyword, not a set method — it does not remove individual elements.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set_name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863840" cy="13716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319272"/>
            <a:ext cx="75895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{"red", "blue", "green"}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colors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print(colors)  # Raises NameError: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name 'colors' is not defined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FF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79145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⚠ Unlike clear(), del removes the variable itself — it can no longer be referenced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Built-in Functions with Sets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</a:rPr>
              <a:t>Python offers general-purpose built-in functions (not set methods) that work directly on sets: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1325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Description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94360" y="1737360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len(set)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37360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 the number of elements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73736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len({1,2,3}) → 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8229600" cy="484632"/>
          </a:xfrm>
          <a:prstGeom prst="rect">
            <a:avLst/>
          </a:prstGeom>
          <a:solidFill>
            <a:srgbClr val="E8EEF5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2221992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sum(set)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2221992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 the sum of elements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22199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sum({1,2,3}) → 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229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94360" y="2706624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max(set)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14600" y="27066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 the largest element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706624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max({4,1,9}) → 9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8229600" cy="484632"/>
          </a:xfrm>
          <a:prstGeom prst="rect">
            <a:avLst/>
          </a:prstGeom>
          <a:solidFill>
            <a:srgbClr val="E8EEF5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94360" y="3191256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min(set)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3191256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 the smallest element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191256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min({4,1,9}) → 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8229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94360" y="3675888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sorted(set)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3675888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Returns a sorted list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3675888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sorted({3,1,2}) → [1,2,3]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484632"/>
          </a:xfrm>
          <a:prstGeom prst="rect">
            <a:avLst/>
          </a:prstGeom>
          <a:solidFill>
            <a:srgbClr val="E8EEF5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94360" y="4160520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any(set)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514600" y="4160520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True if any element is truthy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4160520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any({0,0,1}) → True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8229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94360" y="4645152"/>
            <a:ext cx="18288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all(set)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2514600" y="4645152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True if all elements are truthy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897880" y="4645152"/>
            <a:ext cx="27432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6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all({1,1,0}) → False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Frozenset in Python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BAB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Immutable Set Collections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 Frozenset?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frozenset is an immutable, unordered collection of unique elements in Python.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Characteristics: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Immutable - Cannot be changed after creation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Unordered - No index-based access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 Elements - Duplicates are automatically removed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Hashable - Can be used as dictionary keys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Duplicates - Stores only unique values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8577EC-E9D7-C1A2-6100-65216A7D4FCC}"/>
              </a:ext>
            </a:extLst>
          </p:cNvPr>
          <p:cNvSpPr txBox="1"/>
          <p:nvPr/>
        </p:nvSpPr>
        <p:spPr>
          <a:xfrm>
            <a:off x="110247" y="216854"/>
            <a:ext cx="8696528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 dirty="0">
                <a:effectLst/>
                <a:latin typeface="+mn-lt"/>
              </a:rPr>
              <a:t>Think of </a:t>
            </a:r>
            <a:r>
              <a:rPr lang="en-IN" sz="1800" b="1" u="none" strike="noStrike" dirty="0">
                <a:effectLst/>
                <a:latin typeface="+mn-lt"/>
              </a:rPr>
              <a:t>hashable</a:t>
            </a:r>
            <a:r>
              <a:rPr lang="en-IN" sz="1800" b="0" u="none" strike="noStrike" dirty="0">
                <a:effectLst/>
                <a:latin typeface="+mn-lt"/>
              </a:rPr>
              <a:t> as meaning </a:t>
            </a:r>
            <a:r>
              <a:rPr lang="en-IN" sz="1800" b="1" u="none" strike="noStrike" dirty="0">
                <a:effectLst/>
                <a:latin typeface="+mn-lt"/>
              </a:rPr>
              <a:t>"permanently unique and unchangeable."</a:t>
            </a:r>
            <a:endParaRPr lang="en-IN" sz="1800" b="0" u="none" strike="noStrike" dirty="0">
              <a:effectLst/>
              <a:latin typeface="+mn-lt"/>
            </a:endParaRPr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 dirty="0">
                <a:effectLst/>
                <a:latin typeface="+mn-lt"/>
              </a:rPr>
              <a:t>In Python, if an object is hashable, it can be given a permanent ID number that never changes</a:t>
            </a:r>
            <a:endParaRPr lang="en-IN" dirty="0"/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 dirty="0">
                <a:effectLst/>
                <a:latin typeface="+mn-lt"/>
              </a:rPr>
              <a:t>Imagine a high-security club that uses fingerprints (hash values) to instantly recognize members.</a:t>
            </a:r>
          </a:p>
          <a:p>
            <a:pPr marL="342900" marR="0" lvl="0" indent="-34290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effectLst/>
                <a:latin typeface="+mn-lt"/>
              </a:rPr>
              <a:t>Hashable objects are like stone statues:</a:t>
            </a:r>
            <a:r>
              <a:rPr lang="en-IN" sz="1800" b="0" u="none" strike="noStrike" dirty="0">
                <a:effectLst/>
                <a:latin typeface="+mn-lt"/>
              </a:rPr>
              <a:t> They never warp, melt, or change shape. The club can scan them, assign them a permanent ID, and find them in the database instantly.</a:t>
            </a:r>
          </a:p>
          <a:p>
            <a:pPr marL="342900" marR="0" lvl="0" indent="-342900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effectLst/>
                <a:latin typeface="+mn-lt"/>
              </a:rPr>
              <a:t>Unhashable objects are like clay sculptures:</a:t>
            </a:r>
            <a:r>
              <a:rPr lang="en-IN" sz="1800" b="0" u="none" strike="noStrike" dirty="0">
                <a:effectLst/>
                <a:latin typeface="+mn-lt"/>
              </a:rPr>
              <a:t> They are mutable. If you change the shape of the clay, its fingerprint changes. The club refuses to register them because their identity keeps shifting.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0968910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90F8B-1E8A-AF80-64E6-C35DCFE66935}"/>
              </a:ext>
            </a:extLst>
          </p:cNvPr>
          <p:cNvSpPr txBox="1"/>
          <p:nvPr/>
        </p:nvSpPr>
        <p:spPr>
          <a:xfrm>
            <a:off x="762000" y="367492"/>
            <a:ext cx="7701064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 dirty="0">
                <a:effectLst/>
                <a:latin typeface="+mn-lt"/>
              </a:rPr>
              <a:t>Python needs hashable objects to power </a:t>
            </a:r>
            <a:r>
              <a:rPr lang="en-IN" sz="1800" b="1" u="none" strike="noStrike" dirty="0">
                <a:effectLst/>
                <a:latin typeface="+mn-lt"/>
              </a:rPr>
              <a:t>Dictionaries</a:t>
            </a:r>
            <a:r>
              <a:rPr lang="en-IN" sz="1800" b="0" u="none" strike="noStrike" dirty="0">
                <a:effectLst/>
                <a:latin typeface="+mn-lt"/>
              </a:rPr>
              <a:t> and </a:t>
            </a:r>
            <a:r>
              <a:rPr lang="en-IN" sz="1800" b="1" u="none" strike="noStrike" dirty="0">
                <a:effectLst/>
                <a:latin typeface="+mn-lt"/>
              </a:rPr>
              <a:t>Sets</a:t>
            </a:r>
            <a:r>
              <a:rPr lang="en-IN" sz="1800" b="0" u="none" strike="noStrike" dirty="0">
                <a:effectLst/>
                <a:latin typeface="+mn-lt"/>
              </a:rPr>
              <a:t>.</a:t>
            </a:r>
          </a:p>
          <a:p>
            <a:pPr marL="0" marR="0"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1800" b="0" u="none" strike="noStrike" dirty="0">
                <a:effectLst/>
                <a:latin typeface="+mn-lt"/>
              </a:rPr>
              <a:t>Because Python can find hashable objects instantly by their ID number, </a:t>
            </a:r>
            <a:r>
              <a:rPr lang="en-IN" sz="1800" b="1" u="none" strike="noStrike" dirty="0">
                <a:effectLst/>
                <a:latin typeface="+mn-lt"/>
              </a:rPr>
              <a:t>only hashable objects can be used as Dictionary Keys or items in a Set.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B14FC-7702-8EBB-D98D-77F097029506}"/>
              </a:ext>
            </a:extLst>
          </p:cNvPr>
          <p:cNvSpPr txBox="1"/>
          <p:nvPr/>
        </p:nvSpPr>
        <p:spPr>
          <a:xfrm>
            <a:off x="586901" y="1773883"/>
            <a:ext cx="8012349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effectLst/>
                <a:latin typeface="+mn-lt"/>
              </a:rPr>
              <a:t>Hashable (Unchangeable):</a:t>
            </a:r>
            <a:r>
              <a:rPr lang="en-IN" sz="1800" b="0" u="none" strike="noStrike" dirty="0">
                <a:effectLst/>
                <a:latin typeface="+mn-lt"/>
              </a:rPr>
              <a:t> Text (str), numbers (int/float), and tuple.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800" b="1" u="none" strike="noStrike" dirty="0">
                <a:effectLst/>
                <a:latin typeface="+mn-lt"/>
              </a:rPr>
              <a:t>Unhashable (Changeable):</a:t>
            </a:r>
            <a:r>
              <a:rPr lang="en-IN" sz="1800" b="0" u="none" strike="noStrike" dirty="0">
                <a:effectLst/>
                <a:latin typeface="+mn-lt"/>
              </a:rPr>
              <a:t> Lists (list), dictionaries (</a:t>
            </a:r>
            <a:r>
              <a:rPr lang="en-IN" sz="1800" b="0" u="none" strike="noStrike" dirty="0" err="1">
                <a:effectLst/>
                <a:latin typeface="+mn-lt"/>
              </a:rPr>
              <a:t>dict</a:t>
            </a:r>
            <a:r>
              <a:rPr lang="en-IN" sz="1800" b="0" u="none" strike="noStrike" dirty="0">
                <a:effectLst/>
                <a:latin typeface="+mn-lt"/>
              </a:rPr>
              <a:t>), and sets (set).</a:t>
            </a:r>
            <a:endParaRPr lang="en-IN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0078005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Frozenset vs Set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45499"/>
              </p:ext>
            </p:extLst>
          </p:nvPr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Set</a:t>
                      </a: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Frozenset</a:t>
                      </a:r>
                      <a:endParaRPr lang="en-US" sz="1400" b="1" dirty="0"/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Mutable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Hashable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Dict Key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Add/Remove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Creating Frozensets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Empty frozenset: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list: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frozenset([1, 2, 3, 4])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string: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frozenset('hello')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another set: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{1, 2, 3}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duplicate removal: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frozenset([1, 2, 2, 3, 3, 3])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Frozenset Operations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Supported Operations: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len(fs) - Get length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fs1 | fs2 - Union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fs1 &amp; fs2 - Intersection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fs1 - fs2 - Difference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fs1 ^ fs2 - Symmetric difference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fs1 &lt;= fs2 - Subset check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39C1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Supported (Immutable):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1208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add() - Cannot add elements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2120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remove() - Cannot remove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21208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pop() - Cannot pop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21208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clear() - Cannot clear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1208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update() - Cannot update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Basic Operations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Creating frozensets: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4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fs1 = frozenset([1, 2, 3])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fs2 = frozenset([2, 3, 4])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Union (|):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219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fs1 | fs2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frozenset({1, 2, 3, 4})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Intersection (&amp;):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9923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fs1 &amp; fs2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frozenset({2, 3})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498D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Difference (-):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7647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fs1 - fs2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frozenset({1})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BD24CE-4825-2975-D844-AE586321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445EB2-75BD-79B0-0ED9-2B7AD7F419EF}"/>
              </a:ext>
            </a:extLst>
          </p:cNvPr>
          <p:cNvSpPr/>
          <p:nvPr/>
        </p:nvSpPr>
        <p:spPr>
          <a:xfrm>
            <a:off x="6583680" y="377190"/>
            <a:ext cx="2125980" cy="2125980"/>
          </a:xfrm>
          <a:prstGeom prst="ellipse">
            <a:avLst/>
          </a:prstGeom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16A757-88C3-43E9-5C12-452D357DE890}"/>
              </a:ext>
            </a:extLst>
          </p:cNvPr>
          <p:cNvSpPr/>
          <p:nvPr/>
        </p:nvSpPr>
        <p:spPr>
          <a:xfrm>
            <a:off x="6583680" y="377190"/>
            <a:ext cx="212598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kumimoji="0" lang="en-US" sz="4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73CDC2-0E5D-7EF6-73B9-452DFF37E07C}"/>
              </a:ext>
            </a:extLst>
          </p:cNvPr>
          <p:cNvSpPr/>
          <p:nvPr/>
        </p:nvSpPr>
        <p:spPr>
          <a:xfrm>
            <a:off x="493776" y="1783080"/>
            <a:ext cx="6515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in p</a:t>
            </a:r>
            <a:r>
              <a:rPr kumimoji="0" lang="en-US" sz="34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ython</a:t>
            </a:r>
            <a:endParaRPr kumimoji="0" lang="en-US" sz="3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91BC22-AE4F-EE3F-58A3-11DEB8D9B806}"/>
              </a:ext>
            </a:extLst>
          </p:cNvPr>
          <p:cNvSpPr/>
          <p:nvPr/>
        </p:nvSpPr>
        <p:spPr>
          <a:xfrm>
            <a:off x="514350" y="257175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Fundamentals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2827271-4583-F2A6-48B8-4F329108C776}"/>
              </a:ext>
            </a:extLst>
          </p:cNvPr>
          <p:cNvSpPr/>
          <p:nvPr/>
        </p:nvSpPr>
        <p:spPr>
          <a:xfrm>
            <a:off x="514350" y="449199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3106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Dictionary?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11480" y="973836"/>
            <a:ext cx="377190" cy="4114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11480" y="1200150"/>
            <a:ext cx="4251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unordered, mutable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collection that stores data as </a:t>
            </a:r>
            <a:r>
              <a:rPr lang="en-US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: value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— like a real dictionary maps a word to its meaning.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2057400"/>
            <a:ext cx="288036" cy="288036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11480" y="2057400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2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2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3682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180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add, change, or remove entries after creation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688336"/>
            <a:ext cx="288036" cy="288036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11480" y="2688336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2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2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67762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unique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94208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overwrite the earlier value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1480" y="3319272"/>
            <a:ext cx="288036" cy="288036"/>
          </a:xfrm>
          <a:prstGeom prst="ellipse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11480" y="3319272"/>
            <a:ext cx="2880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2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82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298698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9458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retrieved directly by key, not position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006340" y="1234440"/>
            <a:ext cx="3703320" cy="267462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212080" y="140589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 = { key : value }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12080" y="1851660"/>
            <a:ext cx="1303020" cy="377190"/>
          </a:xfrm>
          <a:prstGeom prst="roundRect">
            <a:avLst>
              <a:gd name="adj" fmla="val 14545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212080" y="1851660"/>
            <a:ext cx="13030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"roll_no"</a:t>
            </a:r>
            <a:endParaRPr lang="en-US" sz="975" dirty="0"/>
          </a:p>
        </p:txBody>
      </p:sp>
      <p:sp>
        <p:nvSpPr>
          <p:cNvPr id="22" name="Text 20"/>
          <p:cNvSpPr txBox="1"/>
          <p:nvPr/>
        </p:nvSpPr>
        <p:spPr>
          <a:xfrm>
            <a:off x="6549390" y="185166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60870" y="1851660"/>
            <a:ext cx="1440180" cy="37719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960870" y="1851660"/>
            <a:ext cx="1440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5212080" y="2386584"/>
            <a:ext cx="1303020" cy="377190"/>
          </a:xfrm>
          <a:prstGeom prst="roundRect">
            <a:avLst>
              <a:gd name="adj" fmla="val 14545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212080" y="2386584"/>
            <a:ext cx="13030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endParaRPr lang="en-US" sz="975" dirty="0"/>
          </a:p>
        </p:txBody>
      </p:sp>
      <p:sp>
        <p:nvSpPr>
          <p:cNvPr id="27" name="Text 25"/>
          <p:cNvSpPr txBox="1"/>
          <p:nvPr/>
        </p:nvSpPr>
        <p:spPr>
          <a:xfrm>
            <a:off x="6549390" y="23865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60870" y="2386584"/>
            <a:ext cx="1440180" cy="37719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60870" y="2386584"/>
            <a:ext cx="1440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"Raj"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5212080" y="2921508"/>
            <a:ext cx="1303020" cy="377190"/>
          </a:xfrm>
          <a:prstGeom prst="roundRect">
            <a:avLst>
              <a:gd name="adj" fmla="val 14545"/>
            </a:avLst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212080" y="2921508"/>
            <a:ext cx="13030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"cgpa"</a:t>
            </a:r>
            <a:endParaRPr lang="en-US" sz="975" dirty="0"/>
          </a:p>
        </p:txBody>
      </p:sp>
      <p:sp>
        <p:nvSpPr>
          <p:cNvPr id="32" name="Text 30"/>
          <p:cNvSpPr txBox="1"/>
          <p:nvPr/>
        </p:nvSpPr>
        <p:spPr>
          <a:xfrm>
            <a:off x="6549390" y="292150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60870" y="2921508"/>
            <a:ext cx="1440180" cy="377190"/>
          </a:xfrm>
          <a:prstGeom prst="roundRect">
            <a:avLst>
              <a:gd name="adj" fmla="val 14545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960870" y="2921508"/>
            <a:ext cx="1440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975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3566160"/>
            <a:ext cx="3291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key   ·   Yellow = value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42900" y="4855464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Dictionaries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55914" y="4855464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Introduction to Dictionaries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What is a Dictionary?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0196" y="1325880"/>
            <a:ext cx="84046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A dictionary is an unordered, mutable collection that stores data as key-value pairs. Each key must be unique and immutable, while values can be of any type.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Key Characteristics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7724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32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Key-Value Pairs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80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Data stored as {key: value}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242316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46320" y="25328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5328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Mutable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880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Can add, update, or remove items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673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No Duplicate Keys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14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Each key must be unique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6576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846320" y="3767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76732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</a:rPr>
              <a:t>Fast Lookup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114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Access values quickly using keys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Creating &amp; Accessing a Dictionary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dict_name = {key1: value1, key2: value2}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7863840" cy="18288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267712"/>
            <a:ext cx="75895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"Riya",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21,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"course": "Computer Science"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   # Output: Riya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print(student.get("age"))   # Output: 21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solidFill>
            <a:srgbClr val="E6F7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4206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✓ Access values using square brackets [ ] or the get() method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Dictionaries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11480" y="973836"/>
            <a:ext cx="377190" cy="4114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268730"/>
            <a:ext cx="2708910" cy="3154680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82930" y="1419606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syntax</a:t>
            </a:r>
            <a:endParaRPr lang="en-US" sz="1125" dirty="0"/>
          </a:p>
        </p:txBody>
      </p:sp>
      <p:sp>
        <p:nvSpPr>
          <p:cNvPr id="7" name="Text 5"/>
          <p:cNvSpPr txBox="1"/>
          <p:nvPr/>
        </p:nvSpPr>
        <p:spPr>
          <a:xfrm>
            <a:off x="582930" y="168021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15000"/>
              </a:lnSpc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way — curly braces with pairs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2356" y="2194560"/>
            <a:ext cx="2407158" cy="1337310"/>
          </a:xfrm>
          <a:prstGeom prst="roundRect">
            <a:avLst>
              <a:gd name="adj" fmla="val 410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" y="230428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36676" y="230428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87552" y="230428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3806" y="2482596"/>
            <a:ext cx="2064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400" dirty="0"/>
          </a:p>
          <a:p>
            <a:pPr algn="just"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"Raj",</a:t>
            </a:r>
            <a:endParaRPr lang="en-US" sz="1400" dirty="0"/>
          </a:p>
          <a:p>
            <a:pPr algn="just"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"roll": 101</a:t>
            </a:r>
            <a:endParaRPr lang="en-US" sz="1400" dirty="0"/>
          </a:p>
          <a:p>
            <a:pPr algn="just"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2414" y="1268730"/>
            <a:ext cx="2708910" cy="3154680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483864" y="1419606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dict() constructor</a:t>
            </a:r>
            <a:endParaRPr lang="en-US" sz="1125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168021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keyword arguments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3290" y="2194560"/>
            <a:ext cx="2407158" cy="1337310"/>
          </a:xfrm>
          <a:prstGeom prst="roundRect">
            <a:avLst>
              <a:gd name="adj" fmla="val 410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586734" y="230428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37610" y="230428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88486" y="230428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634740" y="2482596"/>
            <a:ext cx="2064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dict(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name="Raj",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roll=101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3348" y="1268730"/>
            <a:ext cx="2708910" cy="3154680"/>
          </a:xfrm>
          <a:prstGeom prst="roundRect">
            <a:avLst>
              <a:gd name="adj" fmla="val 2532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384798" y="1419606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dictionary</a:t>
            </a:r>
            <a:endParaRPr lang="en-US" sz="1125" dirty="0"/>
          </a:p>
        </p:txBody>
      </p:sp>
      <p:sp>
        <p:nvSpPr>
          <p:cNvPr id="23" name="Text 21"/>
          <p:cNvSpPr txBox="1"/>
          <p:nvPr/>
        </p:nvSpPr>
        <p:spPr>
          <a:xfrm>
            <a:off x="6384798" y="1680210"/>
            <a:ext cx="23660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empty, fill in later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4224" y="2194560"/>
            <a:ext cx="2407158" cy="1337310"/>
          </a:xfrm>
          <a:prstGeom prst="roundRect">
            <a:avLst>
              <a:gd name="adj" fmla="val 4103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87668" y="230428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638544" y="230428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89420" y="230428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535674" y="2482596"/>
            <a:ext cx="2064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= {}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= dict()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" y="4560570"/>
            <a:ext cx="8298180" cy="0"/>
          </a:xfrm>
          <a:prstGeom prst="roundRect">
            <a:avLst/>
          </a:prstGeom>
          <a:noFill/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2900" y="4855464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55914" y="4855464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Dictionary Elements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11480" y="973836"/>
            <a:ext cx="377190" cy="4114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11480" y="116586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retrieve a value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474470"/>
            <a:ext cx="4046220" cy="1405890"/>
          </a:xfrm>
          <a:prstGeom prst="roundRect">
            <a:avLst>
              <a:gd name="adj" fmla="val 4878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82930" y="1577340"/>
            <a:ext cx="3703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dict[key]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82930" y="1803654"/>
            <a:ext cx="3703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KeyError if the key is missing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82930" y="2057400"/>
            <a:ext cx="3703320" cy="72009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6374" y="216712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7250" y="216712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8126" y="216712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54380" y="2345436"/>
            <a:ext cx="3360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200" dirty="0"/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Raj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9150" y="1474470"/>
            <a:ext cx="4046220" cy="1405890"/>
          </a:xfrm>
          <a:prstGeom prst="roundRect">
            <a:avLst>
              <a:gd name="adj" fmla="val 4878"/>
            </a:avLst>
          </a:prstGeom>
          <a:solidFill>
            <a:srgbClr val="F4F6FA"/>
          </a:solidFill>
          <a:ln w="12700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00600" y="1577340"/>
            <a:ext cx="3703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.get(key)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03654"/>
            <a:ext cx="3703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3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None (or a default) if missing — safer</a:t>
            </a:r>
            <a:endParaRPr lang="en-US" sz="863" dirty="0"/>
          </a:p>
        </p:txBody>
      </p:sp>
      <p:sp>
        <p:nvSpPr>
          <p:cNvPr id="17" name="Shape 15"/>
          <p:cNvSpPr/>
          <p:nvPr/>
        </p:nvSpPr>
        <p:spPr>
          <a:xfrm>
            <a:off x="4800600" y="2057400"/>
            <a:ext cx="3703320" cy="72009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924044" y="216712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74920" y="216712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225796" y="216712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972050" y="2345436"/>
            <a:ext cx="3360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print(student.get("age"))</a:t>
            </a:r>
            <a:endParaRPr lang="en-US" sz="1200" dirty="0"/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305181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 missing key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11480" y="3326130"/>
            <a:ext cx="8263890" cy="1303020"/>
          </a:xfrm>
          <a:prstGeom prst="roundRect">
            <a:avLst>
              <a:gd name="adj" fmla="val 4211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4924" y="343585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85800" y="343585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36676" y="343585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82930" y="3614166"/>
            <a:ext cx="792099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print(student["age"])</a:t>
            </a:r>
            <a:endParaRPr lang="en-US" sz="1200" dirty="0"/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KeyError: 'age'</a:t>
            </a:r>
            <a:endParaRPr lang="en-US" sz="1200" dirty="0"/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print(student.get("age", "Not Provided"))</a:t>
            </a:r>
            <a:endParaRPr lang="en-US" sz="1200" dirty="0"/>
          </a:p>
          <a:p>
            <a:pPr>
              <a:lnSpc>
                <a:spcPct val="118000"/>
              </a:lnSpc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Provided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" y="4855464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Dictionaries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55914" y="4855464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DATA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&amp; Modifying Values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411480" y="973836"/>
            <a:ext cx="377190" cy="41148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11480" y="1200150"/>
            <a:ext cx="8570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a key using </a:t>
            </a:r>
            <a:r>
              <a:rPr lang="en-US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dict[key] = value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</a:t>
            </a: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adds an entry; an </a:t>
            </a: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r>
              <a:rPr lang="en-US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updates it.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4160520" cy="3031236"/>
          </a:xfrm>
          <a:prstGeom prst="roundRect">
            <a:avLst>
              <a:gd name="adj" fmla="val 2051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4924" y="1755648"/>
            <a:ext cx="75438" cy="75438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75438" cy="75438"/>
          </a:xfrm>
          <a:prstGeom prst="ellipse">
            <a:avLst/>
          </a:prstGeom>
          <a:solidFill>
            <a:srgbClr val="E6B450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36676" y="1755648"/>
            <a:ext cx="75438" cy="7543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82930" y="1933956"/>
            <a:ext cx="3771900" cy="229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"Raj",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"roll": 101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E8F0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new key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student["cgpa"] = 8.5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Modify an existing key</a:t>
            </a:r>
            <a:endParaRPr lang="en-US" sz="1400" dirty="0"/>
          </a:p>
          <a:p>
            <a:pPr>
              <a:lnSpc>
                <a:spcPct val="118000"/>
              </a:lnSpc>
            </a:pPr>
            <a:r>
              <a:rPr lang="en-US" sz="14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student["name"] = "Rajat</a:t>
            </a:r>
            <a:r>
              <a:rPr lang="en-US" sz="1013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4766310" y="1645920"/>
            <a:ext cx="3943350" cy="1200150"/>
          </a:xfrm>
          <a:prstGeom prst="roundRect">
            <a:avLst>
              <a:gd name="adj" fmla="val 5714"/>
            </a:avLst>
          </a:prstGeom>
          <a:solidFill>
            <a:srgbClr val="FDEAEA"/>
          </a:solidFill>
          <a:ln w="1270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937760" y="174879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25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75104"/>
            <a:ext cx="3634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"Raj", "roll": 101}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31720"/>
            <a:ext cx="36347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keys — no CGPA field yet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66310" y="2983230"/>
            <a:ext cx="3943350" cy="1337310"/>
          </a:xfrm>
          <a:prstGeom prst="roundRect">
            <a:avLst>
              <a:gd name="adj" fmla="val 5128"/>
            </a:avLst>
          </a:prstGeom>
          <a:solidFill>
            <a:srgbClr val="EAF7EF"/>
          </a:solidFill>
          <a:ln w="12700">
            <a:solidFill>
              <a:srgbClr val="BFE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937760" y="3086100"/>
            <a:ext cx="2743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25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305556"/>
            <a:ext cx="36347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"Rajat", "roll": 101,</a:t>
            </a:r>
            <a:endParaRPr lang="en-US" sz="1600" dirty="0"/>
          </a:p>
          <a:p>
            <a:r>
              <a:rPr lang="en-US" sz="16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"cgpa": 8.5}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898773"/>
            <a:ext cx="3634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updated + cgpa key added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2900" y="4855464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Dictionaries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55914" y="4855464"/>
            <a:ext cx="3429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E326-B63D-C4DB-E6AD-C195D3E8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11EB85-7DD2-4E50-1701-8DBFC2DE26E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BB677D-33AA-D7E0-C281-31EE692DD3A5}"/>
              </a:ext>
            </a:extLst>
          </p:cNvPr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update() Method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D8D5E2-704D-CD1A-D56B-24E8C3EB3813}"/>
              </a:ext>
            </a:extLst>
          </p:cNvPr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Purpose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65E55A-7890-2EA0-5525-E1D691821473}"/>
              </a:ext>
            </a:extLst>
          </p:cNvPr>
          <p:cNvSpPr txBox="1"/>
          <p:nvPr/>
        </p:nvSpPr>
        <p:spPr>
          <a:xfrm>
            <a:off x="822960" y="1371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N" dirty="0"/>
              <a:t>adds or modifies elements in a dictionary using key-value pairs from another dictionary or an iterables object.</a:t>
            </a:r>
          </a:p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844FCB-AD5C-8744-6B71-CA1E3A738EAC}"/>
              </a:ext>
            </a:extLst>
          </p:cNvPr>
          <p:cNvSpPr txBox="1"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Syntax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B36FAA-9AD9-B906-E92A-67B1F1319A69}"/>
              </a:ext>
            </a:extLst>
          </p:cNvPr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61C678-4493-6B42-DE3D-B6A62E2C3B24}"/>
              </a:ext>
            </a:extLst>
          </p:cNvPr>
          <p:cNvSpPr txBox="1"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5B6"/>
                </a:solidFill>
              </a:rPr>
              <a:t>Example</a:t>
            </a:r>
            <a:endParaRPr lang="en-US" sz="1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9BC5EE8-1781-7BCC-97B0-91338AE23717}"/>
              </a:ext>
            </a:extLst>
          </p:cNvPr>
          <p:cNvSpPr/>
          <p:nvPr/>
        </p:nvSpPr>
        <p:spPr>
          <a:xfrm>
            <a:off x="640080" y="3337560"/>
            <a:ext cx="7863840" cy="1188720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B421E23-54DA-9C20-612F-14F799A475AE}"/>
              </a:ext>
            </a:extLst>
          </p:cNvPr>
          <p:cNvSpPr txBox="1"/>
          <p:nvPr/>
        </p:nvSpPr>
        <p:spPr>
          <a:xfrm>
            <a:off x="777240" y="34290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>
                <a:solidFill>
                  <a:schemeClr val="accent6"/>
                </a:solidFill>
              </a:rPr>
              <a:t>profile = {"name": "Alex"} # Update using keyword arguments profile.update(status="Active", score=95) print(profile) </a:t>
            </a:r>
          </a:p>
          <a:p>
            <a:r>
              <a:rPr lang="en-IN" dirty="0">
                <a:solidFill>
                  <a:schemeClr val="accent6"/>
                </a:solidFill>
              </a:rPr>
              <a:t># Output: {'name': 'Alex', 'status': 'Active', 'score': 95}</a:t>
            </a:r>
            <a:endParaRPr lang="en-US" sz="1300" dirty="0">
              <a:solidFill>
                <a:schemeClr val="accent6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D577AA6-6209-14B1-4B32-1ADFC6500BF1}"/>
              </a:ext>
            </a:extLst>
          </p:cNvPr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E6F7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3BD0F3-5C9C-1FB8-CCA0-306E97AD2D7D}"/>
              </a:ext>
            </a:extLst>
          </p:cNvPr>
          <p:cNvSpPr txBox="1"/>
          <p:nvPr/>
        </p:nvSpPr>
        <p:spPr>
          <a:xfrm>
            <a:off x="777240" y="4709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✓ update() returns None — it modifies the original set directly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CEA40-2899-25CA-DEE3-EE20DEEFC5D7}"/>
              </a:ext>
            </a:extLst>
          </p:cNvPr>
          <p:cNvSpPr txBox="1"/>
          <p:nvPr/>
        </p:nvSpPr>
        <p:spPr>
          <a:xfrm>
            <a:off x="822960" y="23758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accent6"/>
                </a:solidFill>
              </a:rPr>
              <a:t>dict.update</a:t>
            </a:r>
            <a:r>
              <a:rPr lang="en-IN" dirty="0">
                <a:solidFill>
                  <a:schemeClr val="accent6"/>
                </a:solidFill>
              </a:rPr>
              <a:t>(</a:t>
            </a:r>
            <a:r>
              <a:rPr lang="en-IN" dirty="0" err="1">
                <a:solidFill>
                  <a:schemeClr val="accent6"/>
                </a:solidFill>
              </a:rPr>
              <a:t>iterable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90896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8">
            <a:extLst>
              <a:ext uri="{FF2B5EF4-FFF2-40B4-BE49-F238E27FC236}">
                <a16:creationId xmlns:a16="http://schemas.microsoft.com/office/drawing/2014/main" id="{C905BAEF-56F5-121E-E8DB-4AEE0DCA4405}"/>
              </a:ext>
            </a:extLst>
          </p:cNvPr>
          <p:cNvSpPr/>
          <p:nvPr/>
        </p:nvSpPr>
        <p:spPr>
          <a:xfrm>
            <a:off x="484436" y="788912"/>
            <a:ext cx="8082389" cy="1954287"/>
          </a:xfrm>
          <a:prstGeom prst="rect">
            <a:avLst/>
          </a:prstGeom>
          <a:solidFill>
            <a:srgbClr val="2D2D2D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accent6"/>
                </a:solidFill>
              </a:rPr>
              <a:t>profile = {"name": "Alex"}# Update using a list of key-value tuples</a:t>
            </a:r>
          </a:p>
          <a:p>
            <a:r>
              <a:rPr lang="en-IN" dirty="0" err="1">
                <a:solidFill>
                  <a:schemeClr val="accent6"/>
                </a:solidFill>
              </a:rPr>
              <a:t>new_data</a:t>
            </a:r>
            <a:r>
              <a:rPr lang="en-IN" dirty="0">
                <a:solidFill>
                  <a:schemeClr val="accent6"/>
                </a:solidFill>
              </a:rPr>
              <a:t> = [("city", "Delhi"), ("verified", True)]</a:t>
            </a:r>
          </a:p>
          <a:p>
            <a:r>
              <a:rPr lang="en-IN" dirty="0">
                <a:solidFill>
                  <a:schemeClr val="accent6"/>
                </a:solidFill>
              </a:rPr>
              <a:t>profile.update(</a:t>
            </a:r>
            <a:r>
              <a:rPr lang="en-IN" dirty="0" err="1">
                <a:solidFill>
                  <a:schemeClr val="accent6"/>
                </a:solidFill>
              </a:rPr>
              <a:t>new_data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r>
              <a:rPr lang="en-IN" dirty="0">
                <a:solidFill>
                  <a:schemeClr val="accent6"/>
                </a:solidFill>
              </a:rPr>
              <a:t>print(profile)</a:t>
            </a:r>
          </a:p>
          <a:p>
            <a:r>
              <a:rPr lang="en-IN" dirty="0">
                <a:solidFill>
                  <a:schemeClr val="accent6"/>
                </a:solidFill>
              </a:rPr>
              <a:t># Output: {'name': 'Alex', 'city': 'Delhi', 'verified': True}</a:t>
            </a:r>
          </a:p>
        </p:txBody>
      </p:sp>
    </p:spTree>
    <p:extLst>
      <p:ext uri="{BB962C8B-B14F-4D97-AF65-F5344CB8AC3E}">
        <p14:creationId xmlns:p14="http://schemas.microsoft.com/office/powerpoint/2010/main" val="15270565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pop() Method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Removes a key from a dictionary and returns its value. Raises KeyError if the key doesn't exist (unless a default is given).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dict.pop(key, default)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and return the value for "age"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student.pop("age")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print(age)       # 21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   # {'name': 'Riya', 'grade': 'A'}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Using a default to avoid KeyError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student.pop("city", "Not Found")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print(city)      # Not Found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Without a default, a missing key raises KeyError.  ✓ With a default, it returns that value instead of raising an error.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Dictionary popitem() Method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Removes and returns the last inserted key-value pair as a tuple. Raises KeyError if the dictionary is empty.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dict.popitem()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Removes and returns the LAST inserted pair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= student.popitem()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print(item)      # ('grade', 'A')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   # {'name': 'Riya', 'age': 21}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Calling on an empty dictionary raises KeyError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{}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empty.popitem()  # KeyError: 'popitem(): dictionary is empty'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7AE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 Since Python 3.7, dicts preserve insertion order, so popitem() removes the most recently added item (LIFO).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Dictionary clear()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Removes all key-value pairs from a dictionary, leaving it empty. The dictionary itself still exists, just with no items.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dict.clear()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   # {'name': 'Riya', 'age': 21, 'grade': 'A'}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all key-value pairs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student.clear()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   # {}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print(len(student))  # 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clear() empties the dictionary in place — it does not create a new dictionary or return a value (returns None).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3E50"/>
                </a:solidFill>
              </a:rPr>
              <a:t>The del Statement in Dictionary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del is a keyword (not a method) used to remove a specific key-value pair, or delete the entire dictionary itself. Raises KeyError if the key doesn't exist.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del dict[key]      or      del dict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377440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a single key-value pair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student["age"]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   # {'name': 'Riya', 'grade': 'A'}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Deleting a missing key raises KeyError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 student["city"]   -&gt; KeyError: 'city'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the entire dictionary object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student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print(student)  -&gt; NameError: name 'student' is not defined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del dict[key] removes one pair. ✓ del dict removes the whole variable — it no longer exists afterward.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Dictionary keys()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Returns a view object containing all the keys of a dictionary. The view stays in sync with the dictionary if it changes later.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dict.keys()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59"/>
            <a:ext cx="8278238" cy="2526597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all keys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student.keys()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print(k)          # dict_keys(['name', 'age', 'grade'])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a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print(list(k))    # ['name', 'age', 'grade']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updates automatically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student["city"] = "Ahmedabad"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print(k)          # dict_keys(['name', 'age', 'grade', 'city'])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keys() returns a dynamic view, not a copy — it reflects any later additions or removals in the dictionary.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Dictionary values()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Returns a view object containing all the values of a dictionary. The view stays in sync with the dictionary if it changes later.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dict.values()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59"/>
            <a:ext cx="8336604" cy="2533083"/>
          </a:xfrm>
          <a:prstGeom prst="rect">
            <a:avLst/>
          </a:prstGeom>
          <a:solidFill>
            <a:srgbClr val="F4F6F8"/>
          </a:solidFill>
          <a:ln w="25400">
            <a:solidFill>
              <a:srgbClr val="EC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"Riya", "age": 21, "grade": "A"}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all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student.values()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print(v)          # dict_values(['Riya', 21, 'A'])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a 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print(list(v))    # ['Riya', 21, 'A']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updates automatically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= 22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print(v)          # dict_values(['Riya', 22, 'A'])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values() returns a dynamic view, not a copy — it reflects any later changes to the dictionary's values.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071C8-A3D0-154F-5324-1BA709064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70" y="308789"/>
            <a:ext cx="7322723" cy="46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5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8528</Words>
  <Application>Microsoft Office PowerPoint</Application>
  <PresentationFormat>On-screen Show (16:9)</PresentationFormat>
  <Paragraphs>1139</Paragraphs>
  <Slides>85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Aptos</vt:lpstr>
      <vt:lpstr>Arial</vt:lpstr>
      <vt:lpstr>Calibri</vt:lpstr>
      <vt:lpstr>Cambria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Shivangi Matieda</cp:lastModifiedBy>
  <cp:revision>30</cp:revision>
  <dcterms:created xsi:type="dcterms:W3CDTF">2026-08-19T10:55:49Z</dcterms:created>
  <dcterms:modified xsi:type="dcterms:W3CDTF">2026-09-03T04:16:00Z</dcterms:modified>
</cp:coreProperties>
</file>