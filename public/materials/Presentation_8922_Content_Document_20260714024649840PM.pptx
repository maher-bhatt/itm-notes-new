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65"/>
  </p:notesMasterIdLst>
  <p:handoutMasterIdLst>
    <p:handoutMasterId r:id="rId166"/>
  </p:handoutMasterIdLst>
  <p:sldIdLst>
    <p:sldId id="256" r:id="rId2"/>
    <p:sldId id="257" r:id="rId3"/>
    <p:sldId id="258" r:id="rId4"/>
    <p:sldId id="419" r:id="rId5"/>
    <p:sldId id="420" r:id="rId6"/>
    <p:sldId id="411" r:id="rId7"/>
    <p:sldId id="412" r:id="rId8"/>
    <p:sldId id="413" r:id="rId9"/>
    <p:sldId id="414" r:id="rId10"/>
    <p:sldId id="415" r:id="rId11"/>
    <p:sldId id="416" r:id="rId12"/>
    <p:sldId id="259"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427" r:id="rId49"/>
    <p:sldId id="298" r:id="rId50"/>
    <p:sldId id="299" r:id="rId51"/>
    <p:sldId id="300" r:id="rId52"/>
    <p:sldId id="301" r:id="rId53"/>
    <p:sldId id="410" r:id="rId54"/>
    <p:sldId id="417" r:id="rId55"/>
    <p:sldId id="418" r:id="rId56"/>
    <p:sldId id="386" r:id="rId57"/>
    <p:sldId id="387" r:id="rId58"/>
    <p:sldId id="388" r:id="rId59"/>
    <p:sldId id="389" r:id="rId60"/>
    <p:sldId id="390" r:id="rId61"/>
    <p:sldId id="391" r:id="rId62"/>
    <p:sldId id="302" r:id="rId63"/>
    <p:sldId id="303" r:id="rId64"/>
    <p:sldId id="304" r:id="rId65"/>
    <p:sldId id="305" r:id="rId66"/>
    <p:sldId id="306" r:id="rId67"/>
    <p:sldId id="307" r:id="rId68"/>
    <p:sldId id="308" r:id="rId69"/>
    <p:sldId id="309" r:id="rId70"/>
    <p:sldId id="310" r:id="rId71"/>
    <p:sldId id="311" r:id="rId72"/>
    <p:sldId id="312" r:id="rId73"/>
    <p:sldId id="313" r:id="rId74"/>
    <p:sldId id="314" r:id="rId75"/>
    <p:sldId id="315" r:id="rId76"/>
    <p:sldId id="316" r:id="rId77"/>
    <p:sldId id="317" r:id="rId78"/>
    <p:sldId id="318" r:id="rId79"/>
    <p:sldId id="319" r:id="rId80"/>
    <p:sldId id="320" r:id="rId81"/>
    <p:sldId id="321" r:id="rId82"/>
    <p:sldId id="322" r:id="rId83"/>
    <p:sldId id="323" r:id="rId84"/>
    <p:sldId id="324" r:id="rId85"/>
    <p:sldId id="325" r:id="rId86"/>
    <p:sldId id="326" r:id="rId87"/>
    <p:sldId id="327" r:id="rId88"/>
    <p:sldId id="328" r:id="rId89"/>
    <p:sldId id="329" r:id="rId90"/>
    <p:sldId id="330" r:id="rId91"/>
    <p:sldId id="331" r:id="rId92"/>
    <p:sldId id="332" r:id="rId93"/>
    <p:sldId id="333" r:id="rId94"/>
    <p:sldId id="334" r:id="rId95"/>
    <p:sldId id="335" r:id="rId96"/>
    <p:sldId id="336" r:id="rId97"/>
    <p:sldId id="337" r:id="rId98"/>
    <p:sldId id="338" r:id="rId99"/>
    <p:sldId id="339" r:id="rId100"/>
    <p:sldId id="340" r:id="rId101"/>
    <p:sldId id="341" r:id="rId102"/>
    <p:sldId id="342" r:id="rId103"/>
    <p:sldId id="343" r:id="rId104"/>
    <p:sldId id="344" r:id="rId105"/>
    <p:sldId id="345" r:id="rId106"/>
    <p:sldId id="346" r:id="rId107"/>
    <p:sldId id="347" r:id="rId108"/>
    <p:sldId id="348" r:id="rId109"/>
    <p:sldId id="349" r:id="rId110"/>
    <p:sldId id="350" r:id="rId111"/>
    <p:sldId id="351" r:id="rId112"/>
    <p:sldId id="352" r:id="rId113"/>
    <p:sldId id="353" r:id="rId114"/>
    <p:sldId id="354" r:id="rId115"/>
    <p:sldId id="355" r:id="rId116"/>
    <p:sldId id="356" r:id="rId117"/>
    <p:sldId id="357" r:id="rId118"/>
    <p:sldId id="358" r:id="rId119"/>
    <p:sldId id="359" r:id="rId120"/>
    <p:sldId id="360" r:id="rId121"/>
    <p:sldId id="361" r:id="rId122"/>
    <p:sldId id="362" r:id="rId123"/>
    <p:sldId id="363" r:id="rId124"/>
    <p:sldId id="364" r:id="rId125"/>
    <p:sldId id="365" r:id="rId126"/>
    <p:sldId id="366" r:id="rId127"/>
    <p:sldId id="367" r:id="rId128"/>
    <p:sldId id="368" r:id="rId129"/>
    <p:sldId id="369" r:id="rId130"/>
    <p:sldId id="370" r:id="rId131"/>
    <p:sldId id="371" r:id="rId132"/>
    <p:sldId id="372" r:id="rId133"/>
    <p:sldId id="373" r:id="rId134"/>
    <p:sldId id="374" r:id="rId135"/>
    <p:sldId id="375" r:id="rId136"/>
    <p:sldId id="376" r:id="rId137"/>
    <p:sldId id="377" r:id="rId138"/>
    <p:sldId id="378" r:id="rId139"/>
    <p:sldId id="379" r:id="rId140"/>
    <p:sldId id="380" r:id="rId141"/>
    <p:sldId id="381" r:id="rId142"/>
    <p:sldId id="382" r:id="rId143"/>
    <p:sldId id="383" r:id="rId144"/>
    <p:sldId id="384" r:id="rId145"/>
    <p:sldId id="385" r:id="rId146"/>
    <p:sldId id="392" r:id="rId147"/>
    <p:sldId id="393" r:id="rId148"/>
    <p:sldId id="394" r:id="rId149"/>
    <p:sldId id="395" r:id="rId150"/>
    <p:sldId id="396" r:id="rId151"/>
    <p:sldId id="397" r:id="rId152"/>
    <p:sldId id="398" r:id="rId153"/>
    <p:sldId id="399" r:id="rId154"/>
    <p:sldId id="400" r:id="rId155"/>
    <p:sldId id="401" r:id="rId156"/>
    <p:sldId id="402" r:id="rId157"/>
    <p:sldId id="403" r:id="rId158"/>
    <p:sldId id="404" r:id="rId159"/>
    <p:sldId id="405" r:id="rId160"/>
    <p:sldId id="406" r:id="rId161"/>
    <p:sldId id="407" r:id="rId162"/>
    <p:sldId id="408" r:id="rId163"/>
    <p:sldId id="409" r:id="rId164"/>
  </p:sldIdLst>
  <p:sldSz cx="9144000" cy="5143500" type="screen16x9"/>
  <p:notesSz cx="6797675" cy="9926638"/>
  <p:embeddedFontLst>
    <p:embeddedFont>
      <p:font typeface="Georgia" panose="02040502050405020303" pitchFamily="18" charset="0"/>
      <p:regular r:id="rId167"/>
      <p:bold r:id="rId168"/>
      <p:italic r:id="rId169"/>
      <p:boldItalic r:id="rId170"/>
    </p:embeddedFont>
    <p:embeddedFont>
      <p:font typeface="Nunito" pitchFamily="2" charset="0"/>
      <p:regular r:id="rId171"/>
      <p:bold r:id="rId172"/>
      <p:italic r:id="rId173"/>
      <p:boldItalic r:id="rId174"/>
    </p:embeddedFont>
    <p:embeddedFont>
      <p:font typeface="Open Sans" panose="020B0606030504020204" pitchFamily="34" charset="0"/>
      <p:regular r:id="rId175"/>
      <p:bold r:id="rId176"/>
      <p:italic r:id="rId177"/>
      <p:boldItalic r:id="rId178"/>
    </p:embeddedFont>
    <p:embeddedFont>
      <p:font typeface="PT Sans Narrow" panose="020B0506020203020204" pitchFamily="34" charset="0"/>
      <p:regular r:id="rId179"/>
      <p:bold r:id="rId180"/>
    </p:embeddedFont>
    <p:embeddedFont>
      <p:font typeface="Roboto" panose="02000000000000000000" pitchFamily="2" charset="0"/>
      <p:regular r:id="rId181"/>
      <p:bold r:id="rId182"/>
      <p:italic r:id="rId183"/>
      <p:boldItalic r:id="rId18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90A99F2-0CEC-44C2-96FF-CCC94FB5FFD1}">
  <a:tblStyle styleId="{290A99F2-0CEC-44C2-96FF-CCC94FB5FFD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3" d="100"/>
          <a:sy n="73" d="100"/>
        </p:scale>
        <p:origin x="1080" y="4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font" Target="fonts/font4.fnt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font" Target="fonts/font15.fntdata"/><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font" Target="fonts/font5.fntdata"/><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font" Target="fonts/font16.fntdata"/><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font" Target="fonts/font6.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font" Target="fonts/font1.fntdata"/><Relationship Id="rId188"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font" Target="fonts/font17.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font" Target="fonts/font12.fntdata"/><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font" Target="fonts/font7.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font" Target="fonts/font2.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font" Target="fonts/font18.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font" Target="fonts/font8.fntdata"/><Relationship Id="rId179" Type="http://schemas.openxmlformats.org/officeDocument/2006/relationships/font" Target="fonts/font13.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font" Target="fonts/font3.fntdata"/><Relationship Id="rId18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font" Target="fonts/font14.fntdata"/><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font" Target="fonts/font9.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notesMaster" Target="notesMasters/notesMaster1.xml"/><Relationship Id="rId186" Type="http://schemas.openxmlformats.org/officeDocument/2006/relationships/viewProps" Target="viewProp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font" Target="fonts/font10.fntdata"/><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handoutMaster" Target="handoutMasters/handoutMaster1.xml"/><Relationship Id="rId187" Type="http://schemas.openxmlformats.org/officeDocument/2006/relationships/theme" Target="theme/theme1.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font" Target="fonts/font11.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8187671-A74B-1308-8ACB-E139E25C5508}"/>
              </a:ext>
            </a:extLst>
          </p:cNvPr>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IN"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Date Placeholder 2">
            <a:extLst>
              <a:ext uri="{FF2B5EF4-FFF2-40B4-BE49-F238E27FC236}">
                <a16:creationId xmlns:a16="http://schemas.microsoft.com/office/drawing/2014/main" id="{6A9EFB60-4668-DE94-6755-2B4D2414238F}"/>
              </a:ext>
            </a:extLst>
          </p:cNvPr>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242EFF45-6745-4706-A369-F775490D0F73}" type="datetimeFigureOut">
              <a:rPr lang="en-IN" smtClean="0">
                <a:latin typeface="Open Sans" panose="020B0606030504020204" pitchFamily="34" charset="0"/>
                <a:ea typeface="Open Sans" panose="020B0606030504020204" pitchFamily="34" charset="0"/>
                <a:cs typeface="Open Sans" panose="020B0606030504020204" pitchFamily="34" charset="0"/>
              </a:rPr>
              <a:t>14-07-2026</a:t>
            </a:fld>
            <a:endParaRPr lang="en-IN"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Footer Placeholder 3">
            <a:extLst>
              <a:ext uri="{FF2B5EF4-FFF2-40B4-BE49-F238E27FC236}">
                <a16:creationId xmlns:a16="http://schemas.microsoft.com/office/drawing/2014/main" id="{4DC3E4AF-D7FC-57B9-6222-274324AD7D2A}"/>
              </a:ext>
            </a:extLst>
          </p:cNvPr>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en-IN"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Slide Number Placeholder 4">
            <a:extLst>
              <a:ext uri="{FF2B5EF4-FFF2-40B4-BE49-F238E27FC236}">
                <a16:creationId xmlns:a16="http://schemas.microsoft.com/office/drawing/2014/main" id="{3B784D6F-C9BD-1804-C386-E03B66872F36}"/>
              </a:ext>
            </a:extLst>
          </p:cNvPr>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AFDA2BD7-1EFF-4A83-9EFD-0A155271C361}" type="slidenum">
              <a:rPr lang="en-IN" smtClean="0">
                <a:latin typeface="Open Sans" panose="020B0606030504020204" pitchFamily="34" charset="0"/>
                <a:ea typeface="Open Sans" panose="020B0606030504020204" pitchFamily="34" charset="0"/>
                <a:cs typeface="Open Sans" panose="020B0606030504020204" pitchFamily="34" charset="0"/>
              </a:rPr>
              <a:t>‹#›</a:t>
            </a:fld>
            <a:endParaRPr lang="en-IN"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51604001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79768" y="4715153"/>
            <a:ext cx="5438140" cy="4466987"/>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dirty="0"/>
          </a:p>
        </p:txBody>
      </p:sp>
    </p:spTree>
  </p:cSld>
  <p:clrMap bg1="lt1" tx1="dk1" bg2="dk2" tx2="lt2" accent1="accent1" accent2="accent2" accent3="accent3" accent4="accent4" accent5="accent5" accent6="accent6" hlink="hlink" folHlink="folHlink"/>
  <p:hf hdr="0" ftr="0" dt="0"/>
  <p:notesStyle>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p: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5c9367bcc5_0_161: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5c9367bcc5_0_161: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25c9367bcc5_0_167: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25c9367bcc5_0_167: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25ef10544be_0_45: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25ef10544be_0_45: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5ef10544be_0_51: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5ef10544be_0_51: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25ef10544be_0_56: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25ef10544be_0_56: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25ef10544be_0_61: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25ef10544be_0_61: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25ef10544be_0_127: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25ef10544be_0_127: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25ef10544be_0_66: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25ef10544be_0_66: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5ef10544be_0_76: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5ef10544be_0_76: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25ef10544be_0_97: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25ef10544be_0_97: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25ef10544be_0_103: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25ef10544be_0_103: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5ef10544be_0_111: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25ef10544be_0_111: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5ef10544be_0_119: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5ef10544be_0_119: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25ef10544be_0_71: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25ef10544be_0_71: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5c9367bcc5_0_178: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5c9367bcc5_0_178: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25c9367bcc5_0_183: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25c9367bcc5_0_183: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25c9367bcc5_0_188: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25c9367bcc5_0_188: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25ef10544be_0_29: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25ef10544be_0_29: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25ef10544be_0_40: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25ef10544be_0_40: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25ef10544be_0_141: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25ef10544be_0_141: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25ef10544be_0_150: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25ef10544be_0_150: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25ef10544be_0_157: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25ef10544be_0_157: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260c1b514dc_0_0: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260c1b514dc_0_0: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260c1b514dc_0_6: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260c1b514dc_0_6: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25ef10544be_0_3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25ef10544be_0_3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25ef10544be_0_16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25ef10544be_0_16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260c1b514dc_0_1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260c1b514dc_0_1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260c1b514dc_0_20: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260c1b514dc_0_20: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260c1b514dc_0_26: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260c1b514dc_0_26: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260c1b514dc_0_53: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260c1b514dc_0_53: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260c1b514dc_0_47: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260c1b514dc_0_47: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260c1b514dc_0_59: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260c1b514dc_0_59: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260c1b514dc_0_66: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260c1b514dc_0_66: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260c1b514dc_0_72: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260c1b514dc_0_72: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260c1b514dc_0_79: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260c1b514dc_0_79: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260c1b514dc_0_85: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260c1b514dc_0_85: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260c1b514dc_0_31: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260c1b514dc_0_31: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267c0d2132a_0_29: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 name="Google Shape;322;g267c0d2132a_0_29: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260c1b514dc_0_91: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 name="Google Shape;328;g260c1b514dc_0_91: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260c1b514dc_0_97: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260c1b514dc_0_97: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260c1b514dc_0_10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260c1b514dc_0_10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267c0d2132a_0_0: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267c0d2132a_0_0: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p:cNvGrpSpPr/>
        <p:nvPr/>
      </p:nvGrpSpPr>
      <p:grpSpPr>
        <a:xfrm>
          <a:off x="0" y="0"/>
          <a:ext cx="0" cy="0"/>
          <a:chOff x="0" y="0"/>
          <a:chExt cx="0" cy="0"/>
        </a:xfrm>
      </p:grpSpPr>
      <p:sp>
        <p:nvSpPr>
          <p:cNvPr id="910" name="Google Shape;910;g27427c01079_0_117: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1" name="Google Shape;911;g27427c01079_0_117: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1111244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5"/>
        <p:cNvGrpSpPr/>
        <p:nvPr/>
      </p:nvGrpSpPr>
      <p:grpSpPr>
        <a:xfrm>
          <a:off x="0" y="0"/>
          <a:ext cx="0" cy="0"/>
          <a:chOff x="0" y="0"/>
          <a:chExt cx="0" cy="0"/>
        </a:xfrm>
      </p:grpSpPr>
      <p:sp>
        <p:nvSpPr>
          <p:cNvPr id="916" name="Google Shape;916;g27428948d92_0_1: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7" name="Google Shape;917;g27428948d92_0_1: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4731646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3"/>
        <p:cNvGrpSpPr/>
        <p:nvPr/>
      </p:nvGrpSpPr>
      <p:grpSpPr>
        <a:xfrm>
          <a:off x="0" y="0"/>
          <a:ext cx="0" cy="0"/>
          <a:chOff x="0" y="0"/>
          <a:chExt cx="0" cy="0"/>
        </a:xfrm>
      </p:grpSpPr>
      <p:sp>
        <p:nvSpPr>
          <p:cNvPr id="924" name="Google Shape;924;g27428948d92_0_1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5" name="Google Shape;925;g27428948d92_0_1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96738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1"/>
        <p:cNvGrpSpPr/>
        <p:nvPr/>
      </p:nvGrpSpPr>
      <p:grpSpPr>
        <a:xfrm>
          <a:off x="0" y="0"/>
          <a:ext cx="0" cy="0"/>
          <a:chOff x="0" y="0"/>
          <a:chExt cx="0" cy="0"/>
        </a:xfrm>
      </p:grpSpPr>
      <p:sp>
        <p:nvSpPr>
          <p:cNvPr id="932" name="Google Shape;932;g27428948d92_0_31: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3" name="Google Shape;933;g27428948d92_0_31: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4161653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7"/>
        <p:cNvGrpSpPr/>
        <p:nvPr/>
      </p:nvGrpSpPr>
      <p:grpSpPr>
        <a:xfrm>
          <a:off x="0" y="0"/>
          <a:ext cx="0" cy="0"/>
          <a:chOff x="0" y="0"/>
          <a:chExt cx="0" cy="0"/>
        </a:xfrm>
      </p:grpSpPr>
      <p:sp>
        <p:nvSpPr>
          <p:cNvPr id="938" name="Google Shape;938;g27428948d92_0_38: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9" name="Google Shape;939;g27428948d92_0_38: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2962687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g27428948d92_0_23: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5" name="Google Shape;945;g27428948d92_0_23: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7437831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267c0d2132a_0_35: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267c0d2132a_0_35: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267c0d2132a_0_72: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267c0d2132a_0_72: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267c0d2132a_0_42: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4" name="Google Shape;364;g267c0d2132a_0_42: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267c0d2132a_0_52: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1" name="Google Shape;371;g267c0d2132a_0_52: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267c0d2132a_0_59: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 name="Google Shape;378;g267c0d2132a_0_59: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267c0d2132a_0_85: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267c0d2132a_0_85: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267c0d2132a_0_92: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267c0d2132a_0_92: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267c0d2132a_0_6: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8" name="Google Shape;398;g267c0d2132a_0_6: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g267c0d2132a_0_12: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267c0d2132a_0_12: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267c0d2132a_0_18: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g267c0d2132a_0_18: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267c0d2132a_0_2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6" name="Google Shape;416;g267c0d2132a_0_2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g267c0d2132a_0_99: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2" name="Google Shape;422;g267c0d2132a_0_99: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g267c0d2132a_0_107: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8" name="Google Shape;428;g267c0d2132a_0_107: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g267c0d2132a_0_113: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4" name="Google Shape;434;g267c0d2132a_0_113: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267c0d2132a_0_119: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0" name="Google Shape;440;g267c0d2132a_0_119: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g267c0d2132a_0_125: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6" name="Google Shape;446;g267c0d2132a_0_125: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267c0d2132a_0_131: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2" name="Google Shape;452;g267c0d2132a_0_131: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267c0d2132a_0_137: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267c0d2132a_0_137: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267c0d2132a_0_143: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267c0d2132a_0_143: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267c0d2132a_0_151: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0" name="Google Shape;470;g267c0d2132a_0_151: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g267c0d2132a_0_157: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6" name="Google Shape;476;g267c0d2132a_0_157: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g267c0d2132a_0_165: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4" name="Google Shape;484;g267c0d2132a_0_165: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g267c0d2132a_0_171: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0" name="Google Shape;490;g267c0d2132a_0_171: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g267c0d2132a_0_177: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6" name="Google Shape;496;g267c0d2132a_0_177: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267c0d2132a_0_18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3" name="Google Shape;503;g267c0d2132a_0_18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g267c0d2132a_0_190: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0" name="Google Shape;510;g267c0d2132a_0_190: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g267c0d2132a_0_197: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8" name="Google Shape;518;g267c0d2132a_0_197: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267c0d2132a_0_208: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 name="Google Shape;526;g267c0d2132a_0_208: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g267c0d2132a_0_21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2" name="Google Shape;532;g267c0d2132a_0_21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g267c0d2132a_0_227: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0" name="Google Shape;540;g267c0d2132a_0_227: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g267c0d2132a_0_245: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6" name="Google Shape;546;g267c0d2132a_0_245: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g267c0d2132a_0_252: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3" name="Google Shape;553;g267c0d2132a_0_252: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g267c0d2132a_0_258: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9" name="Google Shape;559;g267c0d2132a_0_258: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p:cNvGrpSpPr/>
        <p:nvPr/>
      </p:nvGrpSpPr>
      <p:grpSpPr>
        <a:xfrm>
          <a:off x="0" y="0"/>
          <a:ext cx="0" cy="0"/>
          <a:chOff x="0" y="0"/>
          <a:chExt cx="0" cy="0"/>
        </a:xfrm>
      </p:grpSpPr>
      <p:sp>
        <p:nvSpPr>
          <p:cNvPr id="564" name="Google Shape;564;g267c0d2132a_0_27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5" name="Google Shape;565;g267c0d2132a_0_27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g267c0d2132a_0_28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3" name="Google Shape;573;g267c0d2132a_0_28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g267c0d2132a_0_290: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9" name="Google Shape;579;g267c0d2132a_0_290: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g267c0d2132a_0_301: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7" name="Google Shape;587;g267c0d2132a_0_301: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g267c0d2132a_0_307: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3" name="Google Shape;593;g267c0d2132a_0_307: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g267c0d2132a_0_316: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1" name="Google Shape;601;g267c0d2132a_0_316: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g267c0d2132a_0_322: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7" name="Google Shape;607;g267c0d2132a_0_322: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g267c0d2132a_0_333: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3" name="Google Shape;613;g267c0d2132a_0_333: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g267c0d2132a_0_34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1" name="Google Shape;621;g267c0d2132a_0_34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g267c0d2132a_0_350: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7" name="Google Shape;627;g267c0d2132a_0_350: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g267c0d2132a_0_359: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5" name="Google Shape;635;g267c0d2132a_0_359: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g267c0d2132a_0_366: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1" name="Google Shape;641;g267c0d2132a_0_366: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267c0d2132a_0_377: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9" name="Google Shape;649;g267c0d2132a_0_377: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3"/>
        <p:cNvGrpSpPr/>
        <p:nvPr/>
      </p:nvGrpSpPr>
      <p:grpSpPr>
        <a:xfrm>
          <a:off x="0" y="0"/>
          <a:ext cx="0" cy="0"/>
          <a:chOff x="0" y="0"/>
          <a:chExt cx="0" cy="0"/>
        </a:xfrm>
      </p:grpSpPr>
      <p:sp>
        <p:nvSpPr>
          <p:cNvPr id="654" name="Google Shape;654;g267c0d2132a_0_383: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5" name="Google Shape;655;g267c0d2132a_0_383: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g267c0d2132a_0_391: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3" name="Google Shape;663;g267c0d2132a_0_391: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267c0d2132a_0_405: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267c0d2132a_0_405: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
        <p:cNvGrpSpPr/>
        <p:nvPr/>
      </p:nvGrpSpPr>
      <p:grpSpPr>
        <a:xfrm>
          <a:off x="0" y="0"/>
          <a:ext cx="0" cy="0"/>
          <a:chOff x="0" y="0"/>
          <a:chExt cx="0" cy="0"/>
        </a:xfrm>
      </p:grpSpPr>
      <p:sp>
        <p:nvSpPr>
          <p:cNvPr id="678" name="Google Shape;678;g267c0d2132a_0_399: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9" name="Google Shape;679;g267c0d2132a_0_399: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267c0d2132a_0_423: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267c0d2132a_0_423: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1"/>
        <p:cNvGrpSpPr/>
        <p:nvPr/>
      </p:nvGrpSpPr>
      <p:grpSpPr>
        <a:xfrm>
          <a:off x="0" y="0"/>
          <a:ext cx="0" cy="0"/>
          <a:chOff x="0" y="0"/>
          <a:chExt cx="0" cy="0"/>
        </a:xfrm>
      </p:grpSpPr>
      <p:sp>
        <p:nvSpPr>
          <p:cNvPr id="692" name="Google Shape;692;g267c0d2132a_0_412: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3" name="Google Shape;693;g267c0d2132a_0_412: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g267c0d2132a_0_431: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2" name="Google Shape;702;g267c0d2132a_0_431: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267c0d2132a_0_437: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8" name="Google Shape;708;g267c0d2132a_0_437: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g267c0d2132a_0_44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4" name="Google Shape;714;g267c0d2132a_0_44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g267c0d2132a_0_465: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4" name="Google Shape;724;g267c0d2132a_0_465: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g267c0d2132a_0_471: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0" name="Google Shape;730;g267c0d2132a_0_471: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g267c0d2132a_0_487: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9" name="Google Shape;739;g267c0d2132a_0_487: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p:sp>
        <p:nvSpPr>
          <p:cNvPr id="748" name="Google Shape;748;g267c0d2132a_0_499: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9" name="Google Shape;749;g267c0d2132a_0_499: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g267c0d2132a_0_510: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6" name="Google Shape;756;g267c0d2132a_0_510: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1"/>
        <p:cNvGrpSpPr/>
        <p:nvPr/>
      </p:nvGrpSpPr>
      <p:grpSpPr>
        <a:xfrm>
          <a:off x="0" y="0"/>
          <a:ext cx="0" cy="0"/>
          <a:chOff x="0" y="0"/>
          <a:chExt cx="0" cy="0"/>
        </a:xfrm>
      </p:grpSpPr>
      <p:sp>
        <p:nvSpPr>
          <p:cNvPr id="762" name="Google Shape;762;g267c0d2132a_0_520: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3" name="Google Shape;763;g267c0d2132a_0_520: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p:cNvGrpSpPr/>
        <p:nvPr/>
      </p:nvGrpSpPr>
      <p:grpSpPr>
        <a:xfrm>
          <a:off x="0" y="0"/>
          <a:ext cx="0" cy="0"/>
          <a:chOff x="0" y="0"/>
          <a:chExt cx="0" cy="0"/>
        </a:xfrm>
      </p:grpSpPr>
      <p:sp>
        <p:nvSpPr>
          <p:cNvPr id="769" name="Google Shape;769;g267c0d2132a_0_536: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0" name="Google Shape;770;g267c0d2132a_0_536: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4"/>
        <p:cNvGrpSpPr/>
        <p:nvPr/>
      </p:nvGrpSpPr>
      <p:grpSpPr>
        <a:xfrm>
          <a:off x="0" y="0"/>
          <a:ext cx="0" cy="0"/>
          <a:chOff x="0" y="0"/>
          <a:chExt cx="0" cy="0"/>
        </a:xfrm>
      </p:grpSpPr>
      <p:sp>
        <p:nvSpPr>
          <p:cNvPr id="775" name="Google Shape;775;g267c0d2132a_0_530: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6" name="Google Shape;776;g267c0d2132a_0_530: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0"/>
        <p:cNvGrpSpPr/>
        <p:nvPr/>
      </p:nvGrpSpPr>
      <p:grpSpPr>
        <a:xfrm>
          <a:off x="0" y="0"/>
          <a:ext cx="0" cy="0"/>
          <a:chOff x="0" y="0"/>
          <a:chExt cx="0" cy="0"/>
        </a:xfrm>
      </p:grpSpPr>
      <p:sp>
        <p:nvSpPr>
          <p:cNvPr id="781" name="Google Shape;781;g267c0d2132a_0_543: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2" name="Google Shape;782;g267c0d2132a_0_543: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p:cNvGrpSpPr/>
        <p:nvPr/>
      </p:nvGrpSpPr>
      <p:grpSpPr>
        <a:xfrm>
          <a:off x="0" y="0"/>
          <a:ext cx="0" cy="0"/>
          <a:chOff x="0" y="0"/>
          <a:chExt cx="0" cy="0"/>
        </a:xfrm>
      </p:grpSpPr>
      <p:sp>
        <p:nvSpPr>
          <p:cNvPr id="787" name="Google Shape;787;g267c0d2132a_0_549: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8" name="Google Shape;788;g267c0d2132a_0_549: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2"/>
        <p:cNvGrpSpPr/>
        <p:nvPr/>
      </p:nvGrpSpPr>
      <p:grpSpPr>
        <a:xfrm>
          <a:off x="0" y="0"/>
          <a:ext cx="0" cy="0"/>
          <a:chOff x="0" y="0"/>
          <a:chExt cx="0" cy="0"/>
        </a:xfrm>
      </p:grpSpPr>
      <p:sp>
        <p:nvSpPr>
          <p:cNvPr id="793" name="Google Shape;793;g267c0d2132a_0_555: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4" name="Google Shape;794;g267c0d2132a_0_555: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g267c0d2132a_0_572: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0" name="Google Shape;800;g267c0d2132a_0_572: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g27427c01079_0_0: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8" name="Google Shape;808;g27427c01079_0_0: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2"/>
        <p:cNvGrpSpPr/>
        <p:nvPr/>
      </p:nvGrpSpPr>
      <p:grpSpPr>
        <a:xfrm>
          <a:off x="0" y="0"/>
          <a:ext cx="0" cy="0"/>
          <a:chOff x="0" y="0"/>
          <a:chExt cx="0" cy="0"/>
        </a:xfrm>
      </p:grpSpPr>
      <p:sp>
        <p:nvSpPr>
          <p:cNvPr id="813" name="Google Shape;813;g27427c01079_0_9: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4" name="Google Shape;814;g27427c01079_0_9: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8"/>
        <p:cNvGrpSpPr/>
        <p:nvPr/>
      </p:nvGrpSpPr>
      <p:grpSpPr>
        <a:xfrm>
          <a:off x="0" y="0"/>
          <a:ext cx="0" cy="0"/>
          <a:chOff x="0" y="0"/>
          <a:chExt cx="0" cy="0"/>
        </a:xfrm>
      </p:grpSpPr>
      <p:sp>
        <p:nvSpPr>
          <p:cNvPr id="819" name="Google Shape;819;g27427c01079_0_15: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0" name="Google Shape;820;g27427c01079_0_15: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g27427c01079_0_22: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6" name="Google Shape;826;g27427c01079_0_22: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0"/>
        <p:cNvGrpSpPr/>
        <p:nvPr/>
      </p:nvGrpSpPr>
      <p:grpSpPr>
        <a:xfrm>
          <a:off x="0" y="0"/>
          <a:ext cx="0" cy="0"/>
          <a:chOff x="0" y="0"/>
          <a:chExt cx="0" cy="0"/>
        </a:xfrm>
      </p:grpSpPr>
      <p:sp>
        <p:nvSpPr>
          <p:cNvPr id="831" name="Google Shape;831;g27427c01079_0_35: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2" name="Google Shape;832;g27427c01079_0_35: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6"/>
        <p:cNvGrpSpPr/>
        <p:nvPr/>
      </p:nvGrpSpPr>
      <p:grpSpPr>
        <a:xfrm>
          <a:off x="0" y="0"/>
          <a:ext cx="0" cy="0"/>
          <a:chOff x="0" y="0"/>
          <a:chExt cx="0" cy="0"/>
        </a:xfrm>
      </p:grpSpPr>
      <p:sp>
        <p:nvSpPr>
          <p:cNvPr id="837" name="Google Shape;837;g27427c01079_0_42: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8" name="Google Shape;838;g27427c01079_0_42: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3"/>
        <p:cNvGrpSpPr/>
        <p:nvPr/>
      </p:nvGrpSpPr>
      <p:grpSpPr>
        <a:xfrm>
          <a:off x="0" y="0"/>
          <a:ext cx="0" cy="0"/>
          <a:chOff x="0" y="0"/>
          <a:chExt cx="0" cy="0"/>
        </a:xfrm>
      </p:grpSpPr>
      <p:sp>
        <p:nvSpPr>
          <p:cNvPr id="844" name="Google Shape;844;g27427c01079_0_49: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5" name="Google Shape;845;g27427c01079_0_49: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9"/>
        <p:cNvGrpSpPr/>
        <p:nvPr/>
      </p:nvGrpSpPr>
      <p:grpSpPr>
        <a:xfrm>
          <a:off x="0" y="0"/>
          <a:ext cx="0" cy="0"/>
          <a:chOff x="0" y="0"/>
          <a:chExt cx="0" cy="0"/>
        </a:xfrm>
      </p:grpSpPr>
      <p:sp>
        <p:nvSpPr>
          <p:cNvPr id="850" name="Google Shape;850;g27427c01079_0_55: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1" name="Google Shape;851;g27427c01079_0_55: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p:cNvGrpSpPr/>
        <p:nvPr/>
      </p:nvGrpSpPr>
      <p:grpSpPr>
        <a:xfrm>
          <a:off x="0" y="0"/>
          <a:ext cx="0" cy="0"/>
          <a:chOff x="0" y="0"/>
          <a:chExt cx="0" cy="0"/>
        </a:xfrm>
      </p:grpSpPr>
      <p:sp>
        <p:nvSpPr>
          <p:cNvPr id="856" name="Google Shape;856;g27427c01079_0_62: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7" name="Google Shape;857;g27427c01079_0_62: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27427c01079_0_69: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3" name="Google Shape;863;g27427c01079_0_69: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7"/>
        <p:cNvGrpSpPr/>
        <p:nvPr/>
      </p:nvGrpSpPr>
      <p:grpSpPr>
        <a:xfrm>
          <a:off x="0" y="0"/>
          <a:ext cx="0" cy="0"/>
          <a:chOff x="0" y="0"/>
          <a:chExt cx="0" cy="0"/>
        </a:xfrm>
      </p:grpSpPr>
      <p:sp>
        <p:nvSpPr>
          <p:cNvPr id="868" name="Google Shape;868;g27427c01079_0_76: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9" name="Google Shape;869;g27427c01079_0_76: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p:cNvGrpSpPr/>
        <p:nvPr/>
      </p:nvGrpSpPr>
      <p:grpSpPr>
        <a:xfrm>
          <a:off x="0" y="0"/>
          <a:ext cx="0" cy="0"/>
          <a:chOff x="0" y="0"/>
          <a:chExt cx="0" cy="0"/>
        </a:xfrm>
      </p:grpSpPr>
      <p:sp>
        <p:nvSpPr>
          <p:cNvPr id="874" name="Google Shape;874;g27427c01079_0_8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27427c01079_0_8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9"/>
        <p:cNvGrpSpPr/>
        <p:nvPr/>
      </p:nvGrpSpPr>
      <p:grpSpPr>
        <a:xfrm>
          <a:off x="0" y="0"/>
          <a:ext cx="0" cy="0"/>
          <a:chOff x="0" y="0"/>
          <a:chExt cx="0" cy="0"/>
        </a:xfrm>
      </p:grpSpPr>
      <p:sp>
        <p:nvSpPr>
          <p:cNvPr id="880" name="Google Shape;880;g27427c01079_0_91: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1" name="Google Shape;881;g27427c01079_0_91: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5"/>
        <p:cNvGrpSpPr/>
        <p:nvPr/>
      </p:nvGrpSpPr>
      <p:grpSpPr>
        <a:xfrm>
          <a:off x="0" y="0"/>
          <a:ext cx="0" cy="0"/>
          <a:chOff x="0" y="0"/>
          <a:chExt cx="0" cy="0"/>
        </a:xfrm>
      </p:grpSpPr>
      <p:sp>
        <p:nvSpPr>
          <p:cNvPr id="886" name="Google Shape;886;g27427c01079_0_103: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7" name="Google Shape;887;g27427c01079_0_103: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1"/>
        <p:cNvGrpSpPr/>
        <p:nvPr/>
      </p:nvGrpSpPr>
      <p:grpSpPr>
        <a:xfrm>
          <a:off x="0" y="0"/>
          <a:ext cx="0" cy="0"/>
          <a:chOff x="0" y="0"/>
          <a:chExt cx="0" cy="0"/>
        </a:xfrm>
      </p:grpSpPr>
      <p:sp>
        <p:nvSpPr>
          <p:cNvPr id="892" name="Google Shape;892;g27427c01079_0_110: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3" name="Google Shape;893;g27427c01079_0_110: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p:cNvGrpSpPr/>
        <p:nvPr/>
      </p:nvGrpSpPr>
      <p:grpSpPr>
        <a:xfrm>
          <a:off x="0" y="0"/>
          <a:ext cx="0" cy="0"/>
          <a:chOff x="0" y="0"/>
          <a:chExt cx="0" cy="0"/>
        </a:xfrm>
      </p:grpSpPr>
      <p:sp>
        <p:nvSpPr>
          <p:cNvPr id="898" name="Google Shape;898;g27427c01079_0_122: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9" name="Google Shape;899;g27427c01079_0_122: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27427c01079_0_127: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5" name="Google Shape;905;g27427c01079_0_127: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1"/>
        <p:cNvGrpSpPr/>
        <p:nvPr/>
      </p:nvGrpSpPr>
      <p:grpSpPr>
        <a:xfrm>
          <a:off x="0" y="0"/>
          <a:ext cx="0" cy="0"/>
          <a:chOff x="0" y="0"/>
          <a:chExt cx="0" cy="0"/>
        </a:xfrm>
      </p:grpSpPr>
      <p:sp>
        <p:nvSpPr>
          <p:cNvPr id="952" name="Google Shape;952;g27428948d92_0_4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3" name="Google Shape;953;g27428948d92_0_4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p:cNvGrpSpPr/>
        <p:nvPr/>
      </p:nvGrpSpPr>
      <p:grpSpPr>
        <a:xfrm>
          <a:off x="0" y="0"/>
          <a:ext cx="0" cy="0"/>
          <a:chOff x="0" y="0"/>
          <a:chExt cx="0" cy="0"/>
        </a:xfrm>
      </p:grpSpPr>
      <p:sp>
        <p:nvSpPr>
          <p:cNvPr id="958" name="Google Shape;958;g27428948d92_0_50: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9" name="Google Shape;959;g27428948d92_0_50: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p:cNvGrpSpPr/>
        <p:nvPr/>
      </p:nvGrpSpPr>
      <p:grpSpPr>
        <a:xfrm>
          <a:off x="0" y="0"/>
          <a:ext cx="0" cy="0"/>
          <a:chOff x="0" y="0"/>
          <a:chExt cx="0" cy="0"/>
        </a:xfrm>
      </p:grpSpPr>
      <p:sp>
        <p:nvSpPr>
          <p:cNvPr id="964" name="Google Shape;964;g2762b085da4_0_5: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5" name="Google Shape;965;g2762b085da4_0_5: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p:cNvGrpSpPr/>
        <p:nvPr/>
      </p:nvGrpSpPr>
      <p:grpSpPr>
        <a:xfrm>
          <a:off x="0" y="0"/>
          <a:ext cx="0" cy="0"/>
          <a:chOff x="0" y="0"/>
          <a:chExt cx="0" cy="0"/>
        </a:xfrm>
      </p:grpSpPr>
      <p:sp>
        <p:nvSpPr>
          <p:cNvPr id="970" name="Google Shape;970;g27428948d92_0_56: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1" name="Google Shape;971;g27428948d92_0_56: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g2762b085da4_0_13: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7" name="Google Shape;977;g2762b085da4_0_13: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1"/>
        <p:cNvGrpSpPr/>
        <p:nvPr/>
      </p:nvGrpSpPr>
      <p:grpSpPr>
        <a:xfrm>
          <a:off x="0" y="0"/>
          <a:ext cx="0" cy="0"/>
          <a:chOff x="0" y="0"/>
          <a:chExt cx="0" cy="0"/>
        </a:xfrm>
      </p:grpSpPr>
      <p:sp>
        <p:nvSpPr>
          <p:cNvPr id="982" name="Google Shape;982;g27428948d92_0_62: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3" name="Google Shape;983;g27428948d92_0_62: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7"/>
        <p:cNvGrpSpPr/>
        <p:nvPr/>
      </p:nvGrpSpPr>
      <p:grpSpPr>
        <a:xfrm>
          <a:off x="0" y="0"/>
          <a:ext cx="0" cy="0"/>
          <a:chOff x="0" y="0"/>
          <a:chExt cx="0" cy="0"/>
        </a:xfrm>
      </p:grpSpPr>
      <p:sp>
        <p:nvSpPr>
          <p:cNvPr id="988" name="Google Shape;988;g2762b085da4_0_0: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9" name="Google Shape;989;g2762b085da4_0_0: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3"/>
        <p:cNvGrpSpPr/>
        <p:nvPr/>
      </p:nvGrpSpPr>
      <p:grpSpPr>
        <a:xfrm>
          <a:off x="0" y="0"/>
          <a:ext cx="0" cy="0"/>
          <a:chOff x="0" y="0"/>
          <a:chExt cx="0" cy="0"/>
        </a:xfrm>
      </p:grpSpPr>
      <p:sp>
        <p:nvSpPr>
          <p:cNvPr id="994" name="Google Shape;994;g2762b085da4_0_21: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5" name="Google Shape;995;g2762b085da4_0_21: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9"/>
        <p:cNvGrpSpPr/>
        <p:nvPr/>
      </p:nvGrpSpPr>
      <p:grpSpPr>
        <a:xfrm>
          <a:off x="0" y="0"/>
          <a:ext cx="0" cy="0"/>
          <a:chOff x="0" y="0"/>
          <a:chExt cx="0" cy="0"/>
        </a:xfrm>
      </p:grpSpPr>
      <p:sp>
        <p:nvSpPr>
          <p:cNvPr id="1000" name="Google Shape;1000;g2762b085da4_0_27: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1" name="Google Shape;1001;g2762b085da4_0_27: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5"/>
        <p:cNvGrpSpPr/>
        <p:nvPr/>
      </p:nvGrpSpPr>
      <p:grpSpPr>
        <a:xfrm>
          <a:off x="0" y="0"/>
          <a:ext cx="0" cy="0"/>
          <a:chOff x="0" y="0"/>
          <a:chExt cx="0" cy="0"/>
        </a:xfrm>
      </p:grpSpPr>
      <p:sp>
        <p:nvSpPr>
          <p:cNvPr id="1006" name="Google Shape;1006;g2762b085da4_0_33: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7" name="Google Shape;1007;g2762b085da4_0_33: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2762b085da4_0_39: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3" name="Google Shape;1013;g2762b085da4_0_39: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8"/>
        <p:cNvGrpSpPr/>
        <p:nvPr/>
      </p:nvGrpSpPr>
      <p:grpSpPr>
        <a:xfrm>
          <a:off x="0" y="0"/>
          <a:ext cx="0" cy="0"/>
          <a:chOff x="0" y="0"/>
          <a:chExt cx="0" cy="0"/>
        </a:xfrm>
      </p:grpSpPr>
      <p:sp>
        <p:nvSpPr>
          <p:cNvPr id="1019" name="Google Shape;1019;g2762b085da4_0_46: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0" name="Google Shape;1020;g2762b085da4_0_46: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4"/>
        <p:cNvGrpSpPr/>
        <p:nvPr/>
      </p:nvGrpSpPr>
      <p:grpSpPr>
        <a:xfrm>
          <a:off x="0" y="0"/>
          <a:ext cx="0" cy="0"/>
          <a:chOff x="0" y="0"/>
          <a:chExt cx="0" cy="0"/>
        </a:xfrm>
      </p:grpSpPr>
      <p:sp>
        <p:nvSpPr>
          <p:cNvPr id="1025" name="Google Shape;1025;g2762b085da4_0_62: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6" name="Google Shape;1026;g2762b085da4_0_62: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0"/>
        <p:cNvGrpSpPr/>
        <p:nvPr/>
      </p:nvGrpSpPr>
      <p:grpSpPr>
        <a:xfrm>
          <a:off x="0" y="0"/>
          <a:ext cx="0" cy="0"/>
          <a:chOff x="0" y="0"/>
          <a:chExt cx="0" cy="0"/>
        </a:xfrm>
      </p:grpSpPr>
      <p:sp>
        <p:nvSpPr>
          <p:cNvPr id="1031" name="Google Shape;1031;g2762b085da4_0_69: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2" name="Google Shape;1032;g2762b085da4_0_69: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7"/>
        <p:cNvGrpSpPr/>
        <p:nvPr/>
      </p:nvGrpSpPr>
      <p:grpSpPr>
        <a:xfrm>
          <a:off x="0" y="0"/>
          <a:ext cx="0" cy="0"/>
          <a:chOff x="0" y="0"/>
          <a:chExt cx="0" cy="0"/>
        </a:xfrm>
      </p:grpSpPr>
      <p:sp>
        <p:nvSpPr>
          <p:cNvPr id="1038" name="Google Shape;1038;g2762b085da4_0_77: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9" name="Google Shape;1039;g2762b085da4_0_77: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3"/>
        <p:cNvGrpSpPr/>
        <p:nvPr/>
      </p:nvGrpSpPr>
      <p:grpSpPr>
        <a:xfrm>
          <a:off x="0" y="0"/>
          <a:ext cx="0" cy="0"/>
          <a:chOff x="0" y="0"/>
          <a:chExt cx="0" cy="0"/>
        </a:xfrm>
      </p:grpSpPr>
      <p:sp>
        <p:nvSpPr>
          <p:cNvPr id="1044" name="Google Shape;1044;g2762b085da4_0_83: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5" name="Google Shape;1045;g2762b085da4_0_83: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0"/>
        <p:cNvGrpSpPr/>
        <p:nvPr/>
      </p:nvGrpSpPr>
      <p:grpSpPr>
        <a:xfrm>
          <a:off x="0" y="0"/>
          <a:ext cx="0" cy="0"/>
          <a:chOff x="0" y="0"/>
          <a:chExt cx="0" cy="0"/>
        </a:xfrm>
      </p:grpSpPr>
      <p:sp>
        <p:nvSpPr>
          <p:cNvPr id="1051" name="Google Shape;1051;g2762b085da4_0_90: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2" name="Google Shape;1052;g2762b085da4_0_90: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7"/>
        <p:cNvGrpSpPr/>
        <p:nvPr/>
      </p:nvGrpSpPr>
      <p:grpSpPr>
        <a:xfrm>
          <a:off x="0" y="0"/>
          <a:ext cx="0" cy="0"/>
          <a:chOff x="0" y="0"/>
          <a:chExt cx="0" cy="0"/>
        </a:xfrm>
      </p:grpSpPr>
      <p:sp>
        <p:nvSpPr>
          <p:cNvPr id="1058" name="Google Shape;1058;g2762b085da4_0_97: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9" name="Google Shape;1059;g2762b085da4_0_97: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w="76200" cap="flat" cmpd="sng">
            <a:solidFill>
              <a:schemeClr val="lt2"/>
            </a:solidFill>
            <a:prstDash val="solid"/>
            <a:round/>
            <a:headEnd type="none" w="sm" len="sm"/>
            <a:tailEnd type="none" w="sm" len="sm"/>
          </a:ln>
        </p:spPr>
      </p:cxnSp>
      <p:cxnSp>
        <p:nvCxnSpPr>
          <p:cNvPr id="11" name="Google Shape;11;p2"/>
          <p:cNvCxnSpPr/>
          <p:nvPr/>
        </p:nvCxnSpPr>
        <p:spPr>
          <a:xfrm>
            <a:off x="1575035" y="3158252"/>
            <a:ext cx="562200" cy="0"/>
          </a:xfrm>
          <a:prstGeom prst="straightConnector1">
            <a:avLst/>
          </a:prstGeom>
          <a:noFill/>
          <a:ln w="76200" cap="flat" cmpd="sng">
            <a:solidFill>
              <a:schemeClr val="lt2"/>
            </a:solidFill>
            <a:prstDash val="solid"/>
            <a:round/>
            <a:headEnd type="none" w="sm" len="sm"/>
            <a:tailEnd type="none" w="sm" len="sm"/>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4" name="Google Shape;14;p2"/>
            <p:cNvCxnSpPr/>
            <p:nvPr/>
          </p:nvCxnSpPr>
          <p:spPr>
            <a:xfrm rot="10800000">
              <a:off x="1346429" y="1163700"/>
              <a:ext cx="6452100" cy="0"/>
            </a:xfrm>
            <a:prstGeom prst="straightConnector1">
              <a:avLst/>
            </a:prstGeom>
            <a:noFill/>
            <a:ln w="9525" cap="flat" cmpd="sng">
              <a:solidFill>
                <a:schemeClr val="accent3"/>
              </a:solidFill>
              <a:prstDash val="solid"/>
              <a:round/>
              <a:headEnd type="none" w="sm" len="sm"/>
              <a:tailEnd type="none" w="sm" len="sm"/>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7" name="Google Shape;17;p2"/>
            <p:cNvCxnSpPr/>
            <p:nvPr/>
          </p:nvCxnSpPr>
          <p:spPr>
            <a:xfrm>
              <a:off x="1346435" y="3969088"/>
              <a:ext cx="6452100" cy="0"/>
            </a:xfrm>
            <a:prstGeom prst="straightConnector1">
              <a:avLst/>
            </a:prstGeom>
            <a:noFill/>
            <a:ln w="9525" cap="flat" cmpd="sng">
              <a:solidFill>
                <a:schemeClr val="accent3"/>
              </a:solidFill>
              <a:prstDash val="solid"/>
              <a:round/>
              <a:headEnd type="none" w="sm" len="sm"/>
              <a:tailEnd type="none" w="sm" len="sm"/>
            </a:ln>
          </p:spPr>
        </p:cxnSp>
      </p:grpSp>
      <p:sp>
        <p:nvSpPr>
          <p:cNvPr id="18" name="Google Shape;18;p2"/>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a:endParaRPr/>
          </a:p>
        </p:txBody>
      </p:sp>
      <p:sp>
        <p:nvSpPr>
          <p:cNvPr id="19" name="Google Shape;19;p2"/>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20" name="Google Shape;20;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Open Sans" panose="020B0606030504020204" pitchFamily="34" charset="0"/>
              <a:ea typeface="Open Sans" panose="020B0606030504020204" pitchFamily="34" charset="0"/>
              <a:cs typeface="Open Sans" panose="020B0606030504020204" pitchFamily="34" charset="0"/>
            </a:endParaRPr>
          </a:p>
        </p:txBody>
      </p:sp>
      <p:sp>
        <p:nvSpPr>
          <p:cNvPr id="23" name="Google Shape;23;p3"/>
          <p:cNvSpPr txBox="1">
            <a:spLocks noGrp="1"/>
          </p:cNvSpPr>
          <p:nvPr>
            <p:ph type="title"/>
          </p:nvPr>
        </p:nvSpPr>
        <p:spPr>
          <a:xfrm>
            <a:off x="311700" y="814800"/>
            <a:ext cx="8571300" cy="9420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a:endParaRPr/>
          </a:p>
        </p:txBody>
      </p:sp>
      <p:sp>
        <p:nvSpPr>
          <p:cNvPr id="24" name="Google Shape;24;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Open Sans" panose="020B0606030504020204" pitchFamily="34" charset="0"/>
              <a:ea typeface="Open Sans" panose="020B0606030504020204" pitchFamily="34" charset="0"/>
              <a:cs typeface="Open Sans" panose="020B0606030504020204" pitchFamily="34" charset="0"/>
            </a:endParaRPr>
          </a:p>
        </p:txBody>
      </p:sp>
      <p:sp>
        <p:nvSpPr>
          <p:cNvPr id="27" name="Google Shape;27;p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28" name="Google Shape;28;p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9" name="Google Shape;2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2" name="Google Shape;32;p5"/>
          <p:cNvSpPr txBox="1">
            <a:spLocks noGrp="1"/>
          </p:cNvSpPr>
          <p:nvPr>
            <p:ph type="body" idx="1"/>
          </p:nvPr>
        </p:nvSpPr>
        <p:spPr>
          <a:xfrm>
            <a:off x="311700" y="1266175"/>
            <a:ext cx="3999900" cy="33027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p5"/>
          <p:cNvSpPr txBox="1">
            <a:spLocks noGrp="1"/>
          </p:cNvSpPr>
          <p:nvPr>
            <p:ph type="body" idx="2"/>
          </p:nvPr>
        </p:nvSpPr>
        <p:spPr>
          <a:xfrm>
            <a:off x="4832400" y="1266175"/>
            <a:ext cx="3999900" cy="33027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4" name="Google Shape;3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7" name="Google Shape;3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1" name="Google Shape;4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6"/>
        </a:solidFill>
        <a:effectLst/>
      </p:bgPr>
    </p:bg>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526350"/>
            <a:ext cx="56136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dk2"/>
              </a:buClr>
              <a:buSzPts val="5400"/>
              <a:buNone/>
              <a:defRPr sz="5400" b="0">
                <a:solidFill>
                  <a:schemeClr val="dk2"/>
                </a:solidFill>
              </a:defRPr>
            </a:lvl1pPr>
            <a:lvl2pPr lvl="1">
              <a:spcBef>
                <a:spcPts val="0"/>
              </a:spcBef>
              <a:spcAft>
                <a:spcPts val="0"/>
              </a:spcAft>
              <a:buClr>
                <a:schemeClr val="dk2"/>
              </a:buClr>
              <a:buSzPts val="5400"/>
              <a:buNone/>
              <a:defRPr sz="5400" b="0">
                <a:solidFill>
                  <a:schemeClr val="dk2"/>
                </a:solidFill>
              </a:defRPr>
            </a:lvl2pPr>
            <a:lvl3pPr lvl="2">
              <a:spcBef>
                <a:spcPts val="0"/>
              </a:spcBef>
              <a:spcAft>
                <a:spcPts val="0"/>
              </a:spcAft>
              <a:buClr>
                <a:schemeClr val="dk2"/>
              </a:buClr>
              <a:buSzPts val="5400"/>
              <a:buNone/>
              <a:defRPr sz="5400" b="0">
                <a:solidFill>
                  <a:schemeClr val="dk2"/>
                </a:solidFill>
              </a:defRPr>
            </a:lvl3pPr>
            <a:lvl4pPr lvl="3">
              <a:spcBef>
                <a:spcPts val="0"/>
              </a:spcBef>
              <a:spcAft>
                <a:spcPts val="0"/>
              </a:spcAft>
              <a:buClr>
                <a:schemeClr val="dk2"/>
              </a:buClr>
              <a:buSzPts val="5400"/>
              <a:buNone/>
              <a:defRPr sz="5400" b="0">
                <a:solidFill>
                  <a:schemeClr val="dk2"/>
                </a:solidFill>
              </a:defRPr>
            </a:lvl4pPr>
            <a:lvl5pPr lvl="4">
              <a:spcBef>
                <a:spcPts val="0"/>
              </a:spcBef>
              <a:spcAft>
                <a:spcPts val="0"/>
              </a:spcAft>
              <a:buClr>
                <a:schemeClr val="dk2"/>
              </a:buClr>
              <a:buSzPts val="5400"/>
              <a:buNone/>
              <a:defRPr sz="5400" b="0">
                <a:solidFill>
                  <a:schemeClr val="dk2"/>
                </a:solidFill>
              </a:defRPr>
            </a:lvl5pPr>
            <a:lvl6pPr lvl="5">
              <a:spcBef>
                <a:spcPts val="0"/>
              </a:spcBef>
              <a:spcAft>
                <a:spcPts val="0"/>
              </a:spcAft>
              <a:buClr>
                <a:schemeClr val="dk2"/>
              </a:buClr>
              <a:buSzPts val="5400"/>
              <a:buNone/>
              <a:defRPr sz="5400" b="0">
                <a:solidFill>
                  <a:schemeClr val="dk2"/>
                </a:solidFill>
              </a:defRPr>
            </a:lvl6pPr>
            <a:lvl7pPr lvl="6">
              <a:spcBef>
                <a:spcPts val="0"/>
              </a:spcBef>
              <a:spcAft>
                <a:spcPts val="0"/>
              </a:spcAft>
              <a:buClr>
                <a:schemeClr val="dk2"/>
              </a:buClr>
              <a:buSzPts val="5400"/>
              <a:buNone/>
              <a:defRPr sz="5400" b="0">
                <a:solidFill>
                  <a:schemeClr val="dk2"/>
                </a:solidFill>
              </a:defRPr>
            </a:lvl7pPr>
            <a:lvl8pPr lvl="7">
              <a:spcBef>
                <a:spcPts val="0"/>
              </a:spcBef>
              <a:spcAft>
                <a:spcPts val="0"/>
              </a:spcAft>
              <a:buClr>
                <a:schemeClr val="dk2"/>
              </a:buClr>
              <a:buSzPts val="5400"/>
              <a:buNone/>
              <a:defRPr sz="5400" b="0">
                <a:solidFill>
                  <a:schemeClr val="dk2"/>
                </a:solidFill>
              </a:defRPr>
            </a:lvl8pPr>
            <a:lvl9pPr lvl="8">
              <a:spcBef>
                <a:spcPts val="0"/>
              </a:spcBef>
              <a:spcAft>
                <a:spcPts val="0"/>
              </a:spcAft>
              <a:buClr>
                <a:schemeClr val="dk2"/>
              </a:buClr>
              <a:buSzPts val="5400"/>
              <a:buNone/>
              <a:defRPr sz="5400" b="0">
                <a:solidFill>
                  <a:schemeClr val="dk2"/>
                </a:solidFill>
              </a:defRPr>
            </a:lvl9pPr>
          </a:lstStyle>
          <a:p>
            <a:endParaRPr/>
          </a:p>
        </p:txBody>
      </p:sp>
      <p:sp>
        <p:nvSpPr>
          <p:cNvPr id="44" name="Google Shape;4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Open Sans" panose="020B0606030504020204" pitchFamily="34" charset="0"/>
              <a:ea typeface="Open Sans" panose="020B0606030504020204" pitchFamily="34" charset="0"/>
              <a:cs typeface="Open Sans" panose="020B0606030504020204" pitchFamily="34" charset="0"/>
            </a:endParaRPr>
          </a:p>
        </p:txBody>
      </p:sp>
      <p:cxnSp>
        <p:nvCxnSpPr>
          <p:cNvPr id="47" name="Google Shape;47;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8" name="Google Shape;48;p9"/>
          <p:cNvSpPr txBox="1">
            <a:spLocks noGrp="1"/>
          </p:cNvSpPr>
          <p:nvPr>
            <p:ph type="title"/>
          </p:nvPr>
        </p:nvSpPr>
        <p:spPr>
          <a:xfrm>
            <a:off x="265500" y="1039675"/>
            <a:ext cx="4045200" cy="16758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9" name="Google Shape;49;p9"/>
          <p:cNvSpPr txBox="1">
            <a:spLocks noGrp="1"/>
          </p:cNvSpPr>
          <p:nvPr>
            <p:ph type="subTitle" idx="1"/>
          </p:nvPr>
        </p:nvSpPr>
        <p:spPr>
          <a:xfrm>
            <a:off x="265500" y="27268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txBox="1">
            <a:spLocks noGrp="1"/>
          </p:cNvSpPr>
          <p:nvPr>
            <p:ph type="body" idx="1"/>
          </p:nvPr>
        </p:nvSpPr>
        <p:spPr>
          <a:xfrm>
            <a:off x="311700" y="42307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a:endParaRPr/>
          </a:p>
        </p:txBody>
      </p:sp>
      <p:sp>
        <p:nvSpPr>
          <p:cNvPr id="54" name="Google Shape;5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Open Sans" panose="020B0606030504020204" pitchFamily="34" charset="0"/>
              <a:ea typeface="Open Sans" panose="020B0606030504020204" pitchFamily="34" charset="0"/>
              <a:cs typeface="Open Sans" panose="020B0606030504020204" pitchFamily="34" charset="0"/>
            </a:endParaRPr>
          </a:p>
        </p:txBody>
      </p:sp>
      <p:sp>
        <p:nvSpPr>
          <p:cNvPr id="57" name="Google Shape;57;p11"/>
          <p:cNvSpPr txBox="1">
            <a:spLocks noGrp="1"/>
          </p:cNvSpPr>
          <p:nvPr>
            <p:ph type="title" hasCustomPrompt="1"/>
          </p:nvPr>
        </p:nvSpPr>
        <p:spPr>
          <a:xfrm>
            <a:off x="311700" y="1304850"/>
            <a:ext cx="8520600" cy="15384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a:spLocks noGrp="1"/>
          </p:cNvSpPr>
          <p:nvPr>
            <p:ph type="body" idx="1"/>
          </p:nvPr>
        </p:nvSpPr>
        <p:spPr>
          <a:xfrm>
            <a:off x="311700" y="2995650"/>
            <a:ext cx="85206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9" name="Google Shape;5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rop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9pPr>
          </a:lstStyle>
          <a:p>
            <a:endParaRPr/>
          </a:p>
        </p:txBody>
      </p:sp>
      <p:sp>
        <p:nvSpPr>
          <p:cNvPr id="7" name="Google Shape;7;p1"/>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5.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5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6.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9.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2.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6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5.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6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0.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8.xml"/><Relationship Id="rId1" Type="http://schemas.openxmlformats.org/officeDocument/2006/relationships/slideLayout" Target="../slideLayouts/slideLayout3.xml"/><Relationship Id="rId4" Type="http://schemas.openxmlformats.org/officeDocument/2006/relationships/image" Target="../media/image31.png"/></Relationships>
</file>

<file path=ppt/slides/_rels/slide9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3.xml"/><Relationship Id="rId1" Type="http://schemas.openxmlformats.org/officeDocument/2006/relationships/slideLayout" Target="../slideLayouts/slideLayout3.xml"/><Relationship Id="rId4" Type="http://schemas.openxmlformats.org/officeDocument/2006/relationships/image" Target="../media/image35.png"/></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5.xml"/><Relationship Id="rId1" Type="http://schemas.openxmlformats.org/officeDocument/2006/relationships/slideLayout" Target="../slideLayouts/slideLayout3.xml"/><Relationship Id="rId4" Type="http://schemas.openxmlformats.org/officeDocument/2006/relationships/image" Target="../media/image37.png"/></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7.xml"/><Relationship Id="rId1" Type="http://schemas.openxmlformats.org/officeDocument/2006/relationships/slideLayout" Target="../slideLayouts/slideLayout3.xml"/><Relationship Id="rId4" Type="http://schemas.openxmlformats.org/officeDocument/2006/relationships/image" Target="../media/image39.png"/></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0.xml"/><Relationship Id="rId1" Type="http://schemas.openxmlformats.org/officeDocument/2006/relationships/slideLayout" Target="../slideLayouts/slideLayout3.xml"/><Relationship Id="rId4" Type="http://schemas.openxmlformats.org/officeDocument/2006/relationships/image" Target="../media/image41.png"/></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2.xml"/><Relationship Id="rId1" Type="http://schemas.openxmlformats.org/officeDocument/2006/relationships/slideLayout" Target="../slideLayouts/slideLayout3.xml"/><Relationship Id="rId4" Type="http://schemas.openxmlformats.org/officeDocument/2006/relationships/image" Target="../media/image43.png"/></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94.xml"/><Relationship Id="rId1" Type="http://schemas.openxmlformats.org/officeDocument/2006/relationships/slideLayout" Target="../slideLayouts/slideLayout3.xml"/><Relationship Id="rId4" Type="http://schemas.openxmlformats.org/officeDocument/2006/relationships/image" Target="../media/image45.png"/></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99.xml"/><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00.xml"/><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01.xml"/><Relationship Id="rId1" Type="http://schemas.openxmlformats.org/officeDocument/2006/relationships/slideLayout" Target="../slideLayouts/slideLayout3.xml"/><Relationship Id="rId4" Type="http://schemas.openxmlformats.org/officeDocument/2006/relationships/image" Target="../media/image49.png"/></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04.xml"/><Relationship Id="rId1" Type="http://schemas.openxmlformats.org/officeDocument/2006/relationships/slideLayout" Target="../slideLayouts/slideLayout3.xml"/><Relationship Id="rId4" Type="http://schemas.openxmlformats.org/officeDocument/2006/relationships/image" Target="../media/image50.png"/></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06.xml"/><Relationship Id="rId1" Type="http://schemas.openxmlformats.org/officeDocument/2006/relationships/slideLayout" Target="../slideLayouts/slideLayout3.xml"/><Relationship Id="rId4" Type="http://schemas.openxmlformats.org/officeDocument/2006/relationships/image" Target="../media/image52.png"/></Relationships>
</file>

<file path=ppt/slides/_rels/slide11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07.xml"/><Relationship Id="rId1" Type="http://schemas.openxmlformats.org/officeDocument/2006/relationships/slideLayout" Target="../slideLayouts/slideLayout3.xml"/><Relationship Id="rId4" Type="http://schemas.openxmlformats.org/officeDocument/2006/relationships/image" Target="../media/image54.png"/></Relationships>
</file>

<file path=ppt/slides/_rels/slide12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08.xml"/><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09.xml"/><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10.xml"/><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3.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3.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3.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3.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3.xml"/></Relationships>
</file>

<file path=ppt/slides/_rels/slide13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21.xml"/><Relationship Id="rId1" Type="http://schemas.openxmlformats.org/officeDocument/2006/relationships/slideLayout" Target="../slideLayouts/slideLayout3.xml"/></Relationships>
</file>

<file path=ppt/slides/_rels/slide13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22.xml"/><Relationship Id="rId1" Type="http://schemas.openxmlformats.org/officeDocument/2006/relationships/slideLayout" Target="../slideLayouts/slideLayout3.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3.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3.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3.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3.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3.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3.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3.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3.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3.xml"/></Relationships>
</file>

<file path=ppt/slides/_rels/slide14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32.xml"/><Relationship Id="rId1" Type="http://schemas.openxmlformats.org/officeDocument/2006/relationships/slideLayout" Target="../slideLayouts/slideLayout3.xml"/></Relationships>
</file>

<file path=ppt/slides/_rels/slide14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33.xml"/><Relationship Id="rId1" Type="http://schemas.openxmlformats.org/officeDocument/2006/relationships/slideLayout" Target="../slideLayouts/slideLayout3.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3.xml"/></Relationships>
</file>

<file path=ppt/slides/_rels/slide14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35.xml"/><Relationship Id="rId1" Type="http://schemas.openxmlformats.org/officeDocument/2006/relationships/slideLayout" Target="../slideLayouts/slideLayout3.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3.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3.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3.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3.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3.xml"/></Relationships>
</file>

<file path=ppt/slides/_rels/slide15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41.xml"/><Relationship Id="rId1" Type="http://schemas.openxmlformats.org/officeDocument/2006/relationships/slideLayout" Target="../slideLayouts/slideLayout3.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3.xml"/></Relationships>
</file>

<file path=ppt/slides/_rels/slide15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43.xml"/><Relationship Id="rId1" Type="http://schemas.openxmlformats.org/officeDocument/2006/relationships/slideLayout" Target="../slideLayouts/slideLayout3.xml"/></Relationships>
</file>

<file path=ppt/slides/_rels/slide15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44.xml"/><Relationship Id="rId1" Type="http://schemas.openxmlformats.org/officeDocument/2006/relationships/slideLayout" Target="../slideLayouts/slideLayout3.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3.xml"/></Relationships>
</file>

<file path=ppt/slides/_rels/slide15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46.xml"/><Relationship Id="rId1" Type="http://schemas.openxmlformats.org/officeDocument/2006/relationships/slideLayout" Target="../slideLayouts/slideLayout3.xml"/></Relationships>
</file>

<file path=ppt/slides/_rels/slide15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47.xml"/><Relationship Id="rId1" Type="http://schemas.openxmlformats.org/officeDocument/2006/relationships/slideLayout" Target="../slideLayouts/slideLayout3.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3.xml"/></Relationships>
</file>

<file path=ppt/slides/_rels/slide16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49.xml"/><Relationship Id="rId1" Type="http://schemas.openxmlformats.org/officeDocument/2006/relationships/slideLayout" Target="../slideLayouts/slideLayout3.xml"/><Relationship Id="rId4" Type="http://schemas.openxmlformats.org/officeDocument/2006/relationships/image" Target="../media/image69.png"/></Relationships>
</file>

<file path=ppt/slides/_rels/slide16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50.xml"/><Relationship Id="rId1" Type="http://schemas.openxmlformats.org/officeDocument/2006/relationships/slideLayout" Target="../slideLayouts/slideLayout3.xml"/></Relationships>
</file>

<file path=ppt/slides/_rels/slide16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5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3"/>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t>UNIT- 1</a:t>
            </a:r>
            <a:endParaRPr/>
          </a:p>
        </p:txBody>
      </p:sp>
      <p:sp>
        <p:nvSpPr>
          <p:cNvPr id="67" name="Google Shape;67;p13"/>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t>BASICS OF JAVA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INTRODUCTION</a:t>
            </a:r>
            <a:endParaRPr/>
          </a:p>
        </p:txBody>
      </p:sp>
      <p:sp>
        <p:nvSpPr>
          <p:cNvPr id="73" name="Google Shape;73;p1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Clr>
                <a:srgbClr val="666666"/>
              </a:buClr>
              <a:buSzPts val="1600"/>
              <a:buChar char="●"/>
            </a:pPr>
            <a:r>
              <a:rPr lang="en" sz="1600" dirty="0">
                <a:solidFill>
                  <a:srgbClr val="666666"/>
                </a:solidFill>
              </a:rPr>
              <a:t>Java was developed by James Gosling in 1991 at Sun Microsystems which is now subset of Oracle. </a:t>
            </a:r>
            <a:endParaRPr sz="1600" dirty="0">
              <a:solidFill>
                <a:srgbClr val="666666"/>
              </a:solidFill>
            </a:endParaRPr>
          </a:p>
          <a:p>
            <a:pPr marL="457200" lvl="0" indent="-330200" algn="l" rtl="0">
              <a:spcBef>
                <a:spcPts val="0"/>
              </a:spcBef>
              <a:spcAft>
                <a:spcPts val="0"/>
              </a:spcAft>
              <a:buClr>
                <a:srgbClr val="666666"/>
              </a:buClr>
              <a:buSzPts val="1600"/>
              <a:buChar char="●"/>
            </a:pPr>
            <a:r>
              <a:rPr lang="en" sz="1600" dirty="0">
                <a:solidFill>
                  <a:srgbClr val="666666"/>
                </a:solidFill>
              </a:rPr>
              <a:t>The language was initially called ‘Oak’, but was renamed as ‘Java’ in 1995.</a:t>
            </a:r>
            <a:endParaRPr sz="1600" dirty="0">
              <a:solidFill>
                <a:srgbClr val="666666"/>
              </a:solidFill>
            </a:endParaRPr>
          </a:p>
          <a:p>
            <a:pPr marL="457200" lvl="0" indent="-330200" algn="l" rtl="0">
              <a:spcBef>
                <a:spcPts val="0"/>
              </a:spcBef>
              <a:spcAft>
                <a:spcPts val="0"/>
              </a:spcAft>
              <a:buClr>
                <a:srgbClr val="666666"/>
              </a:buClr>
              <a:buSzPts val="1600"/>
              <a:buChar char="●"/>
            </a:pPr>
            <a:r>
              <a:rPr lang="en" sz="1600" dirty="0">
                <a:solidFill>
                  <a:srgbClr val="666666"/>
                </a:solidFill>
              </a:rPr>
              <a:t>Java is both programming language and a platform.</a:t>
            </a:r>
            <a:endParaRPr sz="1600" dirty="0">
              <a:solidFill>
                <a:srgbClr val="666666"/>
              </a:solidFill>
            </a:endParaRPr>
          </a:p>
          <a:p>
            <a:pPr marL="457200" lvl="0" indent="-330200" algn="l" rtl="0">
              <a:spcBef>
                <a:spcPts val="0"/>
              </a:spcBef>
              <a:spcAft>
                <a:spcPts val="0"/>
              </a:spcAft>
              <a:buClr>
                <a:srgbClr val="666666"/>
              </a:buClr>
              <a:buSzPts val="1600"/>
              <a:buChar char="●"/>
            </a:pPr>
            <a:r>
              <a:rPr lang="en" sz="1600" dirty="0">
                <a:solidFill>
                  <a:srgbClr val="666666"/>
                </a:solidFill>
              </a:rPr>
              <a:t>A platform is a hardware or software where the programs run. </a:t>
            </a:r>
            <a:endParaRPr sz="1600" dirty="0">
              <a:solidFill>
                <a:srgbClr val="666666"/>
              </a:solidFill>
            </a:endParaRPr>
          </a:p>
          <a:p>
            <a:pPr marL="457200" lvl="0" indent="-330200" algn="l" rtl="0">
              <a:spcBef>
                <a:spcPts val="0"/>
              </a:spcBef>
              <a:spcAft>
                <a:spcPts val="0"/>
              </a:spcAft>
              <a:buClr>
                <a:srgbClr val="666666"/>
              </a:buClr>
              <a:buSzPts val="1600"/>
              <a:buChar char="●"/>
            </a:pPr>
            <a:r>
              <a:rPr lang="en" sz="1600"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Arial"/>
              </a:rPr>
              <a:t>Most platforms can be described as a combination of the operating system and underlying hardware. The Java platform differs from most other platforms in that it's a software-only platform that runs on top of other hardware-based platforms.</a:t>
            </a:r>
            <a:endParaRPr sz="1600"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Arial"/>
            </a:endParaRPr>
          </a:p>
          <a:p>
            <a:pPr marL="457200" lvl="0" indent="-330200" algn="l" rtl="0">
              <a:spcBef>
                <a:spcPts val="0"/>
              </a:spcBef>
              <a:spcAft>
                <a:spcPts val="0"/>
              </a:spcAft>
              <a:buClr>
                <a:srgbClr val="666666"/>
              </a:buClr>
              <a:buSzPts val="1600"/>
              <a:buFont typeface="Arial"/>
              <a:buChar char="●"/>
            </a:pPr>
            <a:r>
              <a:rPr lang="en" sz="1600"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Arial"/>
              </a:rPr>
              <a:t>Java platform has two components:</a:t>
            </a:r>
            <a:endParaRPr sz="1600"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Arial"/>
            </a:endParaRPr>
          </a:p>
          <a:p>
            <a:pPr marL="914400" lvl="1" indent="-330200" algn="l" rtl="0">
              <a:spcBef>
                <a:spcPts val="0"/>
              </a:spcBef>
              <a:spcAft>
                <a:spcPts val="0"/>
              </a:spcAft>
              <a:buClr>
                <a:srgbClr val="666666"/>
              </a:buClr>
              <a:buSzPts val="1600"/>
              <a:buFont typeface="Arial"/>
              <a:buChar char="○"/>
            </a:pPr>
            <a:r>
              <a:rPr lang="en" sz="1600"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Arial"/>
              </a:rPr>
              <a:t>Java Virtual Machine(JVM)</a:t>
            </a:r>
            <a:endParaRPr sz="1600"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Arial"/>
            </a:endParaRPr>
          </a:p>
          <a:p>
            <a:pPr marL="914400" lvl="1" indent="-330200" algn="l" rtl="0">
              <a:spcBef>
                <a:spcPts val="0"/>
              </a:spcBef>
              <a:spcAft>
                <a:spcPts val="0"/>
              </a:spcAft>
              <a:buClr>
                <a:srgbClr val="666666"/>
              </a:buClr>
              <a:buSzPts val="1600"/>
              <a:buFont typeface="Arial"/>
              <a:buChar char="○"/>
            </a:pPr>
            <a:r>
              <a:rPr lang="en" sz="1600"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Arial"/>
              </a:rPr>
              <a:t>Application Programming Interface</a:t>
            </a:r>
            <a:endParaRPr sz="1600" dirty="0">
              <a:solidFill>
                <a:srgbClr val="666666"/>
              </a:solidFill>
              <a:latin typeface="Open Sans" panose="020B0606030504020204" pitchFamily="34" charset="0"/>
              <a:ea typeface="Open Sans" panose="020B0606030504020204" pitchFamily="34" charset="0"/>
              <a:cs typeface="Open Sans" panose="020B0606030504020204" pitchFamily="34" charset="0"/>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INTRODUCTION</a:t>
            </a:r>
            <a:endParaRPr/>
          </a:p>
        </p:txBody>
      </p:sp>
      <p:pic>
        <p:nvPicPr>
          <p:cNvPr id="79" name="Google Shape;79;p15"/>
          <p:cNvPicPr preferRelativeResize="0"/>
          <p:nvPr/>
        </p:nvPicPr>
        <p:blipFill>
          <a:blip r:embed="rId3">
            <a:alphaModFix/>
          </a:blip>
          <a:stretch>
            <a:fillRect/>
          </a:stretch>
        </p:blipFill>
        <p:spPr>
          <a:xfrm>
            <a:off x="709613" y="1552575"/>
            <a:ext cx="7724775" cy="24955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4E921-A778-3AD3-9118-13E3902BF108}"/>
              </a:ext>
            </a:extLst>
          </p:cNvPr>
          <p:cNvSpPr>
            <a:spLocks noGrp="1"/>
          </p:cNvSpPr>
          <p:nvPr>
            <p:ph type="title"/>
          </p:nvPr>
        </p:nvSpPr>
        <p:spPr>
          <a:xfrm>
            <a:off x="127867" y="93961"/>
            <a:ext cx="8520600" cy="707400"/>
          </a:xfrm>
        </p:spPr>
        <p:txBody>
          <a:bodyPr>
            <a:normAutofit fontScale="90000"/>
          </a:bodyPr>
          <a:lstStyle/>
          <a:p>
            <a:r>
              <a:rPr lang="en-IN" dirty="0"/>
              <a:t>POP v/s OOP</a:t>
            </a:r>
          </a:p>
        </p:txBody>
      </p:sp>
      <p:graphicFrame>
        <p:nvGraphicFramePr>
          <p:cNvPr id="5" name="Table 4">
            <a:extLst>
              <a:ext uri="{FF2B5EF4-FFF2-40B4-BE49-F238E27FC236}">
                <a16:creationId xmlns:a16="http://schemas.microsoft.com/office/drawing/2014/main" id="{1289EEA8-24BE-F81A-0D37-3AF230DF0045}"/>
              </a:ext>
            </a:extLst>
          </p:cNvPr>
          <p:cNvGraphicFramePr>
            <a:graphicFrameLocks noGrp="1"/>
          </p:cNvGraphicFramePr>
          <p:nvPr>
            <p:extLst>
              <p:ext uri="{D42A27DB-BD31-4B8C-83A1-F6EECF244321}">
                <p14:modId xmlns:p14="http://schemas.microsoft.com/office/powerpoint/2010/main" val="1850104893"/>
              </p:ext>
            </p:extLst>
          </p:nvPr>
        </p:nvGraphicFramePr>
        <p:xfrm>
          <a:off x="237672" y="630011"/>
          <a:ext cx="8154034" cy="4001129"/>
        </p:xfrm>
        <a:graphic>
          <a:graphicData uri="http://schemas.openxmlformats.org/drawingml/2006/table">
            <a:tbl>
              <a:tblPr firstRow="1" bandRow="1">
                <a:tableStyleId>{2D5ABB26-0587-4C30-8999-92F81FD0307C}</a:tableStyleId>
              </a:tblPr>
              <a:tblGrid>
                <a:gridCol w="1411514">
                  <a:extLst>
                    <a:ext uri="{9D8B030D-6E8A-4147-A177-3AD203B41FA5}">
                      <a16:colId xmlns:a16="http://schemas.microsoft.com/office/drawing/2014/main" val="3700286728"/>
                    </a:ext>
                  </a:extLst>
                </a:gridCol>
                <a:gridCol w="3208565">
                  <a:extLst>
                    <a:ext uri="{9D8B030D-6E8A-4147-A177-3AD203B41FA5}">
                      <a16:colId xmlns:a16="http://schemas.microsoft.com/office/drawing/2014/main" val="3339775747"/>
                    </a:ext>
                  </a:extLst>
                </a:gridCol>
                <a:gridCol w="3533955">
                  <a:extLst>
                    <a:ext uri="{9D8B030D-6E8A-4147-A177-3AD203B41FA5}">
                      <a16:colId xmlns:a16="http://schemas.microsoft.com/office/drawing/2014/main" val="3248874349"/>
                    </a:ext>
                  </a:extLst>
                </a:gridCol>
              </a:tblGrid>
              <a:tr h="549433">
                <a:tc>
                  <a:txBody>
                    <a:bodyPr/>
                    <a:lstStyle/>
                    <a:p>
                      <a:pPr>
                        <a:lnSpc>
                          <a:spcPct val="100000"/>
                        </a:lnSpc>
                      </a:pPr>
                      <a:endParaRPr sz="16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a:txBody>
                  <a:tcPr marL="0" marR="0" marT="0" marB="0">
                    <a:lnL w="12700">
                      <a:solidFill>
                        <a:srgbClr val="CCCCCC"/>
                      </a:solidFill>
                      <a:prstDash val="solid"/>
                    </a:lnL>
                    <a:lnR w="12700">
                      <a:solidFill>
                        <a:srgbClr val="CCCCCC"/>
                      </a:solidFill>
                      <a:prstDash val="solid"/>
                    </a:lnR>
                    <a:lnT w="12700">
                      <a:solidFill>
                        <a:srgbClr val="CCCCCC"/>
                      </a:solidFill>
                      <a:prstDash val="solid"/>
                    </a:lnT>
                    <a:lnB w="12700">
                      <a:solidFill>
                        <a:srgbClr val="CCCCCC"/>
                      </a:solidFill>
                      <a:prstDash val="solid"/>
                    </a:lnB>
                    <a:solidFill>
                      <a:schemeClr val="accent1"/>
                    </a:solidFill>
                  </a:tcPr>
                </a:tc>
                <a:tc>
                  <a:txBody>
                    <a:bodyPr/>
                    <a:lstStyle/>
                    <a:p>
                      <a:pPr marL="593725" marR="289560" indent="-298450">
                        <a:lnSpc>
                          <a:spcPct val="100000"/>
                        </a:lnSpc>
                        <a:spcBef>
                          <a:spcPts val="484"/>
                        </a:spcBef>
                      </a:pPr>
                      <a:r>
                        <a:rPr sz="1600" b="1" spc="-18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Procedure </a:t>
                      </a:r>
                      <a:r>
                        <a:rPr sz="1600" b="1" spc="-13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Oriented  </a:t>
                      </a:r>
                      <a:r>
                        <a:rPr sz="1600" b="1" spc="-16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Programming</a:t>
                      </a:r>
                      <a:endParaRPr sz="16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a:txBody>
                  <a:tcPr marL="0" marR="0" marT="61594" marB="0">
                    <a:lnL w="12700">
                      <a:solidFill>
                        <a:srgbClr val="CCCCCC"/>
                      </a:solidFill>
                      <a:prstDash val="solid"/>
                    </a:lnL>
                    <a:lnR w="12700">
                      <a:solidFill>
                        <a:srgbClr val="CCCCCC"/>
                      </a:solidFill>
                      <a:prstDash val="solid"/>
                    </a:lnR>
                    <a:lnT w="12700">
                      <a:solidFill>
                        <a:srgbClr val="CCCCCC"/>
                      </a:solidFill>
                      <a:prstDash val="solid"/>
                    </a:lnT>
                    <a:lnB w="12700">
                      <a:solidFill>
                        <a:srgbClr val="CCCCCC"/>
                      </a:solidFill>
                      <a:prstDash val="solid"/>
                    </a:lnB>
                    <a:solidFill>
                      <a:schemeClr val="accent1"/>
                    </a:solidFill>
                  </a:tcPr>
                </a:tc>
                <a:tc>
                  <a:txBody>
                    <a:bodyPr/>
                    <a:lstStyle/>
                    <a:p>
                      <a:pPr marL="304800">
                        <a:lnSpc>
                          <a:spcPct val="100000"/>
                        </a:lnSpc>
                        <a:spcBef>
                          <a:spcPts val="1685"/>
                        </a:spcBef>
                      </a:pPr>
                      <a:r>
                        <a:rPr sz="1600" b="1" spc="-15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Object </a:t>
                      </a:r>
                      <a:r>
                        <a:rPr sz="1600" b="1" spc="-13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Oriented</a:t>
                      </a:r>
                      <a:r>
                        <a:rPr sz="1600" b="1" spc="-27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sz="1600" b="1" spc="-16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Programming</a:t>
                      </a:r>
                      <a:endParaRPr sz="16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a:txBody>
                  <a:tcPr marL="0" marR="0" marT="213995" marB="0">
                    <a:lnL w="12700">
                      <a:solidFill>
                        <a:srgbClr val="CCCCCC"/>
                      </a:solidFill>
                      <a:prstDash val="solid"/>
                    </a:lnL>
                    <a:lnR w="12700">
                      <a:solidFill>
                        <a:srgbClr val="000000"/>
                      </a:solidFill>
                      <a:prstDash val="solid"/>
                    </a:lnR>
                    <a:lnT w="12700">
                      <a:solidFill>
                        <a:srgbClr val="000000"/>
                      </a:solidFill>
                      <a:prstDash val="solid"/>
                    </a:lnT>
                    <a:lnB w="12700">
                      <a:solidFill>
                        <a:srgbClr val="CCCCCC"/>
                      </a:solidFill>
                      <a:prstDash val="solid"/>
                    </a:lnB>
                    <a:solidFill>
                      <a:schemeClr val="accent1"/>
                    </a:solidFill>
                  </a:tcPr>
                </a:tc>
                <a:extLst>
                  <a:ext uri="{0D108BD9-81ED-4DB2-BD59-A6C34878D82A}">
                    <a16:rowId xmlns:a16="http://schemas.microsoft.com/office/drawing/2014/main" val="1246305761"/>
                  </a:ext>
                </a:extLst>
              </a:tr>
              <a:tr h="613167">
                <a:tc>
                  <a:txBody>
                    <a:bodyPr/>
                    <a:lstStyle/>
                    <a:p>
                      <a:pPr marL="635" algn="ctr">
                        <a:lnSpc>
                          <a:spcPct val="100000"/>
                        </a:lnSpc>
                        <a:spcBef>
                          <a:spcPts val="1085"/>
                        </a:spcBef>
                      </a:pPr>
                      <a:r>
                        <a:rPr sz="1600" b="1" spc="-10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Divided</a:t>
                      </a:r>
                      <a:r>
                        <a:rPr sz="1600" b="1" spc="-7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sz="1600" b="1" spc="-114"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Into</a:t>
                      </a:r>
                      <a:endParaRPr sz="16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a:txBody>
                  <a:tcPr marL="0" marR="0" marT="137795" marB="0">
                    <a:lnL w="12700">
                      <a:solidFill>
                        <a:srgbClr val="CCCCCC"/>
                      </a:solidFill>
                      <a:prstDash val="solid"/>
                    </a:lnL>
                    <a:lnR w="12700">
                      <a:solidFill>
                        <a:srgbClr val="CCCCCC"/>
                      </a:solidFill>
                      <a:prstDash val="solid"/>
                    </a:lnR>
                    <a:lnT w="12700">
                      <a:solidFill>
                        <a:srgbClr val="CCCCCC"/>
                      </a:solidFill>
                      <a:prstDash val="solid"/>
                    </a:lnT>
                    <a:lnB w="12700">
                      <a:solidFill>
                        <a:srgbClr val="CCCCCC"/>
                      </a:solidFill>
                      <a:prstDash val="solid"/>
                    </a:lnB>
                    <a:solidFill>
                      <a:srgbClr val="EFEFEF"/>
                    </a:solidFill>
                  </a:tcPr>
                </a:tc>
                <a:tc>
                  <a:txBody>
                    <a:bodyPr/>
                    <a:lstStyle/>
                    <a:p>
                      <a:pPr marL="13335" marR="169545">
                        <a:lnSpc>
                          <a:spcPct val="100000"/>
                        </a:lnSpc>
                        <a:spcBef>
                          <a:spcPts val="5"/>
                        </a:spcBef>
                      </a:pPr>
                      <a:r>
                        <a:rPr sz="1600" spc="-16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In </a:t>
                      </a:r>
                      <a:r>
                        <a:rPr sz="1600" spc="-254"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POP, </a:t>
                      </a:r>
                      <a:r>
                        <a:rPr sz="1600" spc="-7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program </a:t>
                      </a:r>
                      <a:r>
                        <a:rPr sz="1600" spc="-16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is </a:t>
                      </a:r>
                      <a:r>
                        <a:rPr sz="1600" spc="-4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divided  </a:t>
                      </a:r>
                      <a:r>
                        <a:rPr sz="1600" spc="-9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into </a:t>
                      </a:r>
                      <a:r>
                        <a:rPr sz="1600" spc="-12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small</a:t>
                      </a:r>
                      <a:r>
                        <a:rPr sz="1600" spc="7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sz="1600" spc="-6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parts</a:t>
                      </a:r>
                      <a:endParaRPr sz="16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a:p>
                      <a:pPr marL="13335">
                        <a:lnSpc>
                          <a:spcPct val="100000"/>
                        </a:lnSpc>
                      </a:pPr>
                      <a:r>
                        <a:rPr sz="1600" spc="-6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called</a:t>
                      </a:r>
                      <a:r>
                        <a:rPr sz="1600" spc="-2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sz="1600" b="1" spc="-14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functions</a:t>
                      </a:r>
                      <a:r>
                        <a:rPr sz="1600" spc="-14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a:t>
                      </a:r>
                      <a:endParaRPr sz="16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a:txBody>
                  <a:tcPr marL="0" marR="0" marT="635" marB="0">
                    <a:lnL w="12700">
                      <a:solidFill>
                        <a:srgbClr val="CCCCCC"/>
                      </a:solidFill>
                      <a:prstDash val="solid"/>
                    </a:lnL>
                    <a:lnR w="12700">
                      <a:solidFill>
                        <a:srgbClr val="CCCCCC"/>
                      </a:solidFill>
                      <a:prstDash val="solid"/>
                    </a:lnR>
                    <a:lnT w="12700">
                      <a:solidFill>
                        <a:srgbClr val="CCCCCC"/>
                      </a:solidFill>
                      <a:prstDash val="solid"/>
                    </a:lnT>
                    <a:lnB w="12700">
                      <a:solidFill>
                        <a:srgbClr val="CCCCCC"/>
                      </a:solidFill>
                      <a:prstDash val="solid"/>
                    </a:lnB>
                    <a:solidFill>
                      <a:srgbClr val="EFEFEF"/>
                    </a:solidFill>
                  </a:tcPr>
                </a:tc>
                <a:tc>
                  <a:txBody>
                    <a:bodyPr/>
                    <a:lstStyle/>
                    <a:p>
                      <a:pPr marL="13970" marR="338455">
                        <a:lnSpc>
                          <a:spcPct val="100000"/>
                        </a:lnSpc>
                        <a:spcBef>
                          <a:spcPts val="1085"/>
                        </a:spcBef>
                      </a:pPr>
                      <a:r>
                        <a:rPr sz="1600" spc="-16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In </a:t>
                      </a:r>
                      <a:r>
                        <a:rPr sz="1600" spc="-18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OOP, </a:t>
                      </a:r>
                      <a:r>
                        <a:rPr sz="1600" spc="-7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program </a:t>
                      </a:r>
                      <a:r>
                        <a:rPr sz="1600" spc="-16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is </a:t>
                      </a:r>
                      <a:r>
                        <a:rPr sz="1600" spc="-4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divided </a:t>
                      </a:r>
                      <a:r>
                        <a:rPr sz="1600" spc="-9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into </a:t>
                      </a:r>
                      <a:r>
                        <a:rPr sz="1600" spc="-6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parts  called</a:t>
                      </a:r>
                      <a:r>
                        <a:rPr sz="1600" spc="-2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sz="1600" b="1" spc="-15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objects</a:t>
                      </a:r>
                      <a:r>
                        <a:rPr sz="1600" spc="-15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a:t>
                      </a:r>
                      <a:endParaRPr sz="16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a:txBody>
                  <a:tcPr marL="0" marR="0" marT="137795" marB="0">
                    <a:lnL w="12700">
                      <a:solidFill>
                        <a:srgbClr val="CCCCCC"/>
                      </a:solidFill>
                      <a:prstDash val="solid"/>
                    </a:lnL>
                    <a:lnR w="12700">
                      <a:solidFill>
                        <a:srgbClr val="CCCCCC"/>
                      </a:solidFill>
                      <a:prstDash val="solid"/>
                    </a:lnR>
                    <a:lnT w="12700">
                      <a:solidFill>
                        <a:srgbClr val="CCCCCC"/>
                      </a:solidFill>
                      <a:prstDash val="solid"/>
                    </a:lnT>
                    <a:lnB w="12700">
                      <a:solidFill>
                        <a:srgbClr val="CCCCCC"/>
                      </a:solidFill>
                      <a:prstDash val="solid"/>
                    </a:lnB>
                    <a:solidFill>
                      <a:srgbClr val="EFEFEF"/>
                    </a:solidFill>
                  </a:tcPr>
                </a:tc>
                <a:extLst>
                  <a:ext uri="{0D108BD9-81ED-4DB2-BD59-A6C34878D82A}">
                    <a16:rowId xmlns:a16="http://schemas.microsoft.com/office/drawing/2014/main" val="1992635869"/>
                  </a:ext>
                </a:extLst>
              </a:tr>
              <a:tr h="1008851">
                <a:tc>
                  <a:txBody>
                    <a:bodyPr/>
                    <a:lstStyle/>
                    <a:p>
                      <a:pPr>
                        <a:lnSpc>
                          <a:spcPct val="100000"/>
                        </a:lnSpc>
                        <a:spcBef>
                          <a:spcPts val="30"/>
                        </a:spcBef>
                      </a:pPr>
                      <a:endParaRPr sz="16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a:p>
                      <a:pPr marL="1270" algn="ctr">
                        <a:lnSpc>
                          <a:spcPct val="100000"/>
                        </a:lnSpc>
                      </a:pPr>
                      <a:r>
                        <a:rPr sz="1600" b="1" spc="-13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Importance</a:t>
                      </a:r>
                      <a:endParaRPr sz="16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a:txBody>
                  <a:tcPr marL="0" marR="0" marT="3810" marB="0">
                    <a:lnL w="12700">
                      <a:solidFill>
                        <a:srgbClr val="CCCCCC"/>
                      </a:solidFill>
                      <a:prstDash val="solid"/>
                    </a:lnL>
                    <a:lnR w="12700">
                      <a:solidFill>
                        <a:srgbClr val="CCCCCC"/>
                      </a:solidFill>
                      <a:prstDash val="solid"/>
                    </a:lnR>
                    <a:lnT w="12700">
                      <a:solidFill>
                        <a:srgbClr val="CCCCCC"/>
                      </a:solidFill>
                      <a:prstDash val="solid"/>
                    </a:lnT>
                    <a:lnB w="12700">
                      <a:solidFill>
                        <a:srgbClr val="CCCCCC"/>
                      </a:solidFill>
                      <a:prstDash val="solid"/>
                    </a:lnB>
                    <a:solidFill>
                      <a:srgbClr val="EFEFEF"/>
                    </a:solidFill>
                  </a:tcPr>
                </a:tc>
                <a:tc>
                  <a:txBody>
                    <a:bodyPr/>
                    <a:lstStyle/>
                    <a:p>
                      <a:pPr marL="13335" marR="427990">
                        <a:lnSpc>
                          <a:spcPct val="100000"/>
                        </a:lnSpc>
                        <a:spcBef>
                          <a:spcPts val="5"/>
                        </a:spcBef>
                      </a:pPr>
                      <a:r>
                        <a:rPr sz="1600" spc="-16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In </a:t>
                      </a:r>
                      <a:r>
                        <a:rPr sz="1600" spc="-15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POP,Importance </a:t>
                      </a:r>
                      <a:r>
                        <a:rPr sz="1600" spc="-16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is </a:t>
                      </a:r>
                      <a:r>
                        <a:rPr sz="1600" spc="-11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not  </a:t>
                      </a:r>
                      <a:r>
                        <a:rPr sz="1600" spc="-9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given </a:t>
                      </a:r>
                      <a:r>
                        <a:rPr sz="1600" spc="-6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to </a:t>
                      </a:r>
                      <a:r>
                        <a:rPr sz="1600" b="1" spc="-9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data </a:t>
                      </a:r>
                      <a:r>
                        <a:rPr sz="1600" spc="-8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but </a:t>
                      </a:r>
                      <a:r>
                        <a:rPr sz="1600" spc="-6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to  </a:t>
                      </a:r>
                      <a:r>
                        <a:rPr sz="1600" spc="-13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functions </a:t>
                      </a:r>
                      <a:r>
                        <a:rPr sz="1600" spc="-15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as</a:t>
                      </a:r>
                      <a:r>
                        <a:rPr sz="1600" spc="-24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sz="1600" spc="-6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well</a:t>
                      </a:r>
                      <a:endParaRPr sz="16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a:p>
                      <a:pPr marL="13335" marR="278130">
                        <a:lnSpc>
                          <a:spcPct val="100000"/>
                        </a:lnSpc>
                        <a:spcBef>
                          <a:spcPts val="5"/>
                        </a:spcBef>
                      </a:pPr>
                      <a:r>
                        <a:rPr sz="1600" spc="-15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as </a:t>
                      </a:r>
                      <a:r>
                        <a:rPr sz="1600" b="1" spc="-17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sequence </a:t>
                      </a:r>
                      <a:r>
                        <a:rPr sz="1600" spc="-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of </a:t>
                      </a:r>
                      <a:r>
                        <a:rPr sz="1600" spc="-12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actions </a:t>
                      </a:r>
                      <a:r>
                        <a:rPr sz="1600" spc="-6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to  </a:t>
                      </a:r>
                      <a:r>
                        <a:rPr sz="1600" spc="-5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be</a:t>
                      </a:r>
                      <a:r>
                        <a:rPr sz="1600" spc="-2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sz="1600" spc="-11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done.</a:t>
                      </a:r>
                      <a:endParaRPr sz="16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a:txBody>
                  <a:tcPr marL="0" marR="0" marT="635" marB="0">
                    <a:lnL w="12700">
                      <a:solidFill>
                        <a:srgbClr val="CCCCCC"/>
                      </a:solidFill>
                      <a:prstDash val="solid"/>
                    </a:lnL>
                    <a:lnR w="12700">
                      <a:solidFill>
                        <a:srgbClr val="CCCCCC"/>
                      </a:solidFill>
                      <a:prstDash val="solid"/>
                    </a:lnR>
                    <a:lnT w="12700">
                      <a:solidFill>
                        <a:srgbClr val="CCCCCC"/>
                      </a:solidFill>
                      <a:prstDash val="solid"/>
                    </a:lnT>
                    <a:lnB w="12700">
                      <a:solidFill>
                        <a:srgbClr val="CCCCCC"/>
                      </a:solidFill>
                      <a:prstDash val="solid"/>
                    </a:lnB>
                    <a:solidFill>
                      <a:srgbClr val="EFEFEF"/>
                    </a:solidFill>
                  </a:tcPr>
                </a:tc>
                <a:tc>
                  <a:txBody>
                    <a:bodyPr/>
                    <a:lstStyle/>
                    <a:p>
                      <a:pPr>
                        <a:lnSpc>
                          <a:spcPct val="100000"/>
                        </a:lnSpc>
                        <a:spcBef>
                          <a:spcPts val="40"/>
                        </a:spcBef>
                      </a:pPr>
                      <a:endParaRPr sz="16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a:p>
                      <a:pPr marL="13970" marR="161925">
                        <a:lnSpc>
                          <a:spcPct val="100000"/>
                        </a:lnSpc>
                      </a:pPr>
                      <a:r>
                        <a:rPr sz="1600" spc="-16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In </a:t>
                      </a:r>
                      <a:r>
                        <a:rPr sz="1600" spc="-18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OOP, </a:t>
                      </a:r>
                      <a:r>
                        <a:rPr sz="1600" spc="-10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Importance </a:t>
                      </a:r>
                      <a:r>
                        <a:rPr sz="1600" spc="-15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is </a:t>
                      </a:r>
                      <a:r>
                        <a:rPr sz="1600" spc="-9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given </a:t>
                      </a:r>
                      <a:r>
                        <a:rPr sz="1600" spc="-6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to </a:t>
                      </a:r>
                      <a:r>
                        <a:rPr sz="1600" spc="-114"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the </a:t>
                      </a:r>
                      <a:r>
                        <a:rPr sz="1600" spc="-1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data  </a:t>
                      </a:r>
                      <a:r>
                        <a:rPr sz="1600" spc="-6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rather </a:t>
                      </a:r>
                      <a:r>
                        <a:rPr sz="1600" spc="-114"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than </a:t>
                      </a:r>
                      <a:r>
                        <a:rPr sz="1600" spc="-11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procedures </a:t>
                      </a:r>
                      <a:r>
                        <a:rPr sz="1600" spc="-5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or </a:t>
                      </a:r>
                      <a:r>
                        <a:rPr sz="1600" spc="-13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functions  because </a:t>
                      </a:r>
                      <a:r>
                        <a:rPr sz="1600" spc="-1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it </a:t>
                      </a:r>
                      <a:r>
                        <a:rPr sz="1600" spc="-12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works </a:t>
                      </a:r>
                      <a:r>
                        <a:rPr sz="1600" spc="-15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as </a:t>
                      </a:r>
                      <a:r>
                        <a:rPr sz="1600" spc="-7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a</a:t>
                      </a:r>
                      <a:r>
                        <a:rPr sz="1600" b="1" spc="-7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real</a:t>
                      </a:r>
                      <a:r>
                        <a:rPr sz="1600" b="1" spc="-1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sz="1600" b="1" spc="-9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world</a:t>
                      </a:r>
                      <a:r>
                        <a:rPr sz="1600" spc="-9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a:t>
                      </a:r>
                      <a:endParaRPr sz="16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a:txBody>
                  <a:tcPr marL="0" marR="0" marT="5080" marB="0">
                    <a:lnL w="12700">
                      <a:solidFill>
                        <a:srgbClr val="CCCCCC"/>
                      </a:solidFill>
                      <a:prstDash val="solid"/>
                    </a:lnL>
                    <a:lnR w="12700">
                      <a:solidFill>
                        <a:srgbClr val="CCCCCC"/>
                      </a:solidFill>
                      <a:prstDash val="solid"/>
                    </a:lnR>
                    <a:lnT w="12700">
                      <a:solidFill>
                        <a:srgbClr val="CCCCCC"/>
                      </a:solidFill>
                      <a:prstDash val="solid"/>
                    </a:lnT>
                    <a:lnB w="12700">
                      <a:solidFill>
                        <a:srgbClr val="CCCCCC"/>
                      </a:solidFill>
                      <a:prstDash val="solid"/>
                    </a:lnB>
                    <a:solidFill>
                      <a:srgbClr val="EFEFEF"/>
                    </a:solidFill>
                  </a:tcPr>
                </a:tc>
                <a:extLst>
                  <a:ext uri="{0D108BD9-81ED-4DB2-BD59-A6C34878D82A}">
                    <a16:rowId xmlns:a16="http://schemas.microsoft.com/office/drawing/2014/main" val="1470521300"/>
                  </a:ext>
                </a:extLst>
              </a:tr>
              <a:tr h="415372">
                <a:tc>
                  <a:txBody>
                    <a:bodyPr/>
                    <a:lstStyle/>
                    <a:p>
                      <a:pPr marL="1270" algn="ctr">
                        <a:lnSpc>
                          <a:spcPct val="100000"/>
                        </a:lnSpc>
                        <a:spcBef>
                          <a:spcPts val="10"/>
                        </a:spcBef>
                      </a:pPr>
                      <a:r>
                        <a:rPr sz="1600" b="1" spc="-14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Approach</a:t>
                      </a:r>
                      <a:endParaRPr sz="16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a:txBody>
                  <a:tcPr marL="0" marR="0" marT="1270" marB="0">
                    <a:lnL w="12700">
                      <a:solidFill>
                        <a:srgbClr val="CCCCCC"/>
                      </a:solidFill>
                      <a:prstDash val="solid"/>
                    </a:lnL>
                    <a:lnR w="12700">
                      <a:solidFill>
                        <a:srgbClr val="CCCCCC"/>
                      </a:solidFill>
                      <a:prstDash val="solid"/>
                    </a:lnR>
                    <a:lnT w="12700">
                      <a:solidFill>
                        <a:srgbClr val="CCCCCC"/>
                      </a:solidFill>
                      <a:prstDash val="solid"/>
                    </a:lnT>
                    <a:lnB w="12700">
                      <a:solidFill>
                        <a:srgbClr val="CCCCCC"/>
                      </a:solidFill>
                      <a:prstDash val="solid"/>
                    </a:lnB>
                    <a:solidFill>
                      <a:srgbClr val="EFEFEF"/>
                    </a:solidFill>
                  </a:tcPr>
                </a:tc>
                <a:tc>
                  <a:txBody>
                    <a:bodyPr/>
                    <a:lstStyle/>
                    <a:p>
                      <a:pPr marL="13335" marR="490855">
                        <a:lnSpc>
                          <a:spcPct val="100000"/>
                        </a:lnSpc>
                        <a:spcBef>
                          <a:spcPts val="10"/>
                        </a:spcBef>
                      </a:pPr>
                      <a:r>
                        <a:rPr sz="1600" spc="-204"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POP </a:t>
                      </a:r>
                      <a:r>
                        <a:rPr sz="1600" spc="-9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follows </a:t>
                      </a:r>
                      <a:r>
                        <a:rPr sz="1600" b="1" spc="-22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Top </a:t>
                      </a:r>
                      <a:r>
                        <a:rPr sz="1600" b="1" spc="-12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Down  </a:t>
                      </a:r>
                      <a:r>
                        <a:rPr sz="1600" b="1" spc="-13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approach</a:t>
                      </a:r>
                      <a:r>
                        <a:rPr sz="1600" spc="-13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a:t>
                      </a:r>
                      <a:endParaRPr sz="16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a:txBody>
                  <a:tcPr marL="0" marR="0" marT="1270" marB="0">
                    <a:lnL w="12700">
                      <a:solidFill>
                        <a:srgbClr val="CCCCCC"/>
                      </a:solidFill>
                      <a:prstDash val="solid"/>
                    </a:lnL>
                    <a:lnR w="12700">
                      <a:solidFill>
                        <a:srgbClr val="CCCCCC"/>
                      </a:solidFill>
                      <a:prstDash val="solid"/>
                    </a:lnR>
                    <a:lnT w="12700">
                      <a:solidFill>
                        <a:srgbClr val="CCCCCC"/>
                      </a:solidFill>
                      <a:prstDash val="solid"/>
                    </a:lnT>
                    <a:lnB w="12700">
                      <a:solidFill>
                        <a:srgbClr val="CCCCCC"/>
                      </a:solidFill>
                      <a:prstDash val="solid"/>
                    </a:lnB>
                    <a:solidFill>
                      <a:srgbClr val="EFEFEF"/>
                    </a:solidFill>
                  </a:tcPr>
                </a:tc>
                <a:tc>
                  <a:txBody>
                    <a:bodyPr/>
                    <a:lstStyle/>
                    <a:p>
                      <a:pPr marL="13970">
                        <a:lnSpc>
                          <a:spcPct val="100000"/>
                        </a:lnSpc>
                        <a:spcBef>
                          <a:spcPts val="1090"/>
                        </a:spcBef>
                      </a:pPr>
                      <a:r>
                        <a:rPr sz="1600" spc="-11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OOP </a:t>
                      </a:r>
                      <a:r>
                        <a:rPr sz="1600" spc="-9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follows </a:t>
                      </a:r>
                      <a:r>
                        <a:rPr sz="1600" b="1" spc="-18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Bottom </a:t>
                      </a:r>
                      <a:r>
                        <a:rPr sz="1600" b="1" spc="-15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Up</a:t>
                      </a:r>
                      <a:r>
                        <a:rPr sz="1600" b="1" spc="-4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sz="1600" b="1" spc="-13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approach</a:t>
                      </a:r>
                      <a:r>
                        <a:rPr sz="1600" spc="-13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a:t>
                      </a:r>
                      <a:endParaRPr sz="16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a:txBody>
                  <a:tcPr marL="0" marR="0" marT="138430" marB="0">
                    <a:lnL w="12700">
                      <a:solidFill>
                        <a:srgbClr val="CCCCCC"/>
                      </a:solidFill>
                      <a:prstDash val="solid"/>
                    </a:lnL>
                    <a:lnR w="12700">
                      <a:solidFill>
                        <a:srgbClr val="CCCCCC"/>
                      </a:solidFill>
                      <a:prstDash val="solid"/>
                    </a:lnR>
                    <a:lnT w="12700">
                      <a:solidFill>
                        <a:srgbClr val="CCCCCC"/>
                      </a:solidFill>
                      <a:prstDash val="solid"/>
                    </a:lnT>
                    <a:lnB w="12700">
                      <a:solidFill>
                        <a:srgbClr val="CCCCCC"/>
                      </a:solidFill>
                      <a:prstDash val="solid"/>
                    </a:lnB>
                    <a:solidFill>
                      <a:srgbClr val="EFEFEF"/>
                    </a:solidFill>
                  </a:tcPr>
                </a:tc>
                <a:extLst>
                  <a:ext uri="{0D108BD9-81ED-4DB2-BD59-A6C34878D82A}">
                    <a16:rowId xmlns:a16="http://schemas.microsoft.com/office/drawing/2014/main" val="3784841556"/>
                  </a:ext>
                </a:extLst>
              </a:tr>
              <a:tr h="415399">
                <a:tc>
                  <a:txBody>
                    <a:bodyPr/>
                    <a:lstStyle/>
                    <a:p>
                      <a:pPr algn="ctr">
                        <a:lnSpc>
                          <a:spcPct val="100000"/>
                        </a:lnSpc>
                        <a:spcBef>
                          <a:spcPts val="10"/>
                        </a:spcBef>
                      </a:pPr>
                      <a:r>
                        <a:rPr sz="1600" b="1" spc="-204"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Access</a:t>
                      </a:r>
                      <a:r>
                        <a:rPr sz="1600" b="1" spc="-6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sz="1600" b="1" spc="-16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Specifiers</a:t>
                      </a:r>
                      <a:endParaRPr sz="16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a:txBody>
                  <a:tcPr marL="0" marR="0" marT="1270" marB="0">
                    <a:lnL w="12700">
                      <a:solidFill>
                        <a:srgbClr val="CCCCCC"/>
                      </a:solidFill>
                      <a:prstDash val="solid"/>
                    </a:lnL>
                    <a:lnR w="12700">
                      <a:solidFill>
                        <a:srgbClr val="CCCCCC"/>
                      </a:solidFill>
                      <a:prstDash val="solid"/>
                    </a:lnR>
                    <a:lnT w="12700">
                      <a:solidFill>
                        <a:srgbClr val="CCCCCC"/>
                      </a:solidFill>
                      <a:prstDash val="solid"/>
                    </a:lnT>
                    <a:lnB w="12700">
                      <a:solidFill>
                        <a:srgbClr val="CCCCCC"/>
                      </a:solidFill>
                      <a:prstDash val="solid"/>
                    </a:lnB>
                    <a:solidFill>
                      <a:srgbClr val="EFEFEF"/>
                    </a:solidFill>
                  </a:tcPr>
                </a:tc>
                <a:tc>
                  <a:txBody>
                    <a:bodyPr/>
                    <a:lstStyle/>
                    <a:p>
                      <a:pPr marL="13335" marR="467995">
                        <a:lnSpc>
                          <a:spcPct val="100000"/>
                        </a:lnSpc>
                        <a:spcBef>
                          <a:spcPts val="10"/>
                        </a:spcBef>
                      </a:pPr>
                      <a:r>
                        <a:rPr sz="1600" spc="-204"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POP </a:t>
                      </a:r>
                      <a:r>
                        <a:rPr sz="1600" spc="-13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does </a:t>
                      </a:r>
                      <a:r>
                        <a:rPr sz="1600" spc="-11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not </a:t>
                      </a:r>
                      <a:r>
                        <a:rPr sz="1600" spc="-12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have </a:t>
                      </a:r>
                      <a:r>
                        <a:rPr sz="1600" spc="-9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any  </a:t>
                      </a:r>
                      <a:r>
                        <a:rPr sz="1600" spc="-19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access</a:t>
                      </a:r>
                      <a:r>
                        <a:rPr sz="1600" spc="-3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sz="1600" spc="-9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specifier.</a:t>
                      </a:r>
                      <a:endParaRPr sz="160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a:txBody>
                  <a:tcPr marL="0" marR="0" marT="1270" marB="0">
                    <a:lnL w="12700">
                      <a:solidFill>
                        <a:srgbClr val="CCCCCC"/>
                      </a:solidFill>
                      <a:prstDash val="solid"/>
                    </a:lnL>
                    <a:lnR w="12700">
                      <a:solidFill>
                        <a:srgbClr val="CCCCCC"/>
                      </a:solidFill>
                      <a:prstDash val="solid"/>
                    </a:lnR>
                    <a:lnT w="12700">
                      <a:solidFill>
                        <a:srgbClr val="CCCCCC"/>
                      </a:solidFill>
                      <a:prstDash val="solid"/>
                    </a:lnT>
                    <a:lnB w="12700">
                      <a:solidFill>
                        <a:srgbClr val="CCCCCC"/>
                      </a:solidFill>
                      <a:prstDash val="solid"/>
                    </a:lnB>
                    <a:solidFill>
                      <a:srgbClr val="EFEFEF"/>
                    </a:solidFill>
                  </a:tcPr>
                </a:tc>
                <a:tc>
                  <a:txBody>
                    <a:bodyPr/>
                    <a:lstStyle/>
                    <a:p>
                      <a:pPr marL="13970" marR="59055">
                        <a:lnSpc>
                          <a:spcPct val="100000"/>
                        </a:lnSpc>
                        <a:spcBef>
                          <a:spcPts val="10"/>
                        </a:spcBef>
                      </a:pPr>
                      <a:r>
                        <a:rPr sz="1600" spc="-11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OOP </a:t>
                      </a:r>
                      <a:r>
                        <a:rPr sz="1600" spc="-17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has </a:t>
                      </a:r>
                      <a:r>
                        <a:rPr sz="1600" spc="-19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access </a:t>
                      </a:r>
                      <a:r>
                        <a:rPr sz="1600" spc="-9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specifiers </a:t>
                      </a:r>
                      <a:r>
                        <a:rPr sz="1600" spc="-13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named </a:t>
                      </a:r>
                      <a:r>
                        <a:rPr sz="1600" spc="-12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Public,  </a:t>
                      </a:r>
                      <a:r>
                        <a:rPr sz="1600" spc="-9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Private, </a:t>
                      </a:r>
                      <a:r>
                        <a:rPr sz="1600" spc="-1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Protected,</a:t>
                      </a:r>
                      <a:r>
                        <a:rPr sz="1600" spc="7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sz="1600" spc="-11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etc.</a:t>
                      </a:r>
                      <a:endParaRPr sz="16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a:txBody>
                  <a:tcPr marL="0" marR="0" marT="1270" marB="0">
                    <a:lnL w="12700">
                      <a:solidFill>
                        <a:srgbClr val="CCCCCC"/>
                      </a:solidFill>
                      <a:prstDash val="solid"/>
                    </a:lnL>
                    <a:lnR w="12700">
                      <a:solidFill>
                        <a:srgbClr val="CCCCCC"/>
                      </a:solidFill>
                      <a:prstDash val="solid"/>
                    </a:lnR>
                    <a:lnT w="12700">
                      <a:solidFill>
                        <a:srgbClr val="CCCCCC"/>
                      </a:solidFill>
                      <a:prstDash val="solid"/>
                    </a:lnT>
                    <a:lnB w="12700">
                      <a:solidFill>
                        <a:srgbClr val="CCCCCC"/>
                      </a:solidFill>
                      <a:prstDash val="solid"/>
                    </a:lnB>
                    <a:solidFill>
                      <a:srgbClr val="EFEFEF"/>
                    </a:solidFill>
                  </a:tcPr>
                </a:tc>
                <a:extLst>
                  <a:ext uri="{0D108BD9-81ED-4DB2-BD59-A6C34878D82A}">
                    <a16:rowId xmlns:a16="http://schemas.microsoft.com/office/drawing/2014/main" val="1919021102"/>
                  </a:ext>
                </a:extLst>
              </a:tr>
              <a:tr h="613195">
                <a:tc>
                  <a:txBody>
                    <a:bodyPr/>
                    <a:lstStyle/>
                    <a:p>
                      <a:pPr>
                        <a:lnSpc>
                          <a:spcPct val="100000"/>
                        </a:lnSpc>
                        <a:spcBef>
                          <a:spcPts val="40"/>
                        </a:spcBef>
                      </a:pPr>
                      <a:endParaRPr sz="16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a:p>
                      <a:pPr marL="262890">
                        <a:lnSpc>
                          <a:spcPct val="100000"/>
                        </a:lnSpc>
                      </a:pPr>
                      <a:r>
                        <a:rPr sz="1600" b="1" spc="-9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Data</a:t>
                      </a:r>
                      <a:r>
                        <a:rPr sz="1600" b="1" spc="-5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sz="1600" b="1" spc="-11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Moving</a:t>
                      </a:r>
                      <a:endParaRPr sz="16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a:txBody>
                  <a:tcPr marL="0" marR="0" marT="5080" marB="0">
                    <a:lnL w="12700">
                      <a:solidFill>
                        <a:srgbClr val="CCCCCC"/>
                      </a:solidFill>
                      <a:prstDash val="solid"/>
                    </a:lnL>
                    <a:lnR w="12700">
                      <a:solidFill>
                        <a:srgbClr val="CCCCCC"/>
                      </a:solidFill>
                      <a:prstDash val="solid"/>
                    </a:lnR>
                    <a:lnT w="12700">
                      <a:solidFill>
                        <a:srgbClr val="CCCCCC"/>
                      </a:solidFill>
                      <a:prstDash val="solid"/>
                    </a:lnT>
                    <a:lnB w="12700">
                      <a:solidFill>
                        <a:srgbClr val="CCCCCC"/>
                      </a:solidFill>
                      <a:prstDash val="solid"/>
                    </a:lnB>
                    <a:solidFill>
                      <a:srgbClr val="EFEFEF"/>
                    </a:solidFill>
                  </a:tcPr>
                </a:tc>
                <a:tc>
                  <a:txBody>
                    <a:bodyPr/>
                    <a:lstStyle/>
                    <a:p>
                      <a:pPr marL="13335" marR="539115" algn="just">
                        <a:lnSpc>
                          <a:spcPct val="100000"/>
                        </a:lnSpc>
                        <a:spcBef>
                          <a:spcPts val="10"/>
                        </a:spcBef>
                      </a:pPr>
                      <a:r>
                        <a:rPr sz="1600" spc="-16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In </a:t>
                      </a:r>
                      <a:r>
                        <a:rPr sz="1600" spc="-254"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POP, </a:t>
                      </a:r>
                      <a:r>
                        <a:rPr sz="1600" spc="-6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Data </a:t>
                      </a:r>
                      <a:r>
                        <a:rPr sz="1600" spc="-14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can </a:t>
                      </a:r>
                      <a:r>
                        <a:rPr sz="1600" spc="-16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move  </a:t>
                      </a:r>
                      <a:r>
                        <a:rPr sz="1600" spc="-2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freely </a:t>
                      </a:r>
                      <a:r>
                        <a:rPr sz="1600" spc="-8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from </a:t>
                      </a:r>
                      <a:r>
                        <a:rPr sz="1600" spc="-11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function </a:t>
                      </a:r>
                      <a:r>
                        <a:rPr sz="1600" spc="-6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to  </a:t>
                      </a:r>
                      <a:r>
                        <a:rPr sz="1600" spc="-11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function in the</a:t>
                      </a:r>
                      <a:r>
                        <a:rPr sz="1600" spc="15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sz="1600" spc="-16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system.</a:t>
                      </a:r>
                      <a:endParaRPr sz="160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a:txBody>
                  <a:tcPr marL="0" marR="0" marT="1270" marB="0">
                    <a:lnL w="12700">
                      <a:solidFill>
                        <a:srgbClr val="CCCCCC"/>
                      </a:solidFill>
                      <a:prstDash val="solid"/>
                    </a:lnL>
                    <a:lnR w="12700">
                      <a:solidFill>
                        <a:srgbClr val="CCCCCC"/>
                      </a:solidFill>
                      <a:prstDash val="solid"/>
                    </a:lnR>
                    <a:lnT w="12700">
                      <a:solidFill>
                        <a:srgbClr val="CCCCCC"/>
                      </a:solidFill>
                      <a:prstDash val="solid"/>
                    </a:lnT>
                    <a:lnB w="12700">
                      <a:solidFill>
                        <a:srgbClr val="CCCCCC"/>
                      </a:solidFill>
                      <a:prstDash val="solid"/>
                    </a:lnB>
                    <a:solidFill>
                      <a:srgbClr val="EFEFEF"/>
                    </a:solidFill>
                  </a:tcPr>
                </a:tc>
                <a:tc>
                  <a:txBody>
                    <a:bodyPr/>
                    <a:lstStyle/>
                    <a:p>
                      <a:pPr marL="13970" marR="408940">
                        <a:lnSpc>
                          <a:spcPct val="100000"/>
                        </a:lnSpc>
                        <a:spcBef>
                          <a:spcPts val="10"/>
                        </a:spcBef>
                      </a:pPr>
                      <a:r>
                        <a:rPr sz="1600" spc="-16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In </a:t>
                      </a:r>
                      <a:r>
                        <a:rPr sz="1600" spc="-18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OOP, </a:t>
                      </a:r>
                      <a:r>
                        <a:rPr sz="1600" spc="-11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objects </a:t>
                      </a:r>
                      <a:r>
                        <a:rPr sz="1600" spc="-15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can </a:t>
                      </a:r>
                      <a:r>
                        <a:rPr sz="1600" spc="-17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move </a:t>
                      </a:r>
                      <a:r>
                        <a:rPr sz="1600" spc="-8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and  </a:t>
                      </a:r>
                      <a:r>
                        <a:rPr sz="1600" spc="-15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communicate </a:t>
                      </a:r>
                      <a:r>
                        <a:rPr sz="1600" spc="-8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with </a:t>
                      </a:r>
                      <a:r>
                        <a:rPr sz="1600" spc="-114"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each </a:t>
                      </a:r>
                      <a:r>
                        <a:rPr sz="1600" spc="-9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other </a:t>
                      </a:r>
                      <a:r>
                        <a:rPr sz="1600" spc="-114"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through  </a:t>
                      </a:r>
                      <a:r>
                        <a:rPr sz="1600" spc="-13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member</a:t>
                      </a:r>
                      <a:r>
                        <a:rPr sz="1600" spc="-2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sz="1600" spc="-13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functions.</a:t>
                      </a:r>
                      <a:endParaRPr sz="16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a:txBody>
                  <a:tcPr marL="0" marR="0" marT="1270" marB="0">
                    <a:lnL w="12700">
                      <a:solidFill>
                        <a:srgbClr val="CCCCCC"/>
                      </a:solidFill>
                      <a:prstDash val="solid"/>
                    </a:lnL>
                    <a:lnR w="12700">
                      <a:solidFill>
                        <a:srgbClr val="CCCCCC"/>
                      </a:solidFill>
                      <a:prstDash val="solid"/>
                    </a:lnR>
                    <a:lnT w="12700">
                      <a:solidFill>
                        <a:srgbClr val="CCCCCC"/>
                      </a:solidFill>
                      <a:prstDash val="solid"/>
                    </a:lnT>
                    <a:lnB w="12700">
                      <a:solidFill>
                        <a:srgbClr val="CCCCCC"/>
                      </a:solidFill>
                      <a:prstDash val="solid"/>
                    </a:lnB>
                    <a:solidFill>
                      <a:srgbClr val="EFEFEF"/>
                    </a:solidFill>
                  </a:tcPr>
                </a:tc>
                <a:extLst>
                  <a:ext uri="{0D108BD9-81ED-4DB2-BD59-A6C34878D82A}">
                    <a16:rowId xmlns:a16="http://schemas.microsoft.com/office/drawing/2014/main" val="2796234938"/>
                  </a:ext>
                </a:extLst>
              </a:tr>
            </a:tbl>
          </a:graphicData>
        </a:graphic>
      </p:graphicFrame>
    </p:spTree>
    <p:extLst>
      <p:ext uri="{BB962C8B-B14F-4D97-AF65-F5344CB8AC3E}">
        <p14:creationId xmlns:p14="http://schemas.microsoft.com/office/powerpoint/2010/main" val="36618711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AB56B-3887-71AA-876D-F9CB5F587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52394C-C91B-174A-647C-7DCB3DF04436}"/>
              </a:ext>
            </a:extLst>
          </p:cNvPr>
          <p:cNvSpPr>
            <a:spLocks noGrp="1"/>
          </p:cNvSpPr>
          <p:nvPr>
            <p:ph type="title"/>
          </p:nvPr>
        </p:nvSpPr>
        <p:spPr>
          <a:xfrm>
            <a:off x="74936" y="102125"/>
            <a:ext cx="8520600" cy="707400"/>
          </a:xfrm>
        </p:spPr>
        <p:txBody>
          <a:bodyPr>
            <a:normAutofit fontScale="90000"/>
          </a:bodyPr>
          <a:lstStyle/>
          <a:p>
            <a:r>
              <a:rPr lang="en-IN" dirty="0"/>
              <a:t>POP v/s OOP</a:t>
            </a:r>
          </a:p>
        </p:txBody>
      </p:sp>
      <p:graphicFrame>
        <p:nvGraphicFramePr>
          <p:cNvPr id="3" name="object 2">
            <a:extLst>
              <a:ext uri="{FF2B5EF4-FFF2-40B4-BE49-F238E27FC236}">
                <a16:creationId xmlns:a16="http://schemas.microsoft.com/office/drawing/2014/main" id="{F58AEA08-4A61-B5BF-1FC5-86E2846C86E8}"/>
              </a:ext>
            </a:extLst>
          </p:cNvPr>
          <p:cNvGraphicFramePr>
            <a:graphicFrameLocks noGrp="1"/>
          </p:cNvGraphicFramePr>
          <p:nvPr>
            <p:extLst>
              <p:ext uri="{D42A27DB-BD31-4B8C-83A1-F6EECF244321}">
                <p14:modId xmlns:p14="http://schemas.microsoft.com/office/powerpoint/2010/main" val="556625415"/>
              </p:ext>
            </p:extLst>
          </p:nvPr>
        </p:nvGraphicFramePr>
        <p:xfrm>
          <a:off x="190046" y="703943"/>
          <a:ext cx="8520599" cy="3974194"/>
        </p:xfrm>
        <a:graphic>
          <a:graphicData uri="http://schemas.openxmlformats.org/drawingml/2006/table">
            <a:tbl>
              <a:tblPr firstRow="1" bandRow="1">
                <a:tableStyleId>{2D5ABB26-0587-4C30-8999-92F81FD0307C}</a:tableStyleId>
              </a:tblPr>
              <a:tblGrid>
                <a:gridCol w="1831388">
                  <a:extLst>
                    <a:ext uri="{9D8B030D-6E8A-4147-A177-3AD203B41FA5}">
                      <a16:colId xmlns:a16="http://schemas.microsoft.com/office/drawing/2014/main" val="20000"/>
                    </a:ext>
                  </a:extLst>
                </a:gridCol>
                <a:gridCol w="2741774">
                  <a:extLst>
                    <a:ext uri="{9D8B030D-6E8A-4147-A177-3AD203B41FA5}">
                      <a16:colId xmlns:a16="http://schemas.microsoft.com/office/drawing/2014/main" val="20001"/>
                    </a:ext>
                  </a:extLst>
                </a:gridCol>
                <a:gridCol w="3947437">
                  <a:extLst>
                    <a:ext uri="{9D8B030D-6E8A-4147-A177-3AD203B41FA5}">
                      <a16:colId xmlns:a16="http://schemas.microsoft.com/office/drawing/2014/main" val="20002"/>
                    </a:ext>
                  </a:extLst>
                </a:gridCol>
              </a:tblGrid>
              <a:tr h="746631">
                <a:tc>
                  <a:txBody>
                    <a:bodyPr/>
                    <a:lstStyle/>
                    <a:p>
                      <a:pPr>
                        <a:lnSpc>
                          <a:spcPct val="100000"/>
                        </a:lnSpc>
                        <a:spcBef>
                          <a:spcPts val="40"/>
                        </a:spcBef>
                      </a:pPr>
                      <a:endParaRPr sz="16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a:p>
                      <a:pPr marL="1270" algn="ctr">
                        <a:lnSpc>
                          <a:spcPct val="100000"/>
                        </a:lnSpc>
                      </a:pPr>
                      <a:r>
                        <a:rPr sz="1600" b="1" spc="-14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Expansion</a:t>
                      </a:r>
                      <a:endParaRPr sz="16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a:txBody>
                  <a:tcPr marL="0" marR="0" marT="5080" marB="0">
                    <a:lnL w="12700">
                      <a:solidFill>
                        <a:srgbClr val="CCCCCC"/>
                      </a:solidFill>
                      <a:prstDash val="solid"/>
                    </a:lnL>
                    <a:lnR w="12700">
                      <a:solidFill>
                        <a:srgbClr val="CCCCCC"/>
                      </a:solidFill>
                      <a:prstDash val="solid"/>
                    </a:lnR>
                    <a:lnT w="12700">
                      <a:solidFill>
                        <a:srgbClr val="CCCCCC"/>
                      </a:solidFill>
                      <a:prstDash val="solid"/>
                    </a:lnT>
                    <a:lnB w="12700">
                      <a:solidFill>
                        <a:srgbClr val="CCCCCC"/>
                      </a:solidFill>
                      <a:prstDash val="solid"/>
                    </a:lnB>
                    <a:solidFill>
                      <a:srgbClr val="EFEFEF"/>
                    </a:solidFill>
                  </a:tcPr>
                </a:tc>
                <a:tc>
                  <a:txBody>
                    <a:bodyPr/>
                    <a:lstStyle/>
                    <a:p>
                      <a:pPr marL="13335" marR="446405">
                        <a:lnSpc>
                          <a:spcPct val="100000"/>
                        </a:lnSpc>
                        <a:spcBef>
                          <a:spcPts val="5"/>
                        </a:spcBef>
                      </a:pPr>
                      <a:r>
                        <a:rPr sz="1600" spc="-28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To </a:t>
                      </a:r>
                      <a:r>
                        <a:rPr sz="1600" spc="-1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add </a:t>
                      </a:r>
                      <a:r>
                        <a:rPr sz="1600" spc="-15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new </a:t>
                      </a:r>
                      <a:r>
                        <a:rPr sz="1600" spc="-1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data </a:t>
                      </a:r>
                      <a:r>
                        <a:rPr sz="1600" spc="-8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and  </a:t>
                      </a:r>
                      <a:r>
                        <a:rPr sz="1600" spc="-11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function in </a:t>
                      </a:r>
                      <a:r>
                        <a:rPr sz="1600" spc="-204"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POP </a:t>
                      </a:r>
                      <a:r>
                        <a:rPr sz="1600" spc="-15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is </a:t>
                      </a:r>
                      <a:r>
                        <a:rPr sz="1600" spc="-11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not </a:t>
                      </a:r>
                      <a:r>
                        <a:rPr sz="1600" spc="-204"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so  </a:t>
                      </a:r>
                      <a:r>
                        <a:rPr sz="1600" spc="-12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easy.</a:t>
                      </a:r>
                      <a:endParaRPr sz="160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a:txBody>
                  <a:tcPr marL="0" marR="0" marT="635" marB="0">
                    <a:lnL w="12700">
                      <a:solidFill>
                        <a:srgbClr val="CCCCCC"/>
                      </a:solidFill>
                      <a:prstDash val="solid"/>
                    </a:lnL>
                    <a:lnR w="12700">
                      <a:solidFill>
                        <a:srgbClr val="CCCCCC"/>
                      </a:solidFill>
                      <a:prstDash val="solid"/>
                    </a:lnR>
                    <a:lnT w="12700">
                      <a:solidFill>
                        <a:srgbClr val="CCCCCC"/>
                      </a:solidFill>
                      <a:prstDash val="solid"/>
                    </a:lnT>
                    <a:lnB w="12700">
                      <a:solidFill>
                        <a:srgbClr val="CCCCCC"/>
                      </a:solidFill>
                      <a:prstDash val="solid"/>
                    </a:lnB>
                    <a:solidFill>
                      <a:srgbClr val="EFEFEF"/>
                    </a:solidFill>
                  </a:tcPr>
                </a:tc>
                <a:tc>
                  <a:txBody>
                    <a:bodyPr/>
                    <a:lstStyle/>
                    <a:p>
                      <a:pPr marL="13970" marR="118745">
                        <a:lnSpc>
                          <a:spcPct val="100000"/>
                        </a:lnSpc>
                        <a:spcBef>
                          <a:spcPts val="1085"/>
                        </a:spcBef>
                      </a:pPr>
                      <a:r>
                        <a:rPr sz="1600" spc="-11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OOP </a:t>
                      </a:r>
                      <a:r>
                        <a:rPr sz="1600" spc="-8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provides </a:t>
                      </a:r>
                      <a:r>
                        <a:rPr sz="1600" spc="-114"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an </a:t>
                      </a:r>
                      <a:r>
                        <a:rPr sz="1600" spc="-10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easy </a:t>
                      </a:r>
                      <a:r>
                        <a:rPr sz="1600" spc="-7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way </a:t>
                      </a:r>
                      <a:r>
                        <a:rPr sz="1600" spc="-6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to </a:t>
                      </a:r>
                      <a:r>
                        <a:rPr sz="1600" spc="-1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add </a:t>
                      </a:r>
                      <a:r>
                        <a:rPr sz="1600" spc="-15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new  </a:t>
                      </a:r>
                      <a:r>
                        <a:rPr sz="1600" spc="-1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data </a:t>
                      </a:r>
                      <a:r>
                        <a:rPr sz="1600" spc="-8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and</a:t>
                      </a:r>
                      <a:r>
                        <a:rPr sz="1600" spc="-4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sz="1600" spc="-11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function.</a:t>
                      </a:r>
                      <a:endParaRPr sz="160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a:txBody>
                  <a:tcPr marL="0" marR="0" marT="137795" marB="0">
                    <a:lnL w="12700">
                      <a:solidFill>
                        <a:srgbClr val="CCCCCC"/>
                      </a:solidFill>
                      <a:prstDash val="solid"/>
                    </a:lnL>
                    <a:lnR w="12700">
                      <a:solidFill>
                        <a:srgbClr val="CCCCCC"/>
                      </a:solidFill>
                      <a:prstDash val="solid"/>
                    </a:lnR>
                    <a:lnT w="12700">
                      <a:solidFill>
                        <a:srgbClr val="CCCCCC"/>
                      </a:solidFill>
                      <a:prstDash val="solid"/>
                    </a:lnT>
                    <a:lnB w="12700">
                      <a:solidFill>
                        <a:srgbClr val="CCCCCC"/>
                      </a:solidFill>
                      <a:prstDash val="solid"/>
                    </a:lnB>
                    <a:solidFill>
                      <a:srgbClr val="EFEFEF"/>
                    </a:solidFill>
                  </a:tcPr>
                </a:tc>
                <a:extLst>
                  <a:ext uri="{0D108BD9-81ED-4DB2-BD59-A6C34878D82A}">
                    <a16:rowId xmlns:a16="http://schemas.microsoft.com/office/drawing/2014/main" val="10000"/>
                  </a:ext>
                </a:extLst>
              </a:tr>
              <a:tr h="1228441">
                <a:tc>
                  <a:txBody>
                    <a:bodyPr/>
                    <a:lstStyle/>
                    <a:p>
                      <a:pPr>
                        <a:lnSpc>
                          <a:spcPct val="100000"/>
                        </a:lnSpc>
                      </a:pPr>
                      <a:endParaRPr sz="160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a:p>
                      <a:pPr>
                        <a:lnSpc>
                          <a:spcPct val="100000"/>
                        </a:lnSpc>
                        <a:spcBef>
                          <a:spcPts val="15"/>
                        </a:spcBef>
                      </a:pPr>
                      <a:endParaRPr sz="160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a:p>
                      <a:pPr algn="ctr">
                        <a:lnSpc>
                          <a:spcPct val="100000"/>
                        </a:lnSpc>
                      </a:pPr>
                      <a:r>
                        <a:rPr sz="1600" b="1" spc="-9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Data</a:t>
                      </a:r>
                      <a:r>
                        <a:rPr sz="1600" b="1" spc="-5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sz="1600" b="1" spc="-204"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Access</a:t>
                      </a:r>
                      <a:endParaRPr sz="160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a:txBody>
                  <a:tcPr marL="0" marR="0" marT="0" marB="0">
                    <a:lnL w="12700">
                      <a:solidFill>
                        <a:srgbClr val="CCCCCC"/>
                      </a:solidFill>
                      <a:prstDash val="solid"/>
                    </a:lnL>
                    <a:lnR w="12700">
                      <a:solidFill>
                        <a:srgbClr val="CCCCCC"/>
                      </a:solidFill>
                      <a:prstDash val="solid"/>
                    </a:lnR>
                    <a:lnT w="12700">
                      <a:solidFill>
                        <a:srgbClr val="CCCCCC"/>
                      </a:solidFill>
                      <a:prstDash val="solid"/>
                    </a:lnT>
                    <a:lnB w="12700">
                      <a:solidFill>
                        <a:srgbClr val="CCCCCC"/>
                      </a:solidFill>
                      <a:prstDash val="solid"/>
                    </a:lnB>
                    <a:solidFill>
                      <a:srgbClr val="EFEFEF"/>
                    </a:solidFill>
                  </a:tcPr>
                </a:tc>
                <a:tc>
                  <a:txBody>
                    <a:bodyPr/>
                    <a:lstStyle/>
                    <a:p>
                      <a:pPr marL="13335" marR="94615">
                        <a:lnSpc>
                          <a:spcPct val="100000"/>
                        </a:lnSpc>
                        <a:spcBef>
                          <a:spcPts val="5"/>
                        </a:spcBef>
                      </a:pPr>
                      <a:r>
                        <a:rPr sz="1600" spc="-16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In </a:t>
                      </a:r>
                      <a:r>
                        <a:rPr sz="1600" spc="-254"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POP, </a:t>
                      </a:r>
                      <a:r>
                        <a:rPr sz="1600" spc="-13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Most </a:t>
                      </a:r>
                      <a:r>
                        <a:rPr sz="1600" spc="-11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function </a:t>
                      </a:r>
                      <a:r>
                        <a:rPr sz="1600" spc="-229"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uses  </a:t>
                      </a:r>
                      <a:r>
                        <a:rPr sz="1600" spc="-2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Global </a:t>
                      </a:r>
                      <a:r>
                        <a:rPr sz="1600" spc="-1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data </a:t>
                      </a:r>
                      <a:r>
                        <a:rPr sz="1600" spc="-1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for </a:t>
                      </a:r>
                      <a:r>
                        <a:rPr sz="1600" spc="-11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sharing  </a:t>
                      </a:r>
                      <a:r>
                        <a:rPr sz="1600" spc="-6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that </a:t>
                      </a:r>
                      <a:r>
                        <a:rPr sz="1600" spc="-14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can </a:t>
                      </a:r>
                      <a:r>
                        <a:rPr sz="1600" spc="-5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be </a:t>
                      </a:r>
                      <a:r>
                        <a:rPr sz="1600" spc="-15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accessed </a:t>
                      </a:r>
                      <a:r>
                        <a:rPr sz="1600" spc="-2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freely  </a:t>
                      </a:r>
                      <a:r>
                        <a:rPr sz="1600" spc="-8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from </a:t>
                      </a:r>
                      <a:r>
                        <a:rPr sz="1600" spc="-11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function </a:t>
                      </a:r>
                      <a:r>
                        <a:rPr sz="1600" spc="-6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to </a:t>
                      </a:r>
                      <a:r>
                        <a:rPr sz="1600" spc="-11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function in  the</a:t>
                      </a:r>
                      <a:r>
                        <a:rPr sz="1600" spc="-1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sz="1600" spc="-16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system.</a:t>
                      </a:r>
                      <a:endParaRPr sz="16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a:txBody>
                  <a:tcPr marL="0" marR="0" marT="635" marB="0">
                    <a:lnL w="12700">
                      <a:solidFill>
                        <a:srgbClr val="CCCCCC"/>
                      </a:solidFill>
                      <a:prstDash val="solid"/>
                    </a:lnL>
                    <a:lnR w="12700">
                      <a:solidFill>
                        <a:srgbClr val="CCCCCC"/>
                      </a:solidFill>
                      <a:prstDash val="solid"/>
                    </a:lnR>
                    <a:lnT w="12700">
                      <a:solidFill>
                        <a:srgbClr val="CCCCCC"/>
                      </a:solidFill>
                      <a:prstDash val="solid"/>
                    </a:lnT>
                    <a:lnB w="12700">
                      <a:solidFill>
                        <a:srgbClr val="CCCCCC"/>
                      </a:solidFill>
                      <a:prstDash val="solid"/>
                    </a:lnB>
                    <a:solidFill>
                      <a:srgbClr val="EFEFEF"/>
                    </a:solidFill>
                  </a:tcPr>
                </a:tc>
                <a:tc>
                  <a:txBody>
                    <a:bodyPr/>
                    <a:lstStyle/>
                    <a:p>
                      <a:pPr marL="13970" marR="99695">
                        <a:lnSpc>
                          <a:spcPct val="100000"/>
                        </a:lnSpc>
                        <a:spcBef>
                          <a:spcPts val="1085"/>
                        </a:spcBef>
                      </a:pPr>
                      <a:r>
                        <a:rPr sz="1600" spc="-16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In </a:t>
                      </a:r>
                      <a:r>
                        <a:rPr sz="1600" spc="-18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OOP, </a:t>
                      </a:r>
                      <a:r>
                        <a:rPr sz="1600" spc="-1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data </a:t>
                      </a:r>
                      <a:r>
                        <a:rPr sz="1600" spc="-14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can </a:t>
                      </a:r>
                      <a:r>
                        <a:rPr sz="1600" spc="-11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not </a:t>
                      </a:r>
                      <a:r>
                        <a:rPr sz="1600" spc="-16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move </a:t>
                      </a:r>
                      <a:r>
                        <a:rPr sz="1600" spc="-7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easily </a:t>
                      </a:r>
                      <a:r>
                        <a:rPr sz="1600" spc="-8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from  </a:t>
                      </a:r>
                      <a:r>
                        <a:rPr sz="1600" spc="-11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function </a:t>
                      </a:r>
                      <a:r>
                        <a:rPr sz="1600" spc="-6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to </a:t>
                      </a:r>
                      <a:r>
                        <a:rPr sz="1600" spc="-11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function, </a:t>
                      </a:r>
                      <a:r>
                        <a:rPr sz="1600" spc="-1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it </a:t>
                      </a:r>
                      <a:r>
                        <a:rPr sz="1600" spc="-14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can </a:t>
                      </a:r>
                      <a:r>
                        <a:rPr sz="1600" spc="-5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be </a:t>
                      </a:r>
                      <a:r>
                        <a:rPr sz="1600" spc="-7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kept </a:t>
                      </a:r>
                      <a:r>
                        <a:rPr sz="1600" spc="-8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public  </a:t>
                      </a:r>
                      <a:r>
                        <a:rPr sz="1600" spc="-5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or </a:t>
                      </a:r>
                      <a:r>
                        <a:rPr sz="1600" spc="-4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private </a:t>
                      </a:r>
                      <a:r>
                        <a:rPr sz="1600" spc="-204"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so </a:t>
                      </a:r>
                      <a:r>
                        <a:rPr sz="1600" spc="-12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we </a:t>
                      </a:r>
                      <a:r>
                        <a:rPr sz="1600" spc="-14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can </a:t>
                      </a:r>
                      <a:r>
                        <a:rPr sz="1600" spc="-1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control </a:t>
                      </a:r>
                      <a:r>
                        <a:rPr sz="1600" spc="-11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the </a:t>
                      </a:r>
                      <a:r>
                        <a:rPr sz="1600" spc="-19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access  </a:t>
                      </a:r>
                      <a:r>
                        <a:rPr sz="16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of</a:t>
                      </a:r>
                      <a:r>
                        <a:rPr sz="1600" spc="4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sz="1600" spc="-3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data.</a:t>
                      </a:r>
                      <a:endParaRPr sz="160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a:txBody>
                  <a:tcPr marL="0" marR="0" marT="137795" marB="0">
                    <a:lnL w="12700">
                      <a:solidFill>
                        <a:srgbClr val="CCCCCC"/>
                      </a:solidFill>
                      <a:prstDash val="solid"/>
                    </a:lnL>
                    <a:lnR w="12700">
                      <a:solidFill>
                        <a:srgbClr val="CCCCCC"/>
                      </a:solidFill>
                      <a:prstDash val="solid"/>
                    </a:lnR>
                    <a:lnT w="12700">
                      <a:solidFill>
                        <a:srgbClr val="CCCCCC"/>
                      </a:solidFill>
                      <a:prstDash val="solid"/>
                    </a:lnT>
                    <a:lnB w="12700">
                      <a:solidFill>
                        <a:srgbClr val="CCCCCC"/>
                      </a:solidFill>
                      <a:prstDash val="solid"/>
                    </a:lnB>
                    <a:solidFill>
                      <a:srgbClr val="EFEFEF"/>
                    </a:solidFill>
                  </a:tcPr>
                </a:tc>
                <a:extLst>
                  <a:ext uri="{0D108BD9-81ED-4DB2-BD59-A6C34878D82A}">
                    <a16:rowId xmlns:a16="http://schemas.microsoft.com/office/drawing/2014/main" val="10001"/>
                  </a:ext>
                </a:extLst>
              </a:tr>
              <a:tr h="746631">
                <a:tc>
                  <a:txBody>
                    <a:bodyPr/>
                    <a:lstStyle/>
                    <a:p>
                      <a:pPr>
                        <a:lnSpc>
                          <a:spcPct val="100000"/>
                        </a:lnSpc>
                        <a:spcBef>
                          <a:spcPts val="40"/>
                        </a:spcBef>
                      </a:pPr>
                      <a:endParaRPr sz="160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a:p>
                      <a:pPr algn="ctr">
                        <a:lnSpc>
                          <a:spcPct val="100000"/>
                        </a:lnSpc>
                      </a:pPr>
                      <a:r>
                        <a:rPr sz="1600" b="1" spc="-9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Data</a:t>
                      </a:r>
                      <a:r>
                        <a:rPr sz="1600" b="1" spc="-5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sz="1600" b="1" spc="-114"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Hiding</a:t>
                      </a:r>
                      <a:endParaRPr sz="160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a:txBody>
                  <a:tcPr marL="0" marR="0" marT="5080" marB="0">
                    <a:lnL w="12700">
                      <a:solidFill>
                        <a:srgbClr val="CCCCCC"/>
                      </a:solidFill>
                      <a:prstDash val="solid"/>
                    </a:lnL>
                    <a:lnR w="12700">
                      <a:solidFill>
                        <a:srgbClr val="CCCCCC"/>
                      </a:solidFill>
                      <a:prstDash val="solid"/>
                    </a:lnR>
                    <a:lnT w="12700">
                      <a:solidFill>
                        <a:srgbClr val="CCCCCC"/>
                      </a:solidFill>
                      <a:prstDash val="solid"/>
                    </a:lnT>
                    <a:lnB w="12700">
                      <a:solidFill>
                        <a:srgbClr val="CCCCCC"/>
                      </a:solidFill>
                      <a:prstDash val="solid"/>
                    </a:lnB>
                    <a:solidFill>
                      <a:srgbClr val="EFEFEF"/>
                    </a:solidFill>
                  </a:tcPr>
                </a:tc>
                <a:tc>
                  <a:txBody>
                    <a:bodyPr/>
                    <a:lstStyle/>
                    <a:p>
                      <a:pPr marL="13335" marR="87630">
                        <a:lnSpc>
                          <a:spcPct val="100000"/>
                        </a:lnSpc>
                        <a:spcBef>
                          <a:spcPts val="10"/>
                        </a:spcBef>
                      </a:pPr>
                      <a:r>
                        <a:rPr sz="1600" spc="-204"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POP </a:t>
                      </a:r>
                      <a:r>
                        <a:rPr sz="1600" spc="-13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does </a:t>
                      </a:r>
                      <a:r>
                        <a:rPr sz="1600" spc="-11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not </a:t>
                      </a:r>
                      <a:r>
                        <a:rPr sz="1600" spc="-12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have </a:t>
                      </a:r>
                      <a:r>
                        <a:rPr sz="1600" spc="-9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any  </a:t>
                      </a:r>
                      <a:r>
                        <a:rPr sz="1600" spc="-4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proper </a:t>
                      </a:r>
                      <a:r>
                        <a:rPr sz="1600" spc="-7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way </a:t>
                      </a:r>
                      <a:r>
                        <a:rPr sz="1600" spc="-1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for </a:t>
                      </a:r>
                      <a:r>
                        <a:rPr sz="1600" spc="-8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hiding </a:t>
                      </a:r>
                      <a:r>
                        <a:rPr sz="1600" spc="-1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data  </a:t>
                      </a:r>
                      <a:r>
                        <a:rPr sz="1600" spc="-204"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so </a:t>
                      </a:r>
                      <a:r>
                        <a:rPr sz="1600" spc="-1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it </a:t>
                      </a:r>
                      <a:r>
                        <a:rPr sz="1600" spc="-16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is </a:t>
                      </a:r>
                      <a:r>
                        <a:rPr sz="1600" b="1" spc="-16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less</a:t>
                      </a:r>
                      <a:r>
                        <a:rPr sz="1600" b="1" spc="-31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sz="1600" b="1" spc="-16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secure</a:t>
                      </a:r>
                      <a:r>
                        <a:rPr sz="1600" spc="-16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a:t>
                      </a:r>
                      <a:endParaRPr sz="160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a:txBody>
                  <a:tcPr marL="0" marR="0" marT="1270" marB="0">
                    <a:lnL w="12700">
                      <a:solidFill>
                        <a:srgbClr val="CCCCCC"/>
                      </a:solidFill>
                      <a:prstDash val="solid"/>
                    </a:lnL>
                    <a:lnR w="12700">
                      <a:solidFill>
                        <a:srgbClr val="CCCCCC"/>
                      </a:solidFill>
                      <a:prstDash val="solid"/>
                    </a:lnR>
                    <a:lnT w="12700">
                      <a:solidFill>
                        <a:srgbClr val="CCCCCC"/>
                      </a:solidFill>
                      <a:prstDash val="solid"/>
                    </a:lnT>
                    <a:lnB w="12700">
                      <a:solidFill>
                        <a:srgbClr val="CCCCCC"/>
                      </a:solidFill>
                      <a:prstDash val="solid"/>
                    </a:lnB>
                    <a:solidFill>
                      <a:srgbClr val="EFEFEF"/>
                    </a:solidFill>
                  </a:tcPr>
                </a:tc>
                <a:tc>
                  <a:txBody>
                    <a:bodyPr/>
                    <a:lstStyle/>
                    <a:p>
                      <a:pPr marL="13970" marR="1025525">
                        <a:lnSpc>
                          <a:spcPct val="100000"/>
                        </a:lnSpc>
                        <a:spcBef>
                          <a:spcPts val="1090"/>
                        </a:spcBef>
                      </a:pPr>
                      <a:r>
                        <a:rPr sz="1600" spc="-11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OOP </a:t>
                      </a:r>
                      <a:r>
                        <a:rPr sz="1600" spc="-8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provides </a:t>
                      </a:r>
                      <a:r>
                        <a:rPr sz="1600" spc="-6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Data </a:t>
                      </a:r>
                      <a:r>
                        <a:rPr sz="1600" spc="-8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Hiding </a:t>
                      </a:r>
                      <a:r>
                        <a:rPr sz="1600" spc="-204"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so  </a:t>
                      </a:r>
                      <a:r>
                        <a:rPr sz="1600" spc="-8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provides </a:t>
                      </a:r>
                      <a:r>
                        <a:rPr sz="1600" b="1" spc="-14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more</a:t>
                      </a:r>
                      <a:r>
                        <a:rPr sz="1600" b="1" spc="1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sz="1600" b="1" spc="-14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security</a:t>
                      </a:r>
                      <a:r>
                        <a:rPr sz="1600" spc="-14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a:t>
                      </a:r>
                      <a:endParaRPr sz="160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a:txBody>
                  <a:tcPr marL="0" marR="0" marT="138430" marB="0">
                    <a:lnL w="12700">
                      <a:solidFill>
                        <a:srgbClr val="CCCCCC"/>
                      </a:solidFill>
                      <a:prstDash val="solid"/>
                    </a:lnL>
                    <a:lnR w="12700">
                      <a:solidFill>
                        <a:srgbClr val="CCCCCC"/>
                      </a:solidFill>
                      <a:prstDash val="solid"/>
                    </a:lnR>
                    <a:lnT w="12700">
                      <a:solidFill>
                        <a:srgbClr val="CCCCCC"/>
                      </a:solidFill>
                      <a:prstDash val="solid"/>
                    </a:lnT>
                    <a:lnB w="12700">
                      <a:solidFill>
                        <a:srgbClr val="CCCCCC"/>
                      </a:solidFill>
                      <a:prstDash val="solid"/>
                    </a:lnB>
                    <a:solidFill>
                      <a:srgbClr val="EFEFEF"/>
                    </a:solidFill>
                  </a:tcPr>
                </a:tc>
                <a:extLst>
                  <a:ext uri="{0D108BD9-81ED-4DB2-BD59-A6C34878D82A}">
                    <a16:rowId xmlns:a16="http://schemas.microsoft.com/office/drawing/2014/main" val="10002"/>
                  </a:ext>
                </a:extLst>
              </a:tr>
              <a:tr h="746631">
                <a:tc>
                  <a:txBody>
                    <a:bodyPr/>
                    <a:lstStyle/>
                    <a:p>
                      <a:pPr algn="ctr">
                        <a:lnSpc>
                          <a:spcPct val="100000"/>
                        </a:lnSpc>
                        <a:spcBef>
                          <a:spcPts val="1085"/>
                        </a:spcBef>
                      </a:pPr>
                      <a:r>
                        <a:rPr sz="1600" b="1" spc="-1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Overloading</a:t>
                      </a:r>
                      <a:endParaRPr sz="160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a:txBody>
                  <a:tcPr marL="0" marR="0" marT="137795" marB="0">
                    <a:lnL w="12700">
                      <a:solidFill>
                        <a:srgbClr val="CCCCCC"/>
                      </a:solidFill>
                      <a:prstDash val="solid"/>
                    </a:lnL>
                    <a:lnR w="12700">
                      <a:solidFill>
                        <a:srgbClr val="CCCCCC"/>
                      </a:solidFill>
                      <a:prstDash val="solid"/>
                    </a:lnR>
                    <a:lnT w="12700">
                      <a:solidFill>
                        <a:srgbClr val="CCCCCC"/>
                      </a:solidFill>
                      <a:prstDash val="solid"/>
                    </a:lnT>
                    <a:lnB w="12700">
                      <a:solidFill>
                        <a:srgbClr val="CCCCCC"/>
                      </a:solidFill>
                      <a:prstDash val="solid"/>
                    </a:lnB>
                    <a:solidFill>
                      <a:srgbClr val="EFEFEF"/>
                    </a:solidFill>
                  </a:tcPr>
                </a:tc>
                <a:tc>
                  <a:txBody>
                    <a:bodyPr/>
                    <a:lstStyle/>
                    <a:p>
                      <a:pPr marL="13335" marR="217804">
                        <a:lnSpc>
                          <a:spcPct val="100000"/>
                        </a:lnSpc>
                        <a:spcBef>
                          <a:spcPts val="1085"/>
                        </a:spcBef>
                      </a:pPr>
                      <a:r>
                        <a:rPr sz="1600" spc="-16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In </a:t>
                      </a:r>
                      <a:r>
                        <a:rPr sz="1600" spc="-254"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POP, </a:t>
                      </a:r>
                      <a:r>
                        <a:rPr sz="1600" spc="-5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Overloading </a:t>
                      </a:r>
                      <a:r>
                        <a:rPr sz="1600" spc="-16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is </a:t>
                      </a:r>
                      <a:r>
                        <a:rPr sz="1600" spc="-11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not  possible.</a:t>
                      </a:r>
                      <a:endParaRPr sz="160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a:txBody>
                  <a:tcPr marL="0" marR="0" marT="137795" marB="0">
                    <a:lnL w="12700">
                      <a:solidFill>
                        <a:srgbClr val="CCCCCC"/>
                      </a:solidFill>
                      <a:prstDash val="solid"/>
                    </a:lnL>
                    <a:lnR w="12700">
                      <a:solidFill>
                        <a:srgbClr val="CCCCCC"/>
                      </a:solidFill>
                      <a:prstDash val="solid"/>
                    </a:lnR>
                    <a:lnT w="12700">
                      <a:solidFill>
                        <a:srgbClr val="CCCCCC"/>
                      </a:solidFill>
                      <a:prstDash val="solid"/>
                    </a:lnT>
                    <a:lnB w="12700">
                      <a:solidFill>
                        <a:srgbClr val="CCCCCC"/>
                      </a:solidFill>
                      <a:prstDash val="solid"/>
                    </a:lnB>
                    <a:solidFill>
                      <a:srgbClr val="EFEFEF"/>
                    </a:solidFill>
                  </a:tcPr>
                </a:tc>
                <a:tc>
                  <a:txBody>
                    <a:bodyPr/>
                    <a:lstStyle/>
                    <a:p>
                      <a:pPr marL="13970" marR="360680">
                        <a:lnSpc>
                          <a:spcPct val="100000"/>
                        </a:lnSpc>
                        <a:spcBef>
                          <a:spcPts val="5"/>
                        </a:spcBef>
                      </a:pPr>
                      <a:r>
                        <a:rPr sz="1600" spc="-16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In </a:t>
                      </a:r>
                      <a:r>
                        <a:rPr sz="1600" spc="-18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OOP, </a:t>
                      </a:r>
                      <a:r>
                        <a:rPr sz="1600" spc="-6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overloading </a:t>
                      </a:r>
                      <a:r>
                        <a:rPr sz="1600" spc="-16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is </a:t>
                      </a:r>
                      <a:r>
                        <a:rPr sz="1600" spc="-10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possible </a:t>
                      </a:r>
                      <a:r>
                        <a:rPr sz="1600" spc="-114"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in </a:t>
                      </a:r>
                      <a:r>
                        <a:rPr sz="1600" spc="-11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the  </a:t>
                      </a:r>
                      <a:r>
                        <a:rPr sz="1600" spc="-8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form </a:t>
                      </a:r>
                      <a:r>
                        <a:rPr sz="1600" spc="-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of </a:t>
                      </a:r>
                      <a:r>
                        <a:rPr sz="1600" spc="-16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Function </a:t>
                      </a:r>
                      <a:r>
                        <a:rPr sz="1600" spc="-5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Overloading </a:t>
                      </a:r>
                      <a:r>
                        <a:rPr sz="1600" spc="-8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and  </a:t>
                      </a:r>
                      <a:r>
                        <a:rPr sz="1600" spc="-3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Operator</a:t>
                      </a:r>
                      <a:r>
                        <a:rPr sz="1600" spc="-2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sz="1600" spc="-6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Overloading.</a:t>
                      </a:r>
                      <a:endParaRPr sz="160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a:txBody>
                  <a:tcPr marL="0" marR="0" marT="635" marB="0">
                    <a:lnL w="12700">
                      <a:solidFill>
                        <a:srgbClr val="CCCCCC"/>
                      </a:solidFill>
                      <a:prstDash val="solid"/>
                    </a:lnL>
                    <a:lnR w="12700">
                      <a:solidFill>
                        <a:srgbClr val="CCCCCC"/>
                      </a:solidFill>
                      <a:prstDash val="solid"/>
                    </a:lnR>
                    <a:lnT w="12700">
                      <a:solidFill>
                        <a:srgbClr val="CCCCCC"/>
                      </a:solidFill>
                      <a:prstDash val="solid"/>
                    </a:lnT>
                    <a:lnB w="12700">
                      <a:solidFill>
                        <a:srgbClr val="CCCCCC"/>
                      </a:solidFill>
                      <a:prstDash val="solid"/>
                    </a:lnB>
                    <a:solidFill>
                      <a:srgbClr val="EFEFEF"/>
                    </a:solidFill>
                  </a:tcPr>
                </a:tc>
                <a:extLst>
                  <a:ext uri="{0D108BD9-81ED-4DB2-BD59-A6C34878D82A}">
                    <a16:rowId xmlns:a16="http://schemas.microsoft.com/office/drawing/2014/main" val="10003"/>
                  </a:ext>
                </a:extLst>
              </a:tr>
              <a:tr h="505860">
                <a:tc>
                  <a:txBody>
                    <a:bodyPr/>
                    <a:lstStyle/>
                    <a:p>
                      <a:pPr marL="635" algn="ctr">
                        <a:lnSpc>
                          <a:spcPct val="100000"/>
                        </a:lnSpc>
                        <a:spcBef>
                          <a:spcPts val="1090"/>
                        </a:spcBef>
                      </a:pPr>
                      <a:r>
                        <a:rPr sz="1600" b="1" spc="-14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Examples</a:t>
                      </a:r>
                      <a:endParaRPr sz="160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a:txBody>
                  <a:tcPr marL="0" marR="0" marT="138430" marB="0">
                    <a:lnL w="12700">
                      <a:solidFill>
                        <a:srgbClr val="CCCCCC"/>
                      </a:solidFill>
                      <a:prstDash val="solid"/>
                    </a:lnL>
                    <a:lnR w="12700">
                      <a:solidFill>
                        <a:srgbClr val="CCCCCC"/>
                      </a:solidFill>
                      <a:prstDash val="solid"/>
                    </a:lnR>
                    <a:lnT w="12700">
                      <a:solidFill>
                        <a:srgbClr val="CCCCCC"/>
                      </a:solidFill>
                      <a:prstDash val="solid"/>
                    </a:lnT>
                    <a:lnB w="12700">
                      <a:solidFill>
                        <a:srgbClr val="CCCCCC"/>
                      </a:solidFill>
                      <a:prstDash val="solid"/>
                    </a:lnB>
                    <a:solidFill>
                      <a:srgbClr val="EFEFEF"/>
                    </a:solidFill>
                  </a:tcPr>
                </a:tc>
                <a:tc>
                  <a:txBody>
                    <a:bodyPr/>
                    <a:lstStyle/>
                    <a:p>
                      <a:pPr marL="13335" marR="346075">
                        <a:lnSpc>
                          <a:spcPct val="100000"/>
                        </a:lnSpc>
                        <a:spcBef>
                          <a:spcPts val="10"/>
                        </a:spcBef>
                      </a:pPr>
                      <a:r>
                        <a:rPr sz="1600" spc="-12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Example </a:t>
                      </a:r>
                      <a:r>
                        <a:rPr sz="1600" spc="-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of </a:t>
                      </a:r>
                      <a:r>
                        <a:rPr sz="1600" spc="-204"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POP </a:t>
                      </a:r>
                      <a:r>
                        <a:rPr sz="1600" spc="-4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are </a:t>
                      </a:r>
                      <a:r>
                        <a:rPr sz="1600" spc="-11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sz="1600" spc="-16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C,  </a:t>
                      </a:r>
                      <a:r>
                        <a:rPr sz="1600" spc="-204"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VB, </a:t>
                      </a:r>
                      <a:r>
                        <a:rPr sz="1600" spc="-22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FORTRAN,</a:t>
                      </a:r>
                      <a:r>
                        <a:rPr sz="1600" spc="-12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sz="1600" spc="-15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Pascal.</a:t>
                      </a:r>
                      <a:endParaRPr sz="160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a:txBody>
                  <a:tcPr marL="0" marR="0" marT="1270" marB="0">
                    <a:lnL w="12700">
                      <a:solidFill>
                        <a:srgbClr val="CCCCCC"/>
                      </a:solidFill>
                      <a:prstDash val="solid"/>
                    </a:lnL>
                    <a:lnR w="12700">
                      <a:solidFill>
                        <a:srgbClr val="CCCCCC"/>
                      </a:solidFill>
                      <a:prstDash val="solid"/>
                    </a:lnR>
                    <a:lnT w="12700">
                      <a:solidFill>
                        <a:srgbClr val="CCCCCC"/>
                      </a:solidFill>
                      <a:prstDash val="solid"/>
                    </a:lnT>
                    <a:lnB w="12700">
                      <a:solidFill>
                        <a:srgbClr val="CCCCCC"/>
                      </a:solidFill>
                      <a:prstDash val="solid"/>
                    </a:lnB>
                    <a:solidFill>
                      <a:srgbClr val="EFEFEF"/>
                    </a:solidFill>
                  </a:tcPr>
                </a:tc>
                <a:tc>
                  <a:txBody>
                    <a:bodyPr/>
                    <a:lstStyle/>
                    <a:p>
                      <a:pPr marL="13970" marR="551815">
                        <a:lnSpc>
                          <a:spcPct val="100000"/>
                        </a:lnSpc>
                        <a:spcBef>
                          <a:spcPts val="10"/>
                        </a:spcBef>
                      </a:pPr>
                      <a:r>
                        <a:rPr sz="1600" spc="-12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Example </a:t>
                      </a:r>
                      <a:r>
                        <a:rPr sz="1600" spc="-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of </a:t>
                      </a:r>
                      <a:r>
                        <a:rPr sz="1600" spc="-11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OOP </a:t>
                      </a:r>
                      <a:r>
                        <a:rPr sz="1600" spc="-4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are </a:t>
                      </a:r>
                      <a:r>
                        <a:rPr sz="1600" spc="-11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sz="1600" spc="-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C++, </a:t>
                      </a:r>
                      <a:r>
                        <a:rPr sz="1600" spc="-19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JAVA,  </a:t>
                      </a:r>
                      <a:r>
                        <a:rPr sz="1600" spc="-24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VB.NET,</a:t>
                      </a:r>
                      <a:r>
                        <a:rPr sz="16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 </a:t>
                      </a:r>
                      <a:r>
                        <a:rPr sz="1600" spc="-175"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C#.NET.</a:t>
                      </a:r>
                      <a:endParaRPr sz="16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a:txBody>
                  <a:tcPr marL="0" marR="0" marT="1270" marB="0">
                    <a:lnL w="12700">
                      <a:solidFill>
                        <a:srgbClr val="CCCCCC"/>
                      </a:solidFill>
                      <a:prstDash val="solid"/>
                    </a:lnL>
                    <a:lnR w="12700">
                      <a:solidFill>
                        <a:srgbClr val="CCCCCC"/>
                      </a:solidFill>
                      <a:prstDash val="solid"/>
                    </a:lnR>
                    <a:lnT w="12700">
                      <a:solidFill>
                        <a:srgbClr val="CCCCCC"/>
                      </a:solidFill>
                      <a:prstDash val="solid"/>
                    </a:lnT>
                    <a:lnB w="12700">
                      <a:solidFill>
                        <a:srgbClr val="CCCCCC"/>
                      </a:solidFill>
                      <a:prstDash val="solid"/>
                    </a:lnB>
                    <a:solidFill>
                      <a:srgbClr val="EFEFE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171337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26F26-CD91-8F7F-2EC3-F8C330BDAA94}"/>
              </a:ext>
            </a:extLst>
          </p:cNvPr>
          <p:cNvSpPr>
            <a:spLocks noGrp="1"/>
          </p:cNvSpPr>
          <p:nvPr>
            <p:ph type="title"/>
          </p:nvPr>
        </p:nvSpPr>
        <p:spPr/>
        <p:txBody>
          <a:bodyPr>
            <a:normAutofit fontScale="90000"/>
          </a:bodyPr>
          <a:lstStyle/>
          <a:p>
            <a:r>
              <a:rPr lang="en-US" dirty="0"/>
              <a:t>Java Platforms/Editions</a:t>
            </a:r>
            <a:endParaRPr lang="en-IN" dirty="0"/>
          </a:p>
        </p:txBody>
      </p:sp>
      <p:sp>
        <p:nvSpPr>
          <p:cNvPr id="3" name="Text Placeholder 2">
            <a:extLst>
              <a:ext uri="{FF2B5EF4-FFF2-40B4-BE49-F238E27FC236}">
                <a16:creationId xmlns:a16="http://schemas.microsoft.com/office/drawing/2014/main" id="{2F0F56FC-0FF4-98A8-92C5-B475015B140C}"/>
              </a:ext>
            </a:extLst>
          </p:cNvPr>
          <p:cNvSpPr>
            <a:spLocks noGrp="1"/>
          </p:cNvSpPr>
          <p:nvPr>
            <p:ph type="body" idx="1"/>
          </p:nvPr>
        </p:nvSpPr>
        <p:spPr/>
        <p:txBody>
          <a:bodyPr/>
          <a:lstStyle/>
          <a:p>
            <a:r>
              <a:rPr lang="en-IN" dirty="0"/>
              <a:t>Java is available in different platform editions to support application development on a wide range of devices, from small embedded systems to large enterprise servers.</a:t>
            </a:r>
          </a:p>
          <a:p>
            <a:r>
              <a:rPr lang="en-IN" dirty="0"/>
              <a:t>The java platforms are as following:</a:t>
            </a:r>
          </a:p>
          <a:p>
            <a:pPr lvl="1"/>
            <a:r>
              <a:rPr lang="en-IN" dirty="0"/>
              <a:t>Java Standard Edition (SE)</a:t>
            </a:r>
          </a:p>
          <a:p>
            <a:pPr lvl="1"/>
            <a:r>
              <a:rPr lang="en-IN" dirty="0"/>
              <a:t>Java Enterprise Edition (EE)</a:t>
            </a:r>
          </a:p>
          <a:p>
            <a:pPr lvl="1"/>
            <a:r>
              <a:rPr lang="en-IN" dirty="0"/>
              <a:t>Java Micro Edition (ME)</a:t>
            </a:r>
          </a:p>
          <a:p>
            <a:pPr lvl="1"/>
            <a:r>
              <a:rPr lang="en-IN" dirty="0"/>
              <a:t>Java FX</a:t>
            </a:r>
          </a:p>
        </p:txBody>
      </p:sp>
    </p:spTree>
    <p:extLst>
      <p:ext uri="{BB962C8B-B14F-4D97-AF65-F5344CB8AC3E}">
        <p14:creationId xmlns:p14="http://schemas.microsoft.com/office/powerpoint/2010/main" val="19974137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3AF33-64B1-89F5-BF96-33F9F3B3F8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E29225-8410-DD01-2BC6-A87F8875B6D1}"/>
              </a:ext>
            </a:extLst>
          </p:cNvPr>
          <p:cNvSpPr>
            <a:spLocks noGrp="1"/>
          </p:cNvSpPr>
          <p:nvPr>
            <p:ph type="title"/>
          </p:nvPr>
        </p:nvSpPr>
        <p:spPr/>
        <p:txBody>
          <a:bodyPr>
            <a:normAutofit fontScale="90000"/>
          </a:bodyPr>
          <a:lstStyle/>
          <a:p>
            <a:r>
              <a:rPr lang="en-US" dirty="0"/>
              <a:t>Java Platforms: Standard Edition</a:t>
            </a:r>
            <a:endParaRPr lang="en-IN" dirty="0"/>
          </a:p>
        </p:txBody>
      </p:sp>
      <p:sp>
        <p:nvSpPr>
          <p:cNvPr id="3" name="Text Placeholder 2">
            <a:extLst>
              <a:ext uri="{FF2B5EF4-FFF2-40B4-BE49-F238E27FC236}">
                <a16:creationId xmlns:a16="http://schemas.microsoft.com/office/drawing/2014/main" id="{186065FB-1BDD-AC19-DF89-B9C8F031481E}"/>
              </a:ext>
            </a:extLst>
          </p:cNvPr>
          <p:cNvSpPr>
            <a:spLocks noGrp="1"/>
          </p:cNvSpPr>
          <p:nvPr>
            <p:ph type="body" idx="1"/>
          </p:nvPr>
        </p:nvSpPr>
        <p:spPr/>
        <p:txBody>
          <a:bodyPr/>
          <a:lstStyle/>
          <a:p>
            <a:pPr>
              <a:lnSpc>
                <a:spcPct val="150000"/>
              </a:lnSpc>
            </a:pPr>
            <a:r>
              <a:rPr lang="en-IN" dirty="0"/>
              <a:t>Java SE is the foundation of the Java platform and provides the core functionality required to develop general-purpose applications.</a:t>
            </a:r>
          </a:p>
          <a:p>
            <a:pPr>
              <a:lnSpc>
                <a:spcPct val="150000"/>
              </a:lnSpc>
            </a:pPr>
            <a:r>
              <a:rPr lang="en-IN" dirty="0"/>
              <a:t>It includes the Java programming language, the Java Virtual Machine (JVM), and the standard API libraries.</a:t>
            </a:r>
          </a:p>
          <a:p>
            <a:pPr>
              <a:lnSpc>
                <a:spcPct val="150000"/>
              </a:lnSpc>
            </a:pPr>
            <a:r>
              <a:rPr lang="en-IN" dirty="0" err="1"/>
              <a:t>Usecases</a:t>
            </a:r>
            <a:r>
              <a:rPr lang="en-IN" dirty="0"/>
              <a:t>: Desktop Applications, Web Servers. Small to Medium Scale Web Applications</a:t>
            </a:r>
          </a:p>
        </p:txBody>
      </p:sp>
    </p:spTree>
    <p:extLst>
      <p:ext uri="{BB962C8B-B14F-4D97-AF65-F5344CB8AC3E}">
        <p14:creationId xmlns:p14="http://schemas.microsoft.com/office/powerpoint/2010/main" val="5081244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12EBB-A41E-C2E1-B7C3-3ACDAD48EC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68042C-81C6-F43D-7098-441275543C47}"/>
              </a:ext>
            </a:extLst>
          </p:cNvPr>
          <p:cNvSpPr>
            <a:spLocks noGrp="1"/>
          </p:cNvSpPr>
          <p:nvPr>
            <p:ph type="title"/>
          </p:nvPr>
        </p:nvSpPr>
        <p:spPr>
          <a:xfrm>
            <a:off x="311700" y="113211"/>
            <a:ext cx="8520600" cy="1039214"/>
          </a:xfrm>
        </p:spPr>
        <p:txBody>
          <a:bodyPr>
            <a:normAutofit fontScale="90000"/>
          </a:bodyPr>
          <a:lstStyle/>
          <a:p>
            <a:r>
              <a:rPr lang="en-US" dirty="0"/>
              <a:t>Java Platforms: Enterprise Edition/ Jakarta Enterprise  Edition</a:t>
            </a:r>
            <a:endParaRPr lang="en-IN" dirty="0"/>
          </a:p>
        </p:txBody>
      </p:sp>
      <p:sp>
        <p:nvSpPr>
          <p:cNvPr id="3" name="Text Placeholder 2">
            <a:extLst>
              <a:ext uri="{FF2B5EF4-FFF2-40B4-BE49-F238E27FC236}">
                <a16:creationId xmlns:a16="http://schemas.microsoft.com/office/drawing/2014/main" id="{6E0234F1-04D8-086E-18F9-DB3D80815F66}"/>
              </a:ext>
            </a:extLst>
          </p:cNvPr>
          <p:cNvSpPr>
            <a:spLocks noGrp="1"/>
          </p:cNvSpPr>
          <p:nvPr>
            <p:ph type="body" idx="1"/>
          </p:nvPr>
        </p:nvSpPr>
        <p:spPr/>
        <p:txBody>
          <a:bodyPr/>
          <a:lstStyle/>
          <a:p>
            <a:pPr>
              <a:lnSpc>
                <a:spcPct val="150000"/>
              </a:lnSpc>
            </a:pPr>
            <a:r>
              <a:rPr lang="en-IN" dirty="0"/>
              <a:t>Java EE is built on top of Java SE and provides a set of specifications that extend the functionality of Java SE for building large-scale, distributed, and multi-tiered enterprise applications.</a:t>
            </a:r>
          </a:p>
          <a:p>
            <a:pPr>
              <a:lnSpc>
                <a:spcPct val="150000"/>
              </a:lnSpc>
            </a:pPr>
            <a:r>
              <a:rPr lang="en-IN" dirty="0"/>
              <a:t>Mostly used for Dynamic web pages (Java Servlets), encapsulate business logics (JavaBeans), message standards (Java Message Services)</a:t>
            </a:r>
          </a:p>
          <a:p>
            <a:pPr>
              <a:lnSpc>
                <a:spcPct val="150000"/>
              </a:lnSpc>
            </a:pPr>
            <a:r>
              <a:rPr lang="en-IN" dirty="0"/>
              <a:t>Use-cases: Large-scale Enterprise Applications, E-commerce Platforms, CRM Systems</a:t>
            </a:r>
          </a:p>
          <a:p>
            <a:pPr>
              <a:lnSpc>
                <a:spcPct val="150000"/>
              </a:lnSpc>
            </a:pPr>
            <a:endParaRPr lang="en-IN" dirty="0"/>
          </a:p>
        </p:txBody>
      </p:sp>
    </p:spTree>
    <p:extLst>
      <p:ext uri="{BB962C8B-B14F-4D97-AF65-F5344CB8AC3E}">
        <p14:creationId xmlns:p14="http://schemas.microsoft.com/office/powerpoint/2010/main" val="1314488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5E488-D294-CE77-7059-1ED7851A54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AB4CBE-E810-647D-E67C-1FF8A1C67271}"/>
              </a:ext>
            </a:extLst>
          </p:cNvPr>
          <p:cNvSpPr>
            <a:spLocks noGrp="1"/>
          </p:cNvSpPr>
          <p:nvPr>
            <p:ph type="title"/>
          </p:nvPr>
        </p:nvSpPr>
        <p:spPr/>
        <p:txBody>
          <a:bodyPr>
            <a:normAutofit fontScale="90000"/>
          </a:bodyPr>
          <a:lstStyle/>
          <a:p>
            <a:r>
              <a:rPr lang="en-US" dirty="0"/>
              <a:t>Java Platforms: Micro Edition</a:t>
            </a:r>
            <a:endParaRPr lang="en-IN" dirty="0"/>
          </a:p>
        </p:txBody>
      </p:sp>
      <p:sp>
        <p:nvSpPr>
          <p:cNvPr id="3" name="Text Placeholder 2">
            <a:extLst>
              <a:ext uri="{FF2B5EF4-FFF2-40B4-BE49-F238E27FC236}">
                <a16:creationId xmlns:a16="http://schemas.microsoft.com/office/drawing/2014/main" id="{7270C2C3-DC09-4472-6CAF-FE5E57130BE5}"/>
              </a:ext>
            </a:extLst>
          </p:cNvPr>
          <p:cNvSpPr>
            <a:spLocks noGrp="1"/>
          </p:cNvSpPr>
          <p:nvPr>
            <p:ph type="body" idx="1"/>
          </p:nvPr>
        </p:nvSpPr>
        <p:spPr/>
        <p:txBody>
          <a:bodyPr>
            <a:normAutofit lnSpcReduction="10000"/>
          </a:bodyPr>
          <a:lstStyle/>
          <a:p>
            <a:pPr>
              <a:lnSpc>
                <a:spcPct val="150000"/>
              </a:lnSpc>
            </a:pPr>
            <a:r>
              <a:rPr lang="en-IN" dirty="0"/>
              <a:t>Java ME is a subset of the Java SE platform designed for developing applications on small devices with limited processing power and memory, such as mobile phones, embedded systems, and IoT devices.</a:t>
            </a:r>
          </a:p>
          <a:p>
            <a:pPr>
              <a:lnSpc>
                <a:spcPct val="150000"/>
              </a:lnSpc>
            </a:pPr>
            <a:r>
              <a:rPr lang="en-IN" dirty="0"/>
              <a:t>Used for:</a:t>
            </a:r>
          </a:p>
          <a:p>
            <a:pPr lvl="1">
              <a:lnSpc>
                <a:spcPct val="150000"/>
              </a:lnSpc>
            </a:pPr>
            <a:r>
              <a:rPr lang="en-IN" dirty="0"/>
              <a:t>A specification for small, resource-constrained  devices</a:t>
            </a:r>
          </a:p>
          <a:p>
            <a:pPr lvl="1">
              <a:lnSpc>
                <a:spcPct val="150000"/>
              </a:lnSpc>
            </a:pPr>
            <a:r>
              <a:rPr lang="en-IN" dirty="0"/>
              <a:t>A set of APIs for developing mobile applications(Mobile Information Devices Profile)</a:t>
            </a:r>
          </a:p>
          <a:p>
            <a:pPr lvl="1">
              <a:lnSpc>
                <a:spcPct val="150000"/>
              </a:lnSpc>
            </a:pPr>
            <a:r>
              <a:rPr lang="en-IN" dirty="0"/>
              <a:t>APIs for connecting and interacting with Bluetooth-enabled devices</a:t>
            </a:r>
          </a:p>
          <a:p>
            <a:pPr lvl="1">
              <a:lnSpc>
                <a:spcPct val="150000"/>
              </a:lnSpc>
            </a:pPr>
            <a:r>
              <a:rPr lang="en-IN" dirty="0"/>
              <a:t>APIs for handling multimedia content on mobile devices</a:t>
            </a:r>
          </a:p>
          <a:p>
            <a:pPr>
              <a:lnSpc>
                <a:spcPct val="150000"/>
              </a:lnSpc>
            </a:pPr>
            <a:r>
              <a:rPr lang="en-IN" dirty="0"/>
              <a:t>Use-cases: Mobile Applications, Embedded Systems, IoT </a:t>
            </a:r>
            <a:r>
              <a:rPr lang="en-IN" dirty="0" err="1"/>
              <a:t>devicesc</a:t>
            </a:r>
            <a:endParaRPr lang="en-IN" dirty="0"/>
          </a:p>
        </p:txBody>
      </p:sp>
    </p:spTree>
    <p:extLst>
      <p:ext uri="{BB962C8B-B14F-4D97-AF65-F5344CB8AC3E}">
        <p14:creationId xmlns:p14="http://schemas.microsoft.com/office/powerpoint/2010/main" val="21132507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E3140-7AA2-FA1A-6D4C-18AD356A1A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C892D7-F06F-4EA0-5171-E47B9E7F4BEF}"/>
              </a:ext>
            </a:extLst>
          </p:cNvPr>
          <p:cNvSpPr>
            <a:spLocks noGrp="1"/>
          </p:cNvSpPr>
          <p:nvPr>
            <p:ph type="title"/>
          </p:nvPr>
        </p:nvSpPr>
        <p:spPr/>
        <p:txBody>
          <a:bodyPr>
            <a:normAutofit fontScale="90000"/>
          </a:bodyPr>
          <a:lstStyle/>
          <a:p>
            <a:r>
              <a:rPr lang="en-US" dirty="0"/>
              <a:t>Java Platforms: JavaFX</a:t>
            </a:r>
            <a:endParaRPr lang="en-IN" dirty="0"/>
          </a:p>
        </p:txBody>
      </p:sp>
      <p:sp>
        <p:nvSpPr>
          <p:cNvPr id="3" name="Text Placeholder 2">
            <a:extLst>
              <a:ext uri="{FF2B5EF4-FFF2-40B4-BE49-F238E27FC236}">
                <a16:creationId xmlns:a16="http://schemas.microsoft.com/office/drawing/2014/main" id="{B9623D92-A9ED-C6E1-A82F-D623D1B444AD}"/>
              </a:ext>
            </a:extLst>
          </p:cNvPr>
          <p:cNvSpPr>
            <a:spLocks noGrp="1"/>
          </p:cNvSpPr>
          <p:nvPr>
            <p:ph type="body" idx="1"/>
          </p:nvPr>
        </p:nvSpPr>
        <p:spPr>
          <a:xfrm>
            <a:off x="311700" y="1274489"/>
            <a:ext cx="8520600" cy="3302700"/>
          </a:xfrm>
        </p:spPr>
        <p:txBody>
          <a:bodyPr>
            <a:normAutofit fontScale="92500" lnSpcReduction="20000"/>
          </a:bodyPr>
          <a:lstStyle/>
          <a:p>
            <a:pPr>
              <a:lnSpc>
                <a:spcPct val="150000"/>
              </a:lnSpc>
            </a:pPr>
            <a:r>
              <a:rPr lang="en-IN" dirty="0"/>
              <a:t>JavaFX is a modern framework for building rich desktop applications with attractive graphical user interfaces. </a:t>
            </a:r>
          </a:p>
          <a:p>
            <a:pPr>
              <a:lnSpc>
                <a:spcPct val="150000"/>
              </a:lnSpc>
            </a:pPr>
            <a:r>
              <a:rPr lang="en-IN" dirty="0"/>
              <a:t>It was developed as a successor to Swing and provides advanced features for creating interactive and multimedia-rich applications.</a:t>
            </a:r>
          </a:p>
          <a:p>
            <a:pPr>
              <a:lnSpc>
                <a:spcPct val="150000"/>
              </a:lnSpc>
            </a:pPr>
            <a:r>
              <a:rPr lang="en-IN" dirty="0"/>
              <a:t>JavaFX separates the user interface design from application logic using </a:t>
            </a:r>
            <a:r>
              <a:rPr lang="en-IN" b="1" dirty="0"/>
              <a:t>FXML</a:t>
            </a:r>
            <a:r>
              <a:rPr lang="en-IN" dirty="0"/>
              <a:t>, an XML-based markup language. </a:t>
            </a:r>
          </a:p>
          <a:p>
            <a:pPr>
              <a:lnSpc>
                <a:spcPct val="150000"/>
              </a:lnSpc>
            </a:pPr>
            <a:r>
              <a:rPr lang="en-IN" dirty="0"/>
              <a:t>It also supports CSS for styling, making it easier to create visually appealing applications.</a:t>
            </a:r>
          </a:p>
          <a:p>
            <a:pPr>
              <a:lnSpc>
                <a:spcPct val="150000"/>
              </a:lnSpc>
            </a:pPr>
            <a:r>
              <a:rPr lang="en-IN" dirty="0"/>
              <a:t>We will be study regarding this more in UNIT-4</a:t>
            </a:r>
          </a:p>
        </p:txBody>
      </p:sp>
    </p:spTree>
    <p:extLst>
      <p:ext uri="{BB962C8B-B14F-4D97-AF65-F5344CB8AC3E}">
        <p14:creationId xmlns:p14="http://schemas.microsoft.com/office/powerpoint/2010/main" val="4798403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9D4D2-981A-117B-CCA4-68B60918F0F3}"/>
              </a:ext>
            </a:extLst>
          </p:cNvPr>
          <p:cNvSpPr>
            <a:spLocks noGrp="1"/>
          </p:cNvSpPr>
          <p:nvPr>
            <p:ph type="title"/>
          </p:nvPr>
        </p:nvSpPr>
        <p:spPr>
          <a:xfrm>
            <a:off x="233323" y="105390"/>
            <a:ext cx="8520600" cy="707400"/>
          </a:xfrm>
        </p:spPr>
        <p:txBody>
          <a:bodyPr>
            <a:normAutofit fontScale="90000"/>
          </a:bodyPr>
          <a:lstStyle/>
          <a:p>
            <a:r>
              <a:rPr lang="en-US" dirty="0"/>
              <a:t>Java Platforms: Comparison</a:t>
            </a:r>
            <a:endParaRPr lang="en-IN" dirty="0"/>
          </a:p>
        </p:txBody>
      </p:sp>
      <p:pic>
        <p:nvPicPr>
          <p:cNvPr id="5" name="Picture 4">
            <a:extLst>
              <a:ext uri="{FF2B5EF4-FFF2-40B4-BE49-F238E27FC236}">
                <a16:creationId xmlns:a16="http://schemas.microsoft.com/office/drawing/2014/main" id="{38CBA3DF-4908-B44A-2A84-FE9045291D3E}"/>
              </a:ext>
            </a:extLst>
          </p:cNvPr>
          <p:cNvPicPr>
            <a:picLocks noChangeAspect="1"/>
          </p:cNvPicPr>
          <p:nvPr/>
        </p:nvPicPr>
        <p:blipFill>
          <a:blip r:embed="rId2"/>
          <a:stretch>
            <a:fillRect/>
          </a:stretch>
        </p:blipFill>
        <p:spPr>
          <a:xfrm>
            <a:off x="233323" y="748937"/>
            <a:ext cx="8614586" cy="3884023"/>
          </a:xfrm>
          <a:prstGeom prst="rect">
            <a:avLst/>
          </a:prstGeom>
        </p:spPr>
      </p:pic>
    </p:spTree>
    <p:extLst>
      <p:ext uri="{BB962C8B-B14F-4D97-AF65-F5344CB8AC3E}">
        <p14:creationId xmlns:p14="http://schemas.microsoft.com/office/powerpoint/2010/main" val="28689816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Uses of java</a:t>
            </a:r>
            <a:endParaRPr/>
          </a:p>
        </p:txBody>
      </p:sp>
      <p:sp>
        <p:nvSpPr>
          <p:cNvPr id="85" name="Google Shape;85;p16"/>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457200" lvl="0" indent="-355600" algn="l" rtl="0">
              <a:spcBef>
                <a:spcPts val="1500"/>
              </a:spcBef>
              <a:spcAft>
                <a:spcPts val="0"/>
              </a:spcAft>
              <a:buClr>
                <a:srgbClr val="666666"/>
              </a:buClr>
              <a:buSzPts val="2000"/>
              <a:buFont typeface="Arial"/>
              <a:buChar char="●"/>
            </a:pPr>
            <a:r>
              <a:rPr lang="en" sz="2000" dirty="0">
                <a:solidFill>
                  <a:srgbClr val="666666"/>
                </a:solidFill>
                <a:highlight>
                  <a:srgbClr val="FFFFFF"/>
                </a:highlight>
                <a:latin typeface="Open Sans" panose="020B0606030504020204" pitchFamily="34" charset="0"/>
                <a:ea typeface="Open Sans" panose="020B0606030504020204" pitchFamily="34" charset="0"/>
                <a:cs typeface="Open Sans" panose="020B0606030504020204" pitchFamily="34" charset="0"/>
                <a:sym typeface="Arial"/>
              </a:rPr>
              <a:t>It is used for developing Android Apps</a:t>
            </a:r>
            <a:endParaRPr sz="2000" dirty="0">
              <a:solidFill>
                <a:srgbClr val="666666"/>
              </a:solidFill>
              <a:highlight>
                <a:srgbClr val="FFFFFF"/>
              </a:highlight>
              <a:latin typeface="Open Sans" panose="020B0606030504020204" pitchFamily="34" charset="0"/>
              <a:ea typeface="Open Sans" panose="020B0606030504020204" pitchFamily="34" charset="0"/>
              <a:cs typeface="Open Sans" panose="020B0606030504020204" pitchFamily="34" charset="0"/>
              <a:sym typeface="Arial"/>
            </a:endParaRPr>
          </a:p>
          <a:p>
            <a:pPr marL="457200" lvl="0" indent="-355600" algn="l" rtl="0">
              <a:spcBef>
                <a:spcPts val="0"/>
              </a:spcBef>
              <a:spcAft>
                <a:spcPts val="0"/>
              </a:spcAft>
              <a:buClr>
                <a:srgbClr val="666666"/>
              </a:buClr>
              <a:buSzPts val="2000"/>
              <a:buFont typeface="Arial"/>
              <a:buChar char="●"/>
            </a:pPr>
            <a:r>
              <a:rPr lang="en" sz="2000" dirty="0">
                <a:solidFill>
                  <a:srgbClr val="666666"/>
                </a:solidFill>
                <a:highlight>
                  <a:srgbClr val="FFFFFF"/>
                </a:highlight>
                <a:latin typeface="Open Sans" panose="020B0606030504020204" pitchFamily="34" charset="0"/>
                <a:ea typeface="Open Sans" panose="020B0606030504020204" pitchFamily="34" charset="0"/>
                <a:cs typeface="Open Sans" panose="020B0606030504020204" pitchFamily="34" charset="0"/>
                <a:sym typeface="Arial"/>
              </a:rPr>
              <a:t>Helps you to create Enterprise Software</a:t>
            </a:r>
            <a:endParaRPr sz="2000" dirty="0">
              <a:solidFill>
                <a:srgbClr val="666666"/>
              </a:solidFill>
              <a:highlight>
                <a:srgbClr val="FFFFFF"/>
              </a:highlight>
              <a:latin typeface="Open Sans" panose="020B0606030504020204" pitchFamily="34" charset="0"/>
              <a:ea typeface="Open Sans" panose="020B0606030504020204" pitchFamily="34" charset="0"/>
              <a:cs typeface="Open Sans" panose="020B0606030504020204" pitchFamily="34" charset="0"/>
              <a:sym typeface="Arial"/>
            </a:endParaRPr>
          </a:p>
          <a:p>
            <a:pPr marL="457200" lvl="0" indent="-355600" algn="l" rtl="0">
              <a:spcBef>
                <a:spcPts val="0"/>
              </a:spcBef>
              <a:spcAft>
                <a:spcPts val="0"/>
              </a:spcAft>
              <a:buClr>
                <a:srgbClr val="666666"/>
              </a:buClr>
              <a:buSzPts val="2000"/>
              <a:buFont typeface="Arial"/>
              <a:buChar char="●"/>
            </a:pPr>
            <a:r>
              <a:rPr lang="en" sz="2000" dirty="0">
                <a:solidFill>
                  <a:srgbClr val="666666"/>
                </a:solidFill>
                <a:highlight>
                  <a:srgbClr val="FFFFFF"/>
                </a:highlight>
                <a:latin typeface="Open Sans" panose="020B0606030504020204" pitchFamily="34" charset="0"/>
                <a:ea typeface="Open Sans" panose="020B0606030504020204" pitchFamily="34" charset="0"/>
                <a:cs typeface="Open Sans" panose="020B0606030504020204" pitchFamily="34" charset="0"/>
                <a:sym typeface="Arial"/>
              </a:rPr>
              <a:t>Wide range of Mobile java Applications</a:t>
            </a:r>
            <a:endParaRPr sz="2000" dirty="0">
              <a:solidFill>
                <a:srgbClr val="666666"/>
              </a:solidFill>
              <a:highlight>
                <a:srgbClr val="FFFFFF"/>
              </a:highlight>
              <a:latin typeface="Open Sans" panose="020B0606030504020204" pitchFamily="34" charset="0"/>
              <a:ea typeface="Open Sans" panose="020B0606030504020204" pitchFamily="34" charset="0"/>
              <a:cs typeface="Open Sans" panose="020B0606030504020204" pitchFamily="34" charset="0"/>
              <a:sym typeface="Arial"/>
            </a:endParaRPr>
          </a:p>
          <a:p>
            <a:pPr marL="457200" lvl="0" indent="-355600" algn="l" rtl="0">
              <a:spcBef>
                <a:spcPts val="0"/>
              </a:spcBef>
              <a:spcAft>
                <a:spcPts val="0"/>
              </a:spcAft>
              <a:buClr>
                <a:srgbClr val="666666"/>
              </a:buClr>
              <a:buSzPts val="2000"/>
              <a:buFont typeface="Arial"/>
              <a:buChar char="●"/>
            </a:pPr>
            <a:r>
              <a:rPr lang="en" sz="2000" dirty="0">
                <a:solidFill>
                  <a:srgbClr val="666666"/>
                </a:solidFill>
                <a:highlight>
                  <a:srgbClr val="FFFFFF"/>
                </a:highlight>
                <a:latin typeface="Open Sans" panose="020B0606030504020204" pitchFamily="34" charset="0"/>
                <a:ea typeface="Open Sans" panose="020B0606030504020204" pitchFamily="34" charset="0"/>
                <a:cs typeface="Open Sans" panose="020B0606030504020204" pitchFamily="34" charset="0"/>
                <a:sym typeface="Arial"/>
              </a:rPr>
              <a:t>Scientific Computing Applications</a:t>
            </a:r>
            <a:endParaRPr sz="2000" dirty="0">
              <a:solidFill>
                <a:srgbClr val="666666"/>
              </a:solidFill>
              <a:highlight>
                <a:srgbClr val="FFFFFF"/>
              </a:highlight>
              <a:latin typeface="Open Sans" panose="020B0606030504020204" pitchFamily="34" charset="0"/>
              <a:ea typeface="Open Sans" panose="020B0606030504020204" pitchFamily="34" charset="0"/>
              <a:cs typeface="Open Sans" panose="020B0606030504020204" pitchFamily="34" charset="0"/>
              <a:sym typeface="Arial"/>
            </a:endParaRPr>
          </a:p>
          <a:p>
            <a:pPr marL="457200" lvl="0" indent="-355600" algn="l" rtl="0">
              <a:spcBef>
                <a:spcPts val="0"/>
              </a:spcBef>
              <a:spcAft>
                <a:spcPts val="0"/>
              </a:spcAft>
              <a:buClr>
                <a:srgbClr val="666666"/>
              </a:buClr>
              <a:buSzPts val="2000"/>
              <a:buFont typeface="Arial"/>
              <a:buChar char="●"/>
            </a:pPr>
            <a:r>
              <a:rPr lang="en" sz="2000" dirty="0">
                <a:solidFill>
                  <a:srgbClr val="666666"/>
                </a:solidFill>
                <a:highlight>
                  <a:srgbClr val="FFFFFF"/>
                </a:highlight>
                <a:latin typeface="Open Sans" panose="020B0606030504020204" pitchFamily="34" charset="0"/>
                <a:ea typeface="Open Sans" panose="020B0606030504020204" pitchFamily="34" charset="0"/>
                <a:cs typeface="Open Sans" panose="020B0606030504020204" pitchFamily="34" charset="0"/>
                <a:sym typeface="Arial"/>
              </a:rPr>
              <a:t>Use for Big Data Analytics</a:t>
            </a:r>
            <a:endParaRPr sz="2000" dirty="0">
              <a:solidFill>
                <a:srgbClr val="666666"/>
              </a:solidFill>
              <a:highlight>
                <a:srgbClr val="FFFFFF"/>
              </a:highlight>
              <a:latin typeface="Open Sans" panose="020B0606030504020204" pitchFamily="34" charset="0"/>
              <a:ea typeface="Open Sans" panose="020B0606030504020204" pitchFamily="34" charset="0"/>
              <a:cs typeface="Open Sans" panose="020B0606030504020204" pitchFamily="34" charset="0"/>
              <a:sym typeface="Arial"/>
            </a:endParaRPr>
          </a:p>
          <a:p>
            <a:pPr marL="457200" lvl="0" indent="-355600" algn="l" rtl="0">
              <a:spcBef>
                <a:spcPts val="0"/>
              </a:spcBef>
              <a:spcAft>
                <a:spcPts val="0"/>
              </a:spcAft>
              <a:buClr>
                <a:srgbClr val="666666"/>
              </a:buClr>
              <a:buSzPts val="2000"/>
              <a:buFont typeface="Arial"/>
              <a:buChar char="●"/>
            </a:pPr>
            <a:r>
              <a:rPr lang="en" sz="2000" dirty="0">
                <a:solidFill>
                  <a:srgbClr val="666666"/>
                </a:solidFill>
                <a:highlight>
                  <a:srgbClr val="FFFFFF"/>
                </a:highlight>
                <a:latin typeface="Open Sans" panose="020B0606030504020204" pitchFamily="34" charset="0"/>
                <a:ea typeface="Open Sans" panose="020B0606030504020204" pitchFamily="34" charset="0"/>
                <a:cs typeface="Open Sans" panose="020B0606030504020204" pitchFamily="34" charset="0"/>
                <a:sym typeface="Arial"/>
              </a:rPr>
              <a:t>Java Programming of Hardware devices</a:t>
            </a:r>
            <a:endParaRPr sz="2000" dirty="0">
              <a:solidFill>
                <a:srgbClr val="666666"/>
              </a:solidFill>
              <a:highlight>
                <a:srgbClr val="FFFFFF"/>
              </a:highlight>
              <a:latin typeface="Open Sans" panose="020B0606030504020204" pitchFamily="34" charset="0"/>
              <a:ea typeface="Open Sans" panose="020B0606030504020204" pitchFamily="34" charset="0"/>
              <a:cs typeface="Open Sans" panose="020B0606030504020204" pitchFamily="34" charset="0"/>
              <a:sym typeface="Arial"/>
            </a:endParaRPr>
          </a:p>
          <a:p>
            <a:pPr marL="457200" lvl="0" indent="-355600" algn="l" rtl="0">
              <a:spcBef>
                <a:spcPts val="0"/>
              </a:spcBef>
              <a:spcAft>
                <a:spcPts val="0"/>
              </a:spcAft>
              <a:buClr>
                <a:srgbClr val="666666"/>
              </a:buClr>
              <a:buSzPts val="2000"/>
              <a:buFont typeface="Arial"/>
              <a:buChar char="●"/>
            </a:pPr>
            <a:r>
              <a:rPr lang="en" sz="2000" dirty="0">
                <a:solidFill>
                  <a:srgbClr val="666666"/>
                </a:solidFill>
                <a:highlight>
                  <a:srgbClr val="FFFFFF"/>
                </a:highlight>
                <a:latin typeface="Open Sans" panose="020B0606030504020204" pitchFamily="34" charset="0"/>
                <a:ea typeface="Open Sans" panose="020B0606030504020204" pitchFamily="34" charset="0"/>
                <a:cs typeface="Open Sans" panose="020B0606030504020204" pitchFamily="34" charset="0"/>
                <a:sym typeface="Arial"/>
              </a:rPr>
              <a:t>Used for Server-Side Technologies like Apache, JBoss, GlassFish, etc.</a:t>
            </a:r>
            <a:endParaRPr sz="2000" dirty="0">
              <a:solidFill>
                <a:srgbClr val="666666"/>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9"/>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Components of Java Programming</a:t>
            </a:r>
            <a:endParaRPr/>
          </a:p>
        </p:txBody>
      </p:sp>
      <p:sp>
        <p:nvSpPr>
          <p:cNvPr id="103" name="Google Shape;103;p19"/>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To convert the source code to machine code Java uses three components:</a:t>
            </a:r>
            <a:endParaRPr/>
          </a:p>
          <a:p>
            <a:pPr marL="457200" lvl="0" indent="-342900" algn="l" rtl="0">
              <a:spcBef>
                <a:spcPts val="1200"/>
              </a:spcBef>
              <a:spcAft>
                <a:spcPts val="0"/>
              </a:spcAft>
              <a:buSzPts val="1800"/>
              <a:buAutoNum type="arabicPeriod"/>
            </a:pPr>
            <a:r>
              <a:rPr lang="en"/>
              <a:t>Java Development Kit</a:t>
            </a:r>
            <a:endParaRPr/>
          </a:p>
          <a:p>
            <a:pPr marL="457200" lvl="0" indent="-342900" algn="l" rtl="0">
              <a:spcBef>
                <a:spcPts val="0"/>
              </a:spcBef>
              <a:spcAft>
                <a:spcPts val="0"/>
              </a:spcAft>
              <a:buSzPts val="1800"/>
              <a:buAutoNum type="arabicPeriod"/>
            </a:pPr>
            <a:r>
              <a:rPr lang="en"/>
              <a:t>Java Runtime Environment</a:t>
            </a:r>
            <a:endParaRPr/>
          </a:p>
          <a:p>
            <a:pPr marL="457200" lvl="0" indent="-342900" algn="l" rtl="0">
              <a:spcBef>
                <a:spcPts val="0"/>
              </a:spcBef>
              <a:spcAft>
                <a:spcPts val="0"/>
              </a:spcAft>
              <a:buSzPts val="1800"/>
              <a:buAutoNum type="arabicPeriod"/>
            </a:pPr>
            <a:r>
              <a:rPr lang="en"/>
              <a:t>Java Virtual Machine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0"/>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Java Development kit</a:t>
            </a:r>
            <a:endParaRPr/>
          </a:p>
        </p:txBody>
      </p:sp>
      <p:sp>
        <p:nvSpPr>
          <p:cNvPr id="109" name="Google Shape;109;p20"/>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JDK is a software development environment used for making java applications &amp; applets. It is possible to install more than one JDK version on the same computer.</a:t>
            </a:r>
            <a:endParaRPr/>
          </a:p>
          <a:p>
            <a:pPr marL="0" lvl="0" indent="0" algn="l" rtl="0">
              <a:spcBef>
                <a:spcPts val="1200"/>
              </a:spcBef>
              <a:spcAft>
                <a:spcPts val="0"/>
              </a:spcAft>
              <a:buNone/>
            </a:pPr>
            <a:r>
              <a:rPr lang="en"/>
              <a:t>JDK contains tools required to write Java program &amp; JRE to execute them. It includes </a:t>
            </a:r>
            <a:r>
              <a:rPr lang="en">
                <a:solidFill>
                  <a:srgbClr val="FF8118"/>
                </a:solidFill>
              </a:rPr>
              <a:t>compiler</a:t>
            </a:r>
            <a:r>
              <a:rPr lang="en"/>
              <a:t>, </a:t>
            </a:r>
            <a:r>
              <a:rPr lang="en">
                <a:solidFill>
                  <a:srgbClr val="FF8118"/>
                </a:solidFill>
              </a:rPr>
              <a:t>Java application launcher</a:t>
            </a:r>
            <a:r>
              <a:rPr lang="en"/>
              <a:t>, </a:t>
            </a:r>
            <a:r>
              <a:rPr lang="en">
                <a:solidFill>
                  <a:srgbClr val="FF8118"/>
                </a:solidFill>
              </a:rPr>
              <a:t>Appletviewer</a:t>
            </a:r>
            <a:r>
              <a:rPr lang="en"/>
              <a:t> etc.</a:t>
            </a:r>
            <a:endParaRPr/>
          </a:p>
          <a:p>
            <a:pPr marL="0" lvl="0" indent="0" algn="l" rtl="0">
              <a:spcBef>
                <a:spcPts val="1200"/>
              </a:spcBef>
              <a:spcAft>
                <a:spcPts val="0"/>
              </a:spcAft>
              <a:buNone/>
            </a:pPr>
            <a:endParaRPr/>
          </a:p>
          <a:p>
            <a:pPr marL="0" lvl="0" indent="0" algn="l" rtl="0">
              <a:spcBef>
                <a:spcPts val="1200"/>
              </a:spcBef>
              <a:spcAft>
                <a:spcPts val="1200"/>
              </a:spcAft>
              <a:buNone/>
            </a:pPr>
            <a:r>
              <a:rPr lang="en" sz="1600" b="1"/>
              <a:t>NOTE: Compiler converts source code to the bytecode &amp; App Launcher opens JRE, loads the necessary class &amp; execute its main method</a:t>
            </a:r>
            <a:endParaRPr sz="1600" b="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1"/>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Java Runtime Environment</a:t>
            </a:r>
            <a:endParaRPr/>
          </a:p>
        </p:txBody>
      </p:sp>
      <p:sp>
        <p:nvSpPr>
          <p:cNvPr id="115" name="Google Shape;115;p21"/>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a:t>JRE is a piece of software that is designed to run other software. It contains the class libraries, loader class &amp; JVM.</a:t>
            </a:r>
            <a:endParaRPr/>
          </a:p>
          <a:p>
            <a:pPr marL="0" lvl="0" indent="0" algn="l" rtl="0">
              <a:spcBef>
                <a:spcPts val="1200"/>
              </a:spcBef>
              <a:spcAft>
                <a:spcPts val="0"/>
              </a:spcAft>
              <a:buNone/>
            </a:pPr>
            <a:r>
              <a:rPr lang="en"/>
              <a:t>JRE does not include any tool for java development like debugger, compiler etc. It uses important package classes like math, swing, util, lang, awt &amp; runtime libraries. </a:t>
            </a:r>
            <a:endParaRPr/>
          </a:p>
          <a:p>
            <a:pPr marL="0" lvl="0" indent="0" algn="l" rtl="0">
              <a:spcBef>
                <a:spcPts val="1200"/>
              </a:spcBef>
              <a:spcAft>
                <a:spcPts val="0"/>
              </a:spcAft>
              <a:buNone/>
            </a:pPr>
            <a:endParaRPr/>
          </a:p>
          <a:p>
            <a:pPr marL="0" lvl="0" indent="0" algn="l" rtl="0">
              <a:spcBef>
                <a:spcPts val="1200"/>
              </a:spcBef>
              <a:spcAft>
                <a:spcPts val="1200"/>
              </a:spcAft>
              <a:buNone/>
            </a:pPr>
            <a:r>
              <a:rPr lang="en" b="1"/>
              <a:t>NOTE: For developing the java programs we need JDK but to run java program only JRE is needed</a:t>
            </a:r>
            <a:endParaRPr b="1"/>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2"/>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Working of JRE</a:t>
            </a:r>
            <a:endParaRPr/>
          </a:p>
        </p:txBody>
      </p:sp>
      <p:sp>
        <p:nvSpPr>
          <p:cNvPr id="121" name="Google Shape;121;p22"/>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rgbClr val="666666"/>
                </a:solidFill>
                <a:highlight>
                  <a:srgbClr val="FBFBFB"/>
                </a:highlight>
              </a:rPr>
              <a:t>The JRE combines the Java code that you create by using the JDK with additional built-in code called libraries. It then creates a JVM instance, or local copy, that finally runs the Java programs. </a:t>
            </a:r>
            <a:endParaRPr>
              <a:solidFill>
                <a:srgbClr val="666666"/>
              </a:solidFill>
              <a:highlight>
                <a:srgbClr val="FBFBFB"/>
              </a:highlight>
            </a:endParaRPr>
          </a:p>
          <a:p>
            <a:pPr marL="0" lvl="0" indent="0" algn="l" rtl="0">
              <a:spcBef>
                <a:spcPts val="1200"/>
              </a:spcBef>
              <a:spcAft>
                <a:spcPts val="0"/>
              </a:spcAft>
              <a:buNone/>
            </a:pPr>
            <a:r>
              <a:rPr lang="en">
                <a:solidFill>
                  <a:srgbClr val="666666"/>
                </a:solidFill>
                <a:highlight>
                  <a:srgbClr val="FBFBFB"/>
                </a:highlight>
              </a:rPr>
              <a:t>JVMs are available for multiple operating systems, and the JRE generates a single copy of your Java code that runs on all types of JVMs. </a:t>
            </a:r>
            <a:endParaRPr>
              <a:solidFill>
                <a:srgbClr val="666666"/>
              </a:solidFill>
              <a:highlight>
                <a:srgbClr val="FBFBFB"/>
              </a:highlight>
            </a:endParaRPr>
          </a:p>
          <a:p>
            <a:pPr marL="0" lvl="0" indent="0" algn="l" rtl="0">
              <a:spcBef>
                <a:spcPts val="1200"/>
              </a:spcBef>
              <a:spcAft>
                <a:spcPts val="1200"/>
              </a:spcAft>
              <a:buNone/>
            </a:pPr>
            <a:r>
              <a:rPr lang="en">
                <a:solidFill>
                  <a:srgbClr val="666666"/>
                </a:solidFill>
                <a:highlight>
                  <a:srgbClr val="FBFBFB"/>
                </a:highlight>
              </a:rPr>
              <a:t>In this way, the JRE facilitates platform independence for Java applications. You can write them once and run them anywhere.</a:t>
            </a:r>
            <a:endParaRPr>
              <a:solidFill>
                <a:srgbClr val="666666"/>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3"/>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Java Virtual Machine</a:t>
            </a:r>
            <a:endParaRPr/>
          </a:p>
        </p:txBody>
      </p:sp>
      <p:sp>
        <p:nvSpPr>
          <p:cNvPr id="127" name="Google Shape;127;p23"/>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500" dirty="0"/>
              <a:t>JVM is an engine that provides a runtime environment to drive a java code or application. It is a part of JRE which converts </a:t>
            </a:r>
            <a:r>
              <a:rPr lang="en" sz="1500" b="1" dirty="0"/>
              <a:t>bytecode </a:t>
            </a:r>
            <a:r>
              <a:rPr lang="en" sz="1500" dirty="0"/>
              <a:t>to </a:t>
            </a:r>
            <a:r>
              <a:rPr lang="en" sz="1500" b="1" dirty="0"/>
              <a:t>machine language.</a:t>
            </a:r>
            <a:endParaRPr sz="1500" b="1" dirty="0"/>
          </a:p>
          <a:p>
            <a:pPr marL="0" lvl="0" indent="0" algn="l" rtl="0">
              <a:spcBef>
                <a:spcPts val="1200"/>
              </a:spcBef>
              <a:spcAft>
                <a:spcPts val="0"/>
              </a:spcAft>
              <a:buNone/>
            </a:pPr>
            <a:r>
              <a:rPr lang="en" sz="1500" b="1" dirty="0"/>
              <a:t>Bytecode: </a:t>
            </a:r>
            <a:r>
              <a:rPr lang="en" sz="1500" dirty="0"/>
              <a:t>Computer object code that an interpreter converts into binary machine code so it can be read by a computer’s hardware processors.</a:t>
            </a:r>
            <a:endParaRPr sz="1500" dirty="0"/>
          </a:p>
          <a:p>
            <a:pPr marL="0" lvl="0" indent="0" algn="l" rtl="0">
              <a:spcBef>
                <a:spcPts val="1200"/>
              </a:spcBef>
              <a:spcAft>
                <a:spcPts val="0"/>
              </a:spcAft>
              <a:buNone/>
            </a:pPr>
            <a:r>
              <a:rPr lang="en" sz="1500" dirty="0"/>
              <a:t>JVM provides the platform independent way to execute java source code. When we compile java program, the bytecode is generated. Bytecode is an intermediary language between java source &amp; the host system.</a:t>
            </a:r>
            <a:endParaRPr sz="1500" dirty="0"/>
          </a:p>
          <a:p>
            <a:pPr marL="0" lvl="0" indent="0" algn="l" rtl="0">
              <a:spcBef>
                <a:spcPts val="1200"/>
              </a:spcBef>
              <a:spcAft>
                <a:spcPts val="0"/>
              </a:spcAft>
              <a:buNone/>
            </a:pPr>
            <a:r>
              <a:rPr lang="en" sz="1500" dirty="0"/>
              <a:t>JVM comes with JIT(just-in-time) compiler that converts java source code into low level language.</a:t>
            </a:r>
            <a:endParaRPr sz="1500" dirty="0"/>
          </a:p>
          <a:p>
            <a:pPr marL="0" lvl="0" indent="0" algn="l" rtl="0">
              <a:spcBef>
                <a:spcPts val="1200"/>
              </a:spcBef>
              <a:spcAft>
                <a:spcPts val="0"/>
              </a:spcAft>
              <a:buNone/>
            </a:pPr>
            <a:r>
              <a:rPr lang="en" sz="1500" b="1" dirty="0"/>
              <a:t>NOTE: Although JVM provides platform independent way to execute source code  but itself is platform dependent. It also allocate &amp; deallocate the memory space</a:t>
            </a:r>
            <a:endParaRPr sz="1500" b="1" dirty="0"/>
          </a:p>
          <a:p>
            <a:pPr marL="0" lvl="0" indent="0" algn="l" rtl="0">
              <a:spcBef>
                <a:spcPts val="1200"/>
              </a:spcBef>
              <a:spcAft>
                <a:spcPts val="1200"/>
              </a:spcAft>
              <a:buNone/>
            </a:pPr>
            <a:endParaRPr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4"/>
          <p:cNvSpPr/>
          <p:nvPr/>
        </p:nvSpPr>
        <p:spPr>
          <a:xfrm>
            <a:off x="518600" y="1410000"/>
            <a:ext cx="1228200" cy="657900"/>
          </a:xfrm>
          <a:prstGeom prst="rect">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Open Sans" panose="020B0606030504020204" pitchFamily="34" charset="0"/>
              <a:ea typeface="Open Sans" panose="020B0606030504020204" pitchFamily="34" charset="0"/>
              <a:cs typeface="Open Sans" panose="020B0606030504020204" pitchFamily="34" charset="0"/>
            </a:endParaRPr>
          </a:p>
        </p:txBody>
      </p:sp>
      <p:sp>
        <p:nvSpPr>
          <p:cNvPr id="133" name="Google Shape;133;p24"/>
          <p:cNvSpPr txBox="1"/>
          <p:nvPr/>
        </p:nvSpPr>
        <p:spPr>
          <a:xfrm>
            <a:off x="474725" y="1507550"/>
            <a:ext cx="12282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Open Sans"/>
                <a:ea typeface="Open Sans"/>
                <a:cs typeface="Open Sans"/>
                <a:sym typeface="Open Sans"/>
              </a:rPr>
              <a:t>Java Source code</a:t>
            </a:r>
            <a:endParaRPr>
              <a:latin typeface="Open Sans"/>
              <a:ea typeface="Open Sans"/>
              <a:cs typeface="Open Sans"/>
              <a:sym typeface="Open Sans"/>
            </a:endParaRPr>
          </a:p>
        </p:txBody>
      </p:sp>
      <p:sp>
        <p:nvSpPr>
          <p:cNvPr id="134" name="Google Shape;134;p24"/>
          <p:cNvSpPr/>
          <p:nvPr/>
        </p:nvSpPr>
        <p:spPr>
          <a:xfrm>
            <a:off x="1730400" y="1531950"/>
            <a:ext cx="1102200" cy="3300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Open Sans" panose="020B0606030504020204" pitchFamily="34" charset="0"/>
              <a:ea typeface="Open Sans" panose="020B0606030504020204" pitchFamily="34" charset="0"/>
              <a:cs typeface="Open Sans" panose="020B0606030504020204" pitchFamily="34" charset="0"/>
            </a:endParaRPr>
          </a:p>
        </p:txBody>
      </p:sp>
      <p:sp>
        <p:nvSpPr>
          <p:cNvPr id="135" name="Google Shape;135;p24"/>
          <p:cNvSpPr/>
          <p:nvPr/>
        </p:nvSpPr>
        <p:spPr>
          <a:xfrm>
            <a:off x="2832600" y="1389150"/>
            <a:ext cx="1582800" cy="657900"/>
          </a:xfrm>
          <a:prstGeom prst="rect">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Open Sans" panose="020B0606030504020204" pitchFamily="34" charset="0"/>
              <a:ea typeface="Open Sans" panose="020B0606030504020204" pitchFamily="34" charset="0"/>
              <a:cs typeface="Open Sans" panose="020B0606030504020204" pitchFamily="34" charset="0"/>
            </a:endParaRPr>
          </a:p>
        </p:txBody>
      </p:sp>
      <p:sp>
        <p:nvSpPr>
          <p:cNvPr id="136" name="Google Shape;136;p24"/>
          <p:cNvSpPr txBox="1"/>
          <p:nvPr/>
        </p:nvSpPr>
        <p:spPr>
          <a:xfrm>
            <a:off x="3043175" y="1389150"/>
            <a:ext cx="15246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Open Sans"/>
                <a:ea typeface="Open Sans"/>
                <a:cs typeface="Open Sans"/>
                <a:sym typeface="Open Sans"/>
              </a:rPr>
              <a:t>Java compiler</a:t>
            </a:r>
            <a:endParaRPr>
              <a:latin typeface="Open Sans"/>
              <a:ea typeface="Open Sans"/>
              <a:cs typeface="Open Sans"/>
              <a:sym typeface="Open Sans"/>
            </a:endParaRPr>
          </a:p>
          <a:p>
            <a:pPr marL="0" lvl="0" indent="0" algn="l" rtl="0">
              <a:spcBef>
                <a:spcPts val="0"/>
              </a:spcBef>
              <a:spcAft>
                <a:spcPts val="0"/>
              </a:spcAft>
              <a:buNone/>
            </a:pPr>
            <a:r>
              <a:rPr lang="en" b="1">
                <a:latin typeface="Open Sans"/>
                <a:ea typeface="Open Sans"/>
                <a:cs typeface="Open Sans"/>
                <a:sym typeface="Open Sans"/>
              </a:rPr>
              <a:t>(javac)</a:t>
            </a:r>
            <a:endParaRPr b="1">
              <a:latin typeface="Open Sans"/>
              <a:ea typeface="Open Sans"/>
              <a:cs typeface="Open Sans"/>
              <a:sym typeface="Open Sans"/>
            </a:endParaRPr>
          </a:p>
        </p:txBody>
      </p:sp>
      <p:sp>
        <p:nvSpPr>
          <p:cNvPr id="137" name="Google Shape;137;p24"/>
          <p:cNvSpPr/>
          <p:nvPr/>
        </p:nvSpPr>
        <p:spPr>
          <a:xfrm>
            <a:off x="4395275" y="1531950"/>
            <a:ext cx="1582800" cy="3300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Open Sans" panose="020B0606030504020204" pitchFamily="34" charset="0"/>
              <a:ea typeface="Open Sans" panose="020B0606030504020204" pitchFamily="34" charset="0"/>
              <a:cs typeface="Open Sans" panose="020B0606030504020204" pitchFamily="34" charset="0"/>
            </a:endParaRPr>
          </a:p>
        </p:txBody>
      </p:sp>
      <p:sp>
        <p:nvSpPr>
          <p:cNvPr id="138" name="Google Shape;138;p24"/>
          <p:cNvSpPr/>
          <p:nvPr/>
        </p:nvSpPr>
        <p:spPr>
          <a:xfrm>
            <a:off x="5978075" y="1410125"/>
            <a:ext cx="1438500" cy="657900"/>
          </a:xfrm>
          <a:prstGeom prst="rect">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Open Sans" panose="020B0606030504020204" pitchFamily="34" charset="0"/>
              <a:ea typeface="Open Sans" panose="020B0606030504020204" pitchFamily="34" charset="0"/>
              <a:cs typeface="Open Sans" panose="020B0606030504020204" pitchFamily="34" charset="0"/>
            </a:endParaRPr>
          </a:p>
        </p:txBody>
      </p:sp>
      <p:sp>
        <p:nvSpPr>
          <p:cNvPr id="139" name="Google Shape;139;p24"/>
          <p:cNvSpPr txBox="1"/>
          <p:nvPr/>
        </p:nvSpPr>
        <p:spPr>
          <a:xfrm>
            <a:off x="6178675" y="1476925"/>
            <a:ext cx="102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Open Sans"/>
                <a:ea typeface="Open Sans"/>
                <a:cs typeface="Open Sans"/>
                <a:sym typeface="Open Sans"/>
              </a:rPr>
              <a:t>Byte code</a:t>
            </a:r>
            <a:endParaRPr>
              <a:latin typeface="Open Sans"/>
              <a:ea typeface="Open Sans"/>
              <a:cs typeface="Open Sans"/>
              <a:sym typeface="Open Sans"/>
            </a:endParaRPr>
          </a:p>
        </p:txBody>
      </p:sp>
      <p:sp>
        <p:nvSpPr>
          <p:cNvPr id="140" name="Google Shape;140;p24"/>
          <p:cNvSpPr/>
          <p:nvPr/>
        </p:nvSpPr>
        <p:spPr>
          <a:xfrm>
            <a:off x="6497300" y="2047200"/>
            <a:ext cx="338100" cy="12492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Open Sans" panose="020B0606030504020204" pitchFamily="34" charset="0"/>
              <a:ea typeface="Open Sans" panose="020B0606030504020204" pitchFamily="34" charset="0"/>
              <a:cs typeface="Open Sans" panose="020B0606030504020204" pitchFamily="34" charset="0"/>
            </a:endParaRPr>
          </a:p>
        </p:txBody>
      </p:sp>
      <p:sp>
        <p:nvSpPr>
          <p:cNvPr id="141" name="Google Shape;141;p24"/>
          <p:cNvSpPr/>
          <p:nvPr/>
        </p:nvSpPr>
        <p:spPr>
          <a:xfrm>
            <a:off x="5969750" y="3296300"/>
            <a:ext cx="1438500" cy="657900"/>
          </a:xfrm>
          <a:prstGeom prst="rect">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Open Sans" panose="020B0606030504020204" pitchFamily="34" charset="0"/>
              <a:ea typeface="Open Sans" panose="020B0606030504020204" pitchFamily="34" charset="0"/>
              <a:cs typeface="Open Sans" panose="020B0606030504020204" pitchFamily="34" charset="0"/>
            </a:endParaRPr>
          </a:p>
        </p:txBody>
      </p:sp>
      <p:sp>
        <p:nvSpPr>
          <p:cNvPr id="142" name="Google Shape;142;p24"/>
          <p:cNvSpPr txBox="1"/>
          <p:nvPr/>
        </p:nvSpPr>
        <p:spPr>
          <a:xfrm>
            <a:off x="5982400" y="3331475"/>
            <a:ext cx="14385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Open Sans"/>
                <a:ea typeface="Open Sans"/>
                <a:cs typeface="Open Sans"/>
                <a:sym typeface="Open Sans"/>
              </a:rPr>
              <a:t>Java Interpreter</a:t>
            </a:r>
            <a:endParaRPr>
              <a:latin typeface="Open Sans"/>
              <a:ea typeface="Open Sans"/>
              <a:cs typeface="Open Sans"/>
              <a:sym typeface="Open Sans"/>
            </a:endParaRPr>
          </a:p>
        </p:txBody>
      </p:sp>
      <p:sp>
        <p:nvSpPr>
          <p:cNvPr id="143" name="Google Shape;143;p24"/>
          <p:cNvSpPr txBox="1"/>
          <p:nvPr/>
        </p:nvSpPr>
        <p:spPr>
          <a:xfrm>
            <a:off x="6365675" y="3968125"/>
            <a:ext cx="711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Open Sans"/>
                <a:ea typeface="Open Sans"/>
                <a:cs typeface="Open Sans"/>
                <a:sym typeface="Open Sans"/>
              </a:rPr>
              <a:t>JVM</a:t>
            </a:r>
            <a:endParaRPr>
              <a:latin typeface="Open Sans"/>
              <a:ea typeface="Open Sans"/>
              <a:cs typeface="Open Sans"/>
              <a:sym typeface="Open Sans"/>
            </a:endParaRPr>
          </a:p>
        </p:txBody>
      </p:sp>
      <p:sp>
        <p:nvSpPr>
          <p:cNvPr id="144" name="Google Shape;144;p24"/>
          <p:cNvSpPr txBox="1"/>
          <p:nvPr/>
        </p:nvSpPr>
        <p:spPr>
          <a:xfrm>
            <a:off x="7011025" y="2179375"/>
            <a:ext cx="14385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Open Sans"/>
                <a:ea typeface="Open Sans"/>
                <a:cs typeface="Open Sans"/>
                <a:sym typeface="Open Sans"/>
              </a:rPr>
              <a:t>Byte code loaded into JVM</a:t>
            </a:r>
            <a:endParaRPr>
              <a:latin typeface="Open Sans"/>
              <a:ea typeface="Open Sans"/>
              <a:cs typeface="Open Sans"/>
              <a:sym typeface="Open Sans"/>
            </a:endParaRPr>
          </a:p>
        </p:txBody>
      </p:sp>
      <p:sp>
        <p:nvSpPr>
          <p:cNvPr id="145" name="Google Shape;145;p24"/>
          <p:cNvSpPr/>
          <p:nvPr/>
        </p:nvSpPr>
        <p:spPr>
          <a:xfrm>
            <a:off x="4500984" y="3489550"/>
            <a:ext cx="1524600" cy="3300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Open Sans" panose="020B0606030504020204" pitchFamily="34" charset="0"/>
              <a:ea typeface="Open Sans" panose="020B0606030504020204" pitchFamily="34" charset="0"/>
              <a:cs typeface="Open Sans" panose="020B0606030504020204" pitchFamily="34" charset="0"/>
            </a:endParaRPr>
          </a:p>
        </p:txBody>
      </p:sp>
      <p:sp>
        <p:nvSpPr>
          <p:cNvPr id="146" name="Google Shape;146;p24"/>
          <p:cNvSpPr/>
          <p:nvPr/>
        </p:nvSpPr>
        <p:spPr>
          <a:xfrm>
            <a:off x="3339950" y="3296300"/>
            <a:ext cx="1160700" cy="657900"/>
          </a:xfrm>
          <a:prstGeom prst="rect">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Open Sans" panose="020B0606030504020204" pitchFamily="34" charset="0"/>
              <a:ea typeface="Open Sans" panose="020B0606030504020204" pitchFamily="34" charset="0"/>
              <a:cs typeface="Open Sans" panose="020B0606030504020204" pitchFamily="34" charset="0"/>
            </a:endParaRPr>
          </a:p>
        </p:txBody>
      </p:sp>
      <p:sp>
        <p:nvSpPr>
          <p:cNvPr id="147" name="Google Shape;147;p24"/>
          <p:cNvSpPr txBox="1"/>
          <p:nvPr/>
        </p:nvSpPr>
        <p:spPr>
          <a:xfrm>
            <a:off x="3339950" y="3483875"/>
            <a:ext cx="1228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Open Sans"/>
                <a:ea typeface="Open Sans"/>
                <a:cs typeface="Open Sans"/>
                <a:sym typeface="Open Sans"/>
              </a:rPr>
              <a:t>Host System</a:t>
            </a:r>
            <a:endParaRPr>
              <a:latin typeface="Open Sans"/>
              <a:ea typeface="Open Sans"/>
              <a:cs typeface="Open Sans"/>
              <a:sym typeface="Open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JVM Architecture</a:t>
            </a:r>
            <a:endParaRPr/>
          </a:p>
        </p:txBody>
      </p:sp>
      <p:pic>
        <p:nvPicPr>
          <p:cNvPr id="153" name="Google Shape;153;p25"/>
          <p:cNvPicPr preferRelativeResize="0"/>
          <p:nvPr/>
        </p:nvPicPr>
        <p:blipFill>
          <a:blip r:embed="rId3">
            <a:alphaModFix/>
          </a:blip>
          <a:stretch>
            <a:fillRect/>
          </a:stretch>
        </p:blipFill>
        <p:spPr>
          <a:xfrm>
            <a:off x="1272331" y="1042127"/>
            <a:ext cx="6187776" cy="36862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JVM Architecture</a:t>
            </a:r>
            <a:endParaRPr dirty="0"/>
          </a:p>
        </p:txBody>
      </p:sp>
      <p:sp>
        <p:nvSpPr>
          <p:cNvPr id="159" name="Google Shape;159;p26"/>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77500" lnSpcReduction="20000"/>
          </a:bodyPr>
          <a:lstStyle/>
          <a:p>
            <a:pPr marL="457200" lvl="0" indent="-342900" algn="l" rtl="0">
              <a:spcBef>
                <a:spcPts val="0"/>
              </a:spcBef>
              <a:spcAft>
                <a:spcPts val="0"/>
              </a:spcAft>
              <a:buSzPts val="1800"/>
              <a:buAutoNum type="arabicPeriod"/>
            </a:pPr>
            <a:r>
              <a:rPr lang="en" sz="2100" b="1" dirty="0"/>
              <a:t>Class Loader: </a:t>
            </a:r>
            <a:endParaRPr sz="2100" b="1" dirty="0"/>
          </a:p>
          <a:p>
            <a:pPr marL="457200" lvl="0" indent="0" algn="l" rtl="0">
              <a:spcBef>
                <a:spcPts val="1200"/>
              </a:spcBef>
              <a:spcAft>
                <a:spcPts val="0"/>
              </a:spcAft>
              <a:buNone/>
            </a:pPr>
            <a:r>
              <a:rPr lang="en" sz="2100" dirty="0">
                <a:solidFill>
                  <a:srgbClr val="222222"/>
                </a:solidFill>
                <a:highlight>
                  <a:srgbClr val="FFFFFF"/>
                </a:highlight>
                <a:latin typeface="Open Sans" panose="020B0606030504020204" pitchFamily="34" charset="0"/>
                <a:ea typeface="Open Sans" panose="020B0606030504020204" pitchFamily="34" charset="0"/>
                <a:cs typeface="Open Sans" panose="020B0606030504020204" pitchFamily="34" charset="0"/>
                <a:sym typeface="Arial"/>
              </a:rPr>
              <a:t>The class loader is a subsystem used for loading class files. It performs three major functions viz. Loading, Linking, and Initialization.</a:t>
            </a:r>
            <a:endParaRPr sz="2100" dirty="0"/>
          </a:p>
          <a:p>
            <a:pPr marL="457200" lvl="0" indent="-342900" algn="l" rtl="0">
              <a:spcBef>
                <a:spcPts val="1200"/>
              </a:spcBef>
              <a:spcAft>
                <a:spcPts val="0"/>
              </a:spcAft>
              <a:buSzPts val="1800"/>
              <a:buFont typeface="+mj-lt"/>
              <a:buAutoNum type="arabicPeriod" startAt="2"/>
            </a:pPr>
            <a:r>
              <a:rPr lang="en" sz="2100" b="1" dirty="0"/>
              <a:t>Method Area:</a:t>
            </a:r>
            <a:endParaRPr sz="2100" b="1" dirty="0"/>
          </a:p>
          <a:p>
            <a:pPr marL="457200" lvl="0" indent="0" algn="l" rtl="0">
              <a:spcBef>
                <a:spcPts val="1200"/>
              </a:spcBef>
              <a:spcAft>
                <a:spcPts val="0"/>
              </a:spcAft>
              <a:buNone/>
            </a:pPr>
            <a:r>
              <a:rPr lang="en" sz="1900" dirty="0">
                <a:solidFill>
                  <a:srgbClr val="222222"/>
                </a:solidFill>
                <a:highlight>
                  <a:srgbClr val="FFFFFF"/>
                </a:highlight>
                <a:latin typeface="Open Sans" panose="020B0606030504020204" pitchFamily="34" charset="0"/>
                <a:ea typeface="Open Sans" panose="020B0606030504020204" pitchFamily="34" charset="0"/>
                <a:cs typeface="Open Sans" panose="020B0606030504020204" pitchFamily="34" charset="0"/>
                <a:sym typeface="Arial"/>
              </a:rPr>
              <a:t>JVM Method Area stores class structures like metadata, the constant runtime pool, and the code for methods.</a:t>
            </a:r>
            <a:endParaRPr sz="1900" dirty="0"/>
          </a:p>
          <a:p>
            <a:pPr marL="457200" lvl="0" indent="-342900" algn="l" rtl="0">
              <a:spcBef>
                <a:spcPts val="1200"/>
              </a:spcBef>
              <a:spcAft>
                <a:spcPts val="0"/>
              </a:spcAft>
              <a:buSzPts val="1800"/>
              <a:buFont typeface="+mj-lt"/>
              <a:buAutoNum type="arabicPeriod" startAt="3"/>
            </a:pPr>
            <a:r>
              <a:rPr lang="en" sz="2300" b="1" dirty="0"/>
              <a:t>Heap:</a:t>
            </a:r>
            <a:endParaRPr sz="2300" b="1" dirty="0"/>
          </a:p>
          <a:p>
            <a:pPr marL="457200" lvl="0" indent="0" algn="l" rtl="0">
              <a:spcBef>
                <a:spcPts val="1200"/>
              </a:spcBef>
              <a:spcAft>
                <a:spcPts val="1200"/>
              </a:spcAft>
              <a:buNone/>
            </a:pPr>
            <a:r>
              <a:rPr lang="en" sz="1900" dirty="0">
                <a:solidFill>
                  <a:srgbClr val="222222"/>
                </a:solidFill>
                <a:highlight>
                  <a:srgbClr val="FFFFFF"/>
                </a:highlight>
                <a:latin typeface="Open Sans" panose="020B0606030504020204" pitchFamily="34" charset="0"/>
                <a:ea typeface="Open Sans" panose="020B0606030504020204" pitchFamily="34" charset="0"/>
                <a:cs typeface="Open Sans" panose="020B0606030504020204" pitchFamily="34" charset="0"/>
                <a:sym typeface="Arial"/>
              </a:rPr>
              <a:t>All the Objects, their related instance variables, and arrays are stored in the heap. This memory is common and shared across multiple threads.</a:t>
            </a:r>
            <a:r>
              <a:rPr lang="en" sz="1900" dirty="0"/>
              <a:t> </a:t>
            </a:r>
            <a:endParaRPr sz="1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7"/>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JVM Architecture</a:t>
            </a:r>
            <a:endParaRPr/>
          </a:p>
        </p:txBody>
      </p:sp>
      <p:sp>
        <p:nvSpPr>
          <p:cNvPr id="165" name="Google Shape;165;p27"/>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92500" lnSpcReduction="20000"/>
          </a:bodyPr>
          <a:lstStyle/>
          <a:p>
            <a:pPr marL="457200" lvl="0" indent="-334327" algn="l" rtl="0">
              <a:spcBef>
                <a:spcPts val="0"/>
              </a:spcBef>
              <a:spcAft>
                <a:spcPts val="0"/>
              </a:spcAft>
              <a:buSzPct val="100000"/>
              <a:buAutoNum type="arabicPeriod" startAt="4"/>
            </a:pPr>
            <a:r>
              <a:rPr lang="en" b="1" dirty="0"/>
              <a:t>JVM Language Stack: </a:t>
            </a:r>
            <a:endParaRPr b="1" dirty="0"/>
          </a:p>
          <a:p>
            <a:pPr marL="457200" lvl="0" indent="0" algn="l" rtl="0">
              <a:spcBef>
                <a:spcPts val="1200"/>
              </a:spcBef>
              <a:spcAft>
                <a:spcPts val="0"/>
              </a:spcAft>
              <a:buNone/>
            </a:pPr>
            <a:r>
              <a:rPr lang="en" sz="1500" dirty="0">
                <a:solidFill>
                  <a:srgbClr val="222222"/>
                </a:solidFill>
                <a:highlight>
                  <a:srgbClr val="FFFFFF"/>
                </a:highlight>
                <a:latin typeface="Open Sans" panose="020B0606030504020204" pitchFamily="34" charset="0"/>
                <a:ea typeface="Open Sans" panose="020B0606030504020204" pitchFamily="34" charset="0"/>
                <a:cs typeface="Open Sans" panose="020B0606030504020204" pitchFamily="34" charset="0"/>
                <a:sym typeface="Arial"/>
              </a:rPr>
              <a:t>Java language Stacks store local variables, and it’s partial results. Each thread has its own JVM stack, created simultaneously as the thread is created. A new frame is created whenever a method is invoked, and it is deleted when method invocation process is complete.</a:t>
            </a:r>
            <a:endParaRPr dirty="0"/>
          </a:p>
          <a:p>
            <a:pPr marL="465773" lvl="0" algn="l" rtl="0">
              <a:spcBef>
                <a:spcPts val="1200"/>
              </a:spcBef>
              <a:spcAft>
                <a:spcPts val="0"/>
              </a:spcAft>
              <a:buSzPct val="100000"/>
              <a:buFont typeface="+mj-lt"/>
              <a:buAutoNum type="arabicPeriod" startAt="5"/>
            </a:pPr>
            <a:r>
              <a:rPr lang="en" b="1" dirty="0"/>
              <a:t>Program Counter(PC) registers:</a:t>
            </a:r>
            <a:endParaRPr b="1" dirty="0"/>
          </a:p>
          <a:p>
            <a:pPr marL="457200" lvl="0" indent="0" algn="l" rtl="0">
              <a:spcBef>
                <a:spcPts val="1200"/>
              </a:spcBef>
              <a:spcAft>
                <a:spcPts val="0"/>
              </a:spcAft>
              <a:buNone/>
            </a:pPr>
            <a:r>
              <a:rPr lang="en" sz="1500" dirty="0">
                <a:solidFill>
                  <a:srgbClr val="222222"/>
                </a:solidFill>
                <a:highlight>
                  <a:srgbClr val="FFFFFF"/>
                </a:highlight>
                <a:latin typeface="Open Sans" panose="020B0606030504020204" pitchFamily="34" charset="0"/>
                <a:ea typeface="Open Sans" panose="020B0606030504020204" pitchFamily="34" charset="0"/>
                <a:cs typeface="Open Sans" panose="020B0606030504020204" pitchFamily="34" charset="0"/>
                <a:sym typeface="Arial"/>
              </a:rPr>
              <a:t>PC register store the address of the Java virtual machine instruction which is currently executing. In Java, each thread has its separate PC register.</a:t>
            </a:r>
            <a:endParaRPr dirty="0"/>
          </a:p>
          <a:p>
            <a:pPr marL="465773" lvl="0" algn="l" rtl="0">
              <a:spcBef>
                <a:spcPts val="1200"/>
              </a:spcBef>
              <a:spcAft>
                <a:spcPts val="0"/>
              </a:spcAft>
              <a:buSzPct val="100000"/>
              <a:buFont typeface="+mj-lt"/>
              <a:buAutoNum type="arabicPeriod" startAt="6"/>
            </a:pPr>
            <a:r>
              <a:rPr lang="en" b="1" dirty="0"/>
              <a:t>Na</a:t>
            </a:r>
            <a:r>
              <a:rPr lang="en-IN" b="1" dirty="0"/>
              <a:t>ï</a:t>
            </a:r>
            <a:r>
              <a:rPr lang="en" b="1" dirty="0"/>
              <a:t>ve Method Stack:</a:t>
            </a:r>
            <a:endParaRPr b="1" dirty="0"/>
          </a:p>
          <a:p>
            <a:pPr marL="457200" lvl="0" indent="0" algn="l" rtl="0">
              <a:spcBef>
                <a:spcPts val="1200"/>
              </a:spcBef>
              <a:spcAft>
                <a:spcPts val="1200"/>
              </a:spcAft>
              <a:buNone/>
            </a:pPr>
            <a:r>
              <a:rPr lang="en" sz="1500" dirty="0">
                <a:solidFill>
                  <a:srgbClr val="222222"/>
                </a:solidFill>
                <a:highlight>
                  <a:srgbClr val="FFFFFF"/>
                </a:highlight>
                <a:latin typeface="Open Sans" panose="020B0606030504020204" pitchFamily="34" charset="0"/>
                <a:ea typeface="Open Sans" panose="020B0606030504020204" pitchFamily="34" charset="0"/>
                <a:cs typeface="Open Sans" panose="020B0606030504020204" pitchFamily="34" charset="0"/>
                <a:sym typeface="Arial"/>
              </a:rPr>
              <a:t>Native method stacks hold the instruction of native code depends on the native library. It is written in another language instead of Java.</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8"/>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JVM Architecture</a:t>
            </a:r>
            <a:endParaRPr/>
          </a:p>
        </p:txBody>
      </p:sp>
      <p:sp>
        <p:nvSpPr>
          <p:cNvPr id="171" name="Google Shape;171;p28"/>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92500" lnSpcReduction="10000"/>
          </a:bodyPr>
          <a:lstStyle/>
          <a:p>
            <a:pPr marL="457200" lvl="0" indent="-342900" algn="l" rtl="0">
              <a:spcBef>
                <a:spcPts val="0"/>
              </a:spcBef>
              <a:spcAft>
                <a:spcPts val="0"/>
              </a:spcAft>
              <a:buSzPts val="1800"/>
              <a:buAutoNum type="arabicPeriod" startAt="7"/>
            </a:pPr>
            <a:r>
              <a:rPr lang="en" b="1" dirty="0"/>
              <a:t>Execution engine:</a:t>
            </a:r>
            <a:endParaRPr b="1" dirty="0"/>
          </a:p>
          <a:p>
            <a:pPr marL="457200" lvl="0" indent="0" algn="l" rtl="0">
              <a:spcBef>
                <a:spcPts val="1200"/>
              </a:spcBef>
              <a:spcAft>
                <a:spcPts val="0"/>
              </a:spcAft>
              <a:buNone/>
            </a:pPr>
            <a:r>
              <a:rPr lang="en" sz="1500" dirty="0">
                <a:solidFill>
                  <a:srgbClr val="222222"/>
                </a:solidFill>
                <a:highlight>
                  <a:srgbClr val="FFFFFF"/>
                </a:highlight>
                <a:latin typeface="Open Sans" panose="020B0606030504020204" pitchFamily="34" charset="0"/>
                <a:ea typeface="Open Sans" panose="020B0606030504020204" pitchFamily="34" charset="0"/>
                <a:cs typeface="Open Sans" panose="020B0606030504020204" pitchFamily="34" charset="0"/>
                <a:sym typeface="Arial"/>
              </a:rPr>
              <a:t>It is a type of software used to test hardware, software, or complete systems. The test execution engine never carries any information about the tested product.</a:t>
            </a:r>
            <a:endParaRPr dirty="0"/>
          </a:p>
          <a:p>
            <a:pPr marL="457200" lvl="0" indent="-342900" algn="l" rtl="0">
              <a:spcBef>
                <a:spcPts val="1200"/>
              </a:spcBef>
              <a:spcAft>
                <a:spcPts val="0"/>
              </a:spcAft>
              <a:buSzPts val="1800"/>
              <a:buFont typeface="+mj-lt"/>
              <a:buAutoNum type="arabicPeriod" startAt="8"/>
            </a:pPr>
            <a:r>
              <a:rPr lang="en" b="1" dirty="0"/>
              <a:t>Native Method Interface:</a:t>
            </a:r>
            <a:endParaRPr b="1" dirty="0"/>
          </a:p>
          <a:p>
            <a:pPr marL="457200" lvl="0" indent="0" algn="l" rtl="0">
              <a:spcBef>
                <a:spcPts val="1200"/>
              </a:spcBef>
              <a:spcAft>
                <a:spcPts val="0"/>
              </a:spcAft>
              <a:buNone/>
            </a:pPr>
            <a:r>
              <a:rPr lang="en" sz="1500" dirty="0">
                <a:solidFill>
                  <a:srgbClr val="222222"/>
                </a:solidFill>
                <a:highlight>
                  <a:srgbClr val="FFFFFF"/>
                </a:highlight>
                <a:latin typeface="Open Sans" panose="020B0606030504020204" pitchFamily="34" charset="0"/>
                <a:ea typeface="Open Sans" panose="020B0606030504020204" pitchFamily="34" charset="0"/>
                <a:cs typeface="Open Sans" panose="020B0606030504020204" pitchFamily="34" charset="0"/>
                <a:sym typeface="Arial"/>
              </a:rPr>
              <a:t>The Native Method Interface is a programming framework. It allows Java code which is running in a JVM to call by libraries and native applications.</a:t>
            </a:r>
            <a:endParaRPr dirty="0"/>
          </a:p>
          <a:p>
            <a:pPr marL="457200" lvl="0" indent="-342900" algn="l" rtl="0">
              <a:spcBef>
                <a:spcPts val="1200"/>
              </a:spcBef>
              <a:spcAft>
                <a:spcPts val="0"/>
              </a:spcAft>
              <a:buSzPts val="1800"/>
              <a:buFont typeface="+mj-lt"/>
              <a:buAutoNum type="arabicPeriod" startAt="9"/>
            </a:pPr>
            <a:r>
              <a:rPr lang="en" b="1" dirty="0"/>
              <a:t>Native Method Libraries:</a:t>
            </a:r>
            <a:endParaRPr b="1" dirty="0"/>
          </a:p>
          <a:p>
            <a:pPr marL="457200" lvl="0" indent="0" algn="l" rtl="0">
              <a:spcBef>
                <a:spcPts val="1200"/>
              </a:spcBef>
              <a:spcAft>
                <a:spcPts val="1200"/>
              </a:spcAft>
              <a:buNone/>
            </a:pPr>
            <a:r>
              <a:rPr lang="en" sz="1500" dirty="0">
                <a:solidFill>
                  <a:srgbClr val="222222"/>
                </a:solidFill>
                <a:highlight>
                  <a:srgbClr val="FFFFFF"/>
                </a:highlight>
                <a:latin typeface="Open Sans" panose="020B0606030504020204" pitchFamily="34" charset="0"/>
                <a:ea typeface="Open Sans" panose="020B0606030504020204" pitchFamily="34" charset="0"/>
                <a:cs typeface="Open Sans" panose="020B0606030504020204" pitchFamily="34" charset="0"/>
                <a:sym typeface="Arial"/>
              </a:rPr>
              <a:t>Native Libraries is a collection of the Native Libraries(C, C++) which are needed by the Execution Engine.</a:t>
            </a: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9"/>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JVM memory management</a:t>
            </a:r>
            <a:endParaRPr/>
          </a:p>
        </p:txBody>
      </p:sp>
      <p:sp>
        <p:nvSpPr>
          <p:cNvPr id="177" name="Google Shape;177;p29"/>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rgbClr val="666666"/>
                </a:solidFill>
                <a:highlight>
                  <a:schemeClr val="lt1"/>
                </a:highlight>
              </a:rPr>
              <a:t>Memory management is the process of allocating new objects and removing unused objects to make space for those new object allocations.</a:t>
            </a:r>
            <a:endParaRPr>
              <a:solidFill>
                <a:srgbClr val="666666"/>
              </a:solidFill>
              <a:highlight>
                <a:schemeClr val="lt1"/>
              </a:highlight>
            </a:endParaRPr>
          </a:p>
          <a:p>
            <a:pPr marL="0" lvl="0" indent="0" algn="l" rtl="0">
              <a:spcBef>
                <a:spcPts val="1200"/>
              </a:spcBef>
              <a:spcAft>
                <a:spcPts val="0"/>
              </a:spcAft>
              <a:buNone/>
            </a:pPr>
            <a:r>
              <a:rPr lang="en">
                <a:solidFill>
                  <a:srgbClr val="666666"/>
                </a:solidFill>
                <a:highlight>
                  <a:schemeClr val="lt1"/>
                </a:highlight>
              </a:rPr>
              <a:t>Java maintains memory on its own and doesn't require a programmer's explicit assistance. </a:t>
            </a:r>
            <a:endParaRPr>
              <a:solidFill>
                <a:srgbClr val="666666"/>
              </a:solidFill>
              <a:highlight>
                <a:schemeClr val="lt1"/>
              </a:highlight>
            </a:endParaRPr>
          </a:p>
          <a:p>
            <a:pPr marL="0" lvl="0" indent="0" algn="l" rtl="0">
              <a:spcBef>
                <a:spcPts val="1200"/>
              </a:spcBef>
              <a:spcAft>
                <a:spcPts val="0"/>
              </a:spcAft>
              <a:buNone/>
            </a:pPr>
            <a:r>
              <a:rPr lang="en">
                <a:solidFill>
                  <a:srgbClr val="666666"/>
                </a:solidFill>
                <a:highlight>
                  <a:schemeClr val="lt1"/>
                </a:highlight>
              </a:rPr>
              <a:t>Garbage collection guarantees that memory may be released when not needed and that unused space is cleaned up. </a:t>
            </a:r>
            <a:endParaRPr>
              <a:solidFill>
                <a:srgbClr val="666666"/>
              </a:solidFill>
              <a:highlight>
                <a:schemeClr val="lt1"/>
              </a:highlight>
            </a:endParaRPr>
          </a:p>
          <a:p>
            <a:pPr marL="0" lvl="0" indent="0" algn="l" rtl="0">
              <a:spcBef>
                <a:spcPts val="1200"/>
              </a:spcBef>
              <a:spcAft>
                <a:spcPts val="1200"/>
              </a:spcAft>
              <a:buNone/>
            </a:pPr>
            <a:endParaRPr>
              <a:solidFill>
                <a:srgbClr val="666666"/>
              </a:solidFill>
              <a:highlight>
                <a:schemeClr val="lt1"/>
              </a:high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30"/>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Features</a:t>
            </a:r>
            <a:endParaRPr/>
          </a:p>
        </p:txBody>
      </p:sp>
      <p:sp>
        <p:nvSpPr>
          <p:cNvPr id="183" name="Google Shape;183;p30"/>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92500" lnSpcReduction="10000"/>
          </a:bodyPr>
          <a:lstStyle/>
          <a:p>
            <a:pPr marL="457200" lvl="0" indent="-342900" algn="l" rtl="0">
              <a:spcBef>
                <a:spcPts val="0"/>
              </a:spcBef>
              <a:spcAft>
                <a:spcPts val="0"/>
              </a:spcAft>
              <a:buSzPts val="1800"/>
              <a:buChar char="●"/>
            </a:pPr>
            <a:r>
              <a:rPr lang="en" b="1" dirty="0"/>
              <a:t>Simple</a:t>
            </a:r>
            <a:r>
              <a:rPr lang="en" dirty="0"/>
              <a:t>: Learning &amp; practicing java is easy because of its resemblance to C &amp; C++</a:t>
            </a:r>
            <a:endParaRPr dirty="0"/>
          </a:p>
          <a:p>
            <a:pPr marL="457200" lvl="0" indent="-342900" algn="l" rtl="0">
              <a:spcBef>
                <a:spcPts val="1000"/>
              </a:spcBef>
              <a:spcAft>
                <a:spcPts val="0"/>
              </a:spcAft>
              <a:buSzPts val="1800"/>
              <a:buChar char="●"/>
            </a:pPr>
            <a:r>
              <a:rPr lang="en" b="1" dirty="0"/>
              <a:t>Object Oriented Programming language: </a:t>
            </a:r>
            <a:r>
              <a:rPr lang="en"/>
              <a:t>Java supports object </a:t>
            </a:r>
            <a:r>
              <a:rPr lang="en" dirty="0"/>
              <a:t>oriented language.</a:t>
            </a:r>
            <a:endParaRPr dirty="0"/>
          </a:p>
          <a:p>
            <a:pPr marL="457200" lvl="0" indent="-342900" algn="l" rtl="0">
              <a:spcBef>
                <a:spcPts val="1000"/>
              </a:spcBef>
              <a:spcAft>
                <a:spcPts val="0"/>
              </a:spcAft>
              <a:buSzPts val="1800"/>
              <a:buChar char="●"/>
            </a:pPr>
            <a:r>
              <a:rPr lang="en" b="1" dirty="0"/>
              <a:t>Distributed</a:t>
            </a:r>
            <a:r>
              <a:rPr lang="en" dirty="0"/>
              <a:t>: Java is designed for the distributed environment of the internet because it handles TCP/IP protocols. Java also supports Remote Method Invocation(RMI) which enables a program to invoke methods across a network</a:t>
            </a:r>
            <a:endParaRPr dirty="0"/>
          </a:p>
          <a:p>
            <a:pPr marL="457200" lvl="0" indent="-342900" algn="l" rtl="0">
              <a:spcBef>
                <a:spcPts val="1000"/>
              </a:spcBef>
              <a:spcAft>
                <a:spcPts val="1000"/>
              </a:spcAft>
              <a:buSzPts val="1800"/>
              <a:buChar char="●"/>
            </a:pPr>
            <a:r>
              <a:rPr lang="en" b="1" dirty="0"/>
              <a:t>Robust</a:t>
            </a:r>
            <a:r>
              <a:rPr lang="en" dirty="0"/>
              <a:t>: Java program will not crash because of its exception handling &amp; memory management. </a:t>
            </a: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1"/>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Features</a:t>
            </a:r>
            <a:endParaRPr/>
          </a:p>
        </p:txBody>
      </p:sp>
      <p:sp>
        <p:nvSpPr>
          <p:cNvPr id="189" name="Google Shape;189;p31"/>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92500"/>
          </a:bodyPr>
          <a:lstStyle/>
          <a:p>
            <a:pPr marL="457200" lvl="0" indent="-342900" algn="l" rtl="0">
              <a:spcBef>
                <a:spcPts val="0"/>
              </a:spcBef>
              <a:spcAft>
                <a:spcPts val="0"/>
              </a:spcAft>
              <a:buSzPts val="1800"/>
              <a:buChar char="●"/>
            </a:pPr>
            <a:r>
              <a:rPr lang="en" b="1"/>
              <a:t>Portable</a:t>
            </a:r>
            <a:r>
              <a:rPr lang="en"/>
              <a:t>: Java does not have implementation dependent aspects and yet yields or gives same result on any machine. Hence becoming </a:t>
            </a:r>
            <a:r>
              <a:rPr lang="en" b="1"/>
              <a:t>Platform Independent</a:t>
            </a:r>
            <a:endParaRPr b="1"/>
          </a:p>
          <a:p>
            <a:pPr marL="457200" lvl="0" indent="-342900" algn="l" rtl="0">
              <a:spcBef>
                <a:spcPts val="1000"/>
              </a:spcBef>
              <a:spcAft>
                <a:spcPts val="0"/>
              </a:spcAft>
              <a:buSzPts val="1800"/>
              <a:buChar char="●"/>
            </a:pPr>
            <a:r>
              <a:rPr lang="en" b="1"/>
              <a:t>Interpreted &amp; high performance</a:t>
            </a:r>
            <a:r>
              <a:rPr lang="en"/>
              <a:t>: Java programs are compiled to generated the byte code. This byte code can be downloaded &amp; interpreted by the interpreter. The .class file will have byte code instructions and JVM which contains an interpreter will execute the byte code. </a:t>
            </a:r>
            <a:endParaRPr/>
          </a:p>
          <a:p>
            <a:pPr marL="457200" lvl="0" indent="0" algn="l" rtl="0">
              <a:spcBef>
                <a:spcPts val="1000"/>
              </a:spcBef>
              <a:spcAft>
                <a:spcPts val="1000"/>
              </a:spcAft>
              <a:buNone/>
            </a:pPr>
            <a:r>
              <a:rPr lang="en"/>
              <a:t>Along with interpreter there will be JIT(Just In Time) compiler which enhance the speed of execution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2"/>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Features</a:t>
            </a:r>
            <a:endParaRPr/>
          </a:p>
        </p:txBody>
      </p:sp>
      <p:sp>
        <p:nvSpPr>
          <p:cNvPr id="195" name="Google Shape;195;p32"/>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b="1"/>
              <a:t>Architectural Neutral language: </a:t>
            </a:r>
            <a:r>
              <a:rPr lang="en"/>
              <a:t>Java byte code is not machine dependent, it can run on any machine with any processor and with any OS</a:t>
            </a:r>
            <a:endParaRPr/>
          </a:p>
          <a:p>
            <a:pPr marL="457200" lvl="0" indent="-342900" algn="l" rtl="0">
              <a:spcBef>
                <a:spcPts val="0"/>
              </a:spcBef>
              <a:spcAft>
                <a:spcPts val="0"/>
              </a:spcAft>
              <a:buSzPts val="1800"/>
              <a:buChar char="●"/>
            </a:pPr>
            <a:r>
              <a:rPr lang="en" b="1"/>
              <a:t>Multithreaded</a:t>
            </a:r>
            <a:r>
              <a:rPr lang="en"/>
              <a:t>: Executing different parts of programs simultaneously is called multithreading. This is an essential feature to design server-side programs.</a:t>
            </a:r>
            <a:endParaRPr/>
          </a:p>
          <a:p>
            <a:pPr marL="457200" lvl="0" indent="-342900" algn="l" rtl="0">
              <a:spcBef>
                <a:spcPts val="0"/>
              </a:spcBef>
              <a:spcAft>
                <a:spcPts val="0"/>
              </a:spcAft>
              <a:buSzPts val="1800"/>
              <a:buChar char="●"/>
            </a:pPr>
            <a:r>
              <a:rPr lang="en" b="1"/>
              <a:t>Dynamic</a:t>
            </a:r>
            <a:r>
              <a:rPr lang="en"/>
              <a:t>: We can develop programs in Java which dynamically changes on Internet. Eg.: Applet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4"/>
          <p:cNvSpPr txBox="1">
            <a:spLocks noGrp="1"/>
          </p:cNvSpPr>
          <p:nvPr>
            <p:ph type="title"/>
          </p:nvPr>
        </p:nvSpPr>
        <p:spPr>
          <a:xfrm>
            <a:off x="311700" y="2476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Syntax</a:t>
            </a:r>
            <a:endParaRPr/>
          </a:p>
        </p:txBody>
      </p:sp>
      <p:sp>
        <p:nvSpPr>
          <p:cNvPr id="207" name="Google Shape;207;p34"/>
          <p:cNvSpPr txBox="1">
            <a:spLocks noGrp="1"/>
          </p:cNvSpPr>
          <p:nvPr>
            <p:ph type="body" idx="1"/>
          </p:nvPr>
        </p:nvSpPr>
        <p:spPr>
          <a:xfrm>
            <a:off x="1375500" y="1332150"/>
            <a:ext cx="5207700" cy="2370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666666"/>
                </a:solidFill>
              </a:rPr>
              <a:t>class  Classname{</a:t>
            </a:r>
            <a:endParaRPr>
              <a:solidFill>
                <a:srgbClr val="666666"/>
              </a:solidFill>
            </a:endParaRPr>
          </a:p>
          <a:p>
            <a:pPr marL="0" lvl="0" indent="0" algn="l" rtl="0">
              <a:spcBef>
                <a:spcPts val="1000"/>
              </a:spcBef>
              <a:spcAft>
                <a:spcPts val="0"/>
              </a:spcAft>
              <a:buNone/>
            </a:pPr>
            <a:r>
              <a:rPr lang="en">
                <a:solidFill>
                  <a:srgbClr val="666666"/>
                </a:solidFill>
              </a:rPr>
              <a:t>	public static void main(String args[ ]){</a:t>
            </a:r>
            <a:endParaRPr>
              <a:solidFill>
                <a:srgbClr val="666666"/>
              </a:solidFill>
            </a:endParaRPr>
          </a:p>
          <a:p>
            <a:pPr marL="0" lvl="0" indent="0" algn="l" rtl="0">
              <a:spcBef>
                <a:spcPts val="1000"/>
              </a:spcBef>
              <a:spcAft>
                <a:spcPts val="0"/>
              </a:spcAft>
              <a:buNone/>
            </a:pPr>
            <a:r>
              <a:rPr lang="en">
                <a:solidFill>
                  <a:srgbClr val="666666"/>
                </a:solidFill>
              </a:rPr>
              <a:t>		System.out.println();</a:t>
            </a:r>
            <a:endParaRPr>
              <a:solidFill>
                <a:srgbClr val="666666"/>
              </a:solidFill>
            </a:endParaRPr>
          </a:p>
          <a:p>
            <a:pPr marL="0" lvl="0" indent="457200" algn="l" rtl="0">
              <a:spcBef>
                <a:spcPts val="1000"/>
              </a:spcBef>
              <a:spcAft>
                <a:spcPts val="0"/>
              </a:spcAft>
              <a:buNone/>
            </a:pPr>
            <a:r>
              <a:rPr lang="en">
                <a:solidFill>
                  <a:srgbClr val="666666"/>
                </a:solidFill>
              </a:rPr>
              <a:t>}</a:t>
            </a:r>
            <a:endParaRPr>
              <a:solidFill>
                <a:srgbClr val="666666"/>
              </a:solidFill>
            </a:endParaRPr>
          </a:p>
          <a:p>
            <a:pPr marL="0" lvl="0" indent="0" algn="l" rtl="0">
              <a:spcBef>
                <a:spcPts val="1000"/>
              </a:spcBef>
              <a:spcAft>
                <a:spcPts val="1000"/>
              </a:spcAft>
              <a:buNone/>
            </a:pPr>
            <a:r>
              <a:rPr lang="en">
                <a:solidFill>
                  <a:srgbClr val="666666"/>
                </a:solidFill>
              </a:rPr>
              <a:t>}</a:t>
            </a:r>
            <a:endParaRPr>
              <a:solidFill>
                <a:srgbClr val="666666"/>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The main() method</a:t>
            </a:r>
            <a:endParaRPr/>
          </a:p>
          <a:p>
            <a:pPr marL="0" lvl="0" indent="0" algn="l" rtl="0">
              <a:spcBef>
                <a:spcPts val="0"/>
              </a:spcBef>
              <a:spcAft>
                <a:spcPts val="0"/>
              </a:spcAft>
              <a:buNone/>
            </a:pPr>
            <a:endParaRPr/>
          </a:p>
        </p:txBody>
      </p:sp>
      <p:sp>
        <p:nvSpPr>
          <p:cNvPr id="213" name="Google Shape;213;p35"/>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85000" lnSpcReduction="10000"/>
          </a:bodyPr>
          <a:lstStyle/>
          <a:p>
            <a:pPr marL="0" lvl="0" indent="0" algn="l" rtl="0">
              <a:spcBef>
                <a:spcPts val="0"/>
              </a:spcBef>
              <a:spcAft>
                <a:spcPts val="0"/>
              </a:spcAft>
              <a:buNone/>
            </a:pPr>
            <a:r>
              <a:rPr lang="en" sz="1600">
                <a:solidFill>
                  <a:srgbClr val="000000"/>
                </a:solidFill>
                <a:highlight>
                  <a:srgbClr val="FFFFFF"/>
                </a:highlight>
              </a:rPr>
              <a:t>The main() method holds significant importance in Java programming as it acts as the entry point for the program's execution, allowing it to be run from the command line or any Java runtime environment. </a:t>
            </a:r>
            <a:endParaRPr sz="1600">
              <a:solidFill>
                <a:srgbClr val="000000"/>
              </a:solidFill>
              <a:highlight>
                <a:srgbClr val="FFFFFF"/>
              </a:highlight>
            </a:endParaRPr>
          </a:p>
          <a:p>
            <a:pPr marL="0" lvl="0" indent="0" algn="l" rtl="0">
              <a:spcBef>
                <a:spcPts val="1200"/>
              </a:spcBef>
              <a:spcAft>
                <a:spcPts val="0"/>
              </a:spcAft>
              <a:buNone/>
            </a:pPr>
            <a:r>
              <a:rPr lang="en" sz="1600">
                <a:solidFill>
                  <a:srgbClr val="000000"/>
                </a:solidFill>
                <a:highlight>
                  <a:srgbClr val="FFFFFF"/>
                </a:highlight>
              </a:rPr>
              <a:t>While compiling a Java program, the presence of a main() method is not strictly required, but during execution, the JVM searches for this method and initiates program execution from there.</a:t>
            </a:r>
            <a:endParaRPr sz="1600">
              <a:solidFill>
                <a:srgbClr val="000000"/>
              </a:solidFill>
              <a:highlight>
                <a:srgbClr val="FFFFFF"/>
              </a:highlight>
            </a:endParaRPr>
          </a:p>
          <a:p>
            <a:pPr marL="0" lvl="0" indent="0" algn="l" rtl="0">
              <a:spcBef>
                <a:spcPts val="1200"/>
              </a:spcBef>
              <a:spcAft>
                <a:spcPts val="0"/>
              </a:spcAft>
              <a:buNone/>
            </a:pPr>
            <a:r>
              <a:rPr lang="en" sz="1600">
                <a:solidFill>
                  <a:srgbClr val="000000"/>
                </a:solidFill>
                <a:highlight>
                  <a:srgbClr val="FFFFFF"/>
                </a:highlight>
              </a:rPr>
              <a:t>The main() method in Java must have a public access modifier, enabling it to be accessed from outside the class. </a:t>
            </a:r>
            <a:endParaRPr sz="1600">
              <a:solidFill>
                <a:srgbClr val="000000"/>
              </a:solidFill>
              <a:highlight>
                <a:srgbClr val="FFFFFF"/>
              </a:highlight>
            </a:endParaRPr>
          </a:p>
          <a:p>
            <a:pPr marL="0" lvl="0" indent="0" algn="l" rtl="0">
              <a:spcBef>
                <a:spcPts val="1200"/>
              </a:spcBef>
              <a:spcAft>
                <a:spcPts val="0"/>
              </a:spcAft>
              <a:buNone/>
            </a:pPr>
            <a:r>
              <a:rPr lang="en" sz="1600">
                <a:solidFill>
                  <a:srgbClr val="000000"/>
                </a:solidFill>
                <a:highlight>
                  <a:srgbClr val="FFFFFF"/>
                </a:highlight>
              </a:rPr>
              <a:t>Being a static method, it can be called without creating an instance of the class. </a:t>
            </a:r>
            <a:endParaRPr sz="1600">
              <a:solidFill>
                <a:srgbClr val="000000"/>
              </a:solidFill>
              <a:highlight>
                <a:srgbClr val="FFFFFF"/>
              </a:highlight>
            </a:endParaRPr>
          </a:p>
          <a:p>
            <a:pPr marL="0" lvl="0" indent="0" algn="l" rtl="0">
              <a:spcBef>
                <a:spcPts val="1200"/>
              </a:spcBef>
              <a:spcAft>
                <a:spcPts val="1200"/>
              </a:spcAft>
              <a:buNone/>
            </a:pPr>
            <a:r>
              <a:rPr lang="en" sz="1600">
                <a:solidFill>
                  <a:srgbClr val="000000"/>
                </a:solidFill>
                <a:highlight>
                  <a:srgbClr val="FFFFFF"/>
                </a:highlight>
              </a:rPr>
              <a:t>Additionally, it does not return any value and accepts a String array as a parameter, allowing command-line arguments to be passed to the program.</a:t>
            </a:r>
            <a:endParaRPr sz="1600">
              <a:solidFill>
                <a:srgbClr val="000000"/>
              </a:solidFill>
              <a:highlight>
                <a:srgbClr val="FFFFFF"/>
              </a:high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The main() method</a:t>
            </a:r>
            <a:endParaRPr/>
          </a:p>
          <a:p>
            <a:pPr marL="0" lvl="0" indent="0" algn="l" rtl="0">
              <a:spcBef>
                <a:spcPts val="0"/>
              </a:spcBef>
              <a:spcAft>
                <a:spcPts val="0"/>
              </a:spcAft>
              <a:buNone/>
            </a:pPr>
            <a:endParaRPr/>
          </a:p>
        </p:txBody>
      </p:sp>
      <p:sp>
        <p:nvSpPr>
          <p:cNvPr id="219" name="Google Shape;219;p36"/>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457200" lvl="0" indent="-330200" algn="l" rtl="0">
              <a:lnSpc>
                <a:spcPct val="100000"/>
              </a:lnSpc>
              <a:spcBef>
                <a:spcPts val="0"/>
              </a:spcBef>
              <a:spcAft>
                <a:spcPts val="800"/>
              </a:spcAft>
              <a:buClr>
                <a:srgbClr val="000000"/>
              </a:buClr>
              <a:buSzPts val="1600"/>
              <a:buChar char="●"/>
            </a:pPr>
            <a:r>
              <a:rPr lang="en" sz="1600" dirty="0">
                <a:solidFill>
                  <a:srgbClr val="000000"/>
                </a:solidFill>
                <a:highlight>
                  <a:srgbClr val="FFFFFF"/>
                </a:highlight>
              </a:rPr>
              <a:t>The modifiers </a:t>
            </a:r>
            <a:r>
              <a:rPr lang="en" sz="1600" b="1" dirty="0">
                <a:solidFill>
                  <a:srgbClr val="000000"/>
                </a:solidFill>
                <a:highlight>
                  <a:srgbClr val="FFFFFF"/>
                </a:highlight>
              </a:rPr>
              <a:t>public and static</a:t>
            </a:r>
            <a:r>
              <a:rPr lang="en" sz="1600" dirty="0">
                <a:solidFill>
                  <a:srgbClr val="000000"/>
                </a:solidFill>
                <a:highlight>
                  <a:srgbClr val="FFFFFF"/>
                </a:highlight>
              </a:rPr>
              <a:t> can be written in either order (static public or public static), but the convention is to use public static as shown in syntax.</a:t>
            </a:r>
            <a:endParaRPr sz="1600" dirty="0">
              <a:solidFill>
                <a:srgbClr val="000000"/>
              </a:solidFill>
              <a:highlight>
                <a:srgbClr val="FFFFFF"/>
              </a:highlight>
            </a:endParaRPr>
          </a:p>
          <a:p>
            <a:pPr marL="457200" lvl="0" indent="-330200" algn="l" rtl="0">
              <a:lnSpc>
                <a:spcPct val="100000"/>
              </a:lnSpc>
              <a:spcBef>
                <a:spcPts val="0"/>
              </a:spcBef>
              <a:spcAft>
                <a:spcPts val="800"/>
              </a:spcAft>
              <a:buClr>
                <a:srgbClr val="000000"/>
              </a:buClr>
              <a:buSzPts val="1600"/>
              <a:buFont typeface="Times New Roman"/>
              <a:buChar char="●"/>
            </a:pPr>
            <a:r>
              <a:rPr lang="en" sz="1600" dirty="0">
                <a:solidFill>
                  <a:srgbClr val="000000"/>
                </a:solidFill>
                <a:highlight>
                  <a:srgbClr val="FFFFFF"/>
                </a:highlight>
              </a:rPr>
              <a:t>You can define a </a:t>
            </a:r>
            <a:r>
              <a:rPr lang="en" sz="1600" b="1" dirty="0">
                <a:solidFill>
                  <a:srgbClr val="000000"/>
                </a:solidFill>
                <a:highlight>
                  <a:srgbClr val="FFFFFF"/>
                </a:highlight>
              </a:rPr>
              <a:t>main() method</a:t>
            </a:r>
            <a:r>
              <a:rPr lang="en" sz="1600" dirty="0">
                <a:solidFill>
                  <a:srgbClr val="000000"/>
                </a:solidFill>
                <a:highlight>
                  <a:srgbClr val="FFFFFF"/>
                </a:highlight>
              </a:rPr>
              <a:t> with any access modifier or with/without static keyword, but then it is not a valid main() method, as the main method which the JVM uses as an </a:t>
            </a:r>
            <a:r>
              <a:rPr lang="en" sz="1600" b="1" dirty="0">
                <a:solidFill>
                  <a:srgbClr val="000000"/>
                </a:solidFill>
                <a:highlight>
                  <a:srgbClr val="FFFFFF"/>
                </a:highlight>
              </a:rPr>
              <a:t>entry-point</a:t>
            </a:r>
            <a:r>
              <a:rPr lang="en" sz="1600" dirty="0">
                <a:solidFill>
                  <a:srgbClr val="000000"/>
                </a:solidFill>
                <a:highlight>
                  <a:srgbClr val="FFFFFF"/>
                </a:highlight>
              </a:rPr>
              <a:t> should be defined as such.</a:t>
            </a:r>
            <a:endParaRPr sz="1600" dirty="0">
              <a:solidFill>
                <a:srgbClr val="000000"/>
              </a:solidFill>
              <a:highlight>
                <a:srgbClr val="FFFFFF"/>
              </a:highlight>
            </a:endParaRPr>
          </a:p>
          <a:p>
            <a:pPr marL="457200" lvl="0" indent="-330200" algn="l" rtl="0">
              <a:lnSpc>
                <a:spcPct val="100000"/>
              </a:lnSpc>
              <a:spcBef>
                <a:spcPts val="0"/>
              </a:spcBef>
              <a:spcAft>
                <a:spcPts val="800"/>
              </a:spcAft>
              <a:buClr>
                <a:srgbClr val="000000"/>
              </a:buClr>
              <a:buSzPts val="1600"/>
              <a:buChar char="●"/>
            </a:pPr>
            <a:r>
              <a:rPr lang="en" sz="1600" dirty="0">
                <a:solidFill>
                  <a:srgbClr val="000000"/>
                </a:solidFill>
                <a:highlight>
                  <a:srgbClr val="FFFFFF"/>
                </a:highlight>
              </a:rPr>
              <a:t>You can name the argument anything you want, but most developers choose "args" or "argv"</a:t>
            </a:r>
            <a:endParaRPr sz="1600" dirty="0">
              <a:solidFill>
                <a:srgbClr val="000000"/>
              </a:solidFill>
              <a:highlight>
                <a:srgbClr val="FFFFFF"/>
              </a:highlight>
            </a:endParaRPr>
          </a:p>
          <a:p>
            <a:pPr marL="457200" lvl="0" indent="-330200" algn="l" rtl="0">
              <a:lnSpc>
                <a:spcPct val="100000"/>
              </a:lnSpc>
              <a:spcBef>
                <a:spcPts val="0"/>
              </a:spcBef>
              <a:spcAft>
                <a:spcPts val="800"/>
              </a:spcAft>
              <a:buClr>
                <a:srgbClr val="000000"/>
              </a:buClr>
              <a:buSzPts val="1600"/>
              <a:buFont typeface="Times New Roman"/>
              <a:buChar char="●"/>
            </a:pPr>
            <a:r>
              <a:rPr lang="en" sz="1600" dirty="0">
                <a:solidFill>
                  <a:srgbClr val="000000"/>
                </a:solidFill>
                <a:highlight>
                  <a:srgbClr val="FFFFFF"/>
                </a:highlight>
              </a:rPr>
              <a:t>You can write a program without defining a main() it gets compiled without </a:t>
            </a:r>
            <a:r>
              <a:rPr lang="en" sz="1600" b="1" dirty="0">
                <a:solidFill>
                  <a:srgbClr val="000000"/>
                </a:solidFill>
                <a:highlight>
                  <a:srgbClr val="FFFFFF"/>
                </a:highlight>
              </a:rPr>
              <a:t>compilation errors</a:t>
            </a:r>
            <a:r>
              <a:rPr lang="en" sz="1600" dirty="0">
                <a:solidFill>
                  <a:srgbClr val="000000"/>
                </a:solidFill>
                <a:highlight>
                  <a:srgbClr val="FFFFFF"/>
                </a:highlight>
              </a:rPr>
              <a:t>. But when you execute it, a run time error is generated saying "Main method not found".</a:t>
            </a:r>
            <a:endParaRPr sz="1600" dirty="0">
              <a:solidFill>
                <a:srgbClr val="000000"/>
              </a:solidFill>
              <a:highlight>
                <a:srgbClr val="FFFFFF"/>
              </a:highligh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7"/>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The main() method</a:t>
            </a:r>
            <a:endParaRPr/>
          </a:p>
          <a:p>
            <a:pPr marL="0" lvl="0" indent="0" algn="l" rtl="0">
              <a:spcBef>
                <a:spcPts val="0"/>
              </a:spcBef>
              <a:spcAft>
                <a:spcPts val="0"/>
              </a:spcAft>
              <a:buNone/>
            </a:pPr>
            <a:endParaRPr/>
          </a:p>
        </p:txBody>
      </p:sp>
      <p:sp>
        <p:nvSpPr>
          <p:cNvPr id="225" name="Google Shape;225;p37"/>
          <p:cNvSpPr txBox="1">
            <a:spLocks noGrp="1"/>
          </p:cNvSpPr>
          <p:nvPr>
            <p:ph type="body" idx="1"/>
          </p:nvPr>
        </p:nvSpPr>
        <p:spPr>
          <a:xfrm>
            <a:off x="311700" y="1266324"/>
            <a:ext cx="8520600" cy="3610475"/>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Clr>
                <a:srgbClr val="000000"/>
              </a:buClr>
              <a:buSzPts val="1600"/>
              <a:buFont typeface="Times New Roman"/>
              <a:buChar char="●"/>
            </a:pPr>
            <a:r>
              <a:rPr lang="en" b="1" dirty="0">
                <a:solidFill>
                  <a:srgbClr val="000000"/>
                </a:solidFill>
                <a:highlight>
                  <a:srgbClr val="FFFFFF"/>
                </a:highlight>
                <a:latin typeface="Open Sans" panose="020B0606030504020204" pitchFamily="34" charset="0"/>
                <a:ea typeface="Times New Roman"/>
                <a:cs typeface="Times New Roman"/>
                <a:sym typeface="Times New Roman"/>
              </a:rPr>
              <a:t>Public</a:t>
            </a:r>
            <a:r>
              <a:rPr lang="en" dirty="0">
                <a:solidFill>
                  <a:srgbClr val="000000"/>
                </a:solidFill>
                <a:highlight>
                  <a:srgbClr val="FFFFFF"/>
                </a:highlight>
                <a:latin typeface="Open Sans" panose="020B0606030504020204" pitchFamily="34" charset="0"/>
                <a:ea typeface="Times New Roman"/>
                <a:cs typeface="Times New Roman"/>
                <a:sym typeface="Times New Roman"/>
              </a:rPr>
              <a:t>: The main() method in Java has a public access specifier, making it globally accessible. This is crucial because the Java Runtime Environment (JRE) calls this method from outside of your current class. It's essential to keep the main() method public; otherwise, access restrictions will prevent it from being executed by any program.</a:t>
            </a:r>
            <a:endParaRPr dirty="0">
              <a:solidFill>
                <a:srgbClr val="000000"/>
              </a:solidFill>
              <a:highlight>
                <a:srgbClr val="FFFFFF"/>
              </a:highlight>
              <a:latin typeface="Open Sans" panose="020B0606030504020204" pitchFamily="34" charset="0"/>
              <a:ea typeface="Times New Roman"/>
              <a:cs typeface="Times New Roman"/>
              <a:sym typeface="Times New Roman"/>
            </a:endParaRPr>
          </a:p>
          <a:p>
            <a:pPr marL="457200" lvl="0" indent="-330200" algn="l" rtl="0">
              <a:spcBef>
                <a:spcPts val="1000"/>
              </a:spcBef>
              <a:spcAft>
                <a:spcPts val="0"/>
              </a:spcAft>
              <a:buClr>
                <a:srgbClr val="000000"/>
              </a:buClr>
              <a:buSzPts val="1600"/>
              <a:buFont typeface="Times New Roman"/>
              <a:buChar char="●"/>
            </a:pPr>
            <a:r>
              <a:rPr lang="en" b="1" dirty="0">
                <a:solidFill>
                  <a:srgbClr val="000000"/>
                </a:solidFill>
                <a:highlight>
                  <a:srgbClr val="FFFFFF"/>
                </a:highlight>
                <a:latin typeface="Open Sans" panose="020B0606030504020204" pitchFamily="34" charset="0"/>
                <a:ea typeface="Times New Roman"/>
                <a:cs typeface="Times New Roman"/>
                <a:sym typeface="Times New Roman"/>
              </a:rPr>
              <a:t>Static</a:t>
            </a:r>
            <a:r>
              <a:rPr lang="en" dirty="0">
                <a:solidFill>
                  <a:srgbClr val="000000"/>
                </a:solidFill>
                <a:highlight>
                  <a:srgbClr val="FFFFFF"/>
                </a:highlight>
                <a:latin typeface="Open Sans" panose="020B0606030504020204" pitchFamily="34" charset="0"/>
                <a:ea typeface="Times New Roman"/>
                <a:cs typeface="Times New Roman"/>
                <a:sym typeface="Times New Roman"/>
              </a:rPr>
              <a:t>: The main() method in Java must be declared as static. By making the main() method static, it can be invoked directly by the JVM without the need to create an instance of the class. This is essential because the JVM needs a starting point to execute the program, and it does so by calling the main() method without instantiating the class.</a:t>
            </a:r>
            <a:endParaRPr dirty="0">
              <a:solidFill>
                <a:srgbClr val="000000"/>
              </a:solidFill>
              <a:highlight>
                <a:srgbClr val="FFFFFF"/>
              </a:highlight>
              <a:latin typeface="Open Sans" panose="020B0606030504020204" pitchFamily="34" charset="0"/>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8"/>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The main() method</a:t>
            </a:r>
            <a:endParaRPr/>
          </a:p>
          <a:p>
            <a:pPr marL="0" lvl="0" indent="0" algn="l" rtl="0">
              <a:spcBef>
                <a:spcPts val="0"/>
              </a:spcBef>
              <a:spcAft>
                <a:spcPts val="0"/>
              </a:spcAft>
              <a:buNone/>
            </a:pPr>
            <a:endParaRPr/>
          </a:p>
        </p:txBody>
      </p:sp>
      <p:sp>
        <p:nvSpPr>
          <p:cNvPr id="231" name="Google Shape;231;p38"/>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Clr>
                <a:srgbClr val="000000"/>
              </a:buClr>
              <a:buSzPts val="1600"/>
              <a:buFont typeface="Times New Roman"/>
              <a:buChar char="●"/>
            </a:pPr>
            <a:r>
              <a:rPr lang="en" sz="2000" b="1" dirty="0">
                <a:solidFill>
                  <a:srgbClr val="000000"/>
                </a:solidFill>
                <a:highlight>
                  <a:srgbClr val="FFFFFF"/>
                </a:highlight>
                <a:latin typeface="Open Sans" panose="020B0606030504020204" pitchFamily="34" charset="0"/>
                <a:ea typeface="Times New Roman"/>
                <a:cs typeface="Times New Roman"/>
                <a:sym typeface="Times New Roman"/>
              </a:rPr>
              <a:t>Void</a:t>
            </a:r>
            <a:r>
              <a:rPr lang="en" sz="2000" dirty="0">
                <a:solidFill>
                  <a:srgbClr val="000000"/>
                </a:solidFill>
                <a:highlight>
                  <a:srgbClr val="FFFFFF"/>
                </a:highlight>
                <a:latin typeface="Open Sans" panose="020B0606030504020204" pitchFamily="34" charset="0"/>
                <a:ea typeface="Times New Roman"/>
                <a:cs typeface="Times New Roman"/>
                <a:sym typeface="Times New Roman"/>
              </a:rPr>
              <a:t>: The main() method in Java is declared with a return type of "void" to indicate that it does not return any value. The purpose of the main() method is to serve as the entry point for the Java program, and it is invoked by the Java Virtual Machine (JVM) to start the execution of the program.</a:t>
            </a:r>
            <a:endParaRPr sz="2000" dirty="0">
              <a:solidFill>
                <a:srgbClr val="000000"/>
              </a:solidFill>
              <a:highlight>
                <a:srgbClr val="FFFFFF"/>
              </a:highlight>
              <a:latin typeface="Open Sans" panose="020B0606030504020204" pitchFamily="34" charset="0"/>
              <a:ea typeface="Times New Roman"/>
              <a:cs typeface="Times New Roman"/>
              <a:sym typeface="Times New Roman"/>
            </a:endParaRPr>
          </a:p>
          <a:p>
            <a:pPr marL="457200" lvl="0" indent="-330200" algn="l" rtl="0">
              <a:spcBef>
                <a:spcPts val="1000"/>
              </a:spcBef>
              <a:spcAft>
                <a:spcPts val="0"/>
              </a:spcAft>
              <a:buClr>
                <a:srgbClr val="000000"/>
              </a:buClr>
              <a:buSzPts val="1600"/>
              <a:buFont typeface="Times New Roman"/>
              <a:buChar char="●"/>
            </a:pPr>
            <a:r>
              <a:rPr lang="en" sz="2000" b="1" dirty="0">
                <a:solidFill>
                  <a:srgbClr val="000000"/>
                </a:solidFill>
                <a:highlight>
                  <a:srgbClr val="FFFFFF"/>
                </a:highlight>
                <a:latin typeface="Open Sans" panose="020B0606030504020204" pitchFamily="34" charset="0"/>
                <a:ea typeface="Times New Roman"/>
                <a:cs typeface="Times New Roman"/>
                <a:sym typeface="Times New Roman"/>
              </a:rPr>
              <a:t>Main</a:t>
            </a:r>
            <a:r>
              <a:rPr lang="en" sz="2000" dirty="0">
                <a:solidFill>
                  <a:srgbClr val="000000"/>
                </a:solidFill>
                <a:highlight>
                  <a:srgbClr val="FFFFFF"/>
                </a:highlight>
                <a:latin typeface="Open Sans" panose="020B0606030504020204" pitchFamily="34" charset="0"/>
                <a:ea typeface="Times New Roman"/>
                <a:cs typeface="Times New Roman"/>
                <a:sym typeface="Times New Roman"/>
              </a:rPr>
              <a:t>: It's just the name of method or a function name. This name is fixed and as it's called by the </a:t>
            </a:r>
            <a:r>
              <a:rPr lang="en" sz="2000" b="1" dirty="0">
                <a:solidFill>
                  <a:srgbClr val="000000"/>
                </a:solidFill>
                <a:highlight>
                  <a:srgbClr val="FFFFFF"/>
                </a:highlight>
                <a:latin typeface="Open Sans" panose="020B0606030504020204" pitchFamily="34" charset="0"/>
                <a:ea typeface="Times New Roman"/>
                <a:cs typeface="Times New Roman"/>
                <a:sym typeface="Times New Roman"/>
              </a:rPr>
              <a:t>JVM</a:t>
            </a:r>
            <a:r>
              <a:rPr lang="en" sz="2000" dirty="0">
                <a:solidFill>
                  <a:srgbClr val="000000"/>
                </a:solidFill>
                <a:highlight>
                  <a:srgbClr val="FFFFFF"/>
                </a:highlight>
                <a:latin typeface="Open Sans" panose="020B0606030504020204" pitchFamily="34" charset="0"/>
                <a:ea typeface="Times New Roman"/>
                <a:cs typeface="Times New Roman"/>
                <a:sym typeface="Times New Roman"/>
              </a:rPr>
              <a:t> as </a:t>
            </a:r>
            <a:r>
              <a:rPr lang="en" sz="2000" b="1" dirty="0">
                <a:solidFill>
                  <a:srgbClr val="000000"/>
                </a:solidFill>
                <a:highlight>
                  <a:srgbClr val="FFFFFF"/>
                </a:highlight>
                <a:latin typeface="Open Sans" panose="020B0606030504020204" pitchFamily="34" charset="0"/>
                <a:ea typeface="Times New Roman"/>
                <a:cs typeface="Times New Roman"/>
                <a:sym typeface="Times New Roman"/>
              </a:rPr>
              <a:t>entry point</a:t>
            </a:r>
            <a:r>
              <a:rPr lang="en" sz="2000" dirty="0">
                <a:solidFill>
                  <a:srgbClr val="000000"/>
                </a:solidFill>
                <a:highlight>
                  <a:srgbClr val="FFFFFF"/>
                </a:highlight>
                <a:latin typeface="Open Sans" panose="020B0606030504020204" pitchFamily="34" charset="0"/>
                <a:ea typeface="Times New Roman"/>
                <a:cs typeface="Times New Roman"/>
                <a:sym typeface="Times New Roman"/>
              </a:rPr>
              <a:t> for an application. It's not a keyword.</a:t>
            </a:r>
            <a:endParaRPr sz="2000" dirty="0">
              <a:solidFill>
                <a:srgbClr val="000000"/>
              </a:solidFill>
              <a:highlight>
                <a:srgbClr val="FFFFFF"/>
              </a:highlight>
              <a:latin typeface="Open Sans" panose="020B0606030504020204" pitchFamily="34" charset="0"/>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9"/>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Structure of System.out.println()</a:t>
            </a:r>
            <a:endParaRPr/>
          </a:p>
        </p:txBody>
      </p:sp>
      <p:sp>
        <p:nvSpPr>
          <p:cNvPr id="237" name="Google Shape;237;p39"/>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00000"/>
                </a:solidFill>
                <a:highlight>
                  <a:schemeClr val="lt1"/>
                </a:highlight>
              </a:rPr>
              <a:t>System.out.println() is a method in Java or a statement that is used to display a message, data, or string on the screen as the output. It displays the arguments that are passed to it.</a:t>
            </a:r>
            <a:endParaRPr>
              <a:solidFill>
                <a:srgbClr val="000000"/>
              </a:solidFill>
              <a:highlight>
                <a:schemeClr val="lt1"/>
              </a:highlight>
            </a:endParaRPr>
          </a:p>
          <a:p>
            <a:pPr marL="457200" lvl="0" indent="-342900" algn="l" rtl="0">
              <a:spcBef>
                <a:spcPts val="0"/>
              </a:spcBef>
              <a:spcAft>
                <a:spcPts val="0"/>
              </a:spcAft>
              <a:buSzPts val="1800"/>
              <a:buChar char="●"/>
            </a:pPr>
            <a:r>
              <a:rPr lang="en" b="1">
                <a:solidFill>
                  <a:srgbClr val="000000"/>
                </a:solidFill>
                <a:highlight>
                  <a:schemeClr val="lt1"/>
                </a:highlight>
              </a:rPr>
              <a:t>System:</a:t>
            </a:r>
            <a:r>
              <a:rPr lang="en">
                <a:solidFill>
                  <a:srgbClr val="000000"/>
                </a:solidFill>
                <a:highlight>
                  <a:schemeClr val="lt1"/>
                </a:highlight>
              </a:rPr>
              <a:t> This is the final class that is defined in java.lang package.</a:t>
            </a:r>
            <a:endParaRPr>
              <a:solidFill>
                <a:srgbClr val="000000"/>
              </a:solidFill>
              <a:highlight>
                <a:schemeClr val="lt1"/>
              </a:highlight>
            </a:endParaRPr>
          </a:p>
          <a:p>
            <a:pPr marL="457200" lvl="0" indent="-342900" algn="l" rtl="0">
              <a:spcBef>
                <a:spcPts val="0"/>
              </a:spcBef>
              <a:spcAft>
                <a:spcPts val="0"/>
              </a:spcAft>
              <a:buSzPts val="1800"/>
              <a:buChar char="●"/>
            </a:pPr>
            <a:r>
              <a:rPr lang="en" b="1">
                <a:solidFill>
                  <a:srgbClr val="000000"/>
                </a:solidFill>
                <a:highlight>
                  <a:schemeClr val="lt1"/>
                </a:highlight>
              </a:rPr>
              <a:t>out:</a:t>
            </a:r>
            <a:r>
              <a:rPr lang="en">
                <a:solidFill>
                  <a:srgbClr val="000000"/>
                </a:solidFill>
                <a:highlight>
                  <a:schemeClr val="lt1"/>
                </a:highlight>
              </a:rPr>
              <a:t> This is an instance of PrintStream type, and the access specifiers are final and public.</a:t>
            </a:r>
            <a:endParaRPr>
              <a:solidFill>
                <a:srgbClr val="000000"/>
              </a:solidFill>
              <a:highlight>
                <a:schemeClr val="lt1"/>
              </a:highlight>
            </a:endParaRPr>
          </a:p>
          <a:p>
            <a:pPr marL="457200" lvl="0" indent="-342900" algn="l" rtl="0">
              <a:spcBef>
                <a:spcPts val="0"/>
              </a:spcBef>
              <a:spcAft>
                <a:spcPts val="0"/>
              </a:spcAft>
              <a:buSzPts val="1800"/>
              <a:buChar char="●"/>
            </a:pPr>
            <a:r>
              <a:rPr lang="en" b="1">
                <a:solidFill>
                  <a:srgbClr val="000000"/>
                </a:solidFill>
                <a:highlight>
                  <a:schemeClr val="lt1"/>
                </a:highlight>
              </a:rPr>
              <a:t>println():</a:t>
            </a:r>
            <a:r>
              <a:rPr lang="en">
                <a:solidFill>
                  <a:srgbClr val="000000"/>
                </a:solidFill>
                <a:highlight>
                  <a:schemeClr val="lt1"/>
                </a:highlight>
              </a:rPr>
              <a:t> This is a method in the PrintStream class.</a:t>
            </a:r>
            <a:endParaRPr>
              <a:solidFill>
                <a:srgbClr val="000000"/>
              </a:solidFill>
              <a:highlight>
                <a:schemeClr val="lt1"/>
              </a:highlight>
            </a:endParaRPr>
          </a:p>
          <a:p>
            <a:pPr marL="0" lvl="0" indent="0" algn="l" rtl="0">
              <a:spcBef>
                <a:spcPts val="0"/>
              </a:spcBef>
              <a:spcAft>
                <a:spcPts val="0"/>
              </a:spcAft>
              <a:buNone/>
            </a:pPr>
            <a:r>
              <a:rPr lang="en">
                <a:solidFill>
                  <a:srgbClr val="000000"/>
                </a:solidFill>
                <a:highlight>
                  <a:schemeClr val="lt1"/>
                </a:highlight>
              </a:rPr>
              <a:t>We can also use </a:t>
            </a:r>
            <a:r>
              <a:rPr lang="en" b="1">
                <a:solidFill>
                  <a:srgbClr val="000000"/>
                </a:solidFill>
                <a:highlight>
                  <a:schemeClr val="lt1"/>
                </a:highlight>
              </a:rPr>
              <a:t>print() </a:t>
            </a:r>
            <a:r>
              <a:rPr lang="en">
                <a:solidFill>
                  <a:srgbClr val="000000"/>
                </a:solidFill>
                <a:highlight>
                  <a:schemeClr val="lt1"/>
                </a:highlight>
              </a:rPr>
              <a:t>method to print the arguments. But it prints the output without adding the new line.</a:t>
            </a:r>
            <a:endParaRPr>
              <a:solidFill>
                <a:srgbClr val="000000"/>
              </a:solidFill>
              <a:highlight>
                <a:schemeClr val="lt1"/>
              </a:highligh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pic>
        <p:nvPicPr>
          <p:cNvPr id="242" name="Google Shape;242;p40"/>
          <p:cNvPicPr preferRelativeResize="0"/>
          <p:nvPr/>
        </p:nvPicPr>
        <p:blipFill rotWithShape="1">
          <a:blip r:embed="rId3">
            <a:alphaModFix/>
          </a:blip>
          <a:srcRect t="593" b="14566"/>
          <a:stretch/>
        </p:blipFill>
        <p:spPr>
          <a:xfrm>
            <a:off x="838200" y="695225"/>
            <a:ext cx="6426450" cy="3127501"/>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41"/>
          <p:cNvSpPr txBox="1">
            <a:spLocks noGrp="1"/>
          </p:cNvSpPr>
          <p:nvPr>
            <p:ph type="title"/>
          </p:nvPr>
        </p:nvSpPr>
        <p:spPr>
          <a:xfrm>
            <a:off x="311700" y="2476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Simple Program</a:t>
            </a:r>
            <a:endParaRPr/>
          </a:p>
        </p:txBody>
      </p:sp>
      <p:sp>
        <p:nvSpPr>
          <p:cNvPr id="248" name="Google Shape;248;p41"/>
          <p:cNvSpPr txBox="1">
            <a:spLocks noGrp="1"/>
          </p:cNvSpPr>
          <p:nvPr>
            <p:ph type="body" idx="1"/>
          </p:nvPr>
        </p:nvSpPr>
        <p:spPr>
          <a:xfrm>
            <a:off x="311700" y="1047000"/>
            <a:ext cx="8520600" cy="330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666666"/>
                </a:solidFill>
              </a:rPr>
              <a:t>class  Classname{</a:t>
            </a:r>
            <a:endParaRPr>
              <a:solidFill>
                <a:srgbClr val="666666"/>
              </a:solidFill>
            </a:endParaRPr>
          </a:p>
          <a:p>
            <a:pPr marL="0" lvl="0" indent="0" algn="l" rtl="0">
              <a:spcBef>
                <a:spcPts val="1000"/>
              </a:spcBef>
              <a:spcAft>
                <a:spcPts val="0"/>
              </a:spcAft>
              <a:buNone/>
            </a:pPr>
            <a:r>
              <a:rPr lang="en">
                <a:solidFill>
                  <a:srgbClr val="666666"/>
                </a:solidFill>
              </a:rPr>
              <a:t>	public static void main(String args[ ]){</a:t>
            </a:r>
            <a:endParaRPr>
              <a:solidFill>
                <a:srgbClr val="666666"/>
              </a:solidFill>
            </a:endParaRPr>
          </a:p>
          <a:p>
            <a:pPr marL="0" lvl="0" indent="0" algn="l" rtl="0">
              <a:spcBef>
                <a:spcPts val="1000"/>
              </a:spcBef>
              <a:spcAft>
                <a:spcPts val="0"/>
              </a:spcAft>
              <a:buNone/>
            </a:pPr>
            <a:r>
              <a:rPr lang="en">
                <a:solidFill>
                  <a:srgbClr val="666666"/>
                </a:solidFill>
              </a:rPr>
              <a:t>		System.out.println(“Hello World”);</a:t>
            </a:r>
            <a:endParaRPr>
              <a:solidFill>
                <a:srgbClr val="666666"/>
              </a:solidFill>
            </a:endParaRPr>
          </a:p>
          <a:p>
            <a:pPr marL="0" lvl="0" indent="457200" algn="l" rtl="0">
              <a:spcBef>
                <a:spcPts val="1000"/>
              </a:spcBef>
              <a:spcAft>
                <a:spcPts val="0"/>
              </a:spcAft>
              <a:buNone/>
            </a:pPr>
            <a:r>
              <a:rPr lang="en">
                <a:solidFill>
                  <a:srgbClr val="666666"/>
                </a:solidFill>
              </a:rPr>
              <a:t>}</a:t>
            </a:r>
            <a:endParaRPr>
              <a:solidFill>
                <a:srgbClr val="666666"/>
              </a:solidFill>
            </a:endParaRPr>
          </a:p>
          <a:p>
            <a:pPr marL="0" lvl="0" indent="0" algn="l" rtl="0">
              <a:spcBef>
                <a:spcPts val="1000"/>
              </a:spcBef>
              <a:spcAft>
                <a:spcPts val="0"/>
              </a:spcAft>
              <a:buNone/>
            </a:pPr>
            <a:r>
              <a:rPr lang="en">
                <a:solidFill>
                  <a:srgbClr val="666666"/>
                </a:solidFill>
              </a:rPr>
              <a:t>}</a:t>
            </a:r>
            <a:endParaRPr>
              <a:solidFill>
                <a:srgbClr val="666666"/>
              </a:solidFill>
            </a:endParaRPr>
          </a:p>
          <a:p>
            <a:pPr marL="0" lvl="0" indent="0" algn="l" rtl="0">
              <a:spcBef>
                <a:spcPts val="1000"/>
              </a:spcBef>
              <a:spcAft>
                <a:spcPts val="1000"/>
              </a:spcAft>
              <a:buNone/>
            </a:pPr>
            <a:r>
              <a:rPr lang="en" b="1">
                <a:solidFill>
                  <a:srgbClr val="666666"/>
                </a:solidFill>
              </a:rPr>
              <a:t>OUTPUT:</a:t>
            </a:r>
            <a:endParaRPr b="1">
              <a:solidFill>
                <a:srgbClr val="666666"/>
              </a:solidFill>
            </a:endParaRPr>
          </a:p>
        </p:txBody>
      </p:sp>
      <p:pic>
        <p:nvPicPr>
          <p:cNvPr id="249" name="Google Shape;249;p41"/>
          <p:cNvPicPr preferRelativeResize="0"/>
          <p:nvPr/>
        </p:nvPicPr>
        <p:blipFill>
          <a:blip r:embed="rId3">
            <a:alphaModFix/>
          </a:blip>
          <a:stretch>
            <a:fillRect/>
          </a:stretch>
        </p:blipFill>
        <p:spPr>
          <a:xfrm>
            <a:off x="300038" y="3605213"/>
            <a:ext cx="8543925" cy="14382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42"/>
          <p:cNvSpPr txBox="1">
            <a:spLocks noGrp="1"/>
          </p:cNvSpPr>
          <p:nvPr>
            <p:ph type="title"/>
          </p:nvPr>
        </p:nvSpPr>
        <p:spPr>
          <a:xfrm>
            <a:off x="311700" y="2476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DATA TYPES</a:t>
            </a:r>
            <a:endParaRPr/>
          </a:p>
        </p:txBody>
      </p:sp>
      <p:sp>
        <p:nvSpPr>
          <p:cNvPr id="255" name="Google Shape;255;p42"/>
          <p:cNvSpPr txBox="1">
            <a:spLocks noGrp="1"/>
          </p:cNvSpPr>
          <p:nvPr>
            <p:ph type="body" idx="1"/>
          </p:nvPr>
        </p:nvSpPr>
        <p:spPr>
          <a:xfrm>
            <a:off x="311700" y="1047000"/>
            <a:ext cx="8520600" cy="33027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rgbClr val="666666"/>
              </a:buClr>
              <a:buSzPts val="1800"/>
              <a:buChar char="●"/>
            </a:pPr>
            <a:r>
              <a:rPr lang="en">
                <a:solidFill>
                  <a:srgbClr val="666666"/>
                </a:solidFill>
                <a:highlight>
                  <a:srgbClr val="FFFFFF"/>
                </a:highlight>
              </a:rPr>
              <a:t>Data Types in Java are defined as specifiers that allocate different sizes and types of values that can be stored in the variable or an identifier.</a:t>
            </a:r>
            <a:endParaRPr>
              <a:solidFill>
                <a:srgbClr val="666666"/>
              </a:solidFill>
            </a:endParaRPr>
          </a:p>
          <a:p>
            <a:pPr marL="457200" lvl="0" indent="-342900" algn="l" rtl="0">
              <a:spcBef>
                <a:spcPts val="0"/>
              </a:spcBef>
              <a:spcAft>
                <a:spcPts val="0"/>
              </a:spcAft>
              <a:buClr>
                <a:srgbClr val="666666"/>
              </a:buClr>
              <a:buSzPts val="1800"/>
              <a:buChar char="●"/>
            </a:pPr>
            <a:r>
              <a:rPr lang="en">
                <a:solidFill>
                  <a:srgbClr val="666666"/>
                </a:solidFill>
              </a:rPr>
              <a:t>Java is a </a:t>
            </a:r>
            <a:r>
              <a:rPr lang="en">
                <a:solidFill>
                  <a:srgbClr val="FF9900"/>
                </a:solidFill>
              </a:rPr>
              <a:t>static-typed language</a:t>
            </a:r>
            <a:r>
              <a:rPr lang="en">
                <a:solidFill>
                  <a:srgbClr val="666666"/>
                </a:solidFill>
              </a:rPr>
              <a:t> that means the data type of the variable is known at compile time.</a:t>
            </a:r>
            <a:endParaRPr>
              <a:solidFill>
                <a:srgbClr val="666666"/>
              </a:solidFill>
            </a:endParaRPr>
          </a:p>
          <a:p>
            <a:pPr marL="457200" lvl="0" indent="-342900" algn="l" rtl="0">
              <a:spcBef>
                <a:spcPts val="0"/>
              </a:spcBef>
              <a:spcAft>
                <a:spcPts val="0"/>
              </a:spcAft>
              <a:buClr>
                <a:srgbClr val="666666"/>
              </a:buClr>
              <a:buSzPts val="1800"/>
              <a:buChar char="●"/>
            </a:pPr>
            <a:r>
              <a:rPr lang="en">
                <a:solidFill>
                  <a:srgbClr val="666666"/>
                </a:solidFill>
              </a:rPr>
              <a:t>The type of the variable determines its </a:t>
            </a:r>
            <a:r>
              <a:rPr lang="en">
                <a:solidFill>
                  <a:srgbClr val="FF9900"/>
                </a:solidFill>
              </a:rPr>
              <a:t>value &amp; operations</a:t>
            </a:r>
            <a:r>
              <a:rPr lang="en">
                <a:solidFill>
                  <a:srgbClr val="666666"/>
                </a:solidFill>
              </a:rPr>
              <a:t>.</a:t>
            </a:r>
            <a:endParaRPr>
              <a:solidFill>
                <a:srgbClr val="666666"/>
              </a:solidFill>
            </a:endParaRPr>
          </a:p>
          <a:p>
            <a:pPr marL="457200" lvl="0" indent="-342900" algn="l" rtl="0">
              <a:spcBef>
                <a:spcPts val="0"/>
              </a:spcBef>
              <a:spcAft>
                <a:spcPts val="0"/>
              </a:spcAft>
              <a:buClr>
                <a:srgbClr val="666666"/>
              </a:buClr>
              <a:buSzPts val="1800"/>
              <a:buChar char="●"/>
            </a:pPr>
            <a:r>
              <a:rPr lang="en">
                <a:solidFill>
                  <a:srgbClr val="666666"/>
                </a:solidFill>
              </a:rPr>
              <a:t>Datatypes in JAVA are categorized into:</a:t>
            </a:r>
            <a:endParaRPr>
              <a:solidFill>
                <a:srgbClr val="666666"/>
              </a:solidFill>
            </a:endParaRPr>
          </a:p>
          <a:p>
            <a:pPr marL="914400" lvl="1" indent="-317500" algn="l" rtl="0">
              <a:spcBef>
                <a:spcPts val="0"/>
              </a:spcBef>
              <a:spcAft>
                <a:spcPts val="0"/>
              </a:spcAft>
              <a:buClr>
                <a:srgbClr val="666666"/>
              </a:buClr>
              <a:buSzPts val="1400"/>
              <a:buChar char="○"/>
            </a:pPr>
            <a:r>
              <a:rPr lang="en">
                <a:solidFill>
                  <a:srgbClr val="666666"/>
                </a:solidFill>
              </a:rPr>
              <a:t>Primitive Data-type</a:t>
            </a:r>
            <a:endParaRPr>
              <a:solidFill>
                <a:srgbClr val="666666"/>
              </a:solidFill>
            </a:endParaRPr>
          </a:p>
          <a:p>
            <a:pPr marL="914400" lvl="1" indent="-317500" algn="l" rtl="0">
              <a:spcBef>
                <a:spcPts val="0"/>
              </a:spcBef>
              <a:spcAft>
                <a:spcPts val="0"/>
              </a:spcAft>
              <a:buClr>
                <a:srgbClr val="666666"/>
              </a:buClr>
              <a:buSzPts val="1400"/>
              <a:buChar char="○"/>
            </a:pPr>
            <a:r>
              <a:rPr lang="en">
                <a:solidFill>
                  <a:srgbClr val="666666"/>
                </a:solidFill>
              </a:rPr>
              <a:t>Non-primitive Data-type</a:t>
            </a:r>
            <a:endParaRPr>
              <a:solidFill>
                <a:srgbClr val="666666"/>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pic>
        <p:nvPicPr>
          <p:cNvPr id="260" name="Google Shape;260;p43"/>
          <p:cNvPicPr preferRelativeResize="0"/>
          <p:nvPr/>
        </p:nvPicPr>
        <p:blipFill>
          <a:blip r:embed="rId3">
            <a:alphaModFix/>
          </a:blip>
          <a:stretch>
            <a:fillRect/>
          </a:stretch>
        </p:blipFill>
        <p:spPr>
          <a:xfrm>
            <a:off x="381000" y="152400"/>
            <a:ext cx="8221310" cy="48387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4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Primitive Data-types</a:t>
            </a:r>
            <a:endParaRPr/>
          </a:p>
        </p:txBody>
      </p:sp>
      <p:sp>
        <p:nvSpPr>
          <p:cNvPr id="266" name="Google Shape;266;p4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rgbClr val="222222"/>
                </a:solidFill>
                <a:highlight>
                  <a:srgbClr val="FFFFFF"/>
                </a:highlight>
              </a:rPr>
              <a:t>Primitive Data Types are predefined and available within the Java language. Primitive values do not share state with other primitive values.</a:t>
            </a:r>
            <a:endParaRPr>
              <a:solidFill>
                <a:srgbClr val="222222"/>
              </a:solidFill>
              <a:highlight>
                <a:srgbClr val="FFFFFF"/>
              </a:highlight>
            </a:endParaRPr>
          </a:p>
          <a:p>
            <a:pPr marL="0" lvl="0" indent="0" algn="l" rtl="0">
              <a:spcBef>
                <a:spcPts val="1200"/>
              </a:spcBef>
              <a:spcAft>
                <a:spcPts val="0"/>
              </a:spcAft>
              <a:buNone/>
            </a:pPr>
            <a:r>
              <a:rPr lang="en">
                <a:solidFill>
                  <a:srgbClr val="222222"/>
                </a:solidFill>
                <a:highlight>
                  <a:srgbClr val="FFFFFF"/>
                </a:highlight>
              </a:rPr>
              <a:t>There are 8 Primitive data-types that are categorized into:</a:t>
            </a:r>
            <a:endParaRPr>
              <a:solidFill>
                <a:srgbClr val="222222"/>
              </a:solidFill>
              <a:highlight>
                <a:srgbClr val="FFFFFF"/>
              </a:highlight>
            </a:endParaRPr>
          </a:p>
          <a:p>
            <a:pPr marL="457200" lvl="0" indent="-342900" algn="l" rtl="0">
              <a:spcBef>
                <a:spcPts val="1200"/>
              </a:spcBef>
              <a:spcAft>
                <a:spcPts val="0"/>
              </a:spcAft>
              <a:buClr>
                <a:srgbClr val="222222"/>
              </a:buClr>
              <a:buSzPts val="1800"/>
              <a:buChar char="●"/>
            </a:pPr>
            <a:r>
              <a:rPr lang="en">
                <a:solidFill>
                  <a:srgbClr val="222222"/>
                </a:solidFill>
                <a:highlight>
                  <a:srgbClr val="FFFFFF"/>
                </a:highlight>
              </a:rPr>
              <a:t>Integers : byte, short, int, long</a:t>
            </a:r>
            <a:endParaRPr>
              <a:solidFill>
                <a:srgbClr val="222222"/>
              </a:solidFill>
              <a:highlight>
                <a:srgbClr val="FFFFFF"/>
              </a:highlight>
            </a:endParaRPr>
          </a:p>
          <a:p>
            <a:pPr marL="457200" lvl="0" indent="-342900" algn="l" rtl="0">
              <a:spcBef>
                <a:spcPts val="0"/>
              </a:spcBef>
              <a:spcAft>
                <a:spcPts val="0"/>
              </a:spcAft>
              <a:buClr>
                <a:srgbClr val="222222"/>
              </a:buClr>
              <a:buSzPts val="1800"/>
              <a:buChar char="●"/>
            </a:pPr>
            <a:r>
              <a:rPr lang="en">
                <a:solidFill>
                  <a:srgbClr val="222222"/>
                </a:solidFill>
                <a:highlight>
                  <a:srgbClr val="FFFFFF"/>
                </a:highlight>
              </a:rPr>
              <a:t>Floating-points: float , double</a:t>
            </a:r>
            <a:endParaRPr>
              <a:solidFill>
                <a:srgbClr val="222222"/>
              </a:solidFill>
              <a:highlight>
                <a:srgbClr val="FFFFFF"/>
              </a:highlight>
            </a:endParaRPr>
          </a:p>
          <a:p>
            <a:pPr marL="457200" lvl="0" indent="-342900" algn="l" rtl="0">
              <a:spcBef>
                <a:spcPts val="0"/>
              </a:spcBef>
              <a:spcAft>
                <a:spcPts val="0"/>
              </a:spcAft>
              <a:buClr>
                <a:srgbClr val="222222"/>
              </a:buClr>
              <a:buSzPts val="1800"/>
              <a:buChar char="●"/>
            </a:pPr>
            <a:r>
              <a:rPr lang="en">
                <a:solidFill>
                  <a:srgbClr val="222222"/>
                </a:solidFill>
                <a:highlight>
                  <a:srgbClr val="FFFFFF"/>
                </a:highlight>
              </a:rPr>
              <a:t>Boolean: boolean</a:t>
            </a:r>
            <a:endParaRPr>
              <a:solidFill>
                <a:srgbClr val="222222"/>
              </a:solidFill>
              <a:highlight>
                <a:srgbClr val="FFFFFF"/>
              </a:highlight>
            </a:endParaRPr>
          </a:p>
          <a:p>
            <a:pPr marL="457200" lvl="0" indent="-342900" algn="l" rtl="0">
              <a:spcBef>
                <a:spcPts val="0"/>
              </a:spcBef>
              <a:spcAft>
                <a:spcPts val="0"/>
              </a:spcAft>
              <a:buClr>
                <a:srgbClr val="222222"/>
              </a:buClr>
              <a:buSzPts val="1800"/>
              <a:buChar char="●"/>
            </a:pPr>
            <a:r>
              <a:rPr lang="en">
                <a:solidFill>
                  <a:srgbClr val="222222"/>
                </a:solidFill>
                <a:highlight>
                  <a:srgbClr val="FFFFFF"/>
                </a:highlight>
              </a:rPr>
              <a:t>Character: char</a:t>
            </a:r>
            <a:endParaRPr>
              <a:solidFill>
                <a:srgbClr val="222222"/>
              </a:solidFill>
              <a:highlight>
                <a:srgbClr val="FFFFFF"/>
              </a:highlight>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4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Primitive data-type</a:t>
            </a:r>
            <a:endParaRPr/>
          </a:p>
        </p:txBody>
      </p:sp>
      <p:sp>
        <p:nvSpPr>
          <p:cNvPr id="272" name="Google Shape;272;p45"/>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rgbClr val="666666"/>
              </a:buClr>
              <a:buSzPts val="1800"/>
              <a:buAutoNum type="arabicPeriod"/>
            </a:pPr>
            <a:r>
              <a:rPr lang="en" b="1">
                <a:solidFill>
                  <a:srgbClr val="666666"/>
                </a:solidFill>
              </a:rPr>
              <a:t>byte:</a:t>
            </a:r>
            <a:endParaRPr b="1">
              <a:solidFill>
                <a:srgbClr val="666666"/>
              </a:solidFill>
            </a:endParaRPr>
          </a:p>
          <a:p>
            <a:pPr marL="457200" lvl="0" indent="0" algn="l" rtl="0">
              <a:spcBef>
                <a:spcPts val="1200"/>
              </a:spcBef>
              <a:spcAft>
                <a:spcPts val="0"/>
              </a:spcAft>
              <a:buNone/>
            </a:pPr>
            <a:r>
              <a:rPr lang="en">
                <a:solidFill>
                  <a:srgbClr val="666666"/>
                </a:solidFill>
                <a:highlight>
                  <a:srgbClr val="FFFFFF"/>
                </a:highlight>
              </a:rPr>
              <a:t>The byte is the smallest data type among all the integer data types. It is an 8-bit signed two’s complement integer. It stores whole numbers ranging from -128 to 127. Its size is 1 byte.</a:t>
            </a:r>
            <a:endParaRPr>
              <a:solidFill>
                <a:srgbClr val="666666"/>
              </a:solidFill>
              <a:highlight>
                <a:srgbClr val="FFFFFF"/>
              </a:highlight>
            </a:endParaRPr>
          </a:p>
          <a:p>
            <a:pPr marL="457200" lvl="0" indent="0" algn="l" rtl="0">
              <a:spcBef>
                <a:spcPts val="1200"/>
              </a:spcBef>
              <a:spcAft>
                <a:spcPts val="0"/>
              </a:spcAft>
              <a:buNone/>
            </a:pPr>
            <a:r>
              <a:rPr lang="en">
                <a:solidFill>
                  <a:srgbClr val="666666"/>
                </a:solidFill>
                <a:highlight>
                  <a:srgbClr val="FFFFFF"/>
                </a:highlight>
              </a:rPr>
              <a:t>It is space efficient because it is smaller than integer datatype. It can be a replacement for int data-type usage but it doesn’t have the size range as the integer datatype.</a:t>
            </a:r>
            <a:endParaRPr>
              <a:solidFill>
                <a:srgbClr val="666666"/>
              </a:solidFill>
              <a:highlight>
                <a:srgbClr val="FFFFFF"/>
              </a:highlight>
            </a:endParaRPr>
          </a:p>
          <a:p>
            <a:pPr marL="457200" lvl="0" indent="0" algn="l" rtl="0">
              <a:spcBef>
                <a:spcPts val="1200"/>
              </a:spcBef>
              <a:spcAft>
                <a:spcPts val="0"/>
              </a:spcAft>
              <a:buNone/>
            </a:pPr>
            <a:r>
              <a:rPr lang="en">
                <a:solidFill>
                  <a:srgbClr val="666666"/>
                </a:solidFill>
                <a:highlight>
                  <a:srgbClr val="FFFFFF"/>
                </a:highlight>
              </a:rPr>
              <a:t>Syntax: byte </a:t>
            </a:r>
            <a:r>
              <a:rPr lang="en" i="1">
                <a:solidFill>
                  <a:srgbClr val="666666"/>
                </a:solidFill>
                <a:highlight>
                  <a:srgbClr val="FFFFFF"/>
                </a:highlight>
              </a:rPr>
              <a:t>bytevariable;</a:t>
            </a:r>
            <a:endParaRPr i="1">
              <a:solidFill>
                <a:srgbClr val="666666"/>
              </a:solidFill>
              <a:highlight>
                <a:srgbClr val="FFFFFF"/>
              </a:highlight>
            </a:endParaRPr>
          </a:p>
          <a:p>
            <a:pPr marL="457200" lvl="0" indent="0" algn="l" rtl="0">
              <a:spcBef>
                <a:spcPts val="1200"/>
              </a:spcBef>
              <a:spcAft>
                <a:spcPts val="1200"/>
              </a:spcAft>
              <a:buNone/>
            </a:pPr>
            <a:r>
              <a:rPr lang="en">
                <a:solidFill>
                  <a:srgbClr val="666666"/>
                </a:solidFill>
                <a:highlight>
                  <a:srgbClr val="FFFFFF"/>
                </a:highlight>
              </a:rPr>
              <a:t>Eg. : byte b=10;</a:t>
            </a:r>
            <a:endParaRPr>
              <a:solidFill>
                <a:srgbClr val="666666"/>
              </a:solidFill>
              <a:highlight>
                <a:srgbClr val="FFFFFF"/>
              </a:highlight>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4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Primitive data-type</a:t>
            </a:r>
            <a:endParaRPr/>
          </a:p>
        </p:txBody>
      </p:sp>
      <p:sp>
        <p:nvSpPr>
          <p:cNvPr id="278" name="Google Shape;278;p46"/>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rgbClr val="666666"/>
              </a:buClr>
              <a:buSzPts val="1800"/>
              <a:buAutoNum type="arabicPeriod" startAt="2"/>
            </a:pPr>
            <a:r>
              <a:rPr lang="en" b="1">
                <a:solidFill>
                  <a:srgbClr val="666666"/>
                </a:solidFill>
                <a:highlight>
                  <a:srgbClr val="FFFFFF"/>
                </a:highlight>
              </a:rPr>
              <a:t>short:</a:t>
            </a:r>
            <a:endParaRPr b="1">
              <a:solidFill>
                <a:srgbClr val="666666"/>
              </a:solidFill>
              <a:highlight>
                <a:srgbClr val="FFFFFF"/>
              </a:highlight>
            </a:endParaRPr>
          </a:p>
          <a:p>
            <a:pPr marL="457200" lvl="0" indent="0" algn="l" rtl="0">
              <a:spcBef>
                <a:spcPts val="1200"/>
              </a:spcBef>
              <a:spcAft>
                <a:spcPts val="0"/>
              </a:spcAft>
              <a:buNone/>
            </a:pPr>
            <a:r>
              <a:rPr lang="en">
                <a:solidFill>
                  <a:srgbClr val="666666"/>
                </a:solidFill>
                <a:highlight>
                  <a:srgbClr val="FFFFFF"/>
                </a:highlight>
              </a:rPr>
              <a:t>This data-type is also similar to the integer datatype. However it’s 2 times smaller than the integer datatype. Its minimum range is -32,768 and maximum range is 32,767. It has a size of 2bytes.</a:t>
            </a:r>
            <a:endParaRPr>
              <a:solidFill>
                <a:srgbClr val="666666"/>
              </a:solidFill>
              <a:highlight>
                <a:srgbClr val="FFFFFF"/>
              </a:highlight>
            </a:endParaRPr>
          </a:p>
          <a:p>
            <a:pPr marL="457200" lvl="0" indent="0" algn="l" rtl="0">
              <a:spcBef>
                <a:spcPts val="1200"/>
              </a:spcBef>
              <a:spcAft>
                <a:spcPts val="0"/>
              </a:spcAft>
              <a:buNone/>
            </a:pPr>
            <a:r>
              <a:rPr lang="en">
                <a:solidFill>
                  <a:srgbClr val="666666"/>
                </a:solidFill>
                <a:highlight>
                  <a:srgbClr val="FFFFFF"/>
                </a:highlight>
              </a:rPr>
              <a:t>Syntax: short </a:t>
            </a:r>
            <a:r>
              <a:rPr lang="en" i="1">
                <a:solidFill>
                  <a:srgbClr val="666666"/>
                </a:solidFill>
                <a:highlight>
                  <a:srgbClr val="FFFFFF"/>
                </a:highlight>
              </a:rPr>
              <a:t>shortvariable;</a:t>
            </a:r>
            <a:endParaRPr i="1">
              <a:solidFill>
                <a:srgbClr val="666666"/>
              </a:solidFill>
              <a:highlight>
                <a:srgbClr val="FFFFFF"/>
              </a:highlight>
            </a:endParaRPr>
          </a:p>
          <a:p>
            <a:pPr marL="457200" lvl="0" indent="0" algn="l" rtl="0">
              <a:spcBef>
                <a:spcPts val="1200"/>
              </a:spcBef>
              <a:spcAft>
                <a:spcPts val="0"/>
              </a:spcAft>
              <a:buNone/>
            </a:pPr>
            <a:r>
              <a:rPr lang="en">
                <a:solidFill>
                  <a:srgbClr val="666666"/>
                </a:solidFill>
                <a:highlight>
                  <a:srgbClr val="FFFFFF"/>
                </a:highlight>
              </a:rPr>
              <a:t>Example: short s = 234;</a:t>
            </a:r>
            <a:endParaRPr>
              <a:solidFill>
                <a:srgbClr val="666666"/>
              </a:solidFill>
              <a:highlight>
                <a:srgbClr val="FFFFFF"/>
              </a:highlight>
            </a:endParaRPr>
          </a:p>
          <a:p>
            <a:pPr marL="457200" lvl="0" indent="0" algn="l" rtl="0">
              <a:spcBef>
                <a:spcPts val="1200"/>
              </a:spcBef>
              <a:spcAft>
                <a:spcPts val="1200"/>
              </a:spcAft>
              <a:buNone/>
            </a:pPr>
            <a:endParaRPr>
              <a:solidFill>
                <a:srgbClr val="666666"/>
              </a:solidFill>
              <a:highlight>
                <a:srgbClr val="FFFFFF"/>
              </a:highlight>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47"/>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Primitive data-type</a:t>
            </a:r>
            <a:endParaRPr/>
          </a:p>
        </p:txBody>
      </p:sp>
      <p:sp>
        <p:nvSpPr>
          <p:cNvPr id="284" name="Google Shape;284;p47"/>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rgbClr val="666666"/>
              </a:buClr>
              <a:buSzPts val="1800"/>
              <a:buAutoNum type="arabicPeriod" startAt="3"/>
            </a:pPr>
            <a:r>
              <a:rPr lang="en" b="1">
                <a:solidFill>
                  <a:srgbClr val="666666"/>
                </a:solidFill>
              </a:rPr>
              <a:t>int:</a:t>
            </a:r>
            <a:endParaRPr b="1">
              <a:solidFill>
                <a:srgbClr val="666666"/>
              </a:solidFill>
            </a:endParaRPr>
          </a:p>
          <a:p>
            <a:pPr marL="457200" lvl="0" indent="0" algn="l" rtl="0">
              <a:spcBef>
                <a:spcPts val="1200"/>
              </a:spcBef>
              <a:spcAft>
                <a:spcPts val="0"/>
              </a:spcAft>
              <a:buNone/>
            </a:pPr>
            <a:r>
              <a:rPr lang="en">
                <a:solidFill>
                  <a:srgbClr val="666666"/>
                </a:solidFill>
                <a:highlight>
                  <a:srgbClr val="FFFFFF"/>
                </a:highlight>
              </a:rPr>
              <a:t>int is used for storing integer values. Its size is 4 bytes and has a default value of 0. </a:t>
            </a:r>
            <a:endParaRPr>
              <a:solidFill>
                <a:srgbClr val="666666"/>
              </a:solidFill>
              <a:highlight>
                <a:srgbClr val="FFFFFF"/>
              </a:highlight>
            </a:endParaRPr>
          </a:p>
          <a:p>
            <a:pPr marL="457200" lvl="0" indent="0" algn="l" rtl="0">
              <a:spcBef>
                <a:spcPts val="1200"/>
              </a:spcBef>
              <a:spcAft>
                <a:spcPts val="0"/>
              </a:spcAft>
              <a:buNone/>
            </a:pPr>
            <a:r>
              <a:rPr lang="en">
                <a:solidFill>
                  <a:srgbClr val="666666"/>
                </a:solidFill>
                <a:highlight>
                  <a:srgbClr val="FFFFFF"/>
                </a:highlight>
              </a:rPr>
              <a:t>The maximum values of integer is 2^31 and the minimum value is -2^31. It can be used to store integer values unless there is a need for storing numbers larger or smaller than the limits.</a:t>
            </a:r>
            <a:endParaRPr>
              <a:solidFill>
                <a:srgbClr val="666666"/>
              </a:solidFill>
              <a:highlight>
                <a:srgbClr val="FFFFFF"/>
              </a:highlight>
            </a:endParaRPr>
          </a:p>
          <a:p>
            <a:pPr marL="457200" lvl="0" indent="0" algn="l" rtl="0">
              <a:spcBef>
                <a:spcPts val="1200"/>
              </a:spcBef>
              <a:spcAft>
                <a:spcPts val="0"/>
              </a:spcAft>
              <a:buNone/>
            </a:pPr>
            <a:r>
              <a:rPr lang="en">
                <a:solidFill>
                  <a:srgbClr val="666666"/>
                </a:solidFill>
                <a:highlight>
                  <a:srgbClr val="FFFFFF"/>
                </a:highlight>
              </a:rPr>
              <a:t>Syntax: int </a:t>
            </a:r>
            <a:r>
              <a:rPr lang="en" i="1">
                <a:solidFill>
                  <a:srgbClr val="666666"/>
                </a:solidFill>
                <a:highlight>
                  <a:srgbClr val="FFFFFF"/>
                </a:highlight>
              </a:rPr>
              <a:t>intvariable;</a:t>
            </a:r>
            <a:endParaRPr i="1">
              <a:solidFill>
                <a:srgbClr val="666666"/>
              </a:solidFill>
              <a:highlight>
                <a:srgbClr val="FFFFFF"/>
              </a:highlight>
            </a:endParaRPr>
          </a:p>
          <a:p>
            <a:pPr marL="457200" lvl="0" indent="0" algn="l" rtl="0">
              <a:spcBef>
                <a:spcPts val="1200"/>
              </a:spcBef>
              <a:spcAft>
                <a:spcPts val="1200"/>
              </a:spcAft>
              <a:buNone/>
            </a:pPr>
            <a:r>
              <a:rPr lang="en">
                <a:solidFill>
                  <a:srgbClr val="666666"/>
                </a:solidFill>
                <a:highlight>
                  <a:srgbClr val="FFFFFF"/>
                </a:highlight>
              </a:rPr>
              <a:t>Eg.: int i= 2037437</a:t>
            </a:r>
            <a:endParaRPr>
              <a:solidFill>
                <a:srgbClr val="666666"/>
              </a:solidFill>
              <a:highlight>
                <a:srgbClr val="FFFFFF"/>
              </a:highlight>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48"/>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Primitive data-type</a:t>
            </a:r>
            <a:endParaRPr/>
          </a:p>
        </p:txBody>
      </p:sp>
      <p:sp>
        <p:nvSpPr>
          <p:cNvPr id="290" name="Google Shape;290;p48"/>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rgbClr val="666666"/>
              </a:buClr>
              <a:buSzPts val="1800"/>
              <a:buAutoNum type="arabicPeriod" startAt="4"/>
            </a:pPr>
            <a:r>
              <a:rPr lang="en" b="1">
                <a:solidFill>
                  <a:srgbClr val="666666"/>
                </a:solidFill>
                <a:highlight>
                  <a:srgbClr val="FFFFFF"/>
                </a:highlight>
              </a:rPr>
              <a:t>long:</a:t>
            </a:r>
            <a:endParaRPr b="1">
              <a:solidFill>
                <a:srgbClr val="666666"/>
              </a:solidFill>
              <a:highlight>
                <a:srgbClr val="FFFFFF"/>
              </a:highlight>
            </a:endParaRPr>
          </a:p>
          <a:p>
            <a:pPr marL="457200" lvl="0" indent="0" algn="l" rtl="0">
              <a:spcBef>
                <a:spcPts val="1200"/>
              </a:spcBef>
              <a:spcAft>
                <a:spcPts val="0"/>
              </a:spcAft>
              <a:buNone/>
            </a:pPr>
            <a:r>
              <a:rPr lang="en">
                <a:solidFill>
                  <a:srgbClr val="666666"/>
                </a:solidFill>
                <a:highlight>
                  <a:srgbClr val="FFFFFF"/>
                </a:highlight>
              </a:rPr>
              <a:t>This datatype primarily stores huge sized numeric data. It is a 64 bit integer and ranges from -2^63 to +(2^63)-1. It has a size of 8 bytes and is useful when you need to store data which is longer than int datatype.</a:t>
            </a:r>
            <a:endParaRPr>
              <a:solidFill>
                <a:srgbClr val="666666"/>
              </a:solidFill>
              <a:highlight>
                <a:srgbClr val="FFFFFF"/>
              </a:highlight>
            </a:endParaRPr>
          </a:p>
          <a:p>
            <a:pPr marL="457200" lvl="0" indent="0" algn="l" rtl="0">
              <a:spcBef>
                <a:spcPts val="1200"/>
              </a:spcBef>
              <a:spcAft>
                <a:spcPts val="0"/>
              </a:spcAft>
              <a:buNone/>
            </a:pPr>
            <a:r>
              <a:rPr lang="en">
                <a:solidFill>
                  <a:srgbClr val="666666"/>
                </a:solidFill>
                <a:highlight>
                  <a:srgbClr val="FFFFFF"/>
                </a:highlight>
              </a:rPr>
              <a:t>Syntax: long </a:t>
            </a:r>
            <a:r>
              <a:rPr lang="en" i="1">
                <a:solidFill>
                  <a:srgbClr val="666666"/>
                </a:solidFill>
                <a:highlight>
                  <a:srgbClr val="FFFFFF"/>
                </a:highlight>
              </a:rPr>
              <a:t>longvariable;</a:t>
            </a:r>
            <a:endParaRPr i="1">
              <a:solidFill>
                <a:srgbClr val="666666"/>
              </a:solidFill>
              <a:highlight>
                <a:srgbClr val="FFFFFF"/>
              </a:highlight>
            </a:endParaRPr>
          </a:p>
          <a:p>
            <a:pPr marL="457200" lvl="0" indent="0" algn="l" rtl="0">
              <a:spcBef>
                <a:spcPts val="1200"/>
              </a:spcBef>
              <a:spcAft>
                <a:spcPts val="1200"/>
              </a:spcAft>
              <a:buNone/>
            </a:pPr>
            <a:r>
              <a:rPr lang="en">
                <a:solidFill>
                  <a:srgbClr val="666666"/>
                </a:solidFill>
                <a:highlight>
                  <a:srgbClr val="FFFFFF"/>
                </a:highlight>
              </a:rPr>
              <a:t>Example: long l = 372036854775;</a:t>
            </a:r>
            <a:endParaRPr>
              <a:solidFill>
                <a:srgbClr val="666666"/>
              </a:solidFill>
              <a:highlight>
                <a:srgbClr val="FFFFFF"/>
              </a:highlight>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49"/>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Primitive data-type</a:t>
            </a:r>
            <a:endParaRPr/>
          </a:p>
        </p:txBody>
      </p:sp>
      <p:sp>
        <p:nvSpPr>
          <p:cNvPr id="296" name="Google Shape;296;p49"/>
          <p:cNvSpPr txBox="1">
            <a:spLocks noGrp="1"/>
          </p:cNvSpPr>
          <p:nvPr>
            <p:ph type="body" idx="1"/>
          </p:nvPr>
        </p:nvSpPr>
        <p:spPr>
          <a:xfrm>
            <a:off x="311700" y="1045029"/>
            <a:ext cx="8520600" cy="377952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Clr>
                <a:srgbClr val="666666"/>
              </a:buClr>
              <a:buSzPts val="1600"/>
              <a:buAutoNum type="arabicPeriod" startAt="5"/>
            </a:pPr>
            <a:r>
              <a:rPr lang="en" sz="1600" b="1" dirty="0">
                <a:solidFill>
                  <a:srgbClr val="666666"/>
                </a:solidFill>
                <a:highlight>
                  <a:srgbClr val="FFFFFF"/>
                </a:highlight>
              </a:rPr>
              <a:t>float:</a:t>
            </a:r>
            <a:endParaRPr sz="1600" b="1" dirty="0">
              <a:solidFill>
                <a:srgbClr val="666666"/>
              </a:solidFill>
              <a:highlight>
                <a:srgbClr val="FFFFFF"/>
              </a:highlight>
            </a:endParaRPr>
          </a:p>
          <a:p>
            <a:pPr marL="457200" lvl="0" indent="0" algn="l" rtl="0">
              <a:lnSpc>
                <a:spcPct val="156521"/>
              </a:lnSpc>
              <a:spcBef>
                <a:spcPts val="1200"/>
              </a:spcBef>
              <a:spcAft>
                <a:spcPts val="0"/>
              </a:spcAft>
              <a:buNone/>
            </a:pPr>
            <a:r>
              <a:rPr lang="en" sz="1600" dirty="0">
                <a:solidFill>
                  <a:srgbClr val="666666"/>
                </a:solidFill>
              </a:rPr>
              <a:t>It is a floating-point data type that stores the values, including their decimal precision. It is not used for precise data such as currency or research data.</a:t>
            </a:r>
            <a:endParaRPr sz="1600" dirty="0">
              <a:solidFill>
                <a:srgbClr val="666666"/>
              </a:solidFill>
            </a:endParaRPr>
          </a:p>
          <a:p>
            <a:pPr marL="457200" lvl="0" indent="0" algn="l" rtl="0">
              <a:lnSpc>
                <a:spcPct val="156521"/>
              </a:lnSpc>
              <a:spcBef>
                <a:spcPts val="1200"/>
              </a:spcBef>
              <a:spcAft>
                <a:spcPts val="0"/>
              </a:spcAft>
              <a:buNone/>
            </a:pPr>
            <a:r>
              <a:rPr lang="en" sz="1600" dirty="0">
                <a:solidFill>
                  <a:srgbClr val="666666"/>
                </a:solidFill>
              </a:rPr>
              <a:t>A Float value is a single-precision 32-bit or 4 bytes IEEE 754 floating-point. It can have a 7-digit decimal precision. It ends with an ‘f’ or ‘F’ and have the default value = 0.0f. It stores fractional numbers ranging from 3.4e-038 to 3.4e+038</a:t>
            </a:r>
            <a:endParaRPr sz="1600" dirty="0">
              <a:solidFill>
                <a:srgbClr val="666666"/>
              </a:solidFill>
            </a:endParaRPr>
          </a:p>
          <a:p>
            <a:pPr marL="0" lvl="0" indent="457200" algn="l" rtl="0">
              <a:lnSpc>
                <a:spcPct val="156521"/>
              </a:lnSpc>
              <a:spcBef>
                <a:spcPts val="1200"/>
              </a:spcBef>
              <a:spcAft>
                <a:spcPts val="0"/>
              </a:spcAft>
              <a:buNone/>
            </a:pPr>
            <a:r>
              <a:rPr lang="en" sz="1600" dirty="0">
                <a:solidFill>
                  <a:srgbClr val="666666"/>
                </a:solidFill>
              </a:rPr>
              <a:t>Syntax: </a:t>
            </a:r>
            <a:r>
              <a:rPr lang="en" sz="1600" i="1" dirty="0">
                <a:solidFill>
                  <a:srgbClr val="666666"/>
                </a:solidFill>
              </a:rPr>
              <a:t>float floatVariable;					</a:t>
            </a:r>
          </a:p>
          <a:p>
            <a:pPr marL="0" lvl="0" indent="457200" algn="l" rtl="0">
              <a:lnSpc>
                <a:spcPct val="156521"/>
              </a:lnSpc>
              <a:spcBef>
                <a:spcPts val="1200"/>
              </a:spcBef>
              <a:spcAft>
                <a:spcPts val="0"/>
              </a:spcAft>
              <a:buNone/>
            </a:pPr>
            <a:r>
              <a:rPr lang="en" sz="1600" dirty="0">
                <a:solidFill>
                  <a:srgbClr val="666666"/>
                </a:solidFill>
              </a:rPr>
              <a:t>Example: float f= 3.97f;</a:t>
            </a:r>
            <a:endParaRPr sz="1600" dirty="0">
              <a:solidFill>
                <a:srgbClr val="666666"/>
              </a:solidFill>
              <a:highlight>
                <a:srgbClr val="FFFFFF"/>
              </a:highlight>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50"/>
          <p:cNvSpPr txBox="1">
            <a:spLocks noGrp="1"/>
          </p:cNvSpPr>
          <p:nvPr>
            <p:ph type="title"/>
          </p:nvPr>
        </p:nvSpPr>
        <p:spPr>
          <a:xfrm>
            <a:off x="311700" y="25857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Primitive data-type</a:t>
            </a:r>
            <a:endParaRPr/>
          </a:p>
        </p:txBody>
      </p:sp>
      <p:sp>
        <p:nvSpPr>
          <p:cNvPr id="302" name="Google Shape;302;p50"/>
          <p:cNvSpPr txBox="1">
            <a:spLocks noGrp="1"/>
          </p:cNvSpPr>
          <p:nvPr>
            <p:ph type="body" idx="1"/>
          </p:nvPr>
        </p:nvSpPr>
        <p:spPr>
          <a:xfrm>
            <a:off x="366525" y="870857"/>
            <a:ext cx="8520600" cy="4014068"/>
          </a:xfrm>
          <a:prstGeom prst="rect">
            <a:avLst/>
          </a:prstGeom>
        </p:spPr>
        <p:txBody>
          <a:bodyPr spcFirstLastPara="1" wrap="square" lIns="91425" tIns="91425" rIns="91425" bIns="91425" anchor="t" anchorCtr="0">
            <a:noAutofit/>
          </a:bodyPr>
          <a:lstStyle/>
          <a:p>
            <a:pPr marL="457200" lvl="0" indent="-330200" algn="l" rtl="0">
              <a:lnSpc>
                <a:spcPct val="156521"/>
              </a:lnSpc>
              <a:spcAft>
                <a:spcPts val="600"/>
              </a:spcAft>
              <a:buClr>
                <a:srgbClr val="666666"/>
              </a:buClr>
              <a:buSzPts val="1600"/>
              <a:buAutoNum type="arabicPeriod" startAt="6"/>
            </a:pPr>
            <a:r>
              <a:rPr lang="en" sz="1600" b="1" dirty="0">
                <a:solidFill>
                  <a:srgbClr val="666666"/>
                </a:solidFill>
                <a:highlight>
                  <a:srgbClr val="FFFFFF"/>
                </a:highlight>
              </a:rPr>
              <a:t>double</a:t>
            </a:r>
            <a:r>
              <a:rPr lang="en" sz="1600" dirty="0">
                <a:solidFill>
                  <a:srgbClr val="666666"/>
                </a:solidFill>
                <a:highlight>
                  <a:srgbClr val="FFFFFF"/>
                </a:highlight>
              </a:rPr>
              <a:t>:</a:t>
            </a:r>
            <a:endParaRPr sz="1600" dirty="0">
              <a:solidFill>
                <a:srgbClr val="666666"/>
              </a:solidFill>
              <a:highlight>
                <a:srgbClr val="FFFFFF"/>
              </a:highlight>
            </a:endParaRPr>
          </a:p>
          <a:p>
            <a:pPr marL="457200" lvl="0" indent="0" algn="l" rtl="0">
              <a:lnSpc>
                <a:spcPct val="156521"/>
              </a:lnSpc>
              <a:spcAft>
                <a:spcPts val="600"/>
              </a:spcAft>
              <a:buNone/>
            </a:pPr>
            <a:r>
              <a:rPr lang="en" sz="1600" dirty="0">
                <a:solidFill>
                  <a:srgbClr val="666666"/>
                </a:solidFill>
              </a:rPr>
              <a:t>The double data type is similar to float. The difference between the two is that is double twice the float in the case of decimal precision. It is used for decimal values just like float and should not be used for precise values. In java the double is the default floating data-type.</a:t>
            </a:r>
            <a:endParaRPr sz="1600" dirty="0">
              <a:solidFill>
                <a:srgbClr val="666666"/>
              </a:solidFill>
            </a:endParaRPr>
          </a:p>
          <a:p>
            <a:pPr marL="457200" lvl="0" indent="0" algn="l" rtl="0">
              <a:lnSpc>
                <a:spcPct val="156521"/>
              </a:lnSpc>
              <a:spcAft>
                <a:spcPts val="600"/>
              </a:spcAft>
              <a:buNone/>
            </a:pPr>
            <a:r>
              <a:rPr lang="en" sz="1600" dirty="0">
                <a:solidFill>
                  <a:srgbClr val="666666"/>
                </a:solidFill>
              </a:rPr>
              <a:t>A double value is a double-precision 64-bit or 8 bytes IEEE 754 floating-point. It can have a 15-digit decimal precision. Its default value is 0.0d &amp; stores fractional numbers ranging from 1.7e-308 to 1.7e+308</a:t>
            </a:r>
            <a:endParaRPr sz="1600" dirty="0">
              <a:solidFill>
                <a:srgbClr val="666666"/>
              </a:solidFill>
            </a:endParaRPr>
          </a:p>
          <a:p>
            <a:pPr marL="0" lvl="0" indent="457200" algn="l" rtl="0">
              <a:lnSpc>
                <a:spcPct val="156521"/>
              </a:lnSpc>
              <a:spcAft>
                <a:spcPts val="600"/>
              </a:spcAft>
              <a:buNone/>
            </a:pPr>
            <a:r>
              <a:rPr lang="en" sz="1600" dirty="0">
                <a:solidFill>
                  <a:srgbClr val="666666"/>
                </a:solidFill>
              </a:rPr>
              <a:t>Syntax: </a:t>
            </a:r>
            <a:r>
              <a:rPr lang="en" sz="1600" i="1" dirty="0">
                <a:solidFill>
                  <a:srgbClr val="666666"/>
                </a:solidFill>
              </a:rPr>
              <a:t>double doubleVariable;                        </a:t>
            </a:r>
            <a:r>
              <a:rPr lang="en" sz="1600" dirty="0">
                <a:solidFill>
                  <a:srgbClr val="666666"/>
                </a:solidFill>
              </a:rPr>
              <a:t>Example: double d= 873.98343 </a:t>
            </a:r>
            <a:endParaRPr sz="1600" dirty="0">
              <a:solidFill>
                <a:srgbClr val="666666"/>
              </a:solidFill>
              <a:highlight>
                <a:srgbClr val="FFFFFF"/>
              </a:highlight>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51"/>
          <p:cNvSpPr txBox="1">
            <a:spLocks noGrp="1"/>
          </p:cNvSpPr>
          <p:nvPr>
            <p:ph type="title"/>
          </p:nvPr>
        </p:nvSpPr>
        <p:spPr>
          <a:xfrm>
            <a:off x="311700" y="25857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Primitive data-type</a:t>
            </a:r>
            <a:endParaRPr/>
          </a:p>
        </p:txBody>
      </p:sp>
      <p:sp>
        <p:nvSpPr>
          <p:cNvPr id="308" name="Google Shape;308;p51"/>
          <p:cNvSpPr txBox="1">
            <a:spLocks noGrp="1"/>
          </p:cNvSpPr>
          <p:nvPr>
            <p:ph type="body" idx="1"/>
          </p:nvPr>
        </p:nvSpPr>
        <p:spPr>
          <a:xfrm>
            <a:off x="366525" y="1079900"/>
            <a:ext cx="8520600" cy="3302700"/>
          </a:xfrm>
          <a:prstGeom prst="rect">
            <a:avLst/>
          </a:prstGeom>
        </p:spPr>
        <p:txBody>
          <a:bodyPr spcFirstLastPara="1" wrap="square" lIns="91425" tIns="91425" rIns="91425" bIns="91425" anchor="t" anchorCtr="0">
            <a:noAutofit/>
          </a:bodyPr>
          <a:lstStyle/>
          <a:p>
            <a:pPr marL="457200" lvl="0" indent="-342900" algn="l" rtl="0">
              <a:lnSpc>
                <a:spcPct val="156521"/>
              </a:lnSpc>
              <a:spcBef>
                <a:spcPts val="1200"/>
              </a:spcBef>
              <a:spcAft>
                <a:spcPts val="0"/>
              </a:spcAft>
              <a:buClr>
                <a:srgbClr val="666666"/>
              </a:buClr>
              <a:buSzPts val="1800"/>
              <a:buAutoNum type="arabicPeriod" startAt="7"/>
            </a:pPr>
            <a:r>
              <a:rPr lang="en" b="1">
                <a:solidFill>
                  <a:srgbClr val="666666"/>
                </a:solidFill>
                <a:highlight>
                  <a:srgbClr val="FFFFFF"/>
                </a:highlight>
              </a:rPr>
              <a:t>char</a:t>
            </a:r>
            <a:r>
              <a:rPr lang="en">
                <a:solidFill>
                  <a:srgbClr val="666666"/>
                </a:solidFill>
                <a:highlight>
                  <a:srgbClr val="FFFFFF"/>
                </a:highlight>
              </a:rPr>
              <a:t>:</a:t>
            </a:r>
            <a:endParaRPr>
              <a:solidFill>
                <a:srgbClr val="666666"/>
              </a:solidFill>
              <a:highlight>
                <a:srgbClr val="FFFFFF"/>
              </a:highlight>
            </a:endParaRPr>
          </a:p>
          <a:p>
            <a:pPr marL="457200" lvl="0" indent="0" algn="l" rtl="0">
              <a:spcBef>
                <a:spcPts val="0"/>
              </a:spcBef>
              <a:spcAft>
                <a:spcPts val="0"/>
              </a:spcAft>
              <a:buNone/>
            </a:pPr>
            <a:r>
              <a:rPr lang="en">
                <a:solidFill>
                  <a:srgbClr val="666666"/>
                </a:solidFill>
                <a:highlight>
                  <a:srgbClr val="FFFFFF"/>
                </a:highlight>
              </a:rPr>
              <a:t>char as the name suggests is useful for storing single value characters. Its default value is ‘\u0000’ with the max value being ‘\uffff’ and has a size of 2 bytes. This is the unicode format which java uses inplace of ASCII.</a:t>
            </a:r>
            <a:endParaRPr>
              <a:solidFill>
                <a:srgbClr val="666666"/>
              </a:solidFill>
              <a:highlight>
                <a:srgbClr val="FFFFFF"/>
              </a:highlight>
            </a:endParaRPr>
          </a:p>
          <a:p>
            <a:pPr marL="457200" lvl="0" indent="0" algn="l" rtl="0">
              <a:spcBef>
                <a:spcPts val="1400"/>
              </a:spcBef>
              <a:spcAft>
                <a:spcPts val="0"/>
              </a:spcAft>
              <a:buNone/>
            </a:pPr>
            <a:r>
              <a:rPr lang="en">
                <a:solidFill>
                  <a:srgbClr val="666666"/>
                </a:solidFill>
                <a:highlight>
                  <a:srgbClr val="FFFFFF"/>
                </a:highlight>
              </a:rPr>
              <a:t>Syntax: char </a:t>
            </a:r>
            <a:r>
              <a:rPr lang="en" i="1">
                <a:solidFill>
                  <a:srgbClr val="666666"/>
                </a:solidFill>
                <a:highlight>
                  <a:srgbClr val="FFFFFF"/>
                </a:highlight>
              </a:rPr>
              <a:t>charvariable;</a:t>
            </a:r>
            <a:endParaRPr i="1">
              <a:solidFill>
                <a:srgbClr val="666666"/>
              </a:solidFill>
              <a:highlight>
                <a:srgbClr val="FFFFFF"/>
              </a:highlight>
            </a:endParaRPr>
          </a:p>
          <a:p>
            <a:pPr marL="457200" lvl="0" indent="0" algn="l" rtl="0">
              <a:spcBef>
                <a:spcPts val="1400"/>
              </a:spcBef>
              <a:spcAft>
                <a:spcPts val="0"/>
              </a:spcAft>
              <a:buNone/>
            </a:pPr>
            <a:r>
              <a:rPr lang="en">
                <a:solidFill>
                  <a:srgbClr val="666666"/>
                </a:solidFill>
                <a:highlight>
                  <a:srgbClr val="FFFFFF"/>
                </a:highlight>
              </a:rPr>
              <a:t>Example: char ch = ‘D’;</a:t>
            </a:r>
            <a:endParaRPr>
              <a:solidFill>
                <a:srgbClr val="666666"/>
              </a:solidFill>
              <a:highlight>
                <a:srgbClr val="FFFFFF"/>
              </a:highlight>
            </a:endParaRPr>
          </a:p>
          <a:p>
            <a:pPr marL="457200" lvl="0" indent="0" algn="l" rtl="0">
              <a:lnSpc>
                <a:spcPct val="156521"/>
              </a:lnSpc>
              <a:spcBef>
                <a:spcPts val="1400"/>
              </a:spcBef>
              <a:spcAft>
                <a:spcPts val="0"/>
              </a:spcAft>
              <a:buNone/>
            </a:pPr>
            <a:endParaRPr>
              <a:solidFill>
                <a:srgbClr val="666666"/>
              </a:solidFill>
              <a:highlight>
                <a:srgbClr val="FFFFFF"/>
              </a:highlight>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52"/>
          <p:cNvSpPr txBox="1">
            <a:spLocks noGrp="1"/>
          </p:cNvSpPr>
          <p:nvPr>
            <p:ph type="title"/>
          </p:nvPr>
        </p:nvSpPr>
        <p:spPr>
          <a:xfrm>
            <a:off x="311700" y="25857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Primitive data-type</a:t>
            </a:r>
            <a:endParaRPr/>
          </a:p>
        </p:txBody>
      </p:sp>
      <p:sp>
        <p:nvSpPr>
          <p:cNvPr id="314" name="Google Shape;314;p52"/>
          <p:cNvSpPr txBox="1">
            <a:spLocks noGrp="1"/>
          </p:cNvSpPr>
          <p:nvPr>
            <p:ph type="body" idx="1"/>
          </p:nvPr>
        </p:nvSpPr>
        <p:spPr>
          <a:xfrm>
            <a:off x="366525" y="1079900"/>
            <a:ext cx="8520600" cy="3302700"/>
          </a:xfrm>
          <a:prstGeom prst="rect">
            <a:avLst/>
          </a:prstGeom>
        </p:spPr>
        <p:txBody>
          <a:bodyPr spcFirstLastPara="1" wrap="square" lIns="91425" tIns="91425" rIns="91425" bIns="91425" anchor="t" anchorCtr="0">
            <a:noAutofit/>
          </a:bodyPr>
          <a:lstStyle/>
          <a:p>
            <a:pPr marL="457200" lvl="0" indent="-342900" algn="l" rtl="0">
              <a:lnSpc>
                <a:spcPct val="156521"/>
              </a:lnSpc>
              <a:spcBef>
                <a:spcPts val="1200"/>
              </a:spcBef>
              <a:spcAft>
                <a:spcPts val="0"/>
              </a:spcAft>
              <a:buClr>
                <a:srgbClr val="666666"/>
              </a:buClr>
              <a:buSzPts val="1800"/>
              <a:buAutoNum type="arabicPeriod" startAt="8"/>
            </a:pPr>
            <a:r>
              <a:rPr lang="en" b="1">
                <a:solidFill>
                  <a:srgbClr val="666666"/>
                </a:solidFill>
                <a:highlight>
                  <a:srgbClr val="FFFFFF"/>
                </a:highlight>
              </a:rPr>
              <a:t>boolean</a:t>
            </a:r>
            <a:r>
              <a:rPr lang="en">
                <a:solidFill>
                  <a:srgbClr val="666666"/>
                </a:solidFill>
                <a:highlight>
                  <a:srgbClr val="FFFFFF"/>
                </a:highlight>
              </a:rPr>
              <a:t>:</a:t>
            </a:r>
            <a:endParaRPr>
              <a:solidFill>
                <a:srgbClr val="666666"/>
              </a:solidFill>
              <a:highlight>
                <a:srgbClr val="FFFFFF"/>
              </a:highlight>
            </a:endParaRPr>
          </a:p>
          <a:p>
            <a:pPr marL="457200" lvl="0" indent="0" algn="l" rtl="0">
              <a:spcBef>
                <a:spcPts val="0"/>
              </a:spcBef>
              <a:spcAft>
                <a:spcPts val="0"/>
              </a:spcAft>
              <a:buNone/>
            </a:pPr>
            <a:r>
              <a:rPr lang="en">
                <a:solidFill>
                  <a:srgbClr val="666666"/>
                </a:solidFill>
                <a:highlight>
                  <a:srgbClr val="FFFFFF"/>
                </a:highlight>
                <a:latin typeface="Georgia"/>
                <a:ea typeface="Georgia"/>
                <a:cs typeface="Georgia"/>
                <a:sym typeface="Georgia"/>
              </a:rPr>
              <a:t>boolean is a special datatype which can have only two values ‘true’ and ‘false’. It has a default value of ‘false’ and a size of 1 byte. It comes in use for storing flag values.</a:t>
            </a:r>
            <a:endParaRPr>
              <a:solidFill>
                <a:srgbClr val="666666"/>
              </a:solidFill>
              <a:highlight>
                <a:srgbClr val="FFFFFF"/>
              </a:highlight>
              <a:latin typeface="Georgia"/>
              <a:ea typeface="Georgia"/>
              <a:cs typeface="Georgia"/>
              <a:sym typeface="Georgia"/>
            </a:endParaRPr>
          </a:p>
          <a:p>
            <a:pPr marL="457200" lvl="0" indent="0" algn="l" rtl="0">
              <a:spcBef>
                <a:spcPts val="1400"/>
              </a:spcBef>
              <a:spcAft>
                <a:spcPts val="0"/>
              </a:spcAft>
              <a:buNone/>
            </a:pPr>
            <a:r>
              <a:rPr lang="en">
                <a:solidFill>
                  <a:srgbClr val="666666"/>
                </a:solidFill>
                <a:highlight>
                  <a:srgbClr val="FFFFFF"/>
                </a:highlight>
                <a:latin typeface="Georgia"/>
                <a:ea typeface="Georgia"/>
                <a:cs typeface="Georgia"/>
                <a:sym typeface="Georgia"/>
              </a:rPr>
              <a:t>Syntax: boolean </a:t>
            </a:r>
            <a:r>
              <a:rPr lang="en" i="1">
                <a:solidFill>
                  <a:srgbClr val="666666"/>
                </a:solidFill>
                <a:highlight>
                  <a:srgbClr val="FFFFFF"/>
                </a:highlight>
                <a:latin typeface="Georgia"/>
                <a:ea typeface="Georgia"/>
                <a:cs typeface="Georgia"/>
                <a:sym typeface="Georgia"/>
              </a:rPr>
              <a:t>boolvariable;</a:t>
            </a:r>
            <a:endParaRPr i="1">
              <a:solidFill>
                <a:srgbClr val="666666"/>
              </a:solidFill>
              <a:highlight>
                <a:srgbClr val="FFFFFF"/>
              </a:highlight>
              <a:latin typeface="Georgia"/>
              <a:ea typeface="Georgia"/>
              <a:cs typeface="Georgia"/>
              <a:sym typeface="Georgia"/>
            </a:endParaRPr>
          </a:p>
          <a:p>
            <a:pPr marL="457200" lvl="0" indent="0" algn="l" rtl="0">
              <a:spcBef>
                <a:spcPts val="1400"/>
              </a:spcBef>
              <a:spcAft>
                <a:spcPts val="0"/>
              </a:spcAft>
              <a:buNone/>
            </a:pPr>
            <a:r>
              <a:rPr lang="en">
                <a:solidFill>
                  <a:srgbClr val="666666"/>
                </a:solidFill>
                <a:highlight>
                  <a:srgbClr val="FFFFFF"/>
                </a:highlight>
                <a:latin typeface="Georgia"/>
                <a:ea typeface="Georgia"/>
                <a:cs typeface="Georgia"/>
                <a:sym typeface="Georgia"/>
              </a:rPr>
              <a:t>Example- boolean flag=true;</a:t>
            </a:r>
            <a:endParaRPr>
              <a:solidFill>
                <a:srgbClr val="666666"/>
              </a:solidFill>
              <a:highlight>
                <a:srgbClr val="FFFFFF"/>
              </a:highlight>
              <a:latin typeface="Georgia"/>
              <a:ea typeface="Georgia"/>
              <a:cs typeface="Georgia"/>
              <a:sym typeface="Georgia"/>
            </a:endParaRPr>
          </a:p>
          <a:p>
            <a:pPr marL="457200" lvl="0" indent="0" algn="l" rtl="0">
              <a:lnSpc>
                <a:spcPct val="156521"/>
              </a:lnSpc>
              <a:spcBef>
                <a:spcPts val="1400"/>
              </a:spcBef>
              <a:spcAft>
                <a:spcPts val="0"/>
              </a:spcAft>
              <a:buNone/>
            </a:pPr>
            <a:endParaRPr>
              <a:solidFill>
                <a:srgbClr val="666666"/>
              </a:solidFill>
              <a:highlight>
                <a:srgbClr val="FFFFFF"/>
              </a:highlight>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pic>
        <p:nvPicPr>
          <p:cNvPr id="319" name="Google Shape;319;p53"/>
          <p:cNvPicPr preferRelativeResize="0"/>
          <p:nvPr/>
        </p:nvPicPr>
        <p:blipFill>
          <a:blip r:embed="rId3">
            <a:alphaModFix/>
          </a:blip>
          <a:stretch>
            <a:fillRect/>
          </a:stretch>
        </p:blipFill>
        <p:spPr>
          <a:xfrm>
            <a:off x="457200" y="152400"/>
            <a:ext cx="8240788" cy="48387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5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Primitive data-type</a:t>
            </a:r>
            <a:endParaRPr/>
          </a:p>
        </p:txBody>
      </p:sp>
      <p:sp>
        <p:nvSpPr>
          <p:cNvPr id="325" name="Google Shape;325;p5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rgbClr val="222222"/>
                </a:solidFill>
                <a:highlight>
                  <a:srgbClr val="FFFFFF"/>
                </a:highlight>
              </a:rPr>
              <a:t>Points to Remember:</a:t>
            </a:r>
            <a:endParaRPr b="1">
              <a:solidFill>
                <a:srgbClr val="222222"/>
              </a:solidFill>
              <a:highlight>
                <a:srgbClr val="FFFFFF"/>
              </a:highlight>
            </a:endParaRPr>
          </a:p>
          <a:p>
            <a:pPr marL="457200" lvl="0" indent="-342900" algn="l" rtl="0">
              <a:spcBef>
                <a:spcPts val="1000"/>
              </a:spcBef>
              <a:spcAft>
                <a:spcPts val="0"/>
              </a:spcAft>
              <a:buClr>
                <a:srgbClr val="222222"/>
              </a:buClr>
              <a:buSzPts val="1800"/>
              <a:buFont typeface="Open Sans"/>
              <a:buChar char="●"/>
            </a:pPr>
            <a:r>
              <a:rPr lang="en">
                <a:solidFill>
                  <a:srgbClr val="222222"/>
                </a:solidFill>
                <a:highlight>
                  <a:srgbClr val="FFFFFF"/>
                </a:highlight>
              </a:rPr>
              <a:t>All numeric data types are signed(+/-).</a:t>
            </a:r>
            <a:endParaRPr>
              <a:solidFill>
                <a:srgbClr val="222222"/>
              </a:solidFill>
              <a:highlight>
                <a:srgbClr val="FFFFFF"/>
              </a:highlight>
            </a:endParaRPr>
          </a:p>
          <a:p>
            <a:pPr marL="457200" lvl="0" indent="-342900" algn="l" rtl="0">
              <a:spcBef>
                <a:spcPts val="1000"/>
              </a:spcBef>
              <a:spcAft>
                <a:spcPts val="0"/>
              </a:spcAft>
              <a:buClr>
                <a:srgbClr val="222222"/>
              </a:buClr>
              <a:buSzPts val="1800"/>
              <a:buFont typeface="Open Sans"/>
              <a:buChar char="●"/>
            </a:pPr>
            <a:r>
              <a:rPr lang="en">
                <a:solidFill>
                  <a:srgbClr val="222222"/>
                </a:solidFill>
                <a:highlight>
                  <a:srgbClr val="FFFFFF"/>
                </a:highlight>
              </a:rPr>
              <a:t>The size of data types remain the same on all platforms (standardized)</a:t>
            </a:r>
            <a:endParaRPr>
              <a:solidFill>
                <a:srgbClr val="222222"/>
              </a:solidFill>
              <a:highlight>
                <a:srgbClr val="FFFFFF"/>
              </a:highlight>
            </a:endParaRPr>
          </a:p>
          <a:p>
            <a:pPr marL="457200" lvl="0" indent="-342900" algn="l" rtl="0">
              <a:spcBef>
                <a:spcPts val="1000"/>
              </a:spcBef>
              <a:spcAft>
                <a:spcPts val="1000"/>
              </a:spcAft>
              <a:buClr>
                <a:srgbClr val="222222"/>
              </a:buClr>
              <a:buSzPts val="1800"/>
              <a:buFont typeface="Arial"/>
              <a:buChar char="●"/>
            </a:pPr>
            <a:r>
              <a:rPr lang="en">
                <a:solidFill>
                  <a:srgbClr val="222222"/>
                </a:solidFill>
                <a:highlight>
                  <a:srgbClr val="FFFFFF"/>
                </a:highlight>
              </a:rPr>
              <a:t>char data type in Java is 2 bytes because it uses </a:t>
            </a:r>
            <a:r>
              <a:rPr lang="en" b="1">
                <a:solidFill>
                  <a:srgbClr val="222222"/>
                </a:solidFill>
                <a:highlight>
                  <a:srgbClr val="FFFFFF"/>
                </a:highlight>
              </a:rPr>
              <a:t>UNICODE </a:t>
            </a:r>
            <a:r>
              <a:rPr lang="en">
                <a:solidFill>
                  <a:srgbClr val="222222"/>
                </a:solidFill>
                <a:highlight>
                  <a:srgbClr val="FFFFFF"/>
                </a:highlight>
              </a:rPr>
              <a:t>character set. By virtue of it, Java supports internationalization. UNICODE is a character set which covers all known scripts and language in the world</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926C2-407B-73E5-78FA-B2FD67293346}"/>
              </a:ext>
            </a:extLst>
          </p:cNvPr>
          <p:cNvSpPr>
            <a:spLocks noGrp="1"/>
          </p:cNvSpPr>
          <p:nvPr>
            <p:ph type="title"/>
          </p:nvPr>
        </p:nvSpPr>
        <p:spPr/>
        <p:txBody>
          <a:bodyPr>
            <a:normAutofit fontScale="90000"/>
          </a:bodyPr>
          <a:lstStyle/>
          <a:p>
            <a:r>
              <a:rPr lang="en-IN" dirty="0"/>
              <a:t>Identifiers</a:t>
            </a:r>
          </a:p>
        </p:txBody>
      </p:sp>
      <p:sp>
        <p:nvSpPr>
          <p:cNvPr id="3" name="Text Placeholder 2">
            <a:extLst>
              <a:ext uri="{FF2B5EF4-FFF2-40B4-BE49-F238E27FC236}">
                <a16:creationId xmlns:a16="http://schemas.microsoft.com/office/drawing/2014/main" id="{8713D19E-B6E9-32DD-BC43-54F9C35F3F98}"/>
              </a:ext>
            </a:extLst>
          </p:cNvPr>
          <p:cNvSpPr>
            <a:spLocks noGrp="1"/>
          </p:cNvSpPr>
          <p:nvPr>
            <p:ph type="body" idx="1"/>
          </p:nvPr>
        </p:nvSpPr>
        <p:spPr>
          <a:ln w="19050"/>
        </p:spPr>
        <p:txBody>
          <a:bodyPr/>
          <a:lstStyle/>
          <a:p>
            <a:r>
              <a:rPr lang="en-IN" dirty="0"/>
              <a:t>An </a:t>
            </a:r>
            <a:r>
              <a:rPr lang="en-IN" b="1" dirty="0"/>
              <a:t>identifier</a:t>
            </a:r>
            <a:r>
              <a:rPr lang="en-IN" dirty="0"/>
              <a:t> is the name given to program elements such as </a:t>
            </a:r>
            <a:r>
              <a:rPr lang="en-IN" b="1" dirty="0"/>
              <a:t>variables, methods, classes, interfaces, packages, and objects</a:t>
            </a:r>
            <a:r>
              <a:rPr lang="en-IN" dirty="0"/>
              <a:t>. </a:t>
            </a:r>
          </a:p>
          <a:p>
            <a:r>
              <a:rPr lang="en-IN" dirty="0"/>
              <a:t>Identifiers help programmers uniquely identify these elements in a Java program.</a:t>
            </a:r>
          </a:p>
          <a:p>
            <a:r>
              <a:rPr lang="en-IN" dirty="0"/>
              <a:t>Example: </a:t>
            </a:r>
          </a:p>
          <a:p>
            <a:pPr marL="114300" indent="0">
              <a:buNone/>
            </a:pPr>
            <a:r>
              <a:rPr lang="en-IN" dirty="0"/>
              <a:t>	int </a:t>
            </a:r>
            <a:r>
              <a:rPr lang="en-IN" u="sng" dirty="0"/>
              <a:t>roll_no</a:t>
            </a:r>
            <a:r>
              <a:rPr lang="en-IN" dirty="0"/>
              <a:t>=10;</a:t>
            </a:r>
          </a:p>
          <a:p>
            <a:pPr marL="114300" indent="0">
              <a:buNone/>
            </a:pPr>
            <a:r>
              <a:rPr lang="en-IN" dirty="0"/>
              <a:t>	class </a:t>
            </a:r>
            <a:r>
              <a:rPr lang="en-IN" u="sng" dirty="0"/>
              <a:t>Student</a:t>
            </a:r>
            <a:r>
              <a:rPr lang="en-IN" dirty="0"/>
              <a:t>{ </a:t>
            </a:r>
          </a:p>
          <a:p>
            <a:pPr marL="114300" indent="0">
              <a:buNone/>
            </a:pPr>
            <a:r>
              <a:rPr lang="en-IN" dirty="0"/>
              <a:t>		void </a:t>
            </a:r>
            <a:r>
              <a:rPr lang="en-IN" u="sng" dirty="0"/>
              <a:t>Display</a:t>
            </a:r>
            <a:r>
              <a:rPr lang="en-IN" dirty="0"/>
              <a:t>(){ }</a:t>
            </a:r>
          </a:p>
          <a:p>
            <a:pPr marL="114300" indent="0">
              <a:buNone/>
            </a:pPr>
            <a:r>
              <a:rPr lang="en-IN" dirty="0"/>
              <a:t>	}</a:t>
            </a:r>
          </a:p>
        </p:txBody>
      </p:sp>
      <p:cxnSp>
        <p:nvCxnSpPr>
          <p:cNvPr id="5" name="Straight Arrow Connector 4">
            <a:extLst>
              <a:ext uri="{FF2B5EF4-FFF2-40B4-BE49-F238E27FC236}">
                <a16:creationId xmlns:a16="http://schemas.microsoft.com/office/drawing/2014/main" id="{AD8D42F3-44D6-507A-4D81-2E43C0D8127C}"/>
              </a:ext>
            </a:extLst>
          </p:cNvPr>
          <p:cNvCxnSpPr>
            <a:cxnSpLocks/>
          </p:cNvCxnSpPr>
          <p:nvPr/>
        </p:nvCxnSpPr>
        <p:spPr>
          <a:xfrm flipH="1">
            <a:off x="2908663" y="3091542"/>
            <a:ext cx="7053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071B6F6-66D8-9AAD-050E-B7D1C821BDD4}"/>
              </a:ext>
            </a:extLst>
          </p:cNvPr>
          <p:cNvSpPr txBox="1"/>
          <p:nvPr/>
        </p:nvSpPr>
        <p:spPr>
          <a:xfrm flipH="1">
            <a:off x="3614057" y="2937654"/>
            <a:ext cx="1811383" cy="307777"/>
          </a:xfrm>
          <a:prstGeom prst="rect">
            <a:avLst/>
          </a:prstGeom>
          <a:noFill/>
        </p:spPr>
        <p:txBody>
          <a:bodyPr wrap="square" rtlCol="0">
            <a:spAutoFit/>
          </a:bodyPr>
          <a:lstStyle/>
          <a:p>
            <a:r>
              <a:rPr lang="en-IN" b="1" dirty="0">
                <a:latin typeface="Open Sans" panose="020B0606030504020204" pitchFamily="34" charset="0"/>
                <a:ea typeface="Open Sans" panose="020B0606030504020204" pitchFamily="34" charset="0"/>
                <a:cs typeface="Open Sans" panose="020B0606030504020204" pitchFamily="34" charset="0"/>
              </a:rPr>
              <a:t>Variable Identifier</a:t>
            </a:r>
          </a:p>
        </p:txBody>
      </p:sp>
      <p:cxnSp>
        <p:nvCxnSpPr>
          <p:cNvPr id="9" name="Straight Arrow Connector 8">
            <a:extLst>
              <a:ext uri="{FF2B5EF4-FFF2-40B4-BE49-F238E27FC236}">
                <a16:creationId xmlns:a16="http://schemas.microsoft.com/office/drawing/2014/main" id="{AAED411F-8BBF-5EA1-3609-01C18D8336BE}"/>
              </a:ext>
            </a:extLst>
          </p:cNvPr>
          <p:cNvCxnSpPr>
            <a:cxnSpLocks/>
          </p:cNvCxnSpPr>
          <p:nvPr/>
        </p:nvCxnSpPr>
        <p:spPr>
          <a:xfrm flipH="1">
            <a:off x="3000103" y="3409404"/>
            <a:ext cx="7053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0FBD4A5-D7A0-5361-7D41-F8A2BE81FE5A}"/>
              </a:ext>
            </a:extLst>
          </p:cNvPr>
          <p:cNvSpPr txBox="1"/>
          <p:nvPr/>
        </p:nvSpPr>
        <p:spPr>
          <a:xfrm flipH="1">
            <a:off x="3792583" y="3255515"/>
            <a:ext cx="1811383" cy="307777"/>
          </a:xfrm>
          <a:prstGeom prst="rect">
            <a:avLst/>
          </a:prstGeom>
          <a:noFill/>
        </p:spPr>
        <p:txBody>
          <a:bodyPr wrap="square" rtlCol="0">
            <a:spAutoFit/>
          </a:bodyPr>
          <a:lstStyle/>
          <a:p>
            <a:r>
              <a:rPr lang="en-IN" b="1" dirty="0">
                <a:latin typeface="Open Sans" panose="020B0606030504020204" pitchFamily="34" charset="0"/>
                <a:ea typeface="Open Sans" panose="020B0606030504020204" pitchFamily="34" charset="0"/>
                <a:cs typeface="Open Sans" panose="020B0606030504020204" pitchFamily="34" charset="0"/>
              </a:rPr>
              <a:t>Class Identifier</a:t>
            </a:r>
          </a:p>
        </p:txBody>
      </p:sp>
      <p:cxnSp>
        <p:nvCxnSpPr>
          <p:cNvPr id="11" name="Straight Arrow Connector 10">
            <a:extLst>
              <a:ext uri="{FF2B5EF4-FFF2-40B4-BE49-F238E27FC236}">
                <a16:creationId xmlns:a16="http://schemas.microsoft.com/office/drawing/2014/main" id="{16B45444-3A4C-EB94-187D-40A16C4742CA}"/>
              </a:ext>
            </a:extLst>
          </p:cNvPr>
          <p:cNvCxnSpPr>
            <a:cxnSpLocks/>
          </p:cNvCxnSpPr>
          <p:nvPr/>
        </p:nvCxnSpPr>
        <p:spPr>
          <a:xfrm flipH="1">
            <a:off x="3992880" y="3735975"/>
            <a:ext cx="7053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F1AE0E9-F2AA-32A2-EB40-D4293E5F5616}"/>
              </a:ext>
            </a:extLst>
          </p:cNvPr>
          <p:cNvSpPr txBox="1"/>
          <p:nvPr/>
        </p:nvSpPr>
        <p:spPr>
          <a:xfrm flipH="1">
            <a:off x="4698274" y="3594409"/>
            <a:ext cx="1811383" cy="307777"/>
          </a:xfrm>
          <a:prstGeom prst="rect">
            <a:avLst/>
          </a:prstGeom>
          <a:noFill/>
        </p:spPr>
        <p:txBody>
          <a:bodyPr wrap="square" rtlCol="0">
            <a:spAutoFit/>
          </a:bodyPr>
          <a:lstStyle/>
          <a:p>
            <a:r>
              <a:rPr lang="en-IN" b="1" dirty="0">
                <a:latin typeface="Open Sans" panose="020B0606030504020204" pitchFamily="34" charset="0"/>
                <a:ea typeface="Open Sans" panose="020B0606030504020204" pitchFamily="34" charset="0"/>
                <a:cs typeface="Open Sans" panose="020B0606030504020204" pitchFamily="34" charset="0"/>
              </a:rPr>
              <a:t>Method Identifier</a:t>
            </a:r>
          </a:p>
        </p:txBody>
      </p:sp>
    </p:spTree>
    <p:extLst>
      <p:ext uri="{BB962C8B-B14F-4D97-AF65-F5344CB8AC3E}">
        <p14:creationId xmlns:p14="http://schemas.microsoft.com/office/powerpoint/2010/main" val="30811089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5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Variables</a:t>
            </a:r>
            <a:endParaRPr/>
          </a:p>
        </p:txBody>
      </p:sp>
      <p:sp>
        <p:nvSpPr>
          <p:cNvPr id="331" name="Google Shape;331;p55"/>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0"/>
              </a:spcAft>
              <a:buNone/>
            </a:pPr>
            <a:r>
              <a:rPr lang="en" b="1">
                <a:solidFill>
                  <a:srgbClr val="666666"/>
                </a:solidFill>
                <a:highlight>
                  <a:srgbClr val="FFFFFF"/>
                </a:highlight>
              </a:rPr>
              <a:t>Variable in Java</a:t>
            </a:r>
            <a:r>
              <a:rPr lang="en">
                <a:solidFill>
                  <a:srgbClr val="666666"/>
                </a:solidFill>
                <a:highlight>
                  <a:srgbClr val="FFFFFF"/>
                </a:highlight>
              </a:rPr>
              <a:t> is a data container that stores the data values during Java program execution. Every variable is assigned data type which designates the type and quantity of value it can hold. Variable is a memory location name of the data. </a:t>
            </a:r>
            <a:endParaRPr>
              <a:solidFill>
                <a:srgbClr val="666666"/>
              </a:solidFill>
              <a:highlight>
                <a:srgbClr val="FFFFFF"/>
              </a:highlight>
            </a:endParaRPr>
          </a:p>
          <a:p>
            <a:pPr marL="0" lvl="0" indent="0" algn="l" rtl="0">
              <a:spcBef>
                <a:spcPts val="1200"/>
              </a:spcBef>
              <a:spcAft>
                <a:spcPts val="0"/>
              </a:spcAft>
              <a:buNone/>
            </a:pPr>
            <a:r>
              <a:rPr lang="en">
                <a:solidFill>
                  <a:srgbClr val="666666"/>
                </a:solidFill>
                <a:highlight>
                  <a:srgbClr val="FFFFFF"/>
                </a:highlight>
              </a:rPr>
              <a:t>The Java variables have mainly three types : </a:t>
            </a:r>
            <a:endParaRPr>
              <a:solidFill>
                <a:srgbClr val="666666"/>
              </a:solidFill>
              <a:highlight>
                <a:srgbClr val="FFFFFF"/>
              </a:highlight>
            </a:endParaRPr>
          </a:p>
          <a:p>
            <a:pPr marL="457200" lvl="0" indent="-334327" algn="l" rtl="0">
              <a:spcBef>
                <a:spcPts val="1200"/>
              </a:spcBef>
              <a:spcAft>
                <a:spcPts val="0"/>
              </a:spcAft>
              <a:buClr>
                <a:srgbClr val="666666"/>
              </a:buClr>
              <a:buSzPct val="100000"/>
              <a:buAutoNum type="arabicPeriod"/>
            </a:pPr>
            <a:r>
              <a:rPr lang="en" b="1">
                <a:solidFill>
                  <a:srgbClr val="666666"/>
                </a:solidFill>
                <a:highlight>
                  <a:srgbClr val="FFFFFF"/>
                </a:highlight>
              </a:rPr>
              <a:t>Local variables:</a:t>
            </a:r>
            <a:r>
              <a:rPr lang="en">
                <a:solidFill>
                  <a:srgbClr val="666666"/>
                </a:solidFill>
                <a:highlight>
                  <a:srgbClr val="FFFFFF"/>
                </a:highlight>
              </a:rPr>
              <a:t> </a:t>
            </a:r>
            <a:r>
              <a:rPr lang="en">
                <a:solidFill>
                  <a:srgbClr val="666666"/>
                </a:solidFill>
              </a:rPr>
              <a:t>variables defined inside methods,  constructors or blocks are called local variables.</a:t>
            </a:r>
            <a:endParaRPr>
              <a:solidFill>
                <a:srgbClr val="666666"/>
              </a:solidFill>
              <a:highlight>
                <a:srgbClr val="FFFFFF"/>
              </a:highlight>
            </a:endParaRPr>
          </a:p>
          <a:p>
            <a:pPr marL="457200" lvl="0" indent="-334327" algn="l" rtl="0">
              <a:spcBef>
                <a:spcPts val="0"/>
              </a:spcBef>
              <a:spcAft>
                <a:spcPts val="0"/>
              </a:spcAft>
              <a:buClr>
                <a:srgbClr val="666666"/>
              </a:buClr>
              <a:buSzPct val="100000"/>
              <a:buAutoNum type="arabicPeriod"/>
            </a:pPr>
            <a:r>
              <a:rPr lang="en" b="1">
                <a:solidFill>
                  <a:srgbClr val="666666"/>
                </a:solidFill>
                <a:highlight>
                  <a:srgbClr val="FFFFFF"/>
                </a:highlight>
              </a:rPr>
              <a:t>Instance variables:</a:t>
            </a:r>
            <a:r>
              <a:rPr lang="en">
                <a:solidFill>
                  <a:srgbClr val="666666"/>
                </a:solidFill>
                <a:highlight>
                  <a:srgbClr val="FFFFFF"/>
                </a:highlight>
              </a:rPr>
              <a:t> </a:t>
            </a:r>
            <a:r>
              <a:rPr lang="en">
                <a:solidFill>
                  <a:srgbClr val="666666"/>
                </a:solidFill>
              </a:rPr>
              <a:t>Instance variables are  variables within a class but outside any method..</a:t>
            </a:r>
            <a:endParaRPr>
              <a:solidFill>
                <a:srgbClr val="666666"/>
              </a:solidFill>
              <a:highlight>
                <a:srgbClr val="FFFFFF"/>
              </a:highlight>
            </a:endParaRPr>
          </a:p>
          <a:p>
            <a:pPr marL="457200" lvl="0" indent="-334327" algn="l" rtl="0">
              <a:spcBef>
                <a:spcPts val="0"/>
              </a:spcBef>
              <a:spcAft>
                <a:spcPts val="0"/>
              </a:spcAft>
              <a:buClr>
                <a:srgbClr val="666666"/>
              </a:buClr>
              <a:buSzPct val="100000"/>
              <a:buAutoNum type="arabicPeriod"/>
            </a:pPr>
            <a:r>
              <a:rPr lang="en" b="1">
                <a:solidFill>
                  <a:srgbClr val="666666"/>
                </a:solidFill>
                <a:highlight>
                  <a:srgbClr val="FFFFFF"/>
                </a:highlight>
              </a:rPr>
              <a:t>Static variables:</a:t>
            </a:r>
            <a:r>
              <a:rPr lang="en">
                <a:solidFill>
                  <a:srgbClr val="666666"/>
                </a:solidFill>
                <a:highlight>
                  <a:srgbClr val="FFFFFF"/>
                </a:highlight>
              </a:rPr>
              <a:t> </a:t>
            </a:r>
            <a:r>
              <a:rPr lang="en">
                <a:solidFill>
                  <a:srgbClr val="666666"/>
                </a:solidFill>
              </a:rPr>
              <a:t>Class variables are variables  declared within a class, outside any method, with  the static keyword.</a:t>
            </a:r>
            <a:endParaRPr>
              <a:solidFill>
                <a:srgbClr val="666666"/>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5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Variables</a:t>
            </a:r>
            <a:endParaRPr/>
          </a:p>
        </p:txBody>
      </p:sp>
      <p:sp>
        <p:nvSpPr>
          <p:cNvPr id="337" name="Google Shape;337;p56"/>
          <p:cNvSpPr txBox="1">
            <a:spLocks noGrp="1"/>
          </p:cNvSpPr>
          <p:nvPr>
            <p:ph type="body" idx="1"/>
          </p:nvPr>
        </p:nvSpPr>
        <p:spPr>
          <a:xfrm>
            <a:off x="311700" y="1266325"/>
            <a:ext cx="8520600" cy="36861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en" b="1">
                <a:solidFill>
                  <a:srgbClr val="666666"/>
                </a:solidFill>
              </a:rPr>
              <a:t>Declaration of variable:</a:t>
            </a:r>
            <a:endParaRPr b="1">
              <a:solidFill>
                <a:srgbClr val="666666"/>
              </a:solidFill>
            </a:endParaRPr>
          </a:p>
          <a:p>
            <a:pPr marL="914400" lvl="0" indent="457200" algn="l" rtl="0">
              <a:spcBef>
                <a:spcPts val="1200"/>
              </a:spcBef>
              <a:spcAft>
                <a:spcPts val="0"/>
              </a:spcAft>
              <a:buNone/>
            </a:pPr>
            <a:r>
              <a:rPr lang="en" i="1">
                <a:solidFill>
                  <a:srgbClr val="666666"/>
                </a:solidFill>
              </a:rPr>
              <a:t>type identifier;</a:t>
            </a:r>
            <a:endParaRPr i="1">
              <a:solidFill>
                <a:srgbClr val="666666"/>
              </a:solidFill>
            </a:endParaRPr>
          </a:p>
          <a:p>
            <a:pPr marL="927100" lvl="0" indent="444500" algn="l" rtl="0">
              <a:spcBef>
                <a:spcPts val="0"/>
              </a:spcBef>
              <a:spcAft>
                <a:spcPts val="0"/>
              </a:spcAft>
              <a:buNone/>
            </a:pPr>
            <a:r>
              <a:rPr lang="en" i="1">
                <a:solidFill>
                  <a:srgbClr val="666666"/>
                </a:solidFill>
              </a:rPr>
              <a:t>Example:    </a:t>
            </a:r>
            <a:r>
              <a:rPr lang="en">
                <a:solidFill>
                  <a:srgbClr val="666666"/>
                </a:solidFill>
              </a:rPr>
              <a:t>int a;</a:t>
            </a:r>
            <a:endParaRPr>
              <a:solidFill>
                <a:srgbClr val="666666"/>
              </a:solidFill>
            </a:endParaRPr>
          </a:p>
          <a:p>
            <a:pPr marL="927100" lvl="0" indent="444500" algn="l" rtl="0">
              <a:spcBef>
                <a:spcPts val="0"/>
              </a:spcBef>
              <a:spcAft>
                <a:spcPts val="0"/>
              </a:spcAft>
              <a:buNone/>
            </a:pPr>
            <a:endParaRPr>
              <a:solidFill>
                <a:srgbClr val="666666"/>
              </a:solidFill>
            </a:endParaRPr>
          </a:p>
          <a:p>
            <a:pPr marL="0" lvl="0" indent="0" algn="l" rtl="0">
              <a:spcBef>
                <a:spcPts val="0"/>
              </a:spcBef>
              <a:spcAft>
                <a:spcPts val="0"/>
              </a:spcAft>
              <a:buNone/>
            </a:pPr>
            <a:r>
              <a:rPr lang="en" b="1">
                <a:solidFill>
                  <a:srgbClr val="666666"/>
                </a:solidFill>
              </a:rPr>
              <a:t>Initialization of variable declaration:</a:t>
            </a:r>
            <a:endParaRPr b="1">
              <a:solidFill>
                <a:srgbClr val="666666"/>
              </a:solidFill>
            </a:endParaRPr>
          </a:p>
          <a:p>
            <a:pPr marL="0" lvl="0" indent="0" algn="l" rtl="0">
              <a:spcBef>
                <a:spcPts val="0"/>
              </a:spcBef>
              <a:spcAft>
                <a:spcPts val="0"/>
              </a:spcAft>
              <a:buNone/>
            </a:pPr>
            <a:r>
              <a:rPr lang="en">
                <a:solidFill>
                  <a:srgbClr val="666666"/>
                </a:solidFill>
              </a:rPr>
              <a:t>			type identifier;</a:t>
            </a:r>
            <a:endParaRPr>
              <a:solidFill>
                <a:srgbClr val="666666"/>
              </a:solidFill>
            </a:endParaRPr>
          </a:p>
          <a:p>
            <a:pPr marL="0" lvl="0" indent="0" algn="l" rtl="0">
              <a:spcBef>
                <a:spcPts val="0"/>
              </a:spcBef>
              <a:spcAft>
                <a:spcPts val="0"/>
              </a:spcAft>
              <a:buNone/>
            </a:pPr>
            <a:r>
              <a:rPr lang="en">
                <a:solidFill>
                  <a:srgbClr val="666666"/>
                </a:solidFill>
              </a:rPr>
              <a:t>			Identifier = value;</a:t>
            </a:r>
            <a:endParaRPr>
              <a:solidFill>
                <a:srgbClr val="666666"/>
              </a:solidFill>
            </a:endParaRPr>
          </a:p>
          <a:p>
            <a:pPr marL="0" lvl="0" indent="0" algn="l" rtl="0">
              <a:spcBef>
                <a:spcPts val="0"/>
              </a:spcBef>
              <a:spcAft>
                <a:spcPts val="0"/>
              </a:spcAft>
              <a:buNone/>
            </a:pPr>
            <a:r>
              <a:rPr lang="en">
                <a:solidFill>
                  <a:srgbClr val="666666"/>
                </a:solidFill>
              </a:rPr>
              <a:t>	</a:t>
            </a:r>
            <a:r>
              <a:rPr lang="en" b="1">
                <a:solidFill>
                  <a:srgbClr val="666666"/>
                </a:solidFill>
              </a:rPr>
              <a:t>OR</a:t>
            </a:r>
            <a:r>
              <a:rPr lang="en">
                <a:solidFill>
                  <a:srgbClr val="666666"/>
                </a:solidFill>
              </a:rPr>
              <a:t>		type identifier = value;</a:t>
            </a:r>
            <a:endParaRPr>
              <a:solidFill>
                <a:srgbClr val="666666"/>
              </a:solidFill>
            </a:endParaRPr>
          </a:p>
          <a:p>
            <a:pPr marL="0" lvl="0" indent="0" algn="l" rtl="0">
              <a:spcBef>
                <a:spcPts val="0"/>
              </a:spcBef>
              <a:spcAft>
                <a:spcPts val="0"/>
              </a:spcAft>
              <a:buNone/>
            </a:pPr>
            <a:r>
              <a:rPr lang="en">
                <a:solidFill>
                  <a:srgbClr val="666666"/>
                </a:solidFill>
              </a:rPr>
              <a:t> 	</a:t>
            </a:r>
            <a:endParaRPr>
              <a:solidFill>
                <a:srgbClr val="666666"/>
              </a:solidFill>
            </a:endParaRPr>
          </a:p>
          <a:p>
            <a:pPr marL="0" lvl="0" indent="457200" algn="l" rtl="0">
              <a:spcBef>
                <a:spcPts val="0"/>
              </a:spcBef>
              <a:spcAft>
                <a:spcPts val="0"/>
              </a:spcAft>
              <a:buNone/>
            </a:pPr>
            <a:r>
              <a:rPr lang="en">
                <a:solidFill>
                  <a:srgbClr val="666666"/>
                </a:solidFill>
              </a:rPr>
              <a:t>Example: int a;</a:t>
            </a:r>
            <a:endParaRPr>
              <a:solidFill>
                <a:srgbClr val="666666"/>
              </a:solidFill>
            </a:endParaRPr>
          </a:p>
          <a:p>
            <a:pPr marL="0" lvl="0" indent="0" algn="l" rtl="0">
              <a:spcBef>
                <a:spcPts val="0"/>
              </a:spcBef>
              <a:spcAft>
                <a:spcPts val="0"/>
              </a:spcAft>
              <a:buNone/>
            </a:pPr>
            <a:r>
              <a:rPr lang="en">
                <a:solidFill>
                  <a:srgbClr val="666666"/>
                </a:solidFill>
              </a:rPr>
              <a:t>			  a = 5;</a:t>
            </a:r>
            <a:endParaRPr>
              <a:solidFill>
                <a:srgbClr val="666666"/>
              </a:solidFill>
            </a:endParaRPr>
          </a:p>
          <a:p>
            <a:pPr marL="0" lvl="0" indent="0" algn="l" rtl="0">
              <a:spcBef>
                <a:spcPts val="0"/>
              </a:spcBef>
              <a:spcAft>
                <a:spcPts val="0"/>
              </a:spcAft>
              <a:buNone/>
            </a:pPr>
            <a:r>
              <a:rPr lang="en">
                <a:solidFill>
                  <a:srgbClr val="666666"/>
                </a:solidFill>
              </a:rPr>
              <a:t>	</a:t>
            </a:r>
            <a:r>
              <a:rPr lang="en" b="1">
                <a:solidFill>
                  <a:srgbClr val="666666"/>
                </a:solidFill>
              </a:rPr>
              <a:t>OR</a:t>
            </a:r>
            <a:r>
              <a:rPr lang="en">
                <a:solidFill>
                  <a:srgbClr val="666666"/>
                </a:solidFill>
              </a:rPr>
              <a:t>		</a:t>
            </a:r>
            <a:endParaRPr>
              <a:solidFill>
                <a:srgbClr val="666666"/>
              </a:solidFill>
            </a:endParaRPr>
          </a:p>
          <a:p>
            <a:pPr marL="914400" lvl="0" indent="457200" algn="l" rtl="0">
              <a:spcBef>
                <a:spcPts val="0"/>
              </a:spcBef>
              <a:spcAft>
                <a:spcPts val="0"/>
              </a:spcAft>
              <a:buNone/>
            </a:pPr>
            <a:r>
              <a:rPr lang="en">
                <a:solidFill>
                  <a:srgbClr val="666666"/>
                </a:solidFill>
              </a:rPr>
              <a:t>int a= 5;</a:t>
            </a:r>
            <a:endParaRPr>
              <a:solidFill>
                <a:srgbClr val="666666"/>
              </a:solidFill>
            </a:endParaRPr>
          </a:p>
          <a:p>
            <a:pPr marL="0" lvl="0" indent="0" algn="l" rtl="0">
              <a:spcBef>
                <a:spcPts val="0"/>
              </a:spcBef>
              <a:spcAft>
                <a:spcPts val="1200"/>
              </a:spcAft>
              <a:buNone/>
            </a:pPr>
            <a:endParaRPr>
              <a:solidFill>
                <a:srgbClr val="666666"/>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57"/>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Variables</a:t>
            </a:r>
            <a:endParaRPr/>
          </a:p>
        </p:txBody>
      </p:sp>
      <p:sp>
        <p:nvSpPr>
          <p:cNvPr id="343" name="Google Shape;343;p57"/>
          <p:cNvSpPr txBox="1">
            <a:spLocks noGrp="1"/>
          </p:cNvSpPr>
          <p:nvPr>
            <p:ph type="body" idx="1"/>
          </p:nvPr>
        </p:nvSpPr>
        <p:spPr>
          <a:xfrm>
            <a:off x="311700" y="1266325"/>
            <a:ext cx="8520600" cy="3686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700">
                <a:solidFill>
                  <a:srgbClr val="222222"/>
                </a:solidFill>
                <a:latin typeface="Courier New"/>
                <a:ea typeface="Courier New"/>
                <a:cs typeface="Courier New"/>
                <a:sym typeface="Courier New"/>
              </a:rPr>
              <a:t>class demo{</a:t>
            </a:r>
            <a:endParaRPr sz="1700">
              <a:solidFill>
                <a:srgbClr val="222222"/>
              </a:solidFill>
              <a:latin typeface="Courier New"/>
              <a:ea typeface="Courier New"/>
              <a:cs typeface="Courier New"/>
              <a:sym typeface="Courier New"/>
            </a:endParaRPr>
          </a:p>
          <a:p>
            <a:pPr marL="0" lvl="0" indent="0" algn="l" rtl="0">
              <a:spcBef>
                <a:spcPts val="1200"/>
              </a:spcBef>
              <a:spcAft>
                <a:spcPts val="0"/>
              </a:spcAft>
              <a:buNone/>
            </a:pPr>
            <a:r>
              <a:rPr lang="en" sz="1700">
                <a:solidFill>
                  <a:srgbClr val="222222"/>
                </a:solidFill>
                <a:latin typeface="Courier New"/>
                <a:ea typeface="Courier New"/>
                <a:cs typeface="Courier New"/>
                <a:sym typeface="Courier New"/>
              </a:rPr>
              <a:t>    static int a = 1; //static variable  </a:t>
            </a:r>
            <a:endParaRPr sz="1700">
              <a:solidFill>
                <a:srgbClr val="222222"/>
              </a:solidFill>
              <a:latin typeface="Courier New"/>
              <a:ea typeface="Courier New"/>
              <a:cs typeface="Courier New"/>
              <a:sym typeface="Courier New"/>
            </a:endParaRPr>
          </a:p>
          <a:p>
            <a:pPr marL="0" lvl="0" indent="0" algn="l" rtl="0">
              <a:spcBef>
                <a:spcPts val="1200"/>
              </a:spcBef>
              <a:spcAft>
                <a:spcPts val="0"/>
              </a:spcAft>
              <a:buNone/>
            </a:pPr>
            <a:r>
              <a:rPr lang="en" sz="1700">
                <a:solidFill>
                  <a:srgbClr val="222222"/>
                </a:solidFill>
                <a:latin typeface="Courier New"/>
                <a:ea typeface="Courier New"/>
                <a:cs typeface="Courier New"/>
                <a:sym typeface="Courier New"/>
              </a:rPr>
              <a:t>    int data = 99; //instance variable  </a:t>
            </a:r>
            <a:endParaRPr sz="1700">
              <a:solidFill>
                <a:srgbClr val="222222"/>
              </a:solidFill>
              <a:latin typeface="Courier New"/>
              <a:ea typeface="Courier New"/>
              <a:cs typeface="Courier New"/>
              <a:sym typeface="Courier New"/>
            </a:endParaRPr>
          </a:p>
          <a:p>
            <a:pPr marL="0" lvl="0" indent="0" algn="l" rtl="0">
              <a:spcBef>
                <a:spcPts val="1200"/>
              </a:spcBef>
              <a:spcAft>
                <a:spcPts val="0"/>
              </a:spcAft>
              <a:buNone/>
            </a:pPr>
            <a:r>
              <a:rPr lang="en" sz="1700">
                <a:solidFill>
                  <a:srgbClr val="222222"/>
                </a:solidFill>
                <a:latin typeface="Courier New"/>
                <a:ea typeface="Courier New"/>
                <a:cs typeface="Courier New"/>
                <a:sym typeface="Courier New"/>
              </a:rPr>
              <a:t>    void method() {</a:t>
            </a:r>
            <a:endParaRPr sz="1700">
              <a:solidFill>
                <a:srgbClr val="222222"/>
              </a:solidFill>
              <a:latin typeface="Courier New"/>
              <a:ea typeface="Courier New"/>
              <a:cs typeface="Courier New"/>
              <a:sym typeface="Courier New"/>
            </a:endParaRPr>
          </a:p>
          <a:p>
            <a:pPr marL="0" lvl="0" indent="0" algn="l" rtl="0">
              <a:spcBef>
                <a:spcPts val="1200"/>
              </a:spcBef>
              <a:spcAft>
                <a:spcPts val="0"/>
              </a:spcAft>
              <a:buNone/>
            </a:pPr>
            <a:r>
              <a:rPr lang="en" sz="1700">
                <a:solidFill>
                  <a:srgbClr val="222222"/>
                </a:solidFill>
                <a:latin typeface="Courier New"/>
                <a:ea typeface="Courier New"/>
                <a:cs typeface="Courier New"/>
                <a:sym typeface="Courier New"/>
              </a:rPr>
              <a:t>        int b = 90; //local variable  </a:t>
            </a:r>
            <a:endParaRPr sz="1700">
              <a:solidFill>
                <a:srgbClr val="222222"/>
              </a:solidFill>
              <a:latin typeface="Courier New"/>
              <a:ea typeface="Courier New"/>
              <a:cs typeface="Courier New"/>
              <a:sym typeface="Courier New"/>
            </a:endParaRPr>
          </a:p>
          <a:p>
            <a:pPr marL="0" lvl="0" indent="0" algn="l" rtl="0">
              <a:spcBef>
                <a:spcPts val="1200"/>
              </a:spcBef>
              <a:spcAft>
                <a:spcPts val="0"/>
              </a:spcAft>
              <a:buNone/>
            </a:pPr>
            <a:r>
              <a:rPr lang="en" sz="1700">
                <a:solidFill>
                  <a:srgbClr val="222222"/>
                </a:solidFill>
                <a:latin typeface="Courier New"/>
                <a:ea typeface="Courier New"/>
                <a:cs typeface="Courier New"/>
                <a:sym typeface="Courier New"/>
              </a:rPr>
              <a:t>    }</a:t>
            </a:r>
            <a:endParaRPr sz="1700">
              <a:solidFill>
                <a:srgbClr val="222222"/>
              </a:solidFill>
              <a:latin typeface="Courier New"/>
              <a:ea typeface="Courier New"/>
              <a:cs typeface="Courier New"/>
              <a:sym typeface="Courier New"/>
            </a:endParaRPr>
          </a:p>
          <a:p>
            <a:pPr marL="215900" marR="215900" lvl="0" indent="0" algn="l" rtl="0">
              <a:lnSpc>
                <a:spcPct val="160000"/>
              </a:lnSpc>
              <a:spcBef>
                <a:spcPts val="1200"/>
              </a:spcBef>
              <a:spcAft>
                <a:spcPts val="0"/>
              </a:spcAft>
              <a:buNone/>
            </a:pPr>
            <a:r>
              <a:rPr lang="en" sz="1700">
                <a:solidFill>
                  <a:srgbClr val="222222"/>
                </a:solidFill>
                <a:latin typeface="Courier New"/>
                <a:ea typeface="Courier New"/>
                <a:cs typeface="Courier New"/>
                <a:sym typeface="Courier New"/>
              </a:rPr>
              <a:t>}</a:t>
            </a:r>
            <a:endParaRPr sz="1700" b="1">
              <a:solidFill>
                <a:srgbClr val="666666"/>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58"/>
          <p:cNvSpPr txBox="1">
            <a:spLocks noGrp="1"/>
          </p:cNvSpPr>
          <p:nvPr>
            <p:ph type="title"/>
          </p:nvPr>
        </p:nvSpPr>
        <p:spPr>
          <a:xfrm>
            <a:off x="311700" y="181800"/>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Rules for Variable declaration</a:t>
            </a:r>
            <a:endParaRPr/>
          </a:p>
        </p:txBody>
      </p:sp>
      <p:sp>
        <p:nvSpPr>
          <p:cNvPr id="349" name="Google Shape;349;p58"/>
          <p:cNvSpPr txBox="1">
            <a:spLocks noGrp="1"/>
          </p:cNvSpPr>
          <p:nvPr>
            <p:ph type="body" idx="1"/>
          </p:nvPr>
        </p:nvSpPr>
        <p:spPr>
          <a:xfrm>
            <a:off x="311700" y="827650"/>
            <a:ext cx="8520600" cy="3686100"/>
          </a:xfrm>
          <a:prstGeom prst="rect">
            <a:avLst/>
          </a:prstGeom>
        </p:spPr>
        <p:txBody>
          <a:bodyPr spcFirstLastPara="1" wrap="square" lIns="91425" tIns="91425" rIns="91425" bIns="91425" anchor="t" anchorCtr="0">
            <a:noAutofit/>
          </a:bodyPr>
          <a:lstStyle/>
          <a:p>
            <a:pPr marL="0" lvl="0" indent="0" algn="l" rtl="0">
              <a:spcBef>
                <a:spcPts val="1800"/>
              </a:spcBef>
              <a:spcAft>
                <a:spcPts val="0"/>
              </a:spcAft>
              <a:buNone/>
            </a:pPr>
            <a:r>
              <a:rPr lang="en" sz="1600" b="1">
                <a:solidFill>
                  <a:srgbClr val="273239"/>
                </a:solidFill>
                <a:highlight>
                  <a:srgbClr val="FFFFFF"/>
                </a:highlight>
              </a:rPr>
              <a:t>Rules to Declare a Variable </a:t>
            </a:r>
            <a:endParaRPr sz="1600" b="1">
              <a:solidFill>
                <a:srgbClr val="273239"/>
              </a:solidFill>
              <a:highlight>
                <a:srgbClr val="FFFFFF"/>
              </a:highlight>
            </a:endParaRPr>
          </a:p>
          <a:p>
            <a:pPr marL="685800" lvl="0" indent="-323850" algn="l" rtl="0">
              <a:lnSpc>
                <a:spcPct val="158000"/>
              </a:lnSpc>
              <a:spcBef>
                <a:spcPts val="1800"/>
              </a:spcBef>
              <a:spcAft>
                <a:spcPts val="0"/>
              </a:spcAft>
              <a:buClr>
                <a:srgbClr val="273239"/>
              </a:buClr>
              <a:buSzPts val="1500"/>
              <a:buFont typeface="Nunito"/>
              <a:buAutoNum type="arabicPeriod"/>
            </a:pPr>
            <a:r>
              <a:rPr lang="en" sz="1500">
                <a:solidFill>
                  <a:srgbClr val="273239"/>
                </a:solidFill>
                <a:highlight>
                  <a:srgbClr val="FFFFFF"/>
                </a:highlight>
              </a:rPr>
              <a:t>A variable name can consist of Capital letters </a:t>
            </a:r>
            <a:r>
              <a:rPr lang="en" sz="1500" b="1">
                <a:solidFill>
                  <a:srgbClr val="273239"/>
                </a:solidFill>
                <a:highlight>
                  <a:srgbClr val="FFFFFF"/>
                </a:highlight>
              </a:rPr>
              <a:t>A-Z</a:t>
            </a:r>
            <a:r>
              <a:rPr lang="en" sz="1500">
                <a:solidFill>
                  <a:srgbClr val="273239"/>
                </a:solidFill>
                <a:highlight>
                  <a:srgbClr val="FFFFFF"/>
                </a:highlight>
              </a:rPr>
              <a:t>, lowercase letters </a:t>
            </a:r>
            <a:r>
              <a:rPr lang="en" sz="1500" b="1">
                <a:solidFill>
                  <a:srgbClr val="273239"/>
                </a:solidFill>
                <a:highlight>
                  <a:srgbClr val="FFFFFF"/>
                </a:highlight>
              </a:rPr>
              <a:t>a-z</a:t>
            </a:r>
            <a:r>
              <a:rPr lang="en" sz="1500">
                <a:solidFill>
                  <a:srgbClr val="273239"/>
                </a:solidFill>
                <a:highlight>
                  <a:srgbClr val="FFFFFF"/>
                </a:highlight>
              </a:rPr>
              <a:t> digits </a:t>
            </a:r>
            <a:r>
              <a:rPr lang="en" sz="1500" b="1">
                <a:solidFill>
                  <a:srgbClr val="273239"/>
                </a:solidFill>
                <a:highlight>
                  <a:srgbClr val="FFFFFF"/>
                </a:highlight>
              </a:rPr>
              <a:t>0-9</a:t>
            </a:r>
            <a:r>
              <a:rPr lang="en" sz="1500">
                <a:solidFill>
                  <a:srgbClr val="273239"/>
                </a:solidFill>
                <a:highlight>
                  <a:srgbClr val="FFFFFF"/>
                </a:highlight>
              </a:rPr>
              <a:t>, and two special characters such as </a:t>
            </a:r>
            <a:r>
              <a:rPr lang="en" sz="1500" b="1">
                <a:solidFill>
                  <a:srgbClr val="273239"/>
                </a:solidFill>
                <a:highlight>
                  <a:srgbClr val="FFFFFF"/>
                </a:highlight>
              </a:rPr>
              <a:t>_</a:t>
            </a:r>
            <a:r>
              <a:rPr lang="en" sz="1500">
                <a:solidFill>
                  <a:srgbClr val="273239"/>
                </a:solidFill>
                <a:highlight>
                  <a:srgbClr val="FFFFFF"/>
                </a:highlight>
              </a:rPr>
              <a:t> underscore and </a:t>
            </a:r>
            <a:r>
              <a:rPr lang="en" sz="1500" b="1">
                <a:solidFill>
                  <a:srgbClr val="273239"/>
                </a:solidFill>
                <a:highlight>
                  <a:srgbClr val="FFFFFF"/>
                </a:highlight>
              </a:rPr>
              <a:t>$</a:t>
            </a:r>
            <a:r>
              <a:rPr lang="en" sz="1500">
                <a:solidFill>
                  <a:srgbClr val="273239"/>
                </a:solidFill>
                <a:highlight>
                  <a:srgbClr val="FFFFFF"/>
                </a:highlight>
              </a:rPr>
              <a:t> dollar sign.</a:t>
            </a:r>
            <a:endParaRPr sz="1500">
              <a:solidFill>
                <a:srgbClr val="273239"/>
              </a:solidFill>
              <a:highlight>
                <a:srgbClr val="FFFFFF"/>
              </a:highlight>
            </a:endParaRPr>
          </a:p>
          <a:p>
            <a:pPr marL="685800" lvl="0" indent="-323850" algn="l" rtl="0">
              <a:lnSpc>
                <a:spcPct val="158000"/>
              </a:lnSpc>
              <a:spcBef>
                <a:spcPts val="0"/>
              </a:spcBef>
              <a:spcAft>
                <a:spcPts val="0"/>
              </a:spcAft>
              <a:buClr>
                <a:srgbClr val="273239"/>
              </a:buClr>
              <a:buSzPts val="1500"/>
              <a:buFont typeface="Open Sans"/>
              <a:buAutoNum type="arabicPeriod"/>
            </a:pPr>
            <a:r>
              <a:rPr lang="en" sz="1500">
                <a:solidFill>
                  <a:srgbClr val="273239"/>
                </a:solidFill>
                <a:highlight>
                  <a:srgbClr val="FFFFFF"/>
                </a:highlight>
              </a:rPr>
              <a:t>The first character must not be a digit.</a:t>
            </a:r>
            <a:endParaRPr sz="1500">
              <a:solidFill>
                <a:srgbClr val="273239"/>
              </a:solidFill>
              <a:highlight>
                <a:srgbClr val="FFFFFF"/>
              </a:highlight>
            </a:endParaRPr>
          </a:p>
          <a:p>
            <a:pPr marL="685800" lvl="0" indent="-323850" algn="l" rtl="0">
              <a:lnSpc>
                <a:spcPct val="158000"/>
              </a:lnSpc>
              <a:spcBef>
                <a:spcPts val="0"/>
              </a:spcBef>
              <a:spcAft>
                <a:spcPts val="0"/>
              </a:spcAft>
              <a:buClr>
                <a:srgbClr val="273239"/>
              </a:buClr>
              <a:buSzPts val="1500"/>
              <a:buFont typeface="Open Sans"/>
              <a:buAutoNum type="arabicPeriod"/>
            </a:pPr>
            <a:r>
              <a:rPr lang="en" sz="1500">
                <a:solidFill>
                  <a:srgbClr val="273239"/>
                </a:solidFill>
                <a:highlight>
                  <a:srgbClr val="FFFFFF"/>
                </a:highlight>
              </a:rPr>
              <a:t>Blank spaces cannot be used in variable names.</a:t>
            </a:r>
            <a:endParaRPr sz="1500">
              <a:solidFill>
                <a:srgbClr val="273239"/>
              </a:solidFill>
              <a:highlight>
                <a:srgbClr val="FFFFFF"/>
              </a:highlight>
            </a:endParaRPr>
          </a:p>
          <a:p>
            <a:pPr marL="685800" lvl="0" indent="-323850" algn="l" rtl="0">
              <a:lnSpc>
                <a:spcPct val="158000"/>
              </a:lnSpc>
              <a:spcBef>
                <a:spcPts val="0"/>
              </a:spcBef>
              <a:spcAft>
                <a:spcPts val="0"/>
              </a:spcAft>
              <a:buClr>
                <a:srgbClr val="273239"/>
              </a:buClr>
              <a:buSzPts val="1500"/>
              <a:buFont typeface="Open Sans"/>
              <a:buAutoNum type="arabicPeriod"/>
            </a:pPr>
            <a:r>
              <a:rPr lang="en" sz="1500">
                <a:solidFill>
                  <a:srgbClr val="273239"/>
                </a:solidFill>
                <a:highlight>
                  <a:srgbClr val="FFFFFF"/>
                </a:highlight>
              </a:rPr>
              <a:t>Java keywords cannot be used as variable names.</a:t>
            </a:r>
            <a:endParaRPr sz="1500">
              <a:solidFill>
                <a:srgbClr val="273239"/>
              </a:solidFill>
              <a:highlight>
                <a:srgbClr val="FFFFFF"/>
              </a:highlight>
            </a:endParaRPr>
          </a:p>
          <a:p>
            <a:pPr marL="685800" lvl="0" indent="-323850" algn="l" rtl="0">
              <a:lnSpc>
                <a:spcPct val="158000"/>
              </a:lnSpc>
              <a:spcBef>
                <a:spcPts val="0"/>
              </a:spcBef>
              <a:spcAft>
                <a:spcPts val="0"/>
              </a:spcAft>
              <a:buClr>
                <a:srgbClr val="273239"/>
              </a:buClr>
              <a:buSzPts val="1500"/>
              <a:buFont typeface="Open Sans"/>
              <a:buAutoNum type="arabicPeriod"/>
            </a:pPr>
            <a:r>
              <a:rPr lang="en" sz="1500">
                <a:solidFill>
                  <a:srgbClr val="273239"/>
                </a:solidFill>
                <a:highlight>
                  <a:srgbClr val="FFFFFF"/>
                </a:highlight>
              </a:rPr>
              <a:t>Variable names are case-sensitive.</a:t>
            </a:r>
            <a:endParaRPr sz="1500">
              <a:solidFill>
                <a:srgbClr val="273239"/>
              </a:solidFill>
              <a:highlight>
                <a:srgbClr val="FFFFFF"/>
              </a:highlight>
            </a:endParaRPr>
          </a:p>
          <a:p>
            <a:pPr marL="685800" lvl="0" indent="-323850" algn="l" rtl="0">
              <a:lnSpc>
                <a:spcPct val="158000"/>
              </a:lnSpc>
              <a:spcBef>
                <a:spcPts val="0"/>
              </a:spcBef>
              <a:spcAft>
                <a:spcPts val="0"/>
              </a:spcAft>
              <a:buClr>
                <a:srgbClr val="273239"/>
              </a:buClr>
              <a:buSzPts val="1500"/>
              <a:buFont typeface="Open Sans"/>
              <a:buAutoNum type="arabicPeriod"/>
            </a:pPr>
            <a:r>
              <a:rPr lang="en" sz="1500">
                <a:solidFill>
                  <a:srgbClr val="273239"/>
                </a:solidFill>
                <a:highlight>
                  <a:srgbClr val="FFFFFF"/>
                </a:highlight>
              </a:rPr>
              <a:t>There is no limit on the length of a variable name but by convention, it should be between 4 to 15 chars.</a:t>
            </a:r>
            <a:endParaRPr sz="1500">
              <a:solidFill>
                <a:srgbClr val="273239"/>
              </a:solidFill>
              <a:highlight>
                <a:srgbClr val="FFFFFF"/>
              </a:highlight>
            </a:endParaRPr>
          </a:p>
          <a:p>
            <a:pPr marL="685800" lvl="0" indent="-323850" algn="l" rtl="0">
              <a:lnSpc>
                <a:spcPct val="158000"/>
              </a:lnSpc>
              <a:spcBef>
                <a:spcPts val="0"/>
              </a:spcBef>
              <a:spcAft>
                <a:spcPts val="0"/>
              </a:spcAft>
              <a:buClr>
                <a:srgbClr val="273239"/>
              </a:buClr>
              <a:buSzPts val="1500"/>
              <a:buFont typeface="Open Sans"/>
              <a:buAutoNum type="arabicPeriod"/>
            </a:pPr>
            <a:r>
              <a:rPr lang="en" sz="1500">
                <a:solidFill>
                  <a:srgbClr val="273239"/>
                </a:solidFill>
                <a:highlight>
                  <a:srgbClr val="FFFFFF"/>
                </a:highlight>
              </a:rPr>
              <a:t>Variable names always should exist on the left-hand side of assignment operators.</a:t>
            </a:r>
            <a:endParaRPr sz="1500" b="1">
              <a:solidFill>
                <a:srgbClr val="666666"/>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7C71-54AE-773B-3AC3-C23CB6E5021E}"/>
              </a:ext>
            </a:extLst>
          </p:cNvPr>
          <p:cNvSpPr>
            <a:spLocks noGrp="1"/>
          </p:cNvSpPr>
          <p:nvPr>
            <p:ph type="title"/>
          </p:nvPr>
        </p:nvSpPr>
        <p:spPr/>
        <p:txBody>
          <a:bodyPr>
            <a:normAutofit fontScale="90000"/>
          </a:bodyPr>
          <a:lstStyle/>
          <a:p>
            <a:r>
              <a:rPr lang="en-IN" dirty="0"/>
              <a:t>Taking User Input (Scanner class)</a:t>
            </a:r>
          </a:p>
        </p:txBody>
      </p:sp>
      <p:sp>
        <p:nvSpPr>
          <p:cNvPr id="3" name="Text Placeholder 2">
            <a:extLst>
              <a:ext uri="{FF2B5EF4-FFF2-40B4-BE49-F238E27FC236}">
                <a16:creationId xmlns:a16="http://schemas.microsoft.com/office/drawing/2014/main" id="{B8F33259-98CA-ADA8-58CA-49A51298C75B}"/>
              </a:ext>
            </a:extLst>
          </p:cNvPr>
          <p:cNvSpPr>
            <a:spLocks noGrp="1"/>
          </p:cNvSpPr>
          <p:nvPr>
            <p:ph type="body" idx="1"/>
          </p:nvPr>
        </p:nvSpPr>
        <p:spPr/>
        <p:txBody>
          <a:bodyPr>
            <a:normAutofit/>
          </a:bodyPr>
          <a:lstStyle/>
          <a:p>
            <a:pPr>
              <a:lnSpc>
                <a:spcPct val="150000"/>
              </a:lnSpc>
            </a:pPr>
            <a:r>
              <a:rPr lang="en-IN" sz="2000" dirty="0"/>
              <a:t>Many Java programs need to interact with users by accepting data during execution.</a:t>
            </a:r>
          </a:p>
          <a:p>
            <a:pPr>
              <a:lnSpc>
                <a:spcPct val="150000"/>
              </a:lnSpc>
            </a:pPr>
            <a:r>
              <a:rPr lang="en-IN" sz="2000" dirty="0"/>
              <a:t>Java provides </a:t>
            </a:r>
            <a:r>
              <a:rPr lang="en-IN" sz="2000" b="1" i="1" dirty="0">
                <a:solidFill>
                  <a:srgbClr val="C00000"/>
                </a:solidFill>
              </a:rPr>
              <a:t>Scanner</a:t>
            </a:r>
            <a:r>
              <a:rPr lang="en-IN" sz="2000" dirty="0"/>
              <a:t> class to read the data from user</a:t>
            </a:r>
          </a:p>
          <a:p>
            <a:pPr>
              <a:lnSpc>
                <a:spcPct val="150000"/>
              </a:lnSpc>
            </a:pPr>
            <a:r>
              <a:rPr lang="en-IN" sz="2000" dirty="0"/>
              <a:t>Scanner class is available in </a:t>
            </a:r>
            <a:r>
              <a:rPr lang="en-IN" sz="2000" b="1" i="1" dirty="0" err="1">
                <a:solidFill>
                  <a:srgbClr val="C00000"/>
                </a:solidFill>
              </a:rPr>
              <a:t>java.util</a:t>
            </a:r>
            <a:r>
              <a:rPr lang="en-IN" sz="2000" b="1" i="1" dirty="0">
                <a:solidFill>
                  <a:srgbClr val="C00000"/>
                </a:solidFill>
              </a:rPr>
              <a:t> </a:t>
            </a:r>
            <a:r>
              <a:rPr lang="en-IN" sz="2000" dirty="0"/>
              <a:t>package, we have to import it whenever we need to take user input</a:t>
            </a:r>
          </a:p>
          <a:p>
            <a:pPr marL="596900" lvl="1" indent="0">
              <a:lnSpc>
                <a:spcPct val="150000"/>
              </a:lnSpc>
              <a:buNone/>
            </a:pPr>
            <a:r>
              <a:rPr lang="en-IN" sz="2000" dirty="0"/>
              <a:t>		</a:t>
            </a:r>
            <a:r>
              <a:rPr lang="en-IN" sz="2000" b="1" i="1" dirty="0"/>
              <a:t>import </a:t>
            </a:r>
            <a:r>
              <a:rPr lang="en-IN" sz="2000" b="1" i="1" dirty="0" err="1"/>
              <a:t>java.util.Scanner</a:t>
            </a:r>
            <a:r>
              <a:rPr lang="en-IN" sz="2000" b="1" i="1" dirty="0"/>
              <a:t>;</a:t>
            </a:r>
            <a:endParaRPr lang="en-IN" sz="2000" b="1" i="1" dirty="0">
              <a:solidFill>
                <a:schemeClr val="bg2">
                  <a:lumMod val="50000"/>
                </a:schemeClr>
              </a:solidFill>
            </a:endParaRPr>
          </a:p>
        </p:txBody>
      </p:sp>
    </p:spTree>
    <p:extLst>
      <p:ext uri="{BB962C8B-B14F-4D97-AF65-F5344CB8AC3E}">
        <p14:creationId xmlns:p14="http://schemas.microsoft.com/office/powerpoint/2010/main" val="137316464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14DB5-2EE0-7C5B-165A-AB9512E0CA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5F1E2D-DBEF-6FBC-5747-A7293886B3B9}"/>
              </a:ext>
            </a:extLst>
          </p:cNvPr>
          <p:cNvSpPr>
            <a:spLocks noGrp="1"/>
          </p:cNvSpPr>
          <p:nvPr>
            <p:ph type="title"/>
          </p:nvPr>
        </p:nvSpPr>
        <p:spPr/>
        <p:txBody>
          <a:bodyPr>
            <a:normAutofit fontScale="90000"/>
          </a:bodyPr>
          <a:lstStyle/>
          <a:p>
            <a:r>
              <a:rPr lang="en-IN" dirty="0"/>
              <a:t>Taking User Input (Scanner class)</a:t>
            </a:r>
          </a:p>
        </p:txBody>
      </p:sp>
      <p:sp>
        <p:nvSpPr>
          <p:cNvPr id="3" name="Text Placeholder 2">
            <a:extLst>
              <a:ext uri="{FF2B5EF4-FFF2-40B4-BE49-F238E27FC236}">
                <a16:creationId xmlns:a16="http://schemas.microsoft.com/office/drawing/2014/main" id="{949EF5B0-7D67-4C05-55AE-FE0349CAE36E}"/>
              </a:ext>
            </a:extLst>
          </p:cNvPr>
          <p:cNvSpPr>
            <a:spLocks noGrp="1"/>
          </p:cNvSpPr>
          <p:nvPr>
            <p:ph type="body" idx="1"/>
          </p:nvPr>
        </p:nvSpPr>
        <p:spPr/>
        <p:txBody>
          <a:bodyPr>
            <a:normAutofit/>
          </a:bodyPr>
          <a:lstStyle/>
          <a:p>
            <a:r>
              <a:rPr lang="en-IN" dirty="0"/>
              <a:t>To use the Scanner class, a Scanner object is created using System.in, which represents the standard input stream.</a:t>
            </a:r>
          </a:p>
          <a:p>
            <a:pPr marL="114300" indent="0">
              <a:buNone/>
            </a:pPr>
            <a:r>
              <a:rPr lang="en-IN" dirty="0"/>
              <a:t>		</a:t>
            </a:r>
            <a:r>
              <a:rPr lang="en-IN" b="1" i="1" dirty="0"/>
              <a:t>Scanner </a:t>
            </a:r>
            <a:r>
              <a:rPr lang="en-IN" b="1" i="1" dirty="0" err="1"/>
              <a:t>sc</a:t>
            </a:r>
            <a:r>
              <a:rPr lang="en-IN" b="1" i="1" dirty="0"/>
              <a:t> = new Scanner(System.in)</a:t>
            </a:r>
            <a:endParaRPr lang="en-IN" dirty="0"/>
          </a:p>
          <a:p>
            <a:pPr marL="114300" indent="0">
              <a:buNone/>
            </a:pPr>
            <a:endParaRPr lang="en-IN" dirty="0"/>
          </a:p>
        </p:txBody>
      </p:sp>
    </p:spTree>
    <p:extLst>
      <p:ext uri="{BB962C8B-B14F-4D97-AF65-F5344CB8AC3E}">
        <p14:creationId xmlns:p14="http://schemas.microsoft.com/office/powerpoint/2010/main" val="40199991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C982F-3E8E-39FE-39C6-8D02CAC935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B4CD88-722B-6140-8B1C-4A7E3341822C}"/>
              </a:ext>
            </a:extLst>
          </p:cNvPr>
          <p:cNvSpPr>
            <a:spLocks noGrp="1"/>
          </p:cNvSpPr>
          <p:nvPr>
            <p:ph type="title"/>
          </p:nvPr>
        </p:nvSpPr>
        <p:spPr/>
        <p:txBody>
          <a:bodyPr>
            <a:normAutofit fontScale="90000"/>
          </a:bodyPr>
          <a:lstStyle/>
          <a:p>
            <a:r>
              <a:rPr lang="en-IN" dirty="0"/>
              <a:t>Taking User Input (Scanner class)</a:t>
            </a:r>
          </a:p>
        </p:txBody>
      </p:sp>
      <p:pic>
        <p:nvPicPr>
          <p:cNvPr id="5" name="Picture 4">
            <a:extLst>
              <a:ext uri="{FF2B5EF4-FFF2-40B4-BE49-F238E27FC236}">
                <a16:creationId xmlns:a16="http://schemas.microsoft.com/office/drawing/2014/main" id="{B3797CBF-F931-1995-0D20-07E30BAC8FE7}"/>
              </a:ext>
            </a:extLst>
          </p:cNvPr>
          <p:cNvPicPr>
            <a:picLocks noChangeAspect="1"/>
          </p:cNvPicPr>
          <p:nvPr/>
        </p:nvPicPr>
        <p:blipFill>
          <a:blip r:embed="rId2"/>
          <a:stretch>
            <a:fillRect/>
          </a:stretch>
        </p:blipFill>
        <p:spPr>
          <a:xfrm>
            <a:off x="198829" y="1518185"/>
            <a:ext cx="5383365" cy="3340272"/>
          </a:xfrm>
          <a:prstGeom prst="rect">
            <a:avLst/>
          </a:prstGeom>
        </p:spPr>
      </p:pic>
      <p:pic>
        <p:nvPicPr>
          <p:cNvPr id="7" name="Picture 6">
            <a:extLst>
              <a:ext uri="{FF2B5EF4-FFF2-40B4-BE49-F238E27FC236}">
                <a16:creationId xmlns:a16="http://schemas.microsoft.com/office/drawing/2014/main" id="{95F51EEE-5A79-D554-2BF2-6C9978DA30D7}"/>
              </a:ext>
            </a:extLst>
          </p:cNvPr>
          <p:cNvPicPr>
            <a:picLocks noChangeAspect="1"/>
          </p:cNvPicPr>
          <p:nvPr/>
        </p:nvPicPr>
        <p:blipFill>
          <a:blip r:embed="rId3"/>
          <a:stretch>
            <a:fillRect/>
          </a:stretch>
        </p:blipFill>
        <p:spPr>
          <a:xfrm>
            <a:off x="5997245" y="1391580"/>
            <a:ext cx="2947926" cy="2385073"/>
          </a:xfrm>
          <a:prstGeom prst="rect">
            <a:avLst/>
          </a:prstGeom>
        </p:spPr>
      </p:pic>
      <p:sp>
        <p:nvSpPr>
          <p:cNvPr id="8" name="TextBox 7">
            <a:extLst>
              <a:ext uri="{FF2B5EF4-FFF2-40B4-BE49-F238E27FC236}">
                <a16:creationId xmlns:a16="http://schemas.microsoft.com/office/drawing/2014/main" id="{4AA521DB-25BE-79CB-BFB7-E3353241F3BD}"/>
              </a:ext>
            </a:extLst>
          </p:cNvPr>
          <p:cNvSpPr txBox="1"/>
          <p:nvPr/>
        </p:nvSpPr>
        <p:spPr>
          <a:xfrm>
            <a:off x="409302" y="1083803"/>
            <a:ext cx="870751" cy="307777"/>
          </a:xfrm>
          <a:prstGeom prst="rect">
            <a:avLst/>
          </a:prstGeom>
          <a:noFill/>
        </p:spPr>
        <p:txBody>
          <a:bodyPr wrap="none" rtlCol="0">
            <a:spAutoFit/>
          </a:bodyPr>
          <a:lstStyle/>
          <a:p>
            <a:r>
              <a:rPr lang="en-US" dirty="0"/>
              <a:t>Program</a:t>
            </a:r>
            <a:endParaRPr lang="en-IN" dirty="0"/>
          </a:p>
        </p:txBody>
      </p:sp>
      <p:sp>
        <p:nvSpPr>
          <p:cNvPr id="9" name="TextBox 8">
            <a:extLst>
              <a:ext uri="{FF2B5EF4-FFF2-40B4-BE49-F238E27FC236}">
                <a16:creationId xmlns:a16="http://schemas.microsoft.com/office/drawing/2014/main" id="{FB8BF249-43B0-256A-9569-5769598B8653}"/>
              </a:ext>
            </a:extLst>
          </p:cNvPr>
          <p:cNvSpPr txBox="1"/>
          <p:nvPr/>
        </p:nvSpPr>
        <p:spPr>
          <a:xfrm>
            <a:off x="6100353" y="998536"/>
            <a:ext cx="721672" cy="307777"/>
          </a:xfrm>
          <a:prstGeom prst="rect">
            <a:avLst/>
          </a:prstGeom>
          <a:noFill/>
        </p:spPr>
        <p:txBody>
          <a:bodyPr wrap="none" rtlCol="0">
            <a:spAutoFit/>
          </a:bodyPr>
          <a:lstStyle/>
          <a:p>
            <a:r>
              <a:rPr lang="en-US" dirty="0"/>
              <a:t>Output</a:t>
            </a:r>
            <a:endParaRPr lang="en-IN" dirty="0"/>
          </a:p>
        </p:txBody>
      </p:sp>
    </p:spTree>
    <p:extLst>
      <p:ext uri="{BB962C8B-B14F-4D97-AF65-F5344CB8AC3E}">
        <p14:creationId xmlns:p14="http://schemas.microsoft.com/office/powerpoint/2010/main" val="25717267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sp>
        <p:nvSpPr>
          <p:cNvPr id="913" name="Google Shape;913;p143"/>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Command line arguments</a:t>
            </a:r>
            <a:endParaRPr/>
          </a:p>
        </p:txBody>
      </p:sp>
      <p:sp>
        <p:nvSpPr>
          <p:cNvPr id="914" name="Google Shape;914;p143"/>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rgbClr val="666666"/>
              </a:buClr>
              <a:buSzPts val="1800"/>
              <a:buChar char="●"/>
            </a:pPr>
            <a:r>
              <a:rPr lang="en">
                <a:solidFill>
                  <a:srgbClr val="666666"/>
                </a:solidFill>
              </a:rPr>
              <a:t>Sometimes we need to pass information into a program while it is running. This can be accomplished by passing command line arguments to </a:t>
            </a:r>
            <a:r>
              <a:rPr lang="en" b="1">
                <a:solidFill>
                  <a:srgbClr val="666666"/>
                </a:solidFill>
              </a:rPr>
              <a:t>main()</a:t>
            </a:r>
            <a:endParaRPr b="1">
              <a:solidFill>
                <a:srgbClr val="666666"/>
              </a:solidFill>
            </a:endParaRPr>
          </a:p>
          <a:p>
            <a:pPr marL="457200" lvl="0" indent="-342900" algn="l" rtl="0">
              <a:spcBef>
                <a:spcPts val="0"/>
              </a:spcBef>
              <a:spcAft>
                <a:spcPts val="0"/>
              </a:spcAft>
              <a:buClr>
                <a:srgbClr val="666666"/>
              </a:buClr>
              <a:buSzPts val="1800"/>
              <a:buChar char="●"/>
            </a:pPr>
            <a:r>
              <a:rPr lang="en">
                <a:solidFill>
                  <a:srgbClr val="666666"/>
                </a:solidFill>
                <a:highlight>
                  <a:srgbClr val="FFFFFF"/>
                </a:highlight>
              </a:rPr>
              <a:t>The information passed is stored in the string array passed to the main() method and it is stored as a string. It is the information that directly follows the program’s name on the command line when it is running.</a:t>
            </a:r>
            <a:endParaRPr>
              <a:solidFill>
                <a:srgbClr val="666666"/>
              </a:solidFill>
              <a:highlight>
                <a:srgbClr val="FFFFFF"/>
              </a:highlight>
            </a:endParaRPr>
          </a:p>
          <a:p>
            <a:pPr marL="457200" lvl="0" indent="-342900" algn="l" rtl="0">
              <a:spcBef>
                <a:spcPts val="0"/>
              </a:spcBef>
              <a:spcAft>
                <a:spcPts val="0"/>
              </a:spcAft>
              <a:buClr>
                <a:srgbClr val="666666"/>
              </a:buClr>
              <a:buSzPts val="1800"/>
              <a:buChar char="●"/>
            </a:pPr>
            <a:endParaRPr>
              <a:solidFill>
                <a:srgbClr val="666666"/>
              </a:solidFill>
              <a:highlight>
                <a:srgbClr val="FFFFFF"/>
              </a:highlight>
            </a:endParaRPr>
          </a:p>
        </p:txBody>
      </p:sp>
    </p:spTree>
    <p:extLst>
      <p:ext uri="{BB962C8B-B14F-4D97-AF65-F5344CB8AC3E}">
        <p14:creationId xmlns:p14="http://schemas.microsoft.com/office/powerpoint/2010/main" val="93440882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918"/>
        <p:cNvGrpSpPr/>
        <p:nvPr/>
      </p:nvGrpSpPr>
      <p:grpSpPr>
        <a:xfrm>
          <a:off x="0" y="0"/>
          <a:ext cx="0" cy="0"/>
          <a:chOff x="0" y="0"/>
          <a:chExt cx="0" cy="0"/>
        </a:xfrm>
      </p:grpSpPr>
      <p:sp>
        <p:nvSpPr>
          <p:cNvPr id="919" name="Google Shape;919;p14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Example-1</a:t>
            </a:r>
            <a:endParaRPr/>
          </a:p>
        </p:txBody>
      </p:sp>
      <p:pic>
        <p:nvPicPr>
          <p:cNvPr id="920" name="Google Shape;920;p144"/>
          <p:cNvPicPr preferRelativeResize="0"/>
          <p:nvPr/>
        </p:nvPicPr>
        <p:blipFill>
          <a:blip r:embed="rId3">
            <a:alphaModFix/>
          </a:blip>
          <a:stretch>
            <a:fillRect/>
          </a:stretch>
        </p:blipFill>
        <p:spPr>
          <a:xfrm>
            <a:off x="1219200" y="1304825"/>
            <a:ext cx="5810250" cy="3009900"/>
          </a:xfrm>
          <a:prstGeom prst="rect">
            <a:avLst/>
          </a:prstGeom>
          <a:noFill/>
          <a:ln>
            <a:noFill/>
          </a:ln>
        </p:spPr>
      </p:pic>
      <p:pic>
        <p:nvPicPr>
          <p:cNvPr id="921" name="Google Shape;921;p144"/>
          <p:cNvPicPr preferRelativeResize="0"/>
          <p:nvPr/>
        </p:nvPicPr>
        <p:blipFill>
          <a:blip r:embed="rId4">
            <a:alphaModFix/>
          </a:blip>
          <a:stretch>
            <a:fillRect/>
          </a:stretch>
        </p:blipFill>
        <p:spPr>
          <a:xfrm>
            <a:off x="1228725" y="4000500"/>
            <a:ext cx="6229350" cy="952500"/>
          </a:xfrm>
          <a:prstGeom prst="rect">
            <a:avLst/>
          </a:prstGeom>
          <a:noFill/>
          <a:ln>
            <a:noFill/>
          </a:ln>
        </p:spPr>
      </p:pic>
      <p:sp>
        <p:nvSpPr>
          <p:cNvPr id="922" name="Google Shape;922;p144"/>
          <p:cNvSpPr txBox="1"/>
          <p:nvPr/>
        </p:nvSpPr>
        <p:spPr>
          <a:xfrm>
            <a:off x="167650" y="3933525"/>
            <a:ext cx="6317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Open Sans"/>
                <a:ea typeface="Open Sans"/>
                <a:cs typeface="Open Sans"/>
                <a:sym typeface="Open Sans"/>
              </a:rPr>
              <a:t>OUTPUT:</a:t>
            </a:r>
            <a:endParaRPr b="1">
              <a:latin typeface="Open Sans"/>
              <a:ea typeface="Open Sans"/>
              <a:cs typeface="Open Sans"/>
              <a:sym typeface="Open Sans"/>
            </a:endParaRPr>
          </a:p>
        </p:txBody>
      </p:sp>
    </p:spTree>
    <p:extLst>
      <p:ext uri="{BB962C8B-B14F-4D97-AF65-F5344CB8AC3E}">
        <p14:creationId xmlns:p14="http://schemas.microsoft.com/office/powerpoint/2010/main" val="374748350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Google Shape;927;p14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Example-2</a:t>
            </a:r>
            <a:endParaRPr/>
          </a:p>
        </p:txBody>
      </p:sp>
      <p:sp>
        <p:nvSpPr>
          <p:cNvPr id="928" name="Google Shape;928;p145"/>
          <p:cNvSpPr txBox="1"/>
          <p:nvPr/>
        </p:nvSpPr>
        <p:spPr>
          <a:xfrm>
            <a:off x="167650" y="3933525"/>
            <a:ext cx="6317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Open Sans"/>
                <a:ea typeface="Open Sans"/>
                <a:cs typeface="Open Sans"/>
                <a:sym typeface="Open Sans"/>
              </a:rPr>
              <a:t>OUTPUT:</a:t>
            </a:r>
            <a:endParaRPr b="1">
              <a:latin typeface="Open Sans"/>
              <a:ea typeface="Open Sans"/>
              <a:cs typeface="Open Sans"/>
              <a:sym typeface="Open Sans"/>
            </a:endParaRPr>
          </a:p>
        </p:txBody>
      </p:sp>
      <p:pic>
        <p:nvPicPr>
          <p:cNvPr id="929" name="Google Shape;929;p145"/>
          <p:cNvPicPr preferRelativeResize="0"/>
          <p:nvPr/>
        </p:nvPicPr>
        <p:blipFill>
          <a:blip r:embed="rId3">
            <a:alphaModFix/>
          </a:blip>
          <a:stretch>
            <a:fillRect/>
          </a:stretch>
        </p:blipFill>
        <p:spPr>
          <a:xfrm>
            <a:off x="1295400" y="1304825"/>
            <a:ext cx="5628785" cy="2476300"/>
          </a:xfrm>
          <a:prstGeom prst="rect">
            <a:avLst/>
          </a:prstGeom>
          <a:noFill/>
          <a:ln>
            <a:noFill/>
          </a:ln>
        </p:spPr>
      </p:pic>
      <p:pic>
        <p:nvPicPr>
          <p:cNvPr id="930" name="Google Shape;930;p145"/>
          <p:cNvPicPr preferRelativeResize="0"/>
          <p:nvPr/>
        </p:nvPicPr>
        <p:blipFill>
          <a:blip r:embed="rId4">
            <a:alphaModFix/>
          </a:blip>
          <a:stretch>
            <a:fillRect/>
          </a:stretch>
        </p:blipFill>
        <p:spPr>
          <a:xfrm>
            <a:off x="1404938" y="3976688"/>
            <a:ext cx="6181725" cy="1000125"/>
          </a:xfrm>
          <a:prstGeom prst="rect">
            <a:avLst/>
          </a:prstGeom>
          <a:noFill/>
          <a:ln>
            <a:noFill/>
          </a:ln>
        </p:spPr>
      </p:pic>
    </p:spTree>
    <p:extLst>
      <p:ext uri="{BB962C8B-B14F-4D97-AF65-F5344CB8AC3E}">
        <p14:creationId xmlns:p14="http://schemas.microsoft.com/office/powerpoint/2010/main" val="199764708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934"/>
        <p:cNvGrpSpPr/>
        <p:nvPr/>
      </p:nvGrpSpPr>
      <p:grpSpPr>
        <a:xfrm>
          <a:off x="0" y="0"/>
          <a:ext cx="0" cy="0"/>
          <a:chOff x="0" y="0"/>
          <a:chExt cx="0" cy="0"/>
        </a:xfrm>
      </p:grpSpPr>
      <p:sp>
        <p:nvSpPr>
          <p:cNvPr id="935" name="Google Shape;935;p14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varargs</a:t>
            </a:r>
            <a:endParaRPr/>
          </a:p>
        </p:txBody>
      </p:sp>
      <p:sp>
        <p:nvSpPr>
          <p:cNvPr id="936" name="Google Shape;936;p146"/>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rgbClr val="666666"/>
                </a:solidFill>
                <a:highlight>
                  <a:srgbClr val="FFFFFF"/>
                </a:highlight>
              </a:rPr>
              <a:t>If we don't know how many argument we will have to pass in the method, varargs is the better approach.</a:t>
            </a:r>
            <a:endParaRPr>
              <a:solidFill>
                <a:srgbClr val="666666"/>
              </a:solidFill>
              <a:highlight>
                <a:srgbClr val="FFFFFF"/>
              </a:highlight>
            </a:endParaRPr>
          </a:p>
          <a:p>
            <a:pPr marL="0" lvl="0" indent="0" algn="l" rtl="0">
              <a:spcBef>
                <a:spcPts val="1200"/>
              </a:spcBef>
              <a:spcAft>
                <a:spcPts val="0"/>
              </a:spcAft>
              <a:buNone/>
            </a:pPr>
            <a:r>
              <a:rPr lang="en">
                <a:solidFill>
                  <a:srgbClr val="666666"/>
                </a:solidFill>
                <a:highlight>
                  <a:srgbClr val="FFFFFF"/>
                </a:highlight>
              </a:rPr>
              <a:t>The varargs allows the method to accept zero or multiple arguments. Before varargs either we use overloaded method or take an array as the method parameter but it was not considered good because it leads to the maintenance problem. </a:t>
            </a:r>
            <a:endParaRPr>
              <a:solidFill>
                <a:srgbClr val="666666"/>
              </a:solidFill>
              <a:highlight>
                <a:srgbClr val="FFFFFF"/>
              </a:highlight>
            </a:endParaRPr>
          </a:p>
          <a:p>
            <a:pPr marL="0" lvl="0" indent="0" algn="l" rtl="0">
              <a:spcBef>
                <a:spcPts val="1200"/>
              </a:spcBef>
              <a:spcAft>
                <a:spcPts val="1200"/>
              </a:spcAft>
              <a:buNone/>
            </a:pPr>
            <a:r>
              <a:rPr lang="en">
                <a:solidFill>
                  <a:srgbClr val="666666"/>
                </a:solidFill>
                <a:highlight>
                  <a:srgbClr val="FFFFFF"/>
                </a:highlight>
              </a:rPr>
              <a:t>Syntax: returntype method_name(datatype… value)</a:t>
            </a:r>
            <a:endParaRPr>
              <a:solidFill>
                <a:srgbClr val="666666"/>
              </a:solidFill>
              <a:highlight>
                <a:srgbClr val="FFFFFF"/>
              </a:highlight>
            </a:endParaRPr>
          </a:p>
        </p:txBody>
      </p:sp>
    </p:spTree>
    <p:extLst>
      <p:ext uri="{BB962C8B-B14F-4D97-AF65-F5344CB8AC3E}">
        <p14:creationId xmlns:p14="http://schemas.microsoft.com/office/powerpoint/2010/main" val="95380285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940"/>
        <p:cNvGrpSpPr/>
        <p:nvPr/>
      </p:nvGrpSpPr>
      <p:grpSpPr>
        <a:xfrm>
          <a:off x="0" y="0"/>
          <a:ext cx="0" cy="0"/>
          <a:chOff x="0" y="0"/>
          <a:chExt cx="0" cy="0"/>
        </a:xfrm>
      </p:grpSpPr>
      <p:sp>
        <p:nvSpPr>
          <p:cNvPr id="941" name="Google Shape;941;p147"/>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Rules for defining varargs</a:t>
            </a:r>
            <a:endParaRPr/>
          </a:p>
        </p:txBody>
      </p:sp>
      <p:sp>
        <p:nvSpPr>
          <p:cNvPr id="942" name="Google Shape;942;p147"/>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Autofit/>
          </a:bodyPr>
          <a:lstStyle/>
          <a:p>
            <a:pPr marL="0" lvl="0" indent="0" algn="just" rtl="0">
              <a:spcBef>
                <a:spcPts val="1200"/>
              </a:spcBef>
              <a:spcAft>
                <a:spcPts val="0"/>
              </a:spcAft>
              <a:buNone/>
            </a:pPr>
            <a:r>
              <a:rPr lang="en" sz="1600">
                <a:solidFill>
                  <a:srgbClr val="666666"/>
                </a:solidFill>
                <a:highlight>
                  <a:srgbClr val="FFFFFF"/>
                </a:highlight>
              </a:rPr>
              <a:t>While using the varargs, you must follow some rules otherwise program code won't compile. The rules are as follows:</a:t>
            </a:r>
            <a:endParaRPr sz="1600">
              <a:solidFill>
                <a:srgbClr val="666666"/>
              </a:solidFill>
              <a:highlight>
                <a:srgbClr val="FFFFFF"/>
              </a:highlight>
            </a:endParaRPr>
          </a:p>
          <a:p>
            <a:pPr marL="457200" lvl="0" indent="-330200" algn="l" rtl="0">
              <a:lnSpc>
                <a:spcPct val="156250"/>
              </a:lnSpc>
              <a:spcBef>
                <a:spcPts val="1500"/>
              </a:spcBef>
              <a:spcAft>
                <a:spcPts val="0"/>
              </a:spcAft>
              <a:buClr>
                <a:srgbClr val="666666"/>
              </a:buClr>
              <a:buSzPts val="1600"/>
              <a:buFont typeface="Open Sans"/>
              <a:buChar char="○"/>
            </a:pPr>
            <a:r>
              <a:rPr lang="en" sz="1600">
                <a:solidFill>
                  <a:srgbClr val="666666"/>
                </a:solidFill>
                <a:highlight>
                  <a:srgbClr val="FFFFFF"/>
                </a:highlight>
              </a:rPr>
              <a:t>There can be only one variable argument in the method.</a:t>
            </a:r>
            <a:endParaRPr sz="1600">
              <a:solidFill>
                <a:srgbClr val="666666"/>
              </a:solidFill>
              <a:highlight>
                <a:srgbClr val="FFFFFF"/>
              </a:highlight>
            </a:endParaRPr>
          </a:p>
          <a:p>
            <a:pPr marL="457200" lvl="0" indent="-330200" algn="l" rtl="0">
              <a:lnSpc>
                <a:spcPct val="156250"/>
              </a:lnSpc>
              <a:spcBef>
                <a:spcPts val="0"/>
              </a:spcBef>
              <a:spcAft>
                <a:spcPts val="0"/>
              </a:spcAft>
              <a:buClr>
                <a:srgbClr val="666666"/>
              </a:buClr>
              <a:buSzPts val="1600"/>
              <a:buFont typeface="Open Sans"/>
              <a:buChar char="○"/>
            </a:pPr>
            <a:r>
              <a:rPr lang="en" sz="1600">
                <a:solidFill>
                  <a:srgbClr val="666666"/>
                </a:solidFill>
                <a:highlight>
                  <a:srgbClr val="FFFFFF"/>
                </a:highlight>
              </a:rPr>
              <a:t>Variable argument (varargs) must be the last argument.</a:t>
            </a:r>
            <a:endParaRPr sz="1600">
              <a:solidFill>
                <a:srgbClr val="666666"/>
              </a:solidFill>
              <a:highlight>
                <a:srgbClr val="FFFFFF"/>
              </a:highlight>
            </a:endParaRPr>
          </a:p>
          <a:p>
            <a:pPr marL="0" lvl="0" indent="0" algn="l" rtl="0">
              <a:spcBef>
                <a:spcPts val="1200"/>
              </a:spcBef>
              <a:spcAft>
                <a:spcPts val="0"/>
              </a:spcAft>
              <a:buNone/>
            </a:pPr>
            <a:r>
              <a:rPr lang="en" sz="1600">
                <a:solidFill>
                  <a:srgbClr val="666666"/>
                </a:solidFill>
                <a:highlight>
                  <a:srgbClr val="FFFFFF"/>
                </a:highlight>
              </a:rPr>
              <a:t>Example: </a:t>
            </a:r>
            <a:endParaRPr sz="1600">
              <a:solidFill>
                <a:srgbClr val="666666"/>
              </a:solidFill>
              <a:highlight>
                <a:srgbClr val="FFFFFF"/>
              </a:highlight>
            </a:endParaRPr>
          </a:p>
          <a:p>
            <a:pPr marL="0" lvl="0" indent="0" algn="l" rtl="0">
              <a:spcBef>
                <a:spcPts val="1200"/>
              </a:spcBef>
              <a:spcAft>
                <a:spcPts val="0"/>
              </a:spcAft>
              <a:buNone/>
            </a:pPr>
            <a:r>
              <a:rPr lang="en" sz="1600">
                <a:solidFill>
                  <a:srgbClr val="666666"/>
                </a:solidFill>
                <a:highlight>
                  <a:srgbClr val="FFFFFF"/>
                </a:highlight>
              </a:rPr>
              <a:t>	void xyz(String… a, String b…)	//gives compile time error</a:t>
            </a:r>
            <a:endParaRPr sz="1600">
              <a:solidFill>
                <a:srgbClr val="666666"/>
              </a:solidFill>
              <a:highlight>
                <a:srgbClr val="FFFFFF"/>
              </a:highlight>
            </a:endParaRPr>
          </a:p>
          <a:p>
            <a:pPr marL="0" lvl="0" indent="0" algn="l" rtl="0">
              <a:spcBef>
                <a:spcPts val="1200"/>
              </a:spcBef>
              <a:spcAft>
                <a:spcPts val="0"/>
              </a:spcAft>
              <a:buNone/>
            </a:pPr>
            <a:r>
              <a:rPr lang="en" sz="1600">
                <a:solidFill>
                  <a:srgbClr val="666666"/>
                </a:solidFill>
                <a:highlight>
                  <a:srgbClr val="FFFFFF"/>
                </a:highlight>
              </a:rPr>
              <a:t>	void xyz(String… a, int b)   //gives compile time error</a:t>
            </a:r>
            <a:endParaRPr sz="1600">
              <a:solidFill>
                <a:srgbClr val="666666"/>
              </a:solidFill>
              <a:highlight>
                <a:srgbClr val="FFFFFF"/>
              </a:highlight>
            </a:endParaRPr>
          </a:p>
          <a:p>
            <a:pPr marL="0" lvl="0" indent="0" algn="l" rtl="0">
              <a:spcBef>
                <a:spcPts val="1200"/>
              </a:spcBef>
              <a:spcAft>
                <a:spcPts val="1200"/>
              </a:spcAft>
              <a:buNone/>
            </a:pPr>
            <a:r>
              <a:rPr lang="en" sz="1600">
                <a:solidFill>
                  <a:srgbClr val="666666"/>
                </a:solidFill>
                <a:highlight>
                  <a:srgbClr val="FFFFFF"/>
                </a:highlight>
              </a:rPr>
              <a:t>	void xyz(int a, String… b) //works fine</a:t>
            </a:r>
            <a:endParaRPr sz="1600">
              <a:solidFill>
                <a:srgbClr val="666666"/>
              </a:solidFill>
              <a:highlight>
                <a:srgbClr val="FFFFFF"/>
              </a:highlight>
            </a:endParaRPr>
          </a:p>
        </p:txBody>
      </p:sp>
    </p:spTree>
    <p:extLst>
      <p:ext uri="{BB962C8B-B14F-4D97-AF65-F5344CB8AC3E}">
        <p14:creationId xmlns:p14="http://schemas.microsoft.com/office/powerpoint/2010/main" val="152425098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946"/>
        <p:cNvGrpSpPr/>
        <p:nvPr/>
      </p:nvGrpSpPr>
      <p:grpSpPr>
        <a:xfrm>
          <a:off x="0" y="0"/>
          <a:ext cx="0" cy="0"/>
          <a:chOff x="0" y="0"/>
          <a:chExt cx="0" cy="0"/>
        </a:xfrm>
      </p:grpSpPr>
      <p:sp>
        <p:nvSpPr>
          <p:cNvPr id="947" name="Google Shape;947;p148"/>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Example-3 : CLA using varargs</a:t>
            </a:r>
            <a:endParaRPr/>
          </a:p>
        </p:txBody>
      </p:sp>
      <p:sp>
        <p:nvSpPr>
          <p:cNvPr id="948" name="Google Shape;948;p148"/>
          <p:cNvSpPr txBox="1"/>
          <p:nvPr/>
        </p:nvSpPr>
        <p:spPr>
          <a:xfrm>
            <a:off x="167650" y="3933525"/>
            <a:ext cx="6317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Open Sans"/>
                <a:ea typeface="Open Sans"/>
                <a:cs typeface="Open Sans"/>
                <a:sym typeface="Open Sans"/>
              </a:rPr>
              <a:t>OUTPUT:</a:t>
            </a:r>
            <a:endParaRPr b="1">
              <a:latin typeface="Open Sans"/>
              <a:ea typeface="Open Sans"/>
              <a:cs typeface="Open Sans"/>
              <a:sym typeface="Open Sans"/>
            </a:endParaRPr>
          </a:p>
        </p:txBody>
      </p:sp>
      <p:pic>
        <p:nvPicPr>
          <p:cNvPr id="949" name="Google Shape;949;p148"/>
          <p:cNvPicPr preferRelativeResize="0"/>
          <p:nvPr/>
        </p:nvPicPr>
        <p:blipFill>
          <a:blip r:embed="rId3">
            <a:alphaModFix/>
          </a:blip>
          <a:stretch>
            <a:fillRect/>
          </a:stretch>
        </p:blipFill>
        <p:spPr>
          <a:xfrm>
            <a:off x="1404938" y="3976688"/>
            <a:ext cx="6181725" cy="1000125"/>
          </a:xfrm>
          <a:prstGeom prst="rect">
            <a:avLst/>
          </a:prstGeom>
          <a:noFill/>
          <a:ln>
            <a:noFill/>
          </a:ln>
        </p:spPr>
      </p:pic>
      <p:pic>
        <p:nvPicPr>
          <p:cNvPr id="950" name="Google Shape;950;p148"/>
          <p:cNvPicPr preferRelativeResize="0"/>
          <p:nvPr/>
        </p:nvPicPr>
        <p:blipFill>
          <a:blip r:embed="rId4">
            <a:alphaModFix/>
          </a:blip>
          <a:stretch>
            <a:fillRect/>
          </a:stretch>
        </p:blipFill>
        <p:spPr>
          <a:xfrm>
            <a:off x="1524000" y="1304825"/>
            <a:ext cx="5812296" cy="2476300"/>
          </a:xfrm>
          <a:prstGeom prst="rect">
            <a:avLst/>
          </a:prstGeom>
          <a:noFill/>
          <a:ln>
            <a:noFill/>
          </a:ln>
        </p:spPr>
      </p:pic>
    </p:spTree>
    <p:extLst>
      <p:ext uri="{BB962C8B-B14F-4D97-AF65-F5344CB8AC3E}">
        <p14:creationId xmlns:p14="http://schemas.microsoft.com/office/powerpoint/2010/main" val="155221840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59"/>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Type Conversion &amp; Type Casting</a:t>
            </a:r>
            <a:endParaRPr/>
          </a:p>
        </p:txBody>
      </p:sp>
      <p:sp>
        <p:nvSpPr>
          <p:cNvPr id="355" name="Google Shape;355;p59"/>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lnSpcReduction="10000"/>
          </a:bodyPr>
          <a:lstStyle/>
          <a:p>
            <a:pPr marL="457200" lvl="0" indent="-342900" algn="l" rtl="0">
              <a:spcBef>
                <a:spcPts val="0"/>
              </a:spcBef>
              <a:spcAft>
                <a:spcPts val="0"/>
              </a:spcAft>
              <a:buClr>
                <a:srgbClr val="666666"/>
              </a:buClr>
              <a:buSzPts val="1800"/>
              <a:buChar char="●"/>
            </a:pPr>
            <a:r>
              <a:rPr lang="en">
                <a:solidFill>
                  <a:srgbClr val="666666"/>
                </a:solidFill>
                <a:highlight>
                  <a:schemeClr val="lt1"/>
                </a:highlight>
              </a:rPr>
              <a:t>A significant part of programming involves playing around with data. While performing some tasks, situations might arise where the data type has to be changed from one type to another. </a:t>
            </a:r>
            <a:endParaRPr>
              <a:solidFill>
                <a:srgbClr val="666666"/>
              </a:solidFill>
              <a:highlight>
                <a:schemeClr val="lt1"/>
              </a:highlight>
            </a:endParaRPr>
          </a:p>
          <a:p>
            <a:pPr marL="457200" lvl="0" indent="-342900" algn="l" rtl="0">
              <a:spcBef>
                <a:spcPts val="1000"/>
              </a:spcBef>
              <a:spcAft>
                <a:spcPts val="0"/>
              </a:spcAft>
              <a:buClr>
                <a:srgbClr val="666666"/>
              </a:buClr>
              <a:buSzPts val="1800"/>
              <a:buChar char="●"/>
            </a:pPr>
            <a:r>
              <a:rPr lang="en">
                <a:solidFill>
                  <a:srgbClr val="666666"/>
                </a:solidFill>
                <a:highlight>
                  <a:schemeClr val="lt1"/>
                </a:highlight>
              </a:rPr>
              <a:t>For example, while calculating the area of a circle using Pi, we get a decimal number, and that needs to be converted to integer if we desire to obtain the answer in integer format. </a:t>
            </a:r>
            <a:endParaRPr>
              <a:solidFill>
                <a:srgbClr val="666666"/>
              </a:solidFill>
              <a:highlight>
                <a:schemeClr val="lt1"/>
              </a:highlight>
            </a:endParaRPr>
          </a:p>
          <a:p>
            <a:pPr marL="457200" lvl="0" indent="-342900" algn="l" rtl="0">
              <a:spcBef>
                <a:spcPts val="1000"/>
              </a:spcBef>
              <a:spcAft>
                <a:spcPts val="1000"/>
              </a:spcAft>
              <a:buClr>
                <a:srgbClr val="666666"/>
              </a:buClr>
              <a:buSzPts val="1800"/>
              <a:buChar char="●"/>
            </a:pPr>
            <a:r>
              <a:rPr lang="en">
                <a:solidFill>
                  <a:srgbClr val="666666"/>
                </a:solidFill>
                <a:highlight>
                  <a:schemeClr val="lt1"/>
                </a:highlight>
              </a:rPr>
              <a:t>Since Java is strongly typed, one often needs to convert from one data type to another. The programmer or the compiler can easily do this by using type casting and type conversion concepts.</a:t>
            </a:r>
            <a:endParaRPr>
              <a:solidFill>
                <a:srgbClr val="666666"/>
              </a:solidFill>
              <a:highlight>
                <a:schemeClr val="lt1"/>
              </a:highlight>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60"/>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Type Conversion</a:t>
            </a:r>
            <a:endParaRPr/>
          </a:p>
        </p:txBody>
      </p:sp>
      <p:sp>
        <p:nvSpPr>
          <p:cNvPr id="361" name="Google Shape;361;p60"/>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r>
              <a:rPr lang="en" sz="1600" b="1">
                <a:solidFill>
                  <a:srgbClr val="666666"/>
                </a:solidFill>
                <a:highlight>
                  <a:schemeClr val="lt1"/>
                </a:highlight>
              </a:rPr>
              <a:t>Type conversion</a:t>
            </a:r>
            <a:r>
              <a:rPr lang="en" sz="1600">
                <a:solidFill>
                  <a:srgbClr val="666666"/>
                </a:solidFill>
                <a:highlight>
                  <a:schemeClr val="lt1"/>
                </a:highlight>
              </a:rPr>
              <a:t> is a process in which the data type is automatically converted into another data type. The compiler does this automatic conversion at compile time.</a:t>
            </a:r>
            <a:endParaRPr sz="1600">
              <a:solidFill>
                <a:srgbClr val="666666"/>
              </a:solidFill>
              <a:highlight>
                <a:schemeClr val="lt1"/>
              </a:highlight>
            </a:endParaRPr>
          </a:p>
          <a:p>
            <a:pPr marL="457200" lvl="0" indent="0" algn="l" rtl="0">
              <a:spcBef>
                <a:spcPts val="1000"/>
              </a:spcBef>
              <a:spcAft>
                <a:spcPts val="0"/>
              </a:spcAft>
              <a:buNone/>
            </a:pPr>
            <a:r>
              <a:rPr lang="en" sz="1600">
                <a:solidFill>
                  <a:srgbClr val="666666"/>
                </a:solidFill>
                <a:highlight>
                  <a:schemeClr val="lt1"/>
                </a:highlight>
              </a:rPr>
              <a:t>For type conversion to take place, the destination data type must be larger than the source type.</a:t>
            </a:r>
            <a:endParaRPr sz="1600">
              <a:solidFill>
                <a:srgbClr val="666666"/>
              </a:solidFill>
              <a:highlight>
                <a:schemeClr val="lt1"/>
              </a:highlight>
            </a:endParaRPr>
          </a:p>
          <a:p>
            <a:pPr marL="457200" lvl="0" indent="0" algn="l" rtl="0">
              <a:spcBef>
                <a:spcPts val="1000"/>
              </a:spcBef>
              <a:spcAft>
                <a:spcPts val="1000"/>
              </a:spcAft>
              <a:buNone/>
            </a:pPr>
            <a:r>
              <a:rPr lang="en" sz="1600">
                <a:solidFill>
                  <a:srgbClr val="666666"/>
                </a:solidFill>
                <a:highlight>
                  <a:schemeClr val="lt1"/>
                </a:highlight>
              </a:rPr>
              <a:t>This type of type conversion is also called </a:t>
            </a:r>
            <a:r>
              <a:rPr lang="en" sz="1600" b="1">
                <a:solidFill>
                  <a:srgbClr val="666666"/>
                </a:solidFill>
                <a:highlight>
                  <a:schemeClr val="lt1"/>
                </a:highlight>
              </a:rPr>
              <a:t>Widening Type Conversion/ Implicit Conversion/ Casting Down. </a:t>
            </a:r>
            <a:r>
              <a:rPr lang="en" sz="1600">
                <a:solidFill>
                  <a:srgbClr val="666666"/>
                </a:solidFill>
                <a:highlight>
                  <a:schemeClr val="lt1"/>
                </a:highlight>
              </a:rPr>
              <a:t> In this case, as the lower data types with smaller sizes are converted into higher ones with a larger size, there is no chance of data loss.</a:t>
            </a:r>
            <a:endParaRPr sz="1600">
              <a:solidFill>
                <a:srgbClr val="666666"/>
              </a:solidFill>
              <a:highlight>
                <a:schemeClr val="lt1"/>
              </a:highlight>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61"/>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Type Conversion</a:t>
            </a:r>
            <a:endParaRPr/>
          </a:p>
        </p:txBody>
      </p:sp>
      <p:pic>
        <p:nvPicPr>
          <p:cNvPr id="367" name="Google Shape;367;p61"/>
          <p:cNvPicPr preferRelativeResize="0"/>
          <p:nvPr/>
        </p:nvPicPr>
        <p:blipFill>
          <a:blip r:embed="rId3">
            <a:alphaModFix/>
          </a:blip>
          <a:stretch>
            <a:fillRect/>
          </a:stretch>
        </p:blipFill>
        <p:spPr>
          <a:xfrm>
            <a:off x="152400" y="3590825"/>
            <a:ext cx="8839201" cy="1330454"/>
          </a:xfrm>
          <a:prstGeom prst="rect">
            <a:avLst/>
          </a:prstGeom>
          <a:noFill/>
          <a:ln>
            <a:noFill/>
          </a:ln>
        </p:spPr>
      </p:pic>
      <p:pic>
        <p:nvPicPr>
          <p:cNvPr id="368" name="Google Shape;368;p61"/>
          <p:cNvPicPr preferRelativeResize="0"/>
          <p:nvPr/>
        </p:nvPicPr>
        <p:blipFill>
          <a:blip r:embed="rId4">
            <a:alphaModFix/>
          </a:blip>
          <a:stretch>
            <a:fillRect/>
          </a:stretch>
        </p:blipFill>
        <p:spPr>
          <a:xfrm>
            <a:off x="533400" y="1304825"/>
            <a:ext cx="7667625" cy="2124075"/>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62"/>
          <p:cNvSpPr txBox="1">
            <a:spLocks noGrp="1"/>
          </p:cNvSpPr>
          <p:nvPr>
            <p:ph type="title"/>
          </p:nvPr>
        </p:nvSpPr>
        <p:spPr>
          <a:xfrm>
            <a:off x="311700" y="116000"/>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Type Conversion</a:t>
            </a:r>
            <a:endParaRPr/>
          </a:p>
        </p:txBody>
      </p:sp>
      <p:sp>
        <p:nvSpPr>
          <p:cNvPr id="374" name="Google Shape;374;p62"/>
          <p:cNvSpPr txBox="1">
            <a:spLocks noGrp="1"/>
          </p:cNvSpPr>
          <p:nvPr>
            <p:ph type="body" idx="1"/>
          </p:nvPr>
        </p:nvSpPr>
        <p:spPr>
          <a:xfrm>
            <a:off x="311700" y="871525"/>
            <a:ext cx="8520600" cy="330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rgbClr val="343434"/>
                </a:solidFill>
                <a:highlight>
                  <a:schemeClr val="lt1"/>
                </a:highlight>
              </a:rPr>
              <a:t>class Main {</a:t>
            </a:r>
            <a:endParaRPr sz="1600">
              <a:solidFill>
                <a:srgbClr val="343434"/>
              </a:solidFill>
              <a:highlight>
                <a:schemeClr val="lt1"/>
              </a:highlight>
            </a:endParaRPr>
          </a:p>
          <a:p>
            <a:pPr marL="0" lvl="0" indent="0" algn="l" rtl="0">
              <a:spcBef>
                <a:spcPts val="1200"/>
              </a:spcBef>
              <a:spcAft>
                <a:spcPts val="0"/>
              </a:spcAft>
              <a:buNone/>
            </a:pPr>
            <a:r>
              <a:rPr lang="en" sz="1600">
                <a:solidFill>
                  <a:srgbClr val="343434"/>
                </a:solidFill>
                <a:highlight>
                  <a:schemeClr val="lt1"/>
                </a:highlight>
              </a:rPr>
              <a:t> 	public static void main(String[] args) {</a:t>
            </a:r>
            <a:endParaRPr sz="1600">
              <a:solidFill>
                <a:srgbClr val="343434"/>
              </a:solidFill>
              <a:highlight>
                <a:schemeClr val="lt1"/>
              </a:highlight>
            </a:endParaRPr>
          </a:p>
          <a:p>
            <a:pPr marL="0" lvl="0" indent="0" algn="l" rtl="0">
              <a:spcBef>
                <a:spcPts val="1200"/>
              </a:spcBef>
              <a:spcAft>
                <a:spcPts val="0"/>
              </a:spcAft>
              <a:buNone/>
            </a:pPr>
            <a:r>
              <a:rPr lang="en" sz="1600">
                <a:solidFill>
                  <a:srgbClr val="343434"/>
                </a:solidFill>
                <a:highlight>
                  <a:schemeClr val="lt1"/>
                </a:highlight>
              </a:rPr>
              <a:t>   		int a= 10;</a:t>
            </a:r>
            <a:endParaRPr sz="1600">
              <a:solidFill>
                <a:srgbClr val="343434"/>
              </a:solidFill>
              <a:highlight>
                <a:schemeClr val="lt1"/>
              </a:highlight>
            </a:endParaRPr>
          </a:p>
          <a:p>
            <a:pPr marL="0" lvl="0" indent="0" algn="l" rtl="0">
              <a:spcBef>
                <a:spcPts val="1200"/>
              </a:spcBef>
              <a:spcAft>
                <a:spcPts val="0"/>
              </a:spcAft>
              <a:buNone/>
            </a:pPr>
            <a:r>
              <a:rPr lang="en" sz="1600">
                <a:solidFill>
                  <a:srgbClr val="343434"/>
                </a:solidFill>
                <a:highlight>
                  <a:schemeClr val="lt1"/>
                </a:highlight>
              </a:rPr>
              <a:t>   		float b=a;</a:t>
            </a:r>
            <a:endParaRPr sz="1600">
              <a:solidFill>
                <a:srgbClr val="343434"/>
              </a:solidFill>
              <a:highlight>
                <a:schemeClr val="lt1"/>
              </a:highlight>
            </a:endParaRPr>
          </a:p>
          <a:p>
            <a:pPr marL="0" lvl="0" indent="0" algn="l" rtl="0">
              <a:spcBef>
                <a:spcPts val="1200"/>
              </a:spcBef>
              <a:spcAft>
                <a:spcPts val="0"/>
              </a:spcAft>
              <a:buNone/>
            </a:pPr>
            <a:r>
              <a:rPr lang="en" sz="1600">
                <a:solidFill>
                  <a:srgbClr val="343434"/>
                </a:solidFill>
                <a:highlight>
                  <a:schemeClr val="lt1"/>
                </a:highlight>
              </a:rPr>
              <a:t>		System.out.println( “value of a after type conversion:” + b);</a:t>
            </a:r>
            <a:endParaRPr sz="1600">
              <a:solidFill>
                <a:srgbClr val="343434"/>
              </a:solidFill>
              <a:highlight>
                <a:schemeClr val="lt1"/>
              </a:highlight>
            </a:endParaRPr>
          </a:p>
          <a:p>
            <a:pPr marL="0" lvl="0" indent="457200" algn="l" rtl="0">
              <a:spcBef>
                <a:spcPts val="1200"/>
              </a:spcBef>
              <a:spcAft>
                <a:spcPts val="0"/>
              </a:spcAft>
              <a:buNone/>
            </a:pPr>
            <a:r>
              <a:rPr lang="en" sz="1600">
                <a:solidFill>
                  <a:srgbClr val="343434"/>
                </a:solidFill>
                <a:highlight>
                  <a:schemeClr val="lt1"/>
                </a:highlight>
              </a:rPr>
              <a:t>}</a:t>
            </a:r>
            <a:endParaRPr sz="1600">
              <a:solidFill>
                <a:srgbClr val="343434"/>
              </a:solidFill>
              <a:highlight>
                <a:schemeClr val="lt1"/>
              </a:highlight>
            </a:endParaRPr>
          </a:p>
          <a:p>
            <a:pPr marL="0" lvl="0" indent="0" algn="l" rtl="0">
              <a:spcBef>
                <a:spcPts val="1200"/>
              </a:spcBef>
              <a:spcAft>
                <a:spcPts val="0"/>
              </a:spcAft>
              <a:buNone/>
            </a:pPr>
            <a:r>
              <a:rPr lang="en" sz="1600">
                <a:solidFill>
                  <a:srgbClr val="343434"/>
                </a:solidFill>
                <a:highlight>
                  <a:schemeClr val="lt1"/>
                </a:highlight>
              </a:rPr>
              <a:t>}</a:t>
            </a:r>
            <a:endParaRPr sz="1600">
              <a:solidFill>
                <a:srgbClr val="343434"/>
              </a:solidFill>
              <a:highlight>
                <a:schemeClr val="lt1"/>
              </a:highlight>
            </a:endParaRPr>
          </a:p>
          <a:p>
            <a:pPr marL="0" lvl="0" indent="0" algn="l" rtl="0">
              <a:spcBef>
                <a:spcPts val="1200"/>
              </a:spcBef>
              <a:spcAft>
                <a:spcPts val="1200"/>
              </a:spcAft>
              <a:buNone/>
            </a:pPr>
            <a:endParaRPr sz="1600">
              <a:highlight>
                <a:schemeClr val="lt1"/>
              </a:highlight>
            </a:endParaRPr>
          </a:p>
        </p:txBody>
      </p:sp>
      <p:pic>
        <p:nvPicPr>
          <p:cNvPr id="375" name="Google Shape;375;p62"/>
          <p:cNvPicPr preferRelativeResize="0"/>
          <p:nvPr/>
        </p:nvPicPr>
        <p:blipFill>
          <a:blip r:embed="rId3">
            <a:alphaModFix/>
          </a:blip>
          <a:stretch>
            <a:fillRect/>
          </a:stretch>
        </p:blipFill>
        <p:spPr>
          <a:xfrm>
            <a:off x="609600" y="4014850"/>
            <a:ext cx="7504551" cy="923800"/>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63"/>
          <p:cNvSpPr txBox="1">
            <a:spLocks noGrp="1"/>
          </p:cNvSpPr>
          <p:nvPr>
            <p:ph type="title"/>
          </p:nvPr>
        </p:nvSpPr>
        <p:spPr>
          <a:xfrm>
            <a:off x="311700" y="116000"/>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Type Casting</a:t>
            </a:r>
            <a:endParaRPr/>
          </a:p>
        </p:txBody>
      </p:sp>
      <p:sp>
        <p:nvSpPr>
          <p:cNvPr id="381" name="Google Shape;381;p63"/>
          <p:cNvSpPr txBox="1">
            <a:spLocks noGrp="1"/>
          </p:cNvSpPr>
          <p:nvPr>
            <p:ph type="body" idx="1"/>
          </p:nvPr>
        </p:nvSpPr>
        <p:spPr>
          <a:xfrm>
            <a:off x="311700" y="871525"/>
            <a:ext cx="8520600" cy="33027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r>
              <a:rPr lang="en" sz="1600" b="1">
                <a:solidFill>
                  <a:srgbClr val="666666"/>
                </a:solidFill>
                <a:highlight>
                  <a:schemeClr val="lt1"/>
                </a:highlight>
              </a:rPr>
              <a:t>Type casting</a:t>
            </a:r>
            <a:r>
              <a:rPr lang="en" sz="1600">
                <a:solidFill>
                  <a:srgbClr val="666666"/>
                </a:solidFill>
                <a:highlight>
                  <a:schemeClr val="lt1"/>
                </a:highlight>
              </a:rPr>
              <a:t> is a process in which the programmer manually converts one data type into another data type. For this the casting operator (), the parenthesis is used. Unlike type conversion, the source data type must be larger than the destination type in type casting. The below flow chart has to be followed for successful type casting.</a:t>
            </a:r>
            <a:endParaRPr sz="1600">
              <a:solidFill>
                <a:srgbClr val="666666"/>
              </a:solidFill>
              <a:highlight>
                <a:schemeClr val="lt1"/>
              </a:highlight>
            </a:endParaRPr>
          </a:p>
          <a:p>
            <a:pPr marL="457200" lvl="0" indent="0" algn="l" rtl="0">
              <a:spcBef>
                <a:spcPts val="1200"/>
              </a:spcBef>
              <a:spcAft>
                <a:spcPts val="1200"/>
              </a:spcAft>
              <a:buNone/>
            </a:pPr>
            <a:r>
              <a:rPr lang="en" sz="1600">
                <a:solidFill>
                  <a:srgbClr val="666666"/>
                </a:solidFill>
                <a:highlight>
                  <a:schemeClr val="lt1"/>
                </a:highlight>
              </a:rPr>
              <a:t>Type casting is also called </a:t>
            </a:r>
            <a:r>
              <a:rPr lang="en" sz="1600" b="1">
                <a:solidFill>
                  <a:srgbClr val="666666"/>
                </a:solidFill>
                <a:highlight>
                  <a:schemeClr val="lt1"/>
                </a:highlight>
              </a:rPr>
              <a:t>Narrowing Type Casting/ Explicit Conversion/ Casting Up</a:t>
            </a:r>
            <a:r>
              <a:rPr lang="en" sz="1600">
                <a:solidFill>
                  <a:srgbClr val="666666"/>
                </a:solidFill>
                <a:highlight>
                  <a:schemeClr val="lt1"/>
                </a:highlight>
              </a:rPr>
              <a:t>. In this case, as the higher data types with a larger size are converted into lower ones with a smaller size, there is a chance of data loss. This is the reason that this type of conversion does not happen automatically.</a:t>
            </a:r>
            <a:endParaRPr sz="1600">
              <a:solidFill>
                <a:srgbClr val="666666"/>
              </a:solidFill>
              <a:highlight>
                <a:schemeClr val="lt1"/>
              </a:highlight>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64"/>
          <p:cNvSpPr txBox="1">
            <a:spLocks noGrp="1"/>
          </p:cNvSpPr>
          <p:nvPr>
            <p:ph type="title"/>
          </p:nvPr>
        </p:nvSpPr>
        <p:spPr>
          <a:xfrm>
            <a:off x="311700" y="116000"/>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Type Casting</a:t>
            </a:r>
            <a:endParaRPr/>
          </a:p>
        </p:txBody>
      </p:sp>
      <p:pic>
        <p:nvPicPr>
          <p:cNvPr id="387" name="Google Shape;387;p64"/>
          <p:cNvPicPr preferRelativeResize="0"/>
          <p:nvPr/>
        </p:nvPicPr>
        <p:blipFill>
          <a:blip r:embed="rId3">
            <a:alphaModFix/>
          </a:blip>
          <a:stretch>
            <a:fillRect/>
          </a:stretch>
        </p:blipFill>
        <p:spPr>
          <a:xfrm>
            <a:off x="152400" y="3566600"/>
            <a:ext cx="8839201" cy="1385737"/>
          </a:xfrm>
          <a:prstGeom prst="rect">
            <a:avLst/>
          </a:prstGeom>
          <a:noFill/>
          <a:ln>
            <a:noFill/>
          </a:ln>
        </p:spPr>
      </p:pic>
      <p:pic>
        <p:nvPicPr>
          <p:cNvPr id="388" name="Google Shape;388;p64"/>
          <p:cNvPicPr preferRelativeResize="0"/>
          <p:nvPr/>
        </p:nvPicPr>
        <p:blipFill>
          <a:blip r:embed="rId4">
            <a:alphaModFix/>
          </a:blip>
          <a:stretch>
            <a:fillRect/>
          </a:stretch>
        </p:blipFill>
        <p:spPr>
          <a:xfrm>
            <a:off x="609600" y="975800"/>
            <a:ext cx="7296150" cy="200025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65"/>
          <p:cNvSpPr txBox="1">
            <a:spLocks noGrp="1"/>
          </p:cNvSpPr>
          <p:nvPr>
            <p:ph type="title"/>
          </p:nvPr>
        </p:nvSpPr>
        <p:spPr>
          <a:xfrm>
            <a:off x="234950" y="15987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Type Casting</a:t>
            </a:r>
            <a:endParaRPr/>
          </a:p>
          <a:p>
            <a:pPr marL="0" lvl="0" indent="0" algn="l" rtl="0">
              <a:spcBef>
                <a:spcPts val="0"/>
              </a:spcBef>
              <a:spcAft>
                <a:spcPts val="0"/>
              </a:spcAft>
              <a:buNone/>
            </a:pPr>
            <a:endParaRPr/>
          </a:p>
        </p:txBody>
      </p:sp>
      <p:sp>
        <p:nvSpPr>
          <p:cNvPr id="394" name="Google Shape;394;p65"/>
          <p:cNvSpPr txBox="1">
            <a:spLocks noGrp="1"/>
          </p:cNvSpPr>
          <p:nvPr>
            <p:ph type="body" idx="1"/>
          </p:nvPr>
        </p:nvSpPr>
        <p:spPr>
          <a:xfrm>
            <a:off x="311700" y="86727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600" dirty="0">
                <a:solidFill>
                  <a:srgbClr val="343434"/>
                </a:solidFill>
                <a:highlight>
                  <a:schemeClr val="lt1"/>
                </a:highlight>
              </a:rPr>
              <a:t>class Main {</a:t>
            </a:r>
            <a:endParaRPr sz="1600" dirty="0">
              <a:solidFill>
                <a:srgbClr val="343434"/>
              </a:solidFill>
              <a:highlight>
                <a:schemeClr val="lt1"/>
              </a:highlight>
            </a:endParaRPr>
          </a:p>
          <a:p>
            <a:pPr marL="0" lvl="0" indent="0" algn="l" rtl="0">
              <a:spcBef>
                <a:spcPts val="1200"/>
              </a:spcBef>
              <a:spcAft>
                <a:spcPts val="0"/>
              </a:spcAft>
              <a:buNone/>
            </a:pPr>
            <a:r>
              <a:rPr lang="en" sz="1600" dirty="0">
                <a:solidFill>
                  <a:srgbClr val="343434"/>
                </a:solidFill>
                <a:highlight>
                  <a:schemeClr val="lt1"/>
                </a:highlight>
              </a:rPr>
              <a:t> 	public static void main(String[] args) {</a:t>
            </a:r>
            <a:endParaRPr sz="1600" dirty="0">
              <a:solidFill>
                <a:srgbClr val="343434"/>
              </a:solidFill>
              <a:highlight>
                <a:schemeClr val="lt1"/>
              </a:highlight>
            </a:endParaRPr>
          </a:p>
          <a:p>
            <a:pPr marL="0" lvl="0" indent="0" algn="l" rtl="0">
              <a:spcBef>
                <a:spcPts val="1200"/>
              </a:spcBef>
              <a:spcAft>
                <a:spcPts val="0"/>
              </a:spcAft>
              <a:buNone/>
            </a:pPr>
            <a:r>
              <a:rPr lang="en" sz="1600" dirty="0">
                <a:solidFill>
                  <a:srgbClr val="343434"/>
                </a:solidFill>
                <a:highlight>
                  <a:schemeClr val="lt1"/>
                </a:highlight>
              </a:rPr>
              <a:t>   		float a= 10.56f;</a:t>
            </a:r>
            <a:endParaRPr sz="1600" dirty="0">
              <a:solidFill>
                <a:srgbClr val="343434"/>
              </a:solidFill>
              <a:highlight>
                <a:schemeClr val="lt1"/>
              </a:highlight>
            </a:endParaRPr>
          </a:p>
          <a:p>
            <a:pPr marL="0" lvl="0" indent="0" algn="l" rtl="0">
              <a:spcBef>
                <a:spcPts val="1200"/>
              </a:spcBef>
              <a:spcAft>
                <a:spcPts val="0"/>
              </a:spcAft>
              <a:buNone/>
            </a:pPr>
            <a:r>
              <a:rPr lang="en" sz="1600" dirty="0">
                <a:solidFill>
                  <a:srgbClr val="343434"/>
                </a:solidFill>
                <a:highlight>
                  <a:schemeClr val="lt1"/>
                </a:highlight>
              </a:rPr>
              <a:t>   		int b=int(a);</a:t>
            </a:r>
            <a:endParaRPr sz="1600" dirty="0">
              <a:solidFill>
                <a:srgbClr val="343434"/>
              </a:solidFill>
              <a:highlight>
                <a:schemeClr val="lt1"/>
              </a:highlight>
            </a:endParaRPr>
          </a:p>
          <a:p>
            <a:pPr marL="0" lvl="0" indent="0" algn="l" rtl="0">
              <a:spcBef>
                <a:spcPts val="1200"/>
              </a:spcBef>
              <a:spcAft>
                <a:spcPts val="0"/>
              </a:spcAft>
              <a:buNone/>
            </a:pPr>
            <a:r>
              <a:rPr lang="en" sz="1600" dirty="0">
                <a:solidFill>
                  <a:srgbClr val="343434"/>
                </a:solidFill>
                <a:highlight>
                  <a:schemeClr val="lt1"/>
                </a:highlight>
              </a:rPr>
              <a:t>		System.out.println( “value of a after type casting:” + b);</a:t>
            </a:r>
            <a:endParaRPr sz="1600" dirty="0">
              <a:solidFill>
                <a:srgbClr val="343434"/>
              </a:solidFill>
              <a:highlight>
                <a:schemeClr val="lt1"/>
              </a:highlight>
            </a:endParaRPr>
          </a:p>
          <a:p>
            <a:pPr marL="0" lvl="0" indent="457200" algn="l" rtl="0">
              <a:spcBef>
                <a:spcPts val="1200"/>
              </a:spcBef>
              <a:spcAft>
                <a:spcPts val="0"/>
              </a:spcAft>
              <a:buNone/>
            </a:pPr>
            <a:r>
              <a:rPr lang="en" sz="1600" dirty="0">
                <a:solidFill>
                  <a:srgbClr val="343434"/>
                </a:solidFill>
                <a:highlight>
                  <a:schemeClr val="lt1"/>
                </a:highlight>
              </a:rPr>
              <a:t>}</a:t>
            </a:r>
            <a:endParaRPr sz="1600" dirty="0">
              <a:solidFill>
                <a:srgbClr val="343434"/>
              </a:solidFill>
              <a:highlight>
                <a:schemeClr val="lt1"/>
              </a:highlight>
            </a:endParaRPr>
          </a:p>
          <a:p>
            <a:pPr marL="0" lvl="0" indent="0" algn="l" rtl="0">
              <a:spcBef>
                <a:spcPts val="1200"/>
              </a:spcBef>
              <a:spcAft>
                <a:spcPts val="1200"/>
              </a:spcAft>
              <a:buNone/>
            </a:pPr>
            <a:r>
              <a:rPr lang="en" sz="1600" dirty="0">
                <a:solidFill>
                  <a:srgbClr val="343434"/>
                </a:solidFill>
                <a:highlight>
                  <a:schemeClr val="lt1"/>
                </a:highlight>
              </a:rPr>
              <a:t>}</a:t>
            </a:r>
            <a:endParaRPr dirty="0"/>
          </a:p>
        </p:txBody>
      </p:sp>
      <p:pic>
        <p:nvPicPr>
          <p:cNvPr id="395" name="Google Shape;395;p65"/>
          <p:cNvPicPr preferRelativeResize="0"/>
          <p:nvPr/>
        </p:nvPicPr>
        <p:blipFill>
          <a:blip r:embed="rId3">
            <a:alphaModFix/>
          </a:blip>
          <a:stretch>
            <a:fillRect/>
          </a:stretch>
        </p:blipFill>
        <p:spPr>
          <a:xfrm>
            <a:off x="152400" y="3993424"/>
            <a:ext cx="9144001" cy="966652"/>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6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Reserved Words/Keywords</a:t>
            </a:r>
            <a:endParaRPr/>
          </a:p>
        </p:txBody>
      </p:sp>
      <p:sp>
        <p:nvSpPr>
          <p:cNvPr id="401" name="Google Shape;401;p66"/>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457200" lvl="0" indent="0" algn="just" rtl="0">
              <a:spcBef>
                <a:spcPts val="100"/>
              </a:spcBef>
              <a:spcAft>
                <a:spcPts val="0"/>
              </a:spcAft>
              <a:buNone/>
            </a:pPr>
            <a:endParaRPr>
              <a:solidFill>
                <a:srgbClr val="000000"/>
              </a:solidFill>
            </a:endParaRPr>
          </a:p>
          <a:p>
            <a:pPr marL="457200" lvl="0" indent="0" algn="just" rtl="0">
              <a:spcBef>
                <a:spcPts val="100"/>
              </a:spcBef>
              <a:spcAft>
                <a:spcPts val="0"/>
              </a:spcAft>
              <a:buNone/>
            </a:pPr>
            <a:endParaRPr>
              <a:solidFill>
                <a:srgbClr val="000000"/>
              </a:solidFill>
            </a:endParaRPr>
          </a:p>
          <a:p>
            <a:pPr marL="457200" lvl="0" indent="-342900" algn="just" rtl="0">
              <a:spcBef>
                <a:spcPts val="100"/>
              </a:spcBef>
              <a:spcAft>
                <a:spcPts val="0"/>
              </a:spcAft>
              <a:buClr>
                <a:srgbClr val="000000"/>
              </a:buClr>
              <a:buSzPts val="1800"/>
              <a:buChar char="●"/>
            </a:pPr>
            <a:r>
              <a:rPr lang="en">
                <a:solidFill>
                  <a:srgbClr val="000000"/>
                </a:solidFill>
              </a:rPr>
              <a:t>Reserved words or keywords are words that have a  specific meaning to the compiler and cannot be  used for other purposes in the program.</a:t>
            </a:r>
            <a:endParaRPr>
              <a:solidFill>
                <a:srgbClr val="000000"/>
              </a:solidFill>
            </a:endParaRPr>
          </a:p>
          <a:p>
            <a:pPr marL="457200" lvl="0" indent="-342900" algn="just" rtl="0">
              <a:spcBef>
                <a:spcPts val="1000"/>
              </a:spcBef>
              <a:spcAft>
                <a:spcPts val="0"/>
              </a:spcAft>
              <a:buClr>
                <a:srgbClr val="000000"/>
              </a:buClr>
              <a:buSzPts val="1800"/>
              <a:buChar char="●"/>
            </a:pPr>
            <a:r>
              <a:rPr lang="en">
                <a:solidFill>
                  <a:srgbClr val="000000"/>
                </a:solidFill>
              </a:rPr>
              <a:t>For example, when the compiler sees the word  class, it understands that the word after class is the  name for the class.</a:t>
            </a:r>
            <a:endParaRPr>
              <a:solidFill>
                <a:srgbClr val="000000"/>
              </a:solidFill>
            </a:endParaRPr>
          </a:p>
          <a:p>
            <a:pPr marL="457200" lvl="0" indent="-342900" algn="just" rtl="0">
              <a:spcBef>
                <a:spcPts val="1000"/>
              </a:spcBef>
              <a:spcAft>
                <a:spcPts val="0"/>
              </a:spcAft>
              <a:buClr>
                <a:srgbClr val="000000"/>
              </a:buClr>
              <a:buSzPts val="1800"/>
              <a:buChar char="●"/>
            </a:pPr>
            <a:r>
              <a:rPr lang="en">
                <a:solidFill>
                  <a:srgbClr val="000000"/>
                </a:solidFill>
              </a:rPr>
              <a:t>Below are the keywords that are used in Java:</a:t>
            </a:r>
            <a:endParaRPr>
              <a:solidFill>
                <a:srgbClr val="000000"/>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67"/>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Reserved Words/Keywords</a:t>
            </a:r>
            <a:endParaRPr/>
          </a:p>
        </p:txBody>
      </p:sp>
      <p:pic>
        <p:nvPicPr>
          <p:cNvPr id="407" name="Google Shape;407;p67"/>
          <p:cNvPicPr preferRelativeResize="0"/>
          <p:nvPr/>
        </p:nvPicPr>
        <p:blipFill>
          <a:blip r:embed="rId3">
            <a:alphaModFix/>
          </a:blip>
          <a:stretch>
            <a:fillRect/>
          </a:stretch>
        </p:blipFill>
        <p:spPr>
          <a:xfrm>
            <a:off x="1752600" y="1304825"/>
            <a:ext cx="4878575" cy="3686275"/>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68"/>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Comments</a:t>
            </a:r>
            <a:endParaRPr/>
          </a:p>
        </p:txBody>
      </p:sp>
      <p:sp>
        <p:nvSpPr>
          <p:cNvPr id="413" name="Google Shape;413;p68"/>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457200" lvl="0" indent="-342900" algn="just" rtl="0">
              <a:spcBef>
                <a:spcPts val="100"/>
              </a:spcBef>
              <a:spcAft>
                <a:spcPts val="0"/>
              </a:spcAft>
              <a:buClr>
                <a:srgbClr val="000000"/>
              </a:buClr>
              <a:buSzPts val="1800"/>
              <a:buChar char="●"/>
            </a:pPr>
            <a:r>
              <a:rPr lang="en">
                <a:solidFill>
                  <a:srgbClr val="000000"/>
                </a:solidFill>
              </a:rPr>
              <a:t>In Java, comments are preceded by two slashes (//)  in a line, or enclosed between /* and */ in one or  multiple lines.</a:t>
            </a:r>
            <a:endParaRPr>
              <a:solidFill>
                <a:srgbClr val="000000"/>
              </a:solidFill>
            </a:endParaRPr>
          </a:p>
          <a:p>
            <a:pPr marL="457200" lvl="0" indent="-342900" algn="just" rtl="0">
              <a:spcBef>
                <a:spcPts val="1000"/>
              </a:spcBef>
              <a:spcAft>
                <a:spcPts val="0"/>
              </a:spcAft>
              <a:buClr>
                <a:srgbClr val="000000"/>
              </a:buClr>
              <a:buSzPts val="1800"/>
              <a:buChar char="●"/>
            </a:pPr>
            <a:r>
              <a:rPr lang="en">
                <a:solidFill>
                  <a:srgbClr val="000000"/>
                </a:solidFill>
              </a:rPr>
              <a:t>When the compiler sees //, it ignores all text after // in the same line.</a:t>
            </a:r>
            <a:endParaRPr>
              <a:solidFill>
                <a:srgbClr val="000000"/>
              </a:solidFill>
            </a:endParaRPr>
          </a:p>
          <a:p>
            <a:pPr marL="457200" lvl="0" indent="-342900" algn="just" rtl="0">
              <a:spcBef>
                <a:spcPts val="1000"/>
              </a:spcBef>
              <a:spcAft>
                <a:spcPts val="0"/>
              </a:spcAft>
              <a:buClr>
                <a:srgbClr val="000000"/>
              </a:buClr>
              <a:buSzPts val="1800"/>
              <a:buChar char="●"/>
            </a:pPr>
            <a:r>
              <a:rPr lang="en">
                <a:solidFill>
                  <a:srgbClr val="000000"/>
                </a:solidFill>
              </a:rPr>
              <a:t>When it sees /*, it scans for the next */ and ignores  any text between /* and */.</a:t>
            </a:r>
            <a:endParaRPr>
              <a:solidFill>
                <a:srgbClr val="000000"/>
              </a:solidFill>
            </a:endParaRPr>
          </a:p>
          <a:p>
            <a:pPr marL="457200" lvl="0" indent="-342900" algn="just" rtl="0">
              <a:spcBef>
                <a:spcPts val="1000"/>
              </a:spcBef>
              <a:spcAft>
                <a:spcPts val="1000"/>
              </a:spcAft>
              <a:buClr>
                <a:srgbClr val="000000"/>
              </a:buClr>
              <a:buSzPts val="1800"/>
              <a:buChar char="●"/>
            </a:pPr>
            <a:r>
              <a:rPr lang="en">
                <a:solidFill>
                  <a:srgbClr val="000000"/>
                </a:solidFill>
              </a:rPr>
              <a:t>Comments in a program are called </a:t>
            </a:r>
            <a:r>
              <a:rPr lang="en" i="1">
                <a:solidFill>
                  <a:srgbClr val="000000"/>
                </a:solidFill>
              </a:rPr>
              <a:t>inline  documentation</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69"/>
          <p:cNvSpPr txBox="1">
            <a:spLocks noGrp="1"/>
          </p:cNvSpPr>
          <p:nvPr>
            <p:ph type="title"/>
          </p:nvPr>
        </p:nvSpPr>
        <p:spPr>
          <a:xfrm>
            <a:off x="256850" y="19277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Access Modifiers</a:t>
            </a:r>
            <a:endParaRPr dirty="0"/>
          </a:p>
        </p:txBody>
      </p:sp>
      <p:sp>
        <p:nvSpPr>
          <p:cNvPr id="419" name="Google Shape;419;p69"/>
          <p:cNvSpPr txBox="1">
            <a:spLocks noGrp="1"/>
          </p:cNvSpPr>
          <p:nvPr>
            <p:ph type="body" idx="1"/>
          </p:nvPr>
        </p:nvSpPr>
        <p:spPr>
          <a:xfrm>
            <a:off x="311700" y="781061"/>
            <a:ext cx="8520600" cy="4261201"/>
          </a:xfrm>
          <a:prstGeom prst="rect">
            <a:avLst/>
          </a:prstGeom>
        </p:spPr>
        <p:txBody>
          <a:bodyPr spcFirstLastPara="1" wrap="square" lIns="91425" tIns="91425" rIns="91425" bIns="91425" anchor="t" anchorCtr="0">
            <a:noAutofit/>
          </a:bodyPr>
          <a:lstStyle/>
          <a:p>
            <a:pPr marL="0" lvl="0" indent="0" algn="just" rtl="0">
              <a:spcBef>
                <a:spcPts val="1200"/>
              </a:spcBef>
              <a:spcAft>
                <a:spcPts val="0"/>
              </a:spcAft>
              <a:buNone/>
            </a:pPr>
            <a:r>
              <a:rPr lang="en" sz="1500" dirty="0">
                <a:solidFill>
                  <a:srgbClr val="666666"/>
                </a:solidFill>
                <a:highlight>
                  <a:srgbClr val="FFFFFF"/>
                </a:highlight>
              </a:rPr>
              <a:t>There are four types of Java access modifiers:</a:t>
            </a:r>
            <a:endParaRPr sz="1500" dirty="0">
              <a:solidFill>
                <a:srgbClr val="666666"/>
              </a:solidFill>
              <a:highlight>
                <a:srgbClr val="FFFFFF"/>
              </a:highlight>
            </a:endParaRPr>
          </a:p>
          <a:p>
            <a:pPr marL="457200" lvl="0" indent="-323850" algn="l" rtl="0">
              <a:lnSpc>
                <a:spcPct val="156250"/>
              </a:lnSpc>
              <a:spcBef>
                <a:spcPts val="1500"/>
              </a:spcBef>
              <a:spcAft>
                <a:spcPts val="0"/>
              </a:spcAft>
              <a:buClr>
                <a:srgbClr val="666666"/>
              </a:buClr>
              <a:buSzPts val="1500"/>
              <a:buFont typeface="Roboto"/>
              <a:buAutoNum type="arabicPeriod"/>
            </a:pPr>
            <a:r>
              <a:rPr lang="en" sz="1500" b="1" dirty="0">
                <a:solidFill>
                  <a:srgbClr val="666666"/>
                </a:solidFill>
                <a:highlight>
                  <a:srgbClr val="FFFFFF"/>
                </a:highlight>
              </a:rPr>
              <a:t>Private</a:t>
            </a:r>
            <a:r>
              <a:rPr lang="en" sz="1500" dirty="0">
                <a:solidFill>
                  <a:srgbClr val="666666"/>
                </a:solidFill>
                <a:highlight>
                  <a:srgbClr val="FFFFFF"/>
                </a:highlight>
              </a:rPr>
              <a:t>: The access level of a private modifier is only within the class. It cannot be accessed from outside the class.</a:t>
            </a:r>
            <a:endParaRPr sz="1500" dirty="0">
              <a:solidFill>
                <a:srgbClr val="666666"/>
              </a:solidFill>
              <a:highlight>
                <a:srgbClr val="FFFFFF"/>
              </a:highlight>
            </a:endParaRPr>
          </a:p>
          <a:p>
            <a:pPr marL="457200" lvl="0" indent="-323850" algn="l" rtl="0">
              <a:lnSpc>
                <a:spcPct val="156250"/>
              </a:lnSpc>
              <a:spcBef>
                <a:spcPts val="0"/>
              </a:spcBef>
              <a:spcAft>
                <a:spcPts val="0"/>
              </a:spcAft>
              <a:buClr>
                <a:srgbClr val="666666"/>
              </a:buClr>
              <a:buSzPts val="1500"/>
              <a:buFont typeface="Roboto"/>
              <a:buAutoNum type="arabicPeriod"/>
            </a:pPr>
            <a:r>
              <a:rPr lang="en" sz="1500" b="1" dirty="0">
                <a:solidFill>
                  <a:srgbClr val="666666"/>
                </a:solidFill>
                <a:highlight>
                  <a:srgbClr val="FFFFFF"/>
                </a:highlight>
              </a:rPr>
              <a:t>Default</a:t>
            </a:r>
            <a:r>
              <a:rPr lang="en" sz="1500" dirty="0">
                <a:solidFill>
                  <a:srgbClr val="666666"/>
                </a:solidFill>
                <a:highlight>
                  <a:srgbClr val="FFFFFF"/>
                </a:highlight>
              </a:rPr>
              <a:t>: The access level of a default modifier is only within the package. It cannot be accessed from outside the package. If you do not specify any access level, it will be the default.</a:t>
            </a:r>
            <a:endParaRPr sz="1500" dirty="0">
              <a:solidFill>
                <a:srgbClr val="666666"/>
              </a:solidFill>
              <a:highlight>
                <a:srgbClr val="FFFFFF"/>
              </a:highlight>
            </a:endParaRPr>
          </a:p>
          <a:p>
            <a:pPr marL="457200" lvl="0" indent="-323850" algn="l" rtl="0">
              <a:lnSpc>
                <a:spcPct val="156250"/>
              </a:lnSpc>
              <a:spcBef>
                <a:spcPts val="0"/>
              </a:spcBef>
              <a:spcAft>
                <a:spcPts val="0"/>
              </a:spcAft>
              <a:buClr>
                <a:srgbClr val="666666"/>
              </a:buClr>
              <a:buSzPts val="1500"/>
              <a:buFont typeface="Roboto"/>
              <a:buAutoNum type="arabicPeriod"/>
            </a:pPr>
            <a:r>
              <a:rPr lang="en" sz="1500" b="1" dirty="0">
                <a:solidFill>
                  <a:srgbClr val="666666"/>
                </a:solidFill>
                <a:highlight>
                  <a:srgbClr val="FFFFFF"/>
                </a:highlight>
              </a:rPr>
              <a:t>Protected</a:t>
            </a:r>
            <a:r>
              <a:rPr lang="en" sz="1500" dirty="0">
                <a:solidFill>
                  <a:srgbClr val="666666"/>
                </a:solidFill>
                <a:highlight>
                  <a:srgbClr val="FFFFFF"/>
                </a:highlight>
              </a:rPr>
              <a:t>: The access level of a protected modifier is within the package and outside the package through child class. If you do not make the child class, it cannot be accessed from outside the package.</a:t>
            </a:r>
            <a:endParaRPr sz="1500" dirty="0">
              <a:solidFill>
                <a:srgbClr val="666666"/>
              </a:solidFill>
              <a:highlight>
                <a:srgbClr val="FFFFFF"/>
              </a:highlight>
            </a:endParaRPr>
          </a:p>
          <a:p>
            <a:pPr marL="457200" lvl="0" indent="-323850" algn="l" rtl="0">
              <a:lnSpc>
                <a:spcPct val="156250"/>
              </a:lnSpc>
              <a:spcBef>
                <a:spcPts val="0"/>
              </a:spcBef>
              <a:spcAft>
                <a:spcPts val="0"/>
              </a:spcAft>
              <a:buClr>
                <a:srgbClr val="666666"/>
              </a:buClr>
              <a:buSzPts val="1500"/>
              <a:buFont typeface="Roboto"/>
              <a:buAutoNum type="arabicPeriod"/>
            </a:pPr>
            <a:r>
              <a:rPr lang="en" sz="1500" b="1" dirty="0">
                <a:solidFill>
                  <a:srgbClr val="666666"/>
                </a:solidFill>
                <a:highlight>
                  <a:srgbClr val="FFFFFF"/>
                </a:highlight>
              </a:rPr>
              <a:t>Public</a:t>
            </a:r>
            <a:r>
              <a:rPr lang="en" sz="1500" dirty="0">
                <a:solidFill>
                  <a:srgbClr val="666666"/>
                </a:solidFill>
                <a:highlight>
                  <a:srgbClr val="FFFFFF"/>
                </a:highlight>
              </a:rPr>
              <a:t>: The access level of a public modifier is everywhere. It can be accessed from within the class, outside the class, within the package and outside the package.</a:t>
            </a:r>
            <a:endParaRPr sz="1500" dirty="0">
              <a:solidFill>
                <a:srgbClr val="666666"/>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70"/>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Operators</a:t>
            </a:r>
            <a:endParaRPr/>
          </a:p>
        </p:txBody>
      </p:sp>
      <p:sp>
        <p:nvSpPr>
          <p:cNvPr id="425" name="Google Shape;425;p70"/>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Autofit/>
          </a:bodyPr>
          <a:lstStyle/>
          <a:p>
            <a:pPr marL="457200" lvl="0" indent="-342900" algn="l" rtl="0">
              <a:spcBef>
                <a:spcPts val="100"/>
              </a:spcBef>
              <a:spcAft>
                <a:spcPts val="0"/>
              </a:spcAft>
              <a:buClr>
                <a:srgbClr val="666666"/>
              </a:buClr>
              <a:buSzPts val="1800"/>
              <a:buChar char="●"/>
            </a:pPr>
            <a:r>
              <a:rPr lang="en">
                <a:solidFill>
                  <a:srgbClr val="666666"/>
                </a:solidFill>
              </a:rPr>
              <a:t>An operator is a symbol that performs an operation.  An operator acts on variables called operands.</a:t>
            </a:r>
            <a:endParaRPr>
              <a:solidFill>
                <a:srgbClr val="666666"/>
              </a:solidFill>
            </a:endParaRPr>
          </a:p>
          <a:p>
            <a:pPr marL="457200" lvl="0" indent="-342900" algn="l" rtl="0">
              <a:spcBef>
                <a:spcPts val="0"/>
              </a:spcBef>
              <a:spcAft>
                <a:spcPts val="0"/>
              </a:spcAft>
              <a:buClr>
                <a:srgbClr val="666666"/>
              </a:buClr>
              <a:buSzPts val="1800"/>
              <a:buChar char="●"/>
            </a:pPr>
            <a:r>
              <a:rPr lang="en">
                <a:solidFill>
                  <a:srgbClr val="666666"/>
                </a:solidFill>
              </a:rPr>
              <a:t>We  can  divide  all the  Java  operators  into  the following groups:</a:t>
            </a:r>
            <a:endParaRPr>
              <a:solidFill>
                <a:srgbClr val="666666"/>
              </a:solidFill>
            </a:endParaRPr>
          </a:p>
          <a:p>
            <a:pPr marL="914400" lvl="1" indent="-330200" algn="l" rtl="0">
              <a:spcBef>
                <a:spcPts val="0"/>
              </a:spcBef>
              <a:spcAft>
                <a:spcPts val="0"/>
              </a:spcAft>
              <a:buClr>
                <a:srgbClr val="666666"/>
              </a:buClr>
              <a:buSzPts val="1600"/>
              <a:buChar char="○"/>
            </a:pPr>
            <a:r>
              <a:rPr lang="en" sz="1600">
                <a:solidFill>
                  <a:srgbClr val="666666"/>
                </a:solidFill>
              </a:rPr>
              <a:t>Arithmetic Operators</a:t>
            </a:r>
            <a:endParaRPr sz="1600">
              <a:solidFill>
                <a:srgbClr val="666666"/>
              </a:solidFill>
            </a:endParaRPr>
          </a:p>
          <a:p>
            <a:pPr marL="914400" lvl="1" indent="-330200" algn="l" rtl="0">
              <a:spcBef>
                <a:spcPts val="0"/>
              </a:spcBef>
              <a:spcAft>
                <a:spcPts val="0"/>
              </a:spcAft>
              <a:buClr>
                <a:srgbClr val="666666"/>
              </a:buClr>
              <a:buSzPts val="1600"/>
              <a:buChar char="○"/>
            </a:pPr>
            <a:r>
              <a:rPr lang="en" sz="1600">
                <a:solidFill>
                  <a:srgbClr val="666666"/>
                </a:solidFill>
              </a:rPr>
              <a:t>Relational Operators</a:t>
            </a:r>
            <a:endParaRPr sz="1600">
              <a:solidFill>
                <a:srgbClr val="666666"/>
              </a:solidFill>
            </a:endParaRPr>
          </a:p>
          <a:p>
            <a:pPr marL="914400" lvl="1" indent="-330200" algn="l" rtl="0">
              <a:spcBef>
                <a:spcPts val="0"/>
              </a:spcBef>
              <a:spcAft>
                <a:spcPts val="0"/>
              </a:spcAft>
              <a:buClr>
                <a:srgbClr val="666666"/>
              </a:buClr>
              <a:buSzPts val="1600"/>
              <a:buChar char="○"/>
            </a:pPr>
            <a:r>
              <a:rPr lang="en" sz="1600">
                <a:solidFill>
                  <a:srgbClr val="666666"/>
                </a:solidFill>
              </a:rPr>
              <a:t>Bitwise Operators</a:t>
            </a:r>
            <a:endParaRPr sz="1600">
              <a:solidFill>
                <a:srgbClr val="666666"/>
              </a:solidFill>
            </a:endParaRPr>
          </a:p>
          <a:p>
            <a:pPr marL="914400" lvl="1" indent="-330200" algn="l" rtl="0">
              <a:spcBef>
                <a:spcPts val="0"/>
              </a:spcBef>
              <a:spcAft>
                <a:spcPts val="0"/>
              </a:spcAft>
              <a:buClr>
                <a:srgbClr val="666666"/>
              </a:buClr>
              <a:buSzPts val="1600"/>
              <a:buChar char="○"/>
            </a:pPr>
            <a:r>
              <a:rPr lang="en" sz="1600">
                <a:solidFill>
                  <a:srgbClr val="666666"/>
                </a:solidFill>
              </a:rPr>
              <a:t>Logical Operators</a:t>
            </a:r>
            <a:endParaRPr sz="1600">
              <a:solidFill>
                <a:srgbClr val="666666"/>
              </a:solidFill>
            </a:endParaRPr>
          </a:p>
          <a:p>
            <a:pPr marL="914400" lvl="1" indent="-330200" algn="l" rtl="0">
              <a:spcBef>
                <a:spcPts val="0"/>
              </a:spcBef>
              <a:spcAft>
                <a:spcPts val="0"/>
              </a:spcAft>
              <a:buClr>
                <a:srgbClr val="666666"/>
              </a:buClr>
              <a:buSzPts val="1600"/>
              <a:buChar char="○"/>
            </a:pPr>
            <a:r>
              <a:rPr lang="en" sz="1600">
                <a:solidFill>
                  <a:srgbClr val="666666"/>
                </a:solidFill>
              </a:rPr>
              <a:t>Assignment Operators</a:t>
            </a:r>
            <a:endParaRPr sz="1600">
              <a:solidFill>
                <a:srgbClr val="666666"/>
              </a:solidFill>
            </a:endParaRPr>
          </a:p>
          <a:p>
            <a:pPr marL="914400" lvl="1" indent="-330200" algn="l" rtl="0">
              <a:spcBef>
                <a:spcPts val="0"/>
              </a:spcBef>
              <a:spcAft>
                <a:spcPts val="0"/>
              </a:spcAft>
              <a:buClr>
                <a:srgbClr val="666666"/>
              </a:buClr>
              <a:buSzPts val="1600"/>
              <a:buChar char="○"/>
            </a:pPr>
            <a:r>
              <a:rPr lang="en" sz="1600">
                <a:solidFill>
                  <a:srgbClr val="666666"/>
                </a:solidFill>
              </a:rPr>
              <a:t>Special Operators</a:t>
            </a:r>
            <a:endParaRPr sz="1600">
              <a:solidFill>
                <a:srgbClr val="666666"/>
              </a:solidFill>
            </a:endParaRPr>
          </a:p>
          <a:p>
            <a:pPr marL="0" lvl="0" indent="0" algn="l" rtl="0">
              <a:spcBef>
                <a:spcPts val="0"/>
              </a:spcBef>
              <a:spcAft>
                <a:spcPts val="1200"/>
              </a:spcAft>
              <a:buNone/>
            </a:pPr>
            <a:endParaRPr>
              <a:solidFill>
                <a:srgbClr val="666666"/>
              </a:solidFil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71"/>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Operators: Arithmetic Operators</a:t>
            </a:r>
            <a:endParaRPr/>
          </a:p>
        </p:txBody>
      </p:sp>
      <p:pic>
        <p:nvPicPr>
          <p:cNvPr id="431" name="Google Shape;431;p71"/>
          <p:cNvPicPr preferRelativeResize="0"/>
          <p:nvPr/>
        </p:nvPicPr>
        <p:blipFill>
          <a:blip r:embed="rId3">
            <a:alphaModFix/>
          </a:blip>
          <a:stretch>
            <a:fillRect/>
          </a:stretch>
        </p:blipFill>
        <p:spPr>
          <a:xfrm>
            <a:off x="381000" y="1554814"/>
            <a:ext cx="8327076" cy="205020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72"/>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Operators: Assignment Operators</a:t>
            </a:r>
            <a:endParaRPr/>
          </a:p>
        </p:txBody>
      </p:sp>
      <p:pic>
        <p:nvPicPr>
          <p:cNvPr id="437" name="Google Shape;437;p72"/>
          <p:cNvPicPr preferRelativeResize="0"/>
          <p:nvPr/>
        </p:nvPicPr>
        <p:blipFill>
          <a:blip r:embed="rId3">
            <a:alphaModFix/>
          </a:blip>
          <a:stretch>
            <a:fillRect/>
          </a:stretch>
        </p:blipFill>
        <p:spPr>
          <a:xfrm>
            <a:off x="970525" y="1609625"/>
            <a:ext cx="7271076" cy="1476400"/>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73"/>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Operators: Unary Operators</a:t>
            </a:r>
            <a:endParaRPr/>
          </a:p>
        </p:txBody>
      </p:sp>
      <p:pic>
        <p:nvPicPr>
          <p:cNvPr id="443" name="Google Shape;443;p73"/>
          <p:cNvPicPr preferRelativeResize="0"/>
          <p:nvPr/>
        </p:nvPicPr>
        <p:blipFill>
          <a:blip r:embed="rId3">
            <a:alphaModFix/>
          </a:blip>
          <a:stretch>
            <a:fillRect/>
          </a:stretch>
        </p:blipFill>
        <p:spPr>
          <a:xfrm>
            <a:off x="152400" y="1304825"/>
            <a:ext cx="8839201" cy="3035226"/>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7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Operators: Relational Operators</a:t>
            </a:r>
            <a:endParaRPr/>
          </a:p>
        </p:txBody>
      </p:sp>
      <p:pic>
        <p:nvPicPr>
          <p:cNvPr id="449" name="Google Shape;449;p74"/>
          <p:cNvPicPr preferRelativeResize="0"/>
          <p:nvPr/>
        </p:nvPicPr>
        <p:blipFill>
          <a:blip r:embed="rId3">
            <a:alphaModFix/>
          </a:blip>
          <a:stretch>
            <a:fillRect/>
          </a:stretch>
        </p:blipFill>
        <p:spPr>
          <a:xfrm>
            <a:off x="152400" y="1533425"/>
            <a:ext cx="8839199" cy="1867345"/>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7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Operators: Logical/ Short Circuit Operators</a:t>
            </a:r>
            <a:endParaRPr/>
          </a:p>
        </p:txBody>
      </p:sp>
      <p:pic>
        <p:nvPicPr>
          <p:cNvPr id="455" name="Google Shape;455;p75"/>
          <p:cNvPicPr preferRelativeResize="0"/>
          <p:nvPr/>
        </p:nvPicPr>
        <p:blipFill>
          <a:blip r:embed="rId3">
            <a:alphaModFix/>
          </a:blip>
          <a:stretch>
            <a:fillRect/>
          </a:stretch>
        </p:blipFill>
        <p:spPr>
          <a:xfrm>
            <a:off x="152400" y="1533425"/>
            <a:ext cx="8839199" cy="2110663"/>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7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Operators: Bitwise Operators</a:t>
            </a:r>
            <a:endParaRPr/>
          </a:p>
        </p:txBody>
      </p:sp>
      <p:pic>
        <p:nvPicPr>
          <p:cNvPr id="461" name="Google Shape;461;p76"/>
          <p:cNvPicPr preferRelativeResize="0"/>
          <p:nvPr/>
        </p:nvPicPr>
        <p:blipFill>
          <a:blip r:embed="rId3">
            <a:alphaModFix/>
          </a:blip>
          <a:stretch>
            <a:fillRect/>
          </a:stretch>
        </p:blipFill>
        <p:spPr>
          <a:xfrm>
            <a:off x="533400" y="1304825"/>
            <a:ext cx="7675072" cy="3686276"/>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77"/>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Operators: Ternary/ Conditional Operators</a:t>
            </a:r>
            <a:endParaRPr/>
          </a:p>
        </p:txBody>
      </p:sp>
      <p:sp>
        <p:nvSpPr>
          <p:cNvPr id="467" name="Google Shape;467;p77"/>
          <p:cNvSpPr txBox="1"/>
          <p:nvPr/>
        </p:nvSpPr>
        <p:spPr>
          <a:xfrm>
            <a:off x="748900" y="1447800"/>
            <a:ext cx="7771800" cy="2848200"/>
          </a:xfrm>
          <a:prstGeom prst="rect">
            <a:avLst/>
          </a:prstGeom>
          <a:noFill/>
          <a:ln>
            <a:noFill/>
          </a:ln>
        </p:spPr>
        <p:txBody>
          <a:bodyPr spcFirstLastPara="1" wrap="square" lIns="91425" tIns="91425" rIns="91425" bIns="91425" anchor="t" anchorCtr="0">
            <a:spAutoFit/>
          </a:bodyPr>
          <a:lstStyle/>
          <a:p>
            <a:pPr marL="457200" lvl="0" indent="-342900" algn="just" rtl="0">
              <a:lnSpc>
                <a:spcPct val="115000"/>
              </a:lnSpc>
              <a:spcBef>
                <a:spcPts val="100"/>
              </a:spcBef>
              <a:spcAft>
                <a:spcPts val="0"/>
              </a:spcAft>
              <a:buClr>
                <a:srgbClr val="666666"/>
              </a:buClr>
              <a:buSzPts val="1800"/>
              <a:buFont typeface="Open Sans"/>
              <a:buChar char="●"/>
            </a:pPr>
            <a:r>
              <a:rPr lang="en" sz="1800">
                <a:solidFill>
                  <a:srgbClr val="666666"/>
                </a:solidFill>
                <a:latin typeface="Open Sans"/>
                <a:ea typeface="Open Sans"/>
                <a:cs typeface="Open Sans"/>
                <a:sym typeface="Open Sans"/>
              </a:rPr>
              <a:t>This operator is called ternary because it acts on 3  variables. The syntax for this operator is:</a:t>
            </a:r>
            <a:endParaRPr sz="1800">
              <a:solidFill>
                <a:srgbClr val="666666"/>
              </a:solidFill>
              <a:latin typeface="Open Sans"/>
              <a:ea typeface="Open Sans"/>
              <a:cs typeface="Open Sans"/>
              <a:sym typeface="Open Sans"/>
            </a:endParaRPr>
          </a:p>
          <a:p>
            <a:pPr marL="457200" lvl="0" indent="457200" algn="just" rtl="0">
              <a:lnSpc>
                <a:spcPct val="115000"/>
              </a:lnSpc>
              <a:spcBef>
                <a:spcPts val="100"/>
              </a:spcBef>
              <a:spcAft>
                <a:spcPts val="0"/>
              </a:spcAft>
              <a:buNone/>
            </a:pPr>
            <a:r>
              <a:rPr lang="en" sz="1800">
                <a:solidFill>
                  <a:srgbClr val="FF8118"/>
                </a:solidFill>
                <a:latin typeface="Open Sans"/>
                <a:ea typeface="Open Sans"/>
                <a:cs typeface="Open Sans"/>
                <a:sym typeface="Open Sans"/>
              </a:rPr>
              <a:t>Variable = Expression1? Expression2: Expression3;</a:t>
            </a:r>
            <a:endParaRPr sz="1800">
              <a:solidFill>
                <a:srgbClr val="FF8118"/>
              </a:solidFill>
              <a:latin typeface="Open Sans"/>
              <a:ea typeface="Open Sans"/>
              <a:cs typeface="Open Sans"/>
              <a:sym typeface="Open Sans"/>
            </a:endParaRPr>
          </a:p>
          <a:p>
            <a:pPr marL="457200" lvl="0" indent="-342900" algn="just" rtl="0">
              <a:lnSpc>
                <a:spcPct val="115000"/>
              </a:lnSpc>
              <a:spcBef>
                <a:spcPts val="1000"/>
              </a:spcBef>
              <a:spcAft>
                <a:spcPts val="0"/>
              </a:spcAft>
              <a:buClr>
                <a:srgbClr val="666666"/>
              </a:buClr>
              <a:buSzPts val="1800"/>
              <a:buFont typeface="Open Sans"/>
              <a:buChar char="●"/>
            </a:pPr>
            <a:r>
              <a:rPr lang="en" sz="1800">
                <a:solidFill>
                  <a:srgbClr val="666666"/>
                </a:solidFill>
                <a:latin typeface="Open Sans"/>
                <a:ea typeface="Open Sans"/>
                <a:cs typeface="Open Sans"/>
                <a:sym typeface="Open Sans"/>
              </a:rPr>
              <a:t>First Expression1  is evaluated. If it is true, then  Expression2 value is stored into variable otherwise  Expression3 value is stored into the variable.</a:t>
            </a:r>
            <a:endParaRPr sz="1800">
              <a:solidFill>
                <a:srgbClr val="666666"/>
              </a:solidFill>
              <a:latin typeface="Open Sans"/>
              <a:ea typeface="Open Sans"/>
              <a:cs typeface="Open Sans"/>
              <a:sym typeface="Open Sans"/>
            </a:endParaRPr>
          </a:p>
          <a:p>
            <a:pPr marL="1384300" lvl="0" indent="444500" algn="l" rtl="0">
              <a:lnSpc>
                <a:spcPct val="115000"/>
              </a:lnSpc>
              <a:spcBef>
                <a:spcPts val="2600"/>
              </a:spcBef>
              <a:spcAft>
                <a:spcPts val="0"/>
              </a:spcAft>
              <a:buNone/>
            </a:pPr>
            <a:r>
              <a:rPr lang="en" sz="1800">
                <a:solidFill>
                  <a:srgbClr val="FF9900"/>
                </a:solidFill>
                <a:latin typeface="Open Sans"/>
                <a:ea typeface="Open Sans"/>
                <a:cs typeface="Open Sans"/>
                <a:sym typeface="Open Sans"/>
              </a:rPr>
              <a:t>e.g.: max = (a&gt;b) ? a: b;</a:t>
            </a:r>
            <a:endParaRPr sz="1800">
              <a:solidFill>
                <a:srgbClr val="FF9900"/>
              </a:solidFill>
              <a:latin typeface="Open Sans"/>
              <a:ea typeface="Open Sans"/>
              <a:cs typeface="Open Sans"/>
              <a:sym typeface="Open Sans"/>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78"/>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Special Operator: instanceof</a:t>
            </a:r>
            <a:endParaRPr/>
          </a:p>
        </p:txBody>
      </p:sp>
      <p:sp>
        <p:nvSpPr>
          <p:cNvPr id="473" name="Google Shape;473;p78"/>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457200" lvl="0" indent="-342900" algn="just" rtl="0">
              <a:spcBef>
                <a:spcPts val="100"/>
              </a:spcBef>
              <a:spcAft>
                <a:spcPts val="0"/>
              </a:spcAft>
              <a:buClr>
                <a:srgbClr val="000000"/>
              </a:buClr>
              <a:buSzPts val="1800"/>
              <a:buChar char="●"/>
            </a:pPr>
            <a:r>
              <a:rPr lang="en">
                <a:solidFill>
                  <a:srgbClr val="000000"/>
                </a:solidFill>
              </a:rPr>
              <a:t>Java supports some special operator of interest  such as instanceof operator.</a:t>
            </a:r>
            <a:endParaRPr>
              <a:solidFill>
                <a:srgbClr val="000000"/>
              </a:solidFill>
            </a:endParaRPr>
          </a:p>
          <a:p>
            <a:pPr marL="457200" lvl="0" indent="-342900" algn="just" rtl="0">
              <a:spcBef>
                <a:spcPts val="0"/>
              </a:spcBef>
              <a:spcAft>
                <a:spcPts val="0"/>
              </a:spcAft>
              <a:buClr>
                <a:srgbClr val="000000"/>
              </a:buClr>
              <a:buSzPts val="1800"/>
              <a:buChar char="●"/>
            </a:pPr>
            <a:r>
              <a:rPr lang="en">
                <a:solidFill>
                  <a:srgbClr val="000000"/>
                </a:solidFill>
              </a:rPr>
              <a:t>The Instanceof is an object reference operator and  returns true if the object on the left-hand side is  instance of the class given on the right-hand side.</a:t>
            </a:r>
            <a:endParaRPr>
              <a:solidFill>
                <a:srgbClr val="000000"/>
              </a:solidFill>
            </a:endParaRPr>
          </a:p>
          <a:p>
            <a:pPr marL="457200" lvl="0" indent="-342900" algn="just" rtl="0">
              <a:spcBef>
                <a:spcPts val="0"/>
              </a:spcBef>
              <a:spcAft>
                <a:spcPts val="0"/>
              </a:spcAft>
              <a:buClr>
                <a:srgbClr val="000000"/>
              </a:buClr>
              <a:buSzPts val="1800"/>
              <a:buChar char="●"/>
            </a:pPr>
            <a:r>
              <a:rPr lang="en">
                <a:solidFill>
                  <a:srgbClr val="000000"/>
                </a:solidFill>
              </a:rPr>
              <a:t>Example-</a:t>
            </a:r>
            <a:endParaRPr>
              <a:solidFill>
                <a:srgbClr val="000000"/>
              </a:solidFill>
            </a:endParaRPr>
          </a:p>
          <a:p>
            <a:pPr marL="1841500" lvl="0" indent="0" algn="just" rtl="0">
              <a:spcBef>
                <a:spcPts val="700"/>
              </a:spcBef>
              <a:spcAft>
                <a:spcPts val="0"/>
              </a:spcAft>
              <a:buNone/>
            </a:pPr>
            <a:r>
              <a:rPr lang="en">
                <a:solidFill>
                  <a:srgbClr val="000000"/>
                </a:solidFill>
              </a:rPr>
              <a:t>person </a:t>
            </a:r>
            <a:r>
              <a:rPr lang="en" b="1">
                <a:solidFill>
                  <a:srgbClr val="000000"/>
                </a:solidFill>
              </a:rPr>
              <a:t>instanceof</a:t>
            </a:r>
            <a:r>
              <a:rPr lang="en">
                <a:solidFill>
                  <a:srgbClr val="000000"/>
                </a:solidFill>
              </a:rPr>
              <a:t> student</a:t>
            </a:r>
            <a:endParaRPr>
              <a:solidFill>
                <a:srgbClr val="000000"/>
              </a:solidFill>
            </a:endParaRPr>
          </a:p>
          <a:p>
            <a:pPr marL="457200" lvl="0" indent="-342900" algn="just" rtl="0">
              <a:spcBef>
                <a:spcPts val="700"/>
              </a:spcBef>
              <a:spcAft>
                <a:spcPts val="0"/>
              </a:spcAft>
              <a:buClr>
                <a:srgbClr val="000000"/>
              </a:buClr>
              <a:buSzPts val="1800"/>
              <a:buChar char="●"/>
            </a:pPr>
            <a:r>
              <a:rPr lang="en">
                <a:solidFill>
                  <a:srgbClr val="000000"/>
                </a:solidFill>
              </a:rPr>
              <a:t>It is </a:t>
            </a:r>
            <a:r>
              <a:rPr lang="en" b="1">
                <a:solidFill>
                  <a:srgbClr val="000000"/>
                </a:solidFill>
              </a:rPr>
              <a:t>true </a:t>
            </a:r>
            <a:r>
              <a:rPr lang="en">
                <a:solidFill>
                  <a:srgbClr val="000000"/>
                </a:solidFill>
              </a:rPr>
              <a:t>if the object person belongs to the class  student, otherwise it is </a:t>
            </a:r>
            <a:r>
              <a:rPr lang="en" b="1">
                <a:solidFill>
                  <a:srgbClr val="000000"/>
                </a:solidFill>
              </a:rPr>
              <a:t>false</a:t>
            </a:r>
            <a:r>
              <a:rPr lang="en">
                <a:solidFill>
                  <a:srgbClr val="000000"/>
                </a:solidFill>
              </a:rPr>
              <a:t>.</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79"/>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Operator: Example</a:t>
            </a:r>
            <a:endParaRPr/>
          </a:p>
        </p:txBody>
      </p:sp>
      <p:pic>
        <p:nvPicPr>
          <p:cNvPr id="479" name="Google Shape;479;p79"/>
          <p:cNvPicPr preferRelativeResize="0"/>
          <p:nvPr/>
        </p:nvPicPr>
        <p:blipFill>
          <a:blip r:embed="rId3">
            <a:alphaModFix/>
          </a:blip>
          <a:stretch>
            <a:fillRect/>
          </a:stretch>
        </p:blipFill>
        <p:spPr>
          <a:xfrm>
            <a:off x="381000" y="1304825"/>
            <a:ext cx="4510200" cy="3686400"/>
          </a:xfrm>
          <a:prstGeom prst="rect">
            <a:avLst/>
          </a:prstGeom>
          <a:noFill/>
          <a:ln>
            <a:noFill/>
          </a:ln>
        </p:spPr>
      </p:pic>
      <p:pic>
        <p:nvPicPr>
          <p:cNvPr id="480" name="Google Shape;480;p79"/>
          <p:cNvPicPr preferRelativeResize="0"/>
          <p:nvPr/>
        </p:nvPicPr>
        <p:blipFill>
          <a:blip r:embed="rId4">
            <a:alphaModFix/>
          </a:blip>
          <a:stretch>
            <a:fillRect/>
          </a:stretch>
        </p:blipFill>
        <p:spPr>
          <a:xfrm>
            <a:off x="5124725" y="1662125"/>
            <a:ext cx="3504926" cy="2124075"/>
          </a:xfrm>
          <a:prstGeom prst="rect">
            <a:avLst/>
          </a:prstGeom>
          <a:noFill/>
          <a:ln>
            <a:noFill/>
          </a:ln>
        </p:spPr>
      </p:pic>
      <p:sp>
        <p:nvSpPr>
          <p:cNvPr id="481" name="Google Shape;481;p79"/>
          <p:cNvSpPr txBox="1"/>
          <p:nvPr/>
        </p:nvSpPr>
        <p:spPr>
          <a:xfrm>
            <a:off x="5236650" y="1245475"/>
            <a:ext cx="3615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Open Sans"/>
                <a:ea typeface="Open Sans"/>
                <a:cs typeface="Open Sans"/>
                <a:sym typeface="Open Sans"/>
              </a:rPr>
              <a:t>Output</a:t>
            </a:r>
            <a:endParaRPr>
              <a:latin typeface="Open Sans"/>
              <a:ea typeface="Open Sans"/>
              <a:cs typeface="Open Sans"/>
              <a:sym typeface="Open Sans"/>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p80"/>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Control Statements</a:t>
            </a:r>
            <a:endParaRPr/>
          </a:p>
        </p:txBody>
      </p:sp>
      <p:sp>
        <p:nvSpPr>
          <p:cNvPr id="487" name="Google Shape;487;p80"/>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457200" lvl="0" indent="-342900" algn="just" rtl="0">
              <a:spcBef>
                <a:spcPts val="100"/>
              </a:spcBef>
              <a:spcAft>
                <a:spcPts val="0"/>
              </a:spcAft>
              <a:buClr>
                <a:srgbClr val="666666"/>
              </a:buClr>
              <a:buSzPts val="1800"/>
              <a:buChar char="●"/>
            </a:pPr>
            <a:r>
              <a:rPr lang="en">
                <a:solidFill>
                  <a:srgbClr val="666666"/>
                </a:solidFill>
              </a:rPr>
              <a:t>Control statements are the statements which alter  the flow of execution and provide better control to  the programmer on the flow of execution.</a:t>
            </a:r>
            <a:endParaRPr>
              <a:solidFill>
                <a:srgbClr val="666666"/>
              </a:solidFill>
            </a:endParaRPr>
          </a:p>
          <a:p>
            <a:pPr marL="457200" lvl="0" indent="-342900" algn="just" rtl="0">
              <a:spcBef>
                <a:spcPts val="1000"/>
              </a:spcBef>
              <a:spcAft>
                <a:spcPts val="0"/>
              </a:spcAft>
              <a:buClr>
                <a:srgbClr val="666666"/>
              </a:buClr>
              <a:buSzPts val="1800"/>
              <a:buChar char="●"/>
            </a:pPr>
            <a:r>
              <a:rPr lang="en">
                <a:solidFill>
                  <a:srgbClr val="666666"/>
                </a:solidFill>
              </a:rPr>
              <a:t>In Java control statements are categorized into:</a:t>
            </a:r>
            <a:endParaRPr>
              <a:solidFill>
                <a:srgbClr val="666666"/>
              </a:solidFill>
            </a:endParaRPr>
          </a:p>
          <a:p>
            <a:pPr marL="914400" lvl="1" indent="-342900" algn="just" rtl="0">
              <a:spcBef>
                <a:spcPts val="1000"/>
              </a:spcBef>
              <a:spcAft>
                <a:spcPts val="0"/>
              </a:spcAft>
              <a:buClr>
                <a:srgbClr val="666666"/>
              </a:buClr>
              <a:buSzPts val="1800"/>
              <a:buChar char="○"/>
            </a:pPr>
            <a:r>
              <a:rPr lang="en" sz="1800">
                <a:solidFill>
                  <a:srgbClr val="666666"/>
                </a:solidFill>
              </a:rPr>
              <a:t>Selection/Decision making control statements</a:t>
            </a:r>
            <a:endParaRPr sz="1800">
              <a:solidFill>
                <a:srgbClr val="666666"/>
              </a:solidFill>
            </a:endParaRPr>
          </a:p>
          <a:p>
            <a:pPr marL="914400" lvl="1" indent="-342900" algn="just" rtl="0">
              <a:spcBef>
                <a:spcPts val="0"/>
              </a:spcBef>
              <a:spcAft>
                <a:spcPts val="0"/>
              </a:spcAft>
              <a:buClr>
                <a:srgbClr val="666666"/>
              </a:buClr>
              <a:buSzPts val="1800"/>
              <a:buChar char="○"/>
            </a:pPr>
            <a:r>
              <a:rPr lang="en" sz="1800">
                <a:solidFill>
                  <a:srgbClr val="666666"/>
                </a:solidFill>
              </a:rPr>
              <a:t>Iteration/Looping control statements</a:t>
            </a:r>
            <a:endParaRPr sz="1800">
              <a:solidFill>
                <a:srgbClr val="666666"/>
              </a:solidFill>
            </a:endParaRPr>
          </a:p>
          <a:p>
            <a:pPr marL="914400" lvl="1" indent="-342900" algn="just" rtl="0">
              <a:spcBef>
                <a:spcPts val="0"/>
              </a:spcBef>
              <a:spcAft>
                <a:spcPts val="0"/>
              </a:spcAft>
              <a:buClr>
                <a:srgbClr val="666666"/>
              </a:buClr>
              <a:buSzPts val="1800"/>
              <a:buChar char="○"/>
            </a:pPr>
            <a:r>
              <a:rPr lang="en" sz="1800">
                <a:solidFill>
                  <a:srgbClr val="666666"/>
                </a:solidFill>
              </a:rPr>
              <a:t>Jump control statements</a:t>
            </a:r>
            <a:endParaRPr>
              <a:solidFill>
                <a:srgbClr val="666666"/>
              </a:solidFill>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p81"/>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Selection Statements</a:t>
            </a:r>
            <a:endParaRPr/>
          </a:p>
        </p:txBody>
      </p:sp>
      <p:sp>
        <p:nvSpPr>
          <p:cNvPr id="493" name="Google Shape;493;p81"/>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457200" lvl="0" indent="-342900" algn="just" rtl="0">
              <a:spcBef>
                <a:spcPts val="100"/>
              </a:spcBef>
              <a:spcAft>
                <a:spcPts val="0"/>
              </a:spcAft>
              <a:buClr>
                <a:srgbClr val="666666"/>
              </a:buClr>
              <a:buSzPts val="1800"/>
              <a:buChar char="●"/>
            </a:pPr>
            <a:r>
              <a:rPr lang="en">
                <a:solidFill>
                  <a:srgbClr val="666666"/>
                </a:solidFill>
                <a:highlight>
                  <a:srgbClr val="FFFFFF"/>
                </a:highlight>
              </a:rPr>
              <a:t>decision-making statements decide which statement to execute and when to execute. </a:t>
            </a:r>
            <a:endParaRPr>
              <a:solidFill>
                <a:srgbClr val="666666"/>
              </a:solidFill>
              <a:highlight>
                <a:srgbClr val="FFFFFF"/>
              </a:highlight>
            </a:endParaRPr>
          </a:p>
          <a:p>
            <a:pPr marL="457200" lvl="0" indent="-342900" algn="just" rtl="0">
              <a:spcBef>
                <a:spcPts val="0"/>
              </a:spcBef>
              <a:spcAft>
                <a:spcPts val="0"/>
              </a:spcAft>
              <a:buClr>
                <a:srgbClr val="666666"/>
              </a:buClr>
              <a:buSzPts val="1800"/>
              <a:buChar char="●"/>
            </a:pPr>
            <a:r>
              <a:rPr lang="en">
                <a:solidFill>
                  <a:srgbClr val="666666"/>
                </a:solidFill>
                <a:highlight>
                  <a:srgbClr val="FFFFFF"/>
                </a:highlight>
              </a:rPr>
              <a:t>Decision-making statements evaluate the Boolean expression and control the program flow depending upon the result of the condition provided. </a:t>
            </a:r>
            <a:endParaRPr>
              <a:solidFill>
                <a:srgbClr val="666666"/>
              </a:solidFill>
              <a:highlight>
                <a:srgbClr val="FFFFFF"/>
              </a:highlight>
            </a:endParaRPr>
          </a:p>
          <a:p>
            <a:pPr marL="457200" lvl="0" indent="-342900" algn="just" rtl="0">
              <a:spcBef>
                <a:spcPts val="0"/>
              </a:spcBef>
              <a:spcAft>
                <a:spcPts val="0"/>
              </a:spcAft>
              <a:buClr>
                <a:srgbClr val="666666"/>
              </a:buClr>
              <a:buSzPts val="1800"/>
              <a:buChar char="●"/>
            </a:pPr>
            <a:r>
              <a:rPr lang="en">
                <a:solidFill>
                  <a:srgbClr val="666666"/>
                </a:solidFill>
                <a:highlight>
                  <a:srgbClr val="FFFFFF"/>
                </a:highlight>
              </a:rPr>
              <a:t>There are two types of decision-making statements in Java”</a:t>
            </a:r>
            <a:endParaRPr>
              <a:solidFill>
                <a:srgbClr val="666666"/>
              </a:solidFill>
              <a:highlight>
                <a:srgbClr val="FFFFFF"/>
              </a:highlight>
            </a:endParaRPr>
          </a:p>
          <a:p>
            <a:pPr marL="914400" lvl="1" indent="-330200" algn="just" rtl="0">
              <a:spcBef>
                <a:spcPts val="1000"/>
              </a:spcBef>
              <a:spcAft>
                <a:spcPts val="0"/>
              </a:spcAft>
              <a:buClr>
                <a:srgbClr val="666666"/>
              </a:buClr>
              <a:buSzPts val="1600"/>
              <a:buChar char="○"/>
            </a:pPr>
            <a:r>
              <a:rPr lang="en" sz="1600">
                <a:solidFill>
                  <a:srgbClr val="666666"/>
                </a:solidFill>
                <a:highlight>
                  <a:srgbClr val="FFFFFF"/>
                </a:highlight>
              </a:rPr>
              <a:t>If statement: if, if-else, if-elseif ,nested if</a:t>
            </a:r>
            <a:endParaRPr sz="1600">
              <a:solidFill>
                <a:srgbClr val="666666"/>
              </a:solidFill>
              <a:highlight>
                <a:srgbClr val="FFFFFF"/>
              </a:highlight>
            </a:endParaRPr>
          </a:p>
          <a:p>
            <a:pPr marL="914400" lvl="1" indent="-330200" algn="just" rtl="0">
              <a:spcBef>
                <a:spcPts val="1000"/>
              </a:spcBef>
              <a:spcAft>
                <a:spcPts val="0"/>
              </a:spcAft>
              <a:buClr>
                <a:srgbClr val="666666"/>
              </a:buClr>
              <a:buSzPts val="1600"/>
              <a:buChar char="○"/>
            </a:pPr>
            <a:r>
              <a:rPr lang="en" sz="1600">
                <a:solidFill>
                  <a:srgbClr val="666666"/>
                </a:solidFill>
                <a:highlight>
                  <a:srgbClr val="FFFFFF"/>
                </a:highlight>
              </a:rPr>
              <a:t>switch statement</a:t>
            </a:r>
            <a:endParaRPr sz="1600">
              <a:solidFill>
                <a:srgbClr val="666666"/>
              </a:solidFill>
              <a:highlight>
                <a:srgbClr val="FFFFFF"/>
              </a:highlight>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82"/>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if statement</a:t>
            </a:r>
            <a:endParaRPr/>
          </a:p>
        </p:txBody>
      </p:sp>
      <p:sp>
        <p:nvSpPr>
          <p:cNvPr id="499" name="Google Shape;499;p82"/>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rgbClr val="000000"/>
                </a:solidFill>
              </a:rPr>
              <a:t>if statement performs a task depending on whether  a condition is true or false.</a:t>
            </a:r>
            <a:endParaRPr>
              <a:solidFill>
                <a:srgbClr val="000000"/>
              </a:solidFill>
            </a:endParaRPr>
          </a:p>
          <a:p>
            <a:pPr marL="0" lvl="0" indent="0" algn="l" rtl="0">
              <a:spcBef>
                <a:spcPts val="1200"/>
              </a:spcBef>
              <a:spcAft>
                <a:spcPts val="0"/>
              </a:spcAft>
              <a:buNone/>
            </a:pPr>
            <a:r>
              <a:rPr lang="en" sz="1600" b="1">
                <a:solidFill>
                  <a:srgbClr val="000000"/>
                </a:solidFill>
              </a:rPr>
              <a:t>Syntax</a:t>
            </a:r>
            <a:r>
              <a:rPr lang="en" sz="1600">
                <a:solidFill>
                  <a:srgbClr val="000000"/>
                </a:solidFill>
              </a:rPr>
              <a:t>: if(condition){</a:t>
            </a:r>
            <a:endParaRPr sz="1600">
              <a:solidFill>
                <a:srgbClr val="000000"/>
              </a:solidFill>
            </a:endParaRPr>
          </a:p>
          <a:p>
            <a:pPr marL="914400" lvl="0" indent="457200" algn="l" rtl="0">
              <a:spcBef>
                <a:spcPts val="1200"/>
              </a:spcBef>
              <a:spcAft>
                <a:spcPts val="0"/>
              </a:spcAft>
              <a:buNone/>
            </a:pPr>
            <a:r>
              <a:rPr lang="en" sz="1600">
                <a:solidFill>
                  <a:srgbClr val="000000"/>
                </a:solidFill>
              </a:rPr>
              <a:t>//statements</a:t>
            </a:r>
            <a:endParaRPr sz="1600">
              <a:solidFill>
                <a:srgbClr val="000000"/>
              </a:solidFill>
            </a:endParaRPr>
          </a:p>
          <a:p>
            <a:pPr marL="914400" lvl="0" indent="0" algn="l" rtl="0">
              <a:spcBef>
                <a:spcPts val="1200"/>
              </a:spcBef>
              <a:spcAft>
                <a:spcPts val="0"/>
              </a:spcAft>
              <a:buNone/>
            </a:pPr>
            <a:r>
              <a:rPr lang="en" sz="1600">
                <a:solidFill>
                  <a:srgbClr val="000000"/>
                </a:solidFill>
              </a:rPr>
              <a:t>}</a:t>
            </a:r>
            <a:endParaRPr sz="1600">
              <a:solidFill>
                <a:srgbClr val="000000"/>
              </a:solidFill>
            </a:endParaRPr>
          </a:p>
          <a:p>
            <a:pPr marL="0" lvl="0" indent="0" algn="l" rtl="0">
              <a:spcBef>
                <a:spcPts val="1200"/>
              </a:spcBef>
              <a:spcAft>
                <a:spcPts val="0"/>
              </a:spcAft>
              <a:buNone/>
            </a:pPr>
            <a:endParaRPr b="1">
              <a:solidFill>
                <a:srgbClr val="000000"/>
              </a:solidFill>
            </a:endParaRPr>
          </a:p>
          <a:p>
            <a:pPr marL="0" lvl="0" indent="0" algn="l" rtl="0">
              <a:spcBef>
                <a:spcPts val="1200"/>
              </a:spcBef>
              <a:spcAft>
                <a:spcPts val="1200"/>
              </a:spcAft>
              <a:buNone/>
            </a:pPr>
            <a:r>
              <a:rPr lang="en" b="1">
                <a:solidFill>
                  <a:srgbClr val="000000"/>
                </a:solidFill>
              </a:rPr>
              <a:t>NOTE: </a:t>
            </a:r>
            <a:r>
              <a:rPr lang="en">
                <a:solidFill>
                  <a:srgbClr val="000000"/>
                </a:solidFill>
              </a:rPr>
              <a:t>here if the condition gets false, no output will be displayed</a:t>
            </a:r>
            <a:endParaRPr>
              <a:solidFill>
                <a:srgbClr val="000000"/>
              </a:solidFill>
            </a:endParaRPr>
          </a:p>
        </p:txBody>
      </p:sp>
      <p:sp>
        <p:nvSpPr>
          <p:cNvPr id="500" name="Google Shape;500;p82"/>
          <p:cNvSpPr txBox="1"/>
          <p:nvPr/>
        </p:nvSpPr>
        <p:spPr>
          <a:xfrm>
            <a:off x="3600300" y="2019150"/>
            <a:ext cx="5543700" cy="1416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b="1">
                <a:latin typeface="Open Sans"/>
                <a:ea typeface="Open Sans"/>
                <a:cs typeface="Open Sans"/>
                <a:sym typeface="Open Sans"/>
              </a:rPr>
              <a:t>Example</a:t>
            </a:r>
            <a:r>
              <a:rPr lang="en" sz="1600">
                <a:latin typeface="Open Sans"/>
                <a:ea typeface="Open Sans"/>
                <a:cs typeface="Open Sans"/>
                <a:sym typeface="Open Sans"/>
              </a:rPr>
              <a:t>:  </a:t>
            </a:r>
            <a:endParaRPr sz="1600">
              <a:latin typeface="Open Sans"/>
              <a:ea typeface="Open Sans"/>
              <a:cs typeface="Open Sans"/>
              <a:sym typeface="Open Sans"/>
            </a:endParaRPr>
          </a:p>
          <a:p>
            <a:pPr marL="0" lvl="0" indent="457200" algn="l" rtl="0">
              <a:spcBef>
                <a:spcPts val="0"/>
              </a:spcBef>
              <a:spcAft>
                <a:spcPts val="0"/>
              </a:spcAft>
              <a:buNone/>
            </a:pPr>
            <a:r>
              <a:rPr lang="en" sz="1600">
                <a:latin typeface="Open Sans"/>
                <a:ea typeface="Open Sans"/>
                <a:cs typeface="Open Sans"/>
                <a:sym typeface="Open Sans"/>
              </a:rPr>
              <a:t>int a=5;</a:t>
            </a:r>
            <a:endParaRPr sz="1600">
              <a:latin typeface="Open Sans"/>
              <a:ea typeface="Open Sans"/>
              <a:cs typeface="Open Sans"/>
              <a:sym typeface="Open Sans"/>
            </a:endParaRPr>
          </a:p>
          <a:p>
            <a:pPr marL="457200" lvl="0" indent="0" algn="l" rtl="0">
              <a:spcBef>
                <a:spcPts val="0"/>
              </a:spcBef>
              <a:spcAft>
                <a:spcPts val="0"/>
              </a:spcAft>
              <a:buNone/>
            </a:pPr>
            <a:r>
              <a:rPr lang="en" sz="1600">
                <a:latin typeface="Open Sans"/>
                <a:ea typeface="Open Sans"/>
                <a:cs typeface="Open Sans"/>
                <a:sym typeface="Open Sans"/>
              </a:rPr>
              <a:t>if(a&gt; 10){</a:t>
            </a:r>
            <a:endParaRPr sz="1600">
              <a:latin typeface="Open Sans"/>
              <a:ea typeface="Open Sans"/>
              <a:cs typeface="Open Sans"/>
              <a:sym typeface="Open Sans"/>
            </a:endParaRPr>
          </a:p>
          <a:p>
            <a:pPr marL="0" lvl="0" indent="0" algn="l" rtl="0">
              <a:spcBef>
                <a:spcPts val="0"/>
              </a:spcBef>
              <a:spcAft>
                <a:spcPts val="0"/>
              </a:spcAft>
              <a:buNone/>
            </a:pPr>
            <a:r>
              <a:rPr lang="en" sz="1600">
                <a:latin typeface="Open Sans"/>
                <a:ea typeface="Open Sans"/>
                <a:cs typeface="Open Sans"/>
                <a:sym typeface="Open Sans"/>
              </a:rPr>
              <a:t>		System.out.println(“Given condition  is true”)</a:t>
            </a:r>
            <a:endParaRPr sz="1600">
              <a:latin typeface="Open Sans"/>
              <a:ea typeface="Open Sans"/>
              <a:cs typeface="Open Sans"/>
              <a:sym typeface="Open Sans"/>
            </a:endParaRPr>
          </a:p>
          <a:p>
            <a:pPr marL="457200" lvl="0" indent="0" algn="l" rtl="0">
              <a:spcBef>
                <a:spcPts val="0"/>
              </a:spcBef>
              <a:spcAft>
                <a:spcPts val="0"/>
              </a:spcAft>
              <a:buNone/>
            </a:pPr>
            <a:r>
              <a:rPr lang="en" sz="1600">
                <a:latin typeface="Open Sans"/>
                <a:ea typeface="Open Sans"/>
                <a:cs typeface="Open Sans"/>
                <a:sym typeface="Open Sans"/>
              </a:rPr>
              <a:t>}</a:t>
            </a:r>
            <a:endParaRPr sz="1600">
              <a:latin typeface="Open Sans"/>
              <a:ea typeface="Open Sans"/>
              <a:cs typeface="Open Sans"/>
              <a:sym typeface="Open Sans"/>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p83"/>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if-else statement</a:t>
            </a:r>
            <a:endParaRPr/>
          </a:p>
        </p:txBody>
      </p:sp>
      <p:sp>
        <p:nvSpPr>
          <p:cNvPr id="506" name="Google Shape;506;p83"/>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en" sz="1600">
                <a:solidFill>
                  <a:srgbClr val="666666"/>
                </a:solidFill>
              </a:rPr>
              <a:t>if statement performs a task depending on whether  a condition is true or false. If block specify </a:t>
            </a:r>
            <a:r>
              <a:rPr lang="en" sz="1600">
                <a:solidFill>
                  <a:srgbClr val="666666"/>
                </a:solidFill>
                <a:highlight>
                  <a:srgbClr val="FFFFFF"/>
                </a:highlight>
              </a:rPr>
              <a:t>a block of code to be executed if the condition is </a:t>
            </a:r>
            <a:r>
              <a:rPr lang="en" sz="1600" b="1">
                <a:solidFill>
                  <a:srgbClr val="666666"/>
                </a:solidFill>
                <a:highlight>
                  <a:srgbClr val="FFFFFF"/>
                </a:highlight>
              </a:rPr>
              <a:t>true </a:t>
            </a:r>
            <a:r>
              <a:rPr lang="en" sz="1600">
                <a:solidFill>
                  <a:srgbClr val="666666"/>
                </a:solidFill>
                <a:highlight>
                  <a:srgbClr val="FFFFFF"/>
                </a:highlight>
              </a:rPr>
              <a:t>&amp; else block specify a block of code to be executed if the condition is </a:t>
            </a:r>
            <a:r>
              <a:rPr lang="en" sz="1600" b="1">
                <a:solidFill>
                  <a:srgbClr val="666666"/>
                </a:solidFill>
                <a:highlight>
                  <a:srgbClr val="FFFFFF"/>
                </a:highlight>
              </a:rPr>
              <a:t>false</a:t>
            </a:r>
            <a:endParaRPr sz="1600" b="1">
              <a:solidFill>
                <a:srgbClr val="666666"/>
              </a:solidFill>
            </a:endParaRPr>
          </a:p>
          <a:p>
            <a:pPr marL="0" lvl="0" indent="0" algn="l" rtl="0">
              <a:spcBef>
                <a:spcPts val="1200"/>
              </a:spcBef>
              <a:spcAft>
                <a:spcPts val="0"/>
              </a:spcAft>
              <a:buNone/>
            </a:pPr>
            <a:r>
              <a:rPr lang="en" sz="1600" b="1">
                <a:solidFill>
                  <a:srgbClr val="666666"/>
                </a:solidFill>
              </a:rPr>
              <a:t>Syntax</a:t>
            </a:r>
            <a:r>
              <a:rPr lang="en" sz="1600">
                <a:solidFill>
                  <a:srgbClr val="666666"/>
                </a:solidFill>
              </a:rPr>
              <a:t>: if(condition){</a:t>
            </a:r>
            <a:endParaRPr sz="1600">
              <a:solidFill>
                <a:srgbClr val="666666"/>
              </a:solidFill>
            </a:endParaRPr>
          </a:p>
          <a:p>
            <a:pPr marL="914400" lvl="0" indent="457200" algn="l" rtl="0">
              <a:spcBef>
                <a:spcPts val="1200"/>
              </a:spcBef>
              <a:spcAft>
                <a:spcPts val="0"/>
              </a:spcAft>
              <a:buNone/>
            </a:pPr>
            <a:r>
              <a:rPr lang="en" sz="1600">
                <a:solidFill>
                  <a:srgbClr val="666666"/>
                </a:solidFill>
              </a:rPr>
              <a:t>//statements</a:t>
            </a:r>
            <a:endParaRPr sz="1600">
              <a:solidFill>
                <a:srgbClr val="666666"/>
              </a:solidFill>
            </a:endParaRPr>
          </a:p>
          <a:p>
            <a:pPr marL="914400" lvl="0" indent="0" algn="l" rtl="0">
              <a:spcBef>
                <a:spcPts val="1200"/>
              </a:spcBef>
              <a:spcAft>
                <a:spcPts val="0"/>
              </a:spcAft>
              <a:buNone/>
            </a:pPr>
            <a:r>
              <a:rPr lang="en" sz="1600">
                <a:solidFill>
                  <a:srgbClr val="666666"/>
                </a:solidFill>
              </a:rPr>
              <a:t>}</a:t>
            </a:r>
            <a:endParaRPr sz="1600">
              <a:solidFill>
                <a:srgbClr val="666666"/>
              </a:solidFill>
            </a:endParaRPr>
          </a:p>
          <a:p>
            <a:pPr marL="914400" lvl="0" indent="0" algn="l" rtl="0">
              <a:spcBef>
                <a:spcPts val="1200"/>
              </a:spcBef>
              <a:spcAft>
                <a:spcPts val="0"/>
              </a:spcAft>
              <a:buNone/>
            </a:pPr>
            <a:r>
              <a:rPr lang="en" sz="1600">
                <a:solidFill>
                  <a:srgbClr val="666666"/>
                </a:solidFill>
              </a:rPr>
              <a:t>else{</a:t>
            </a:r>
            <a:endParaRPr sz="1600">
              <a:solidFill>
                <a:srgbClr val="666666"/>
              </a:solidFill>
            </a:endParaRPr>
          </a:p>
          <a:p>
            <a:pPr marL="914400" lvl="0" indent="457200" algn="l" rtl="0">
              <a:spcBef>
                <a:spcPts val="1200"/>
              </a:spcBef>
              <a:spcAft>
                <a:spcPts val="0"/>
              </a:spcAft>
              <a:buNone/>
            </a:pPr>
            <a:r>
              <a:rPr lang="en" sz="1600">
                <a:solidFill>
                  <a:srgbClr val="666666"/>
                </a:solidFill>
              </a:rPr>
              <a:t>//Statements</a:t>
            </a:r>
            <a:endParaRPr sz="1600">
              <a:solidFill>
                <a:srgbClr val="666666"/>
              </a:solidFill>
            </a:endParaRPr>
          </a:p>
          <a:p>
            <a:pPr marL="914400" lvl="0" indent="0" algn="l" rtl="0">
              <a:spcBef>
                <a:spcPts val="1200"/>
              </a:spcBef>
              <a:spcAft>
                <a:spcPts val="1200"/>
              </a:spcAft>
              <a:buNone/>
            </a:pPr>
            <a:r>
              <a:rPr lang="en" sz="1600">
                <a:solidFill>
                  <a:srgbClr val="666666"/>
                </a:solidFill>
              </a:rPr>
              <a:t>}</a:t>
            </a:r>
            <a:endParaRPr>
              <a:solidFill>
                <a:srgbClr val="666666"/>
              </a:solidFill>
            </a:endParaRPr>
          </a:p>
        </p:txBody>
      </p:sp>
      <p:sp>
        <p:nvSpPr>
          <p:cNvPr id="507" name="Google Shape;507;p83"/>
          <p:cNvSpPr txBox="1"/>
          <p:nvPr/>
        </p:nvSpPr>
        <p:spPr>
          <a:xfrm>
            <a:off x="3600300" y="2019150"/>
            <a:ext cx="5543700" cy="215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b="1">
                <a:solidFill>
                  <a:srgbClr val="666666"/>
                </a:solidFill>
                <a:latin typeface="Open Sans"/>
                <a:ea typeface="Open Sans"/>
                <a:cs typeface="Open Sans"/>
                <a:sym typeface="Open Sans"/>
              </a:rPr>
              <a:t>Example</a:t>
            </a:r>
            <a:r>
              <a:rPr lang="en" sz="1600">
                <a:solidFill>
                  <a:srgbClr val="666666"/>
                </a:solidFill>
                <a:latin typeface="Open Sans"/>
                <a:ea typeface="Open Sans"/>
                <a:cs typeface="Open Sans"/>
                <a:sym typeface="Open Sans"/>
              </a:rPr>
              <a:t>:  </a:t>
            </a:r>
            <a:endParaRPr sz="1600">
              <a:solidFill>
                <a:srgbClr val="666666"/>
              </a:solidFill>
              <a:latin typeface="Open Sans"/>
              <a:ea typeface="Open Sans"/>
              <a:cs typeface="Open Sans"/>
              <a:sym typeface="Open Sans"/>
            </a:endParaRPr>
          </a:p>
          <a:p>
            <a:pPr marL="0" lvl="0" indent="457200" algn="l" rtl="0">
              <a:spcBef>
                <a:spcPts val="0"/>
              </a:spcBef>
              <a:spcAft>
                <a:spcPts val="0"/>
              </a:spcAft>
              <a:buNone/>
            </a:pPr>
            <a:r>
              <a:rPr lang="en" sz="1600">
                <a:solidFill>
                  <a:srgbClr val="666666"/>
                </a:solidFill>
                <a:latin typeface="Open Sans"/>
                <a:ea typeface="Open Sans"/>
                <a:cs typeface="Open Sans"/>
                <a:sym typeface="Open Sans"/>
              </a:rPr>
              <a:t>int a=5;</a:t>
            </a:r>
            <a:endParaRPr sz="1600">
              <a:solidFill>
                <a:srgbClr val="666666"/>
              </a:solidFill>
              <a:latin typeface="Open Sans"/>
              <a:ea typeface="Open Sans"/>
              <a:cs typeface="Open Sans"/>
              <a:sym typeface="Open Sans"/>
            </a:endParaRPr>
          </a:p>
          <a:p>
            <a:pPr marL="457200" lvl="0" indent="0" algn="l" rtl="0">
              <a:spcBef>
                <a:spcPts val="0"/>
              </a:spcBef>
              <a:spcAft>
                <a:spcPts val="0"/>
              </a:spcAft>
              <a:buNone/>
            </a:pPr>
            <a:r>
              <a:rPr lang="en" sz="1600">
                <a:solidFill>
                  <a:srgbClr val="666666"/>
                </a:solidFill>
                <a:latin typeface="Open Sans"/>
                <a:ea typeface="Open Sans"/>
                <a:cs typeface="Open Sans"/>
                <a:sym typeface="Open Sans"/>
              </a:rPr>
              <a:t>if(a&gt; 10){</a:t>
            </a:r>
            <a:endParaRPr sz="1600">
              <a:solidFill>
                <a:srgbClr val="666666"/>
              </a:solidFill>
              <a:latin typeface="Open Sans"/>
              <a:ea typeface="Open Sans"/>
              <a:cs typeface="Open Sans"/>
              <a:sym typeface="Open Sans"/>
            </a:endParaRPr>
          </a:p>
          <a:p>
            <a:pPr marL="0" lvl="0" indent="0" algn="l" rtl="0">
              <a:spcBef>
                <a:spcPts val="0"/>
              </a:spcBef>
              <a:spcAft>
                <a:spcPts val="0"/>
              </a:spcAft>
              <a:buNone/>
            </a:pPr>
            <a:r>
              <a:rPr lang="en" sz="1600">
                <a:solidFill>
                  <a:srgbClr val="666666"/>
                </a:solidFill>
                <a:latin typeface="Open Sans"/>
                <a:ea typeface="Open Sans"/>
                <a:cs typeface="Open Sans"/>
                <a:sym typeface="Open Sans"/>
              </a:rPr>
              <a:t>		System.out.println(“Given condition  is true”)</a:t>
            </a:r>
            <a:endParaRPr sz="1600">
              <a:solidFill>
                <a:srgbClr val="666666"/>
              </a:solidFill>
              <a:latin typeface="Open Sans"/>
              <a:ea typeface="Open Sans"/>
              <a:cs typeface="Open Sans"/>
              <a:sym typeface="Open Sans"/>
            </a:endParaRPr>
          </a:p>
          <a:p>
            <a:pPr marL="457200" lvl="0" indent="0" algn="l" rtl="0">
              <a:spcBef>
                <a:spcPts val="0"/>
              </a:spcBef>
              <a:spcAft>
                <a:spcPts val="0"/>
              </a:spcAft>
              <a:buNone/>
            </a:pPr>
            <a:r>
              <a:rPr lang="en" sz="1600">
                <a:solidFill>
                  <a:srgbClr val="666666"/>
                </a:solidFill>
                <a:latin typeface="Open Sans"/>
                <a:ea typeface="Open Sans"/>
                <a:cs typeface="Open Sans"/>
                <a:sym typeface="Open Sans"/>
              </a:rPr>
              <a:t>}</a:t>
            </a:r>
            <a:endParaRPr sz="1600">
              <a:solidFill>
                <a:srgbClr val="666666"/>
              </a:solidFill>
              <a:latin typeface="Open Sans"/>
              <a:ea typeface="Open Sans"/>
              <a:cs typeface="Open Sans"/>
              <a:sym typeface="Open Sans"/>
            </a:endParaRPr>
          </a:p>
          <a:p>
            <a:pPr marL="457200" lvl="0" indent="0" algn="l" rtl="0">
              <a:spcBef>
                <a:spcPts val="0"/>
              </a:spcBef>
              <a:spcAft>
                <a:spcPts val="0"/>
              </a:spcAft>
              <a:buNone/>
            </a:pPr>
            <a:r>
              <a:rPr lang="en" sz="1600">
                <a:solidFill>
                  <a:srgbClr val="666666"/>
                </a:solidFill>
                <a:latin typeface="Open Sans"/>
                <a:ea typeface="Open Sans"/>
                <a:cs typeface="Open Sans"/>
                <a:sym typeface="Open Sans"/>
              </a:rPr>
              <a:t>else{</a:t>
            </a:r>
            <a:endParaRPr sz="1600">
              <a:solidFill>
                <a:srgbClr val="666666"/>
              </a:solidFill>
              <a:latin typeface="Open Sans"/>
              <a:ea typeface="Open Sans"/>
              <a:cs typeface="Open Sans"/>
              <a:sym typeface="Open Sans"/>
            </a:endParaRPr>
          </a:p>
          <a:p>
            <a:pPr marL="457200" lvl="0" indent="0" algn="l" rtl="0">
              <a:spcBef>
                <a:spcPts val="0"/>
              </a:spcBef>
              <a:spcAft>
                <a:spcPts val="0"/>
              </a:spcAft>
              <a:buNone/>
            </a:pPr>
            <a:r>
              <a:rPr lang="en" sz="1600">
                <a:solidFill>
                  <a:srgbClr val="666666"/>
                </a:solidFill>
                <a:latin typeface="Open Sans"/>
                <a:ea typeface="Open Sans"/>
                <a:cs typeface="Open Sans"/>
                <a:sym typeface="Open Sans"/>
              </a:rPr>
              <a:t>	System.out.println(“Given condition  is false”)</a:t>
            </a:r>
            <a:endParaRPr sz="1600">
              <a:solidFill>
                <a:srgbClr val="666666"/>
              </a:solidFill>
              <a:latin typeface="Open Sans"/>
              <a:ea typeface="Open Sans"/>
              <a:cs typeface="Open Sans"/>
              <a:sym typeface="Open Sans"/>
            </a:endParaRPr>
          </a:p>
          <a:p>
            <a:pPr marL="457200" lvl="0" indent="0" algn="l" rtl="0">
              <a:spcBef>
                <a:spcPts val="0"/>
              </a:spcBef>
              <a:spcAft>
                <a:spcPts val="0"/>
              </a:spcAft>
              <a:buNone/>
            </a:pPr>
            <a:r>
              <a:rPr lang="en" sz="1600">
                <a:solidFill>
                  <a:srgbClr val="666666"/>
                </a:solidFill>
                <a:latin typeface="Open Sans"/>
                <a:ea typeface="Open Sans"/>
                <a:cs typeface="Open Sans"/>
                <a:sym typeface="Open Sans"/>
              </a:rPr>
              <a:t>}</a:t>
            </a:r>
            <a:endParaRPr sz="1600">
              <a:solidFill>
                <a:srgbClr val="666666"/>
              </a:solidFill>
              <a:latin typeface="Open Sans"/>
              <a:ea typeface="Open Sans"/>
              <a:cs typeface="Open Sans"/>
              <a:sym typeface="Open Sans"/>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p8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else if statement</a:t>
            </a:r>
            <a:endParaRPr/>
          </a:p>
        </p:txBody>
      </p:sp>
      <p:sp>
        <p:nvSpPr>
          <p:cNvPr id="513" name="Google Shape;513;p84"/>
          <p:cNvSpPr txBox="1">
            <a:spLocks noGrp="1"/>
          </p:cNvSpPr>
          <p:nvPr>
            <p:ph type="body" idx="1"/>
          </p:nvPr>
        </p:nvSpPr>
        <p:spPr>
          <a:xfrm>
            <a:off x="311700" y="1266325"/>
            <a:ext cx="8520600" cy="3646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rgbClr val="666666"/>
                </a:solidFill>
                <a:highlight>
                  <a:srgbClr val="FFFFFF"/>
                </a:highlight>
              </a:rPr>
              <a:t>the </a:t>
            </a:r>
            <a:r>
              <a:rPr lang="en" b="1">
                <a:solidFill>
                  <a:srgbClr val="666666"/>
                </a:solidFill>
              </a:rPr>
              <a:t>else if</a:t>
            </a:r>
            <a:r>
              <a:rPr lang="en">
                <a:solidFill>
                  <a:srgbClr val="666666"/>
                </a:solidFill>
                <a:highlight>
                  <a:srgbClr val="FFFFFF"/>
                </a:highlight>
              </a:rPr>
              <a:t> statement is used to specify a new condition if the first condition is </a:t>
            </a:r>
            <a:r>
              <a:rPr lang="en">
                <a:solidFill>
                  <a:srgbClr val="666666"/>
                </a:solidFill>
              </a:rPr>
              <a:t>false</a:t>
            </a:r>
            <a:r>
              <a:rPr lang="en">
                <a:solidFill>
                  <a:srgbClr val="666666"/>
                </a:solidFill>
                <a:highlight>
                  <a:srgbClr val="FFFFFF"/>
                </a:highlight>
              </a:rPr>
              <a:t>.</a:t>
            </a:r>
            <a:endParaRPr>
              <a:solidFill>
                <a:srgbClr val="666666"/>
              </a:solidFill>
            </a:endParaRPr>
          </a:p>
          <a:p>
            <a:pPr marL="914400" lvl="0" indent="0" algn="l" rtl="0">
              <a:spcBef>
                <a:spcPts val="1200"/>
              </a:spcBef>
              <a:spcAft>
                <a:spcPts val="1200"/>
              </a:spcAft>
              <a:buNone/>
            </a:pPr>
            <a:endParaRPr>
              <a:solidFill>
                <a:srgbClr val="000000"/>
              </a:solidFill>
            </a:endParaRPr>
          </a:p>
        </p:txBody>
      </p:sp>
      <p:sp>
        <p:nvSpPr>
          <p:cNvPr id="514" name="Google Shape;514;p84"/>
          <p:cNvSpPr txBox="1"/>
          <p:nvPr/>
        </p:nvSpPr>
        <p:spPr>
          <a:xfrm>
            <a:off x="3600300" y="2019150"/>
            <a:ext cx="5543700" cy="2893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b="1">
                <a:solidFill>
                  <a:srgbClr val="666666"/>
                </a:solidFill>
                <a:latin typeface="Open Sans"/>
                <a:ea typeface="Open Sans"/>
                <a:cs typeface="Open Sans"/>
                <a:sym typeface="Open Sans"/>
              </a:rPr>
              <a:t>Example</a:t>
            </a:r>
            <a:r>
              <a:rPr lang="en" sz="1600">
                <a:solidFill>
                  <a:srgbClr val="666666"/>
                </a:solidFill>
                <a:latin typeface="Open Sans"/>
                <a:ea typeface="Open Sans"/>
                <a:cs typeface="Open Sans"/>
                <a:sym typeface="Open Sans"/>
              </a:rPr>
              <a:t>:  </a:t>
            </a:r>
            <a:endParaRPr sz="1600">
              <a:solidFill>
                <a:srgbClr val="666666"/>
              </a:solidFill>
              <a:latin typeface="Open Sans"/>
              <a:ea typeface="Open Sans"/>
              <a:cs typeface="Open Sans"/>
              <a:sym typeface="Open Sans"/>
            </a:endParaRPr>
          </a:p>
          <a:p>
            <a:pPr marL="0" lvl="0" indent="457200" algn="l" rtl="0">
              <a:spcBef>
                <a:spcPts val="0"/>
              </a:spcBef>
              <a:spcAft>
                <a:spcPts val="0"/>
              </a:spcAft>
              <a:buNone/>
            </a:pPr>
            <a:r>
              <a:rPr lang="en" sz="1600">
                <a:solidFill>
                  <a:srgbClr val="666666"/>
                </a:solidFill>
                <a:latin typeface="Open Sans"/>
                <a:ea typeface="Open Sans"/>
                <a:cs typeface="Open Sans"/>
                <a:sym typeface="Open Sans"/>
              </a:rPr>
              <a:t>int a=5;</a:t>
            </a:r>
            <a:endParaRPr sz="1600">
              <a:solidFill>
                <a:srgbClr val="666666"/>
              </a:solidFill>
              <a:latin typeface="Open Sans"/>
              <a:ea typeface="Open Sans"/>
              <a:cs typeface="Open Sans"/>
              <a:sym typeface="Open Sans"/>
            </a:endParaRPr>
          </a:p>
          <a:p>
            <a:pPr marL="457200" lvl="0" indent="0" algn="l" rtl="0">
              <a:spcBef>
                <a:spcPts val="0"/>
              </a:spcBef>
              <a:spcAft>
                <a:spcPts val="0"/>
              </a:spcAft>
              <a:buNone/>
            </a:pPr>
            <a:r>
              <a:rPr lang="en" sz="1600">
                <a:solidFill>
                  <a:srgbClr val="666666"/>
                </a:solidFill>
                <a:latin typeface="Open Sans"/>
                <a:ea typeface="Open Sans"/>
                <a:cs typeface="Open Sans"/>
                <a:sym typeface="Open Sans"/>
              </a:rPr>
              <a:t>if(a&gt; 10){</a:t>
            </a:r>
            <a:endParaRPr sz="1600">
              <a:solidFill>
                <a:srgbClr val="666666"/>
              </a:solidFill>
              <a:latin typeface="Open Sans"/>
              <a:ea typeface="Open Sans"/>
              <a:cs typeface="Open Sans"/>
              <a:sym typeface="Open Sans"/>
            </a:endParaRPr>
          </a:p>
          <a:p>
            <a:pPr marL="0" lvl="0" indent="0" algn="l" rtl="0">
              <a:spcBef>
                <a:spcPts val="0"/>
              </a:spcBef>
              <a:spcAft>
                <a:spcPts val="0"/>
              </a:spcAft>
              <a:buNone/>
            </a:pPr>
            <a:r>
              <a:rPr lang="en" sz="1600">
                <a:solidFill>
                  <a:srgbClr val="666666"/>
                </a:solidFill>
                <a:latin typeface="Open Sans"/>
                <a:ea typeface="Open Sans"/>
                <a:cs typeface="Open Sans"/>
                <a:sym typeface="Open Sans"/>
              </a:rPr>
              <a:t>		System.out.println(“Value of a: ” +a);</a:t>
            </a:r>
            <a:endParaRPr sz="1600">
              <a:solidFill>
                <a:srgbClr val="666666"/>
              </a:solidFill>
              <a:latin typeface="Open Sans"/>
              <a:ea typeface="Open Sans"/>
              <a:cs typeface="Open Sans"/>
              <a:sym typeface="Open Sans"/>
            </a:endParaRPr>
          </a:p>
          <a:p>
            <a:pPr marL="457200" lvl="0" indent="0" algn="l" rtl="0">
              <a:spcBef>
                <a:spcPts val="0"/>
              </a:spcBef>
              <a:spcAft>
                <a:spcPts val="0"/>
              </a:spcAft>
              <a:buNone/>
            </a:pPr>
            <a:r>
              <a:rPr lang="en" sz="1600">
                <a:solidFill>
                  <a:srgbClr val="666666"/>
                </a:solidFill>
                <a:latin typeface="Open Sans"/>
                <a:ea typeface="Open Sans"/>
                <a:cs typeface="Open Sans"/>
                <a:sym typeface="Open Sans"/>
              </a:rPr>
              <a:t>}</a:t>
            </a:r>
            <a:endParaRPr sz="1600">
              <a:solidFill>
                <a:srgbClr val="666666"/>
              </a:solidFill>
              <a:latin typeface="Open Sans"/>
              <a:ea typeface="Open Sans"/>
              <a:cs typeface="Open Sans"/>
              <a:sym typeface="Open Sans"/>
            </a:endParaRPr>
          </a:p>
          <a:p>
            <a:pPr marL="457200" lvl="0" indent="0" algn="l" rtl="0">
              <a:spcBef>
                <a:spcPts val="0"/>
              </a:spcBef>
              <a:spcAft>
                <a:spcPts val="0"/>
              </a:spcAft>
              <a:buNone/>
            </a:pPr>
            <a:r>
              <a:rPr lang="en" sz="1600">
                <a:solidFill>
                  <a:srgbClr val="666666"/>
                </a:solidFill>
                <a:latin typeface="Open Sans"/>
                <a:ea typeface="Open Sans"/>
                <a:cs typeface="Open Sans"/>
                <a:sym typeface="Open Sans"/>
              </a:rPr>
              <a:t>else if(a==10){</a:t>
            </a:r>
            <a:endParaRPr sz="1600">
              <a:solidFill>
                <a:srgbClr val="666666"/>
              </a:solidFill>
              <a:latin typeface="Open Sans"/>
              <a:ea typeface="Open Sans"/>
              <a:cs typeface="Open Sans"/>
              <a:sym typeface="Open Sans"/>
            </a:endParaRPr>
          </a:p>
          <a:p>
            <a:pPr marL="457200" lvl="0" indent="0" algn="l" rtl="0">
              <a:spcBef>
                <a:spcPts val="0"/>
              </a:spcBef>
              <a:spcAft>
                <a:spcPts val="0"/>
              </a:spcAft>
              <a:buNone/>
            </a:pPr>
            <a:r>
              <a:rPr lang="en" sz="1600">
                <a:solidFill>
                  <a:srgbClr val="666666"/>
                </a:solidFill>
                <a:latin typeface="Open Sans"/>
                <a:ea typeface="Open Sans"/>
                <a:cs typeface="Open Sans"/>
                <a:sym typeface="Open Sans"/>
              </a:rPr>
              <a:t>	System.out.println(“Value of a: ” +a);</a:t>
            </a:r>
            <a:endParaRPr sz="1600">
              <a:solidFill>
                <a:srgbClr val="666666"/>
              </a:solidFill>
              <a:latin typeface="Open Sans"/>
              <a:ea typeface="Open Sans"/>
              <a:cs typeface="Open Sans"/>
              <a:sym typeface="Open Sans"/>
            </a:endParaRPr>
          </a:p>
          <a:p>
            <a:pPr marL="457200" lvl="0" indent="0" algn="l" rtl="0">
              <a:spcBef>
                <a:spcPts val="0"/>
              </a:spcBef>
              <a:spcAft>
                <a:spcPts val="0"/>
              </a:spcAft>
              <a:buNone/>
            </a:pPr>
            <a:r>
              <a:rPr lang="en" sz="1600">
                <a:solidFill>
                  <a:srgbClr val="666666"/>
                </a:solidFill>
                <a:latin typeface="Open Sans"/>
                <a:ea typeface="Open Sans"/>
                <a:cs typeface="Open Sans"/>
                <a:sym typeface="Open Sans"/>
              </a:rPr>
              <a:t>}</a:t>
            </a:r>
            <a:endParaRPr sz="1600">
              <a:solidFill>
                <a:srgbClr val="666666"/>
              </a:solidFill>
              <a:latin typeface="Open Sans"/>
              <a:ea typeface="Open Sans"/>
              <a:cs typeface="Open Sans"/>
              <a:sym typeface="Open Sans"/>
            </a:endParaRPr>
          </a:p>
          <a:p>
            <a:pPr marL="457200" lvl="0" indent="0" algn="l" rtl="0">
              <a:spcBef>
                <a:spcPts val="0"/>
              </a:spcBef>
              <a:spcAft>
                <a:spcPts val="0"/>
              </a:spcAft>
              <a:buNone/>
            </a:pPr>
            <a:r>
              <a:rPr lang="en" sz="1600">
                <a:solidFill>
                  <a:srgbClr val="666666"/>
                </a:solidFill>
                <a:latin typeface="Open Sans"/>
                <a:ea typeface="Open Sans"/>
                <a:cs typeface="Open Sans"/>
                <a:sym typeface="Open Sans"/>
              </a:rPr>
              <a:t>else{</a:t>
            </a:r>
            <a:endParaRPr sz="1600">
              <a:solidFill>
                <a:srgbClr val="666666"/>
              </a:solidFill>
              <a:latin typeface="Open Sans"/>
              <a:ea typeface="Open Sans"/>
              <a:cs typeface="Open Sans"/>
              <a:sym typeface="Open Sans"/>
            </a:endParaRPr>
          </a:p>
          <a:p>
            <a:pPr marL="457200" lvl="0" indent="0" algn="l" rtl="0">
              <a:spcBef>
                <a:spcPts val="0"/>
              </a:spcBef>
              <a:spcAft>
                <a:spcPts val="0"/>
              </a:spcAft>
              <a:buNone/>
            </a:pPr>
            <a:r>
              <a:rPr lang="en" sz="1600">
                <a:solidFill>
                  <a:srgbClr val="666666"/>
                </a:solidFill>
                <a:latin typeface="Open Sans"/>
                <a:ea typeface="Open Sans"/>
                <a:cs typeface="Open Sans"/>
                <a:sym typeface="Open Sans"/>
              </a:rPr>
              <a:t>	System.out.println(“Given condition  is false”);</a:t>
            </a:r>
            <a:endParaRPr sz="1600">
              <a:solidFill>
                <a:srgbClr val="666666"/>
              </a:solidFill>
              <a:latin typeface="Open Sans"/>
              <a:ea typeface="Open Sans"/>
              <a:cs typeface="Open Sans"/>
              <a:sym typeface="Open Sans"/>
            </a:endParaRPr>
          </a:p>
          <a:p>
            <a:pPr marL="457200" lvl="0" indent="0" algn="l" rtl="0">
              <a:spcBef>
                <a:spcPts val="0"/>
              </a:spcBef>
              <a:spcAft>
                <a:spcPts val="0"/>
              </a:spcAft>
              <a:buNone/>
            </a:pPr>
            <a:r>
              <a:rPr lang="en" sz="1600">
                <a:solidFill>
                  <a:srgbClr val="666666"/>
                </a:solidFill>
                <a:latin typeface="Open Sans"/>
                <a:ea typeface="Open Sans"/>
                <a:cs typeface="Open Sans"/>
                <a:sym typeface="Open Sans"/>
              </a:rPr>
              <a:t>}</a:t>
            </a:r>
            <a:endParaRPr sz="1600">
              <a:solidFill>
                <a:srgbClr val="666666"/>
              </a:solidFill>
              <a:latin typeface="Open Sans"/>
              <a:ea typeface="Open Sans"/>
              <a:cs typeface="Open Sans"/>
              <a:sym typeface="Open Sans"/>
            </a:endParaRPr>
          </a:p>
        </p:txBody>
      </p:sp>
      <p:sp>
        <p:nvSpPr>
          <p:cNvPr id="515" name="Google Shape;515;p84"/>
          <p:cNvSpPr txBox="1"/>
          <p:nvPr/>
        </p:nvSpPr>
        <p:spPr>
          <a:xfrm>
            <a:off x="529550" y="2122850"/>
            <a:ext cx="3070800" cy="2696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500" b="1">
                <a:solidFill>
                  <a:srgbClr val="666666"/>
                </a:solidFill>
                <a:latin typeface="Open Sans"/>
                <a:ea typeface="Open Sans"/>
                <a:cs typeface="Open Sans"/>
                <a:sym typeface="Open Sans"/>
              </a:rPr>
              <a:t>Syntax</a:t>
            </a:r>
            <a:r>
              <a:rPr lang="en" sz="1500">
                <a:solidFill>
                  <a:srgbClr val="666666"/>
                </a:solidFill>
                <a:latin typeface="Open Sans"/>
                <a:ea typeface="Open Sans"/>
                <a:cs typeface="Open Sans"/>
                <a:sym typeface="Open Sans"/>
              </a:rPr>
              <a:t>: </a:t>
            </a:r>
            <a:r>
              <a:rPr lang="en" sz="1600">
                <a:solidFill>
                  <a:srgbClr val="666666"/>
                </a:solidFill>
                <a:latin typeface="Open Sans"/>
                <a:ea typeface="Open Sans"/>
                <a:cs typeface="Open Sans"/>
                <a:sym typeface="Open Sans"/>
              </a:rPr>
              <a:t>if(condition){</a:t>
            </a:r>
            <a:endParaRPr sz="1600">
              <a:solidFill>
                <a:srgbClr val="666666"/>
              </a:solidFill>
              <a:latin typeface="Open Sans"/>
              <a:ea typeface="Open Sans"/>
              <a:cs typeface="Open Sans"/>
              <a:sym typeface="Open Sans"/>
            </a:endParaRPr>
          </a:p>
          <a:p>
            <a:pPr marL="914400" lvl="0" indent="457200" algn="l" rtl="0">
              <a:lnSpc>
                <a:spcPct val="115000"/>
              </a:lnSpc>
              <a:spcBef>
                <a:spcPts val="0"/>
              </a:spcBef>
              <a:spcAft>
                <a:spcPts val="0"/>
              </a:spcAft>
              <a:buNone/>
            </a:pPr>
            <a:r>
              <a:rPr lang="en" sz="1600">
                <a:solidFill>
                  <a:srgbClr val="666666"/>
                </a:solidFill>
                <a:latin typeface="Open Sans"/>
                <a:ea typeface="Open Sans"/>
                <a:cs typeface="Open Sans"/>
                <a:sym typeface="Open Sans"/>
              </a:rPr>
              <a:t>//statements</a:t>
            </a:r>
            <a:endParaRPr sz="1600">
              <a:solidFill>
                <a:srgbClr val="666666"/>
              </a:solidFill>
              <a:latin typeface="Open Sans"/>
              <a:ea typeface="Open Sans"/>
              <a:cs typeface="Open Sans"/>
              <a:sym typeface="Open Sans"/>
            </a:endParaRPr>
          </a:p>
          <a:p>
            <a:pPr marL="914400" lvl="0" indent="0" algn="l" rtl="0">
              <a:lnSpc>
                <a:spcPct val="115000"/>
              </a:lnSpc>
              <a:spcBef>
                <a:spcPts val="0"/>
              </a:spcBef>
              <a:spcAft>
                <a:spcPts val="0"/>
              </a:spcAft>
              <a:buNone/>
            </a:pPr>
            <a:r>
              <a:rPr lang="en" sz="1600">
                <a:solidFill>
                  <a:srgbClr val="666666"/>
                </a:solidFill>
                <a:latin typeface="Open Sans"/>
                <a:ea typeface="Open Sans"/>
                <a:cs typeface="Open Sans"/>
                <a:sym typeface="Open Sans"/>
              </a:rPr>
              <a:t>}</a:t>
            </a:r>
            <a:endParaRPr sz="1600">
              <a:solidFill>
                <a:srgbClr val="666666"/>
              </a:solidFill>
              <a:latin typeface="Open Sans"/>
              <a:ea typeface="Open Sans"/>
              <a:cs typeface="Open Sans"/>
              <a:sym typeface="Open Sans"/>
            </a:endParaRPr>
          </a:p>
          <a:p>
            <a:pPr marL="914400" lvl="0" indent="0" algn="l" rtl="0">
              <a:lnSpc>
                <a:spcPct val="115000"/>
              </a:lnSpc>
              <a:spcBef>
                <a:spcPts val="0"/>
              </a:spcBef>
              <a:spcAft>
                <a:spcPts val="0"/>
              </a:spcAft>
              <a:buNone/>
            </a:pPr>
            <a:r>
              <a:rPr lang="en" sz="1600">
                <a:solidFill>
                  <a:srgbClr val="666666"/>
                </a:solidFill>
                <a:latin typeface="Open Sans"/>
                <a:ea typeface="Open Sans"/>
                <a:cs typeface="Open Sans"/>
                <a:sym typeface="Open Sans"/>
              </a:rPr>
              <a:t>else if(condition){</a:t>
            </a:r>
            <a:endParaRPr sz="1600">
              <a:solidFill>
                <a:srgbClr val="666666"/>
              </a:solidFill>
              <a:latin typeface="Open Sans"/>
              <a:ea typeface="Open Sans"/>
              <a:cs typeface="Open Sans"/>
              <a:sym typeface="Open Sans"/>
            </a:endParaRPr>
          </a:p>
          <a:p>
            <a:pPr marL="914400" lvl="0" indent="0" algn="l" rtl="0">
              <a:lnSpc>
                <a:spcPct val="115000"/>
              </a:lnSpc>
              <a:spcBef>
                <a:spcPts val="0"/>
              </a:spcBef>
              <a:spcAft>
                <a:spcPts val="0"/>
              </a:spcAft>
              <a:buNone/>
            </a:pPr>
            <a:r>
              <a:rPr lang="en" sz="1600">
                <a:solidFill>
                  <a:srgbClr val="666666"/>
                </a:solidFill>
                <a:latin typeface="Open Sans"/>
                <a:ea typeface="Open Sans"/>
                <a:cs typeface="Open Sans"/>
                <a:sym typeface="Open Sans"/>
              </a:rPr>
              <a:t>	//statement</a:t>
            </a:r>
            <a:endParaRPr sz="1600">
              <a:solidFill>
                <a:srgbClr val="666666"/>
              </a:solidFill>
              <a:latin typeface="Open Sans"/>
              <a:ea typeface="Open Sans"/>
              <a:cs typeface="Open Sans"/>
              <a:sym typeface="Open Sans"/>
            </a:endParaRPr>
          </a:p>
          <a:p>
            <a:pPr marL="914400" lvl="0" indent="0" algn="l" rtl="0">
              <a:lnSpc>
                <a:spcPct val="115000"/>
              </a:lnSpc>
              <a:spcBef>
                <a:spcPts val="0"/>
              </a:spcBef>
              <a:spcAft>
                <a:spcPts val="0"/>
              </a:spcAft>
              <a:buNone/>
            </a:pPr>
            <a:r>
              <a:rPr lang="en" sz="1600">
                <a:solidFill>
                  <a:srgbClr val="666666"/>
                </a:solidFill>
                <a:latin typeface="Open Sans"/>
                <a:ea typeface="Open Sans"/>
                <a:cs typeface="Open Sans"/>
                <a:sym typeface="Open Sans"/>
              </a:rPr>
              <a:t>}</a:t>
            </a:r>
            <a:endParaRPr sz="1600">
              <a:solidFill>
                <a:srgbClr val="666666"/>
              </a:solidFill>
              <a:latin typeface="Open Sans"/>
              <a:ea typeface="Open Sans"/>
              <a:cs typeface="Open Sans"/>
              <a:sym typeface="Open Sans"/>
            </a:endParaRPr>
          </a:p>
          <a:p>
            <a:pPr marL="914400" lvl="0" indent="0" algn="l" rtl="0">
              <a:lnSpc>
                <a:spcPct val="115000"/>
              </a:lnSpc>
              <a:spcBef>
                <a:spcPts val="0"/>
              </a:spcBef>
              <a:spcAft>
                <a:spcPts val="0"/>
              </a:spcAft>
              <a:buNone/>
            </a:pPr>
            <a:r>
              <a:rPr lang="en" sz="1600">
                <a:solidFill>
                  <a:srgbClr val="666666"/>
                </a:solidFill>
                <a:latin typeface="Open Sans"/>
                <a:ea typeface="Open Sans"/>
                <a:cs typeface="Open Sans"/>
                <a:sym typeface="Open Sans"/>
              </a:rPr>
              <a:t>else{</a:t>
            </a:r>
            <a:endParaRPr sz="1600">
              <a:solidFill>
                <a:srgbClr val="666666"/>
              </a:solidFill>
              <a:latin typeface="Open Sans"/>
              <a:ea typeface="Open Sans"/>
              <a:cs typeface="Open Sans"/>
              <a:sym typeface="Open Sans"/>
            </a:endParaRPr>
          </a:p>
          <a:p>
            <a:pPr marL="914400" lvl="0" indent="457200" algn="l" rtl="0">
              <a:lnSpc>
                <a:spcPct val="115000"/>
              </a:lnSpc>
              <a:spcBef>
                <a:spcPts val="0"/>
              </a:spcBef>
              <a:spcAft>
                <a:spcPts val="0"/>
              </a:spcAft>
              <a:buNone/>
            </a:pPr>
            <a:r>
              <a:rPr lang="en" sz="1600">
                <a:solidFill>
                  <a:srgbClr val="666666"/>
                </a:solidFill>
                <a:latin typeface="Open Sans"/>
                <a:ea typeface="Open Sans"/>
                <a:cs typeface="Open Sans"/>
                <a:sym typeface="Open Sans"/>
              </a:rPr>
              <a:t>//Statements</a:t>
            </a:r>
            <a:endParaRPr sz="1600">
              <a:solidFill>
                <a:srgbClr val="666666"/>
              </a:solidFill>
              <a:latin typeface="Open Sans"/>
              <a:ea typeface="Open Sans"/>
              <a:cs typeface="Open Sans"/>
              <a:sym typeface="Open Sans"/>
            </a:endParaRPr>
          </a:p>
          <a:p>
            <a:pPr marL="914400" lvl="0" indent="0" algn="l" rtl="0">
              <a:lnSpc>
                <a:spcPct val="115000"/>
              </a:lnSpc>
              <a:spcBef>
                <a:spcPts val="0"/>
              </a:spcBef>
              <a:spcAft>
                <a:spcPts val="0"/>
              </a:spcAft>
              <a:buNone/>
            </a:pPr>
            <a:r>
              <a:rPr lang="en" sz="1600">
                <a:solidFill>
                  <a:srgbClr val="666666"/>
                </a:solidFill>
                <a:latin typeface="Open Sans"/>
                <a:ea typeface="Open Sans"/>
                <a:cs typeface="Open Sans"/>
                <a:sym typeface="Open Sans"/>
              </a:rPr>
              <a:t>}</a:t>
            </a:r>
            <a:endParaRPr sz="1600">
              <a:solidFill>
                <a:srgbClr val="666666"/>
              </a:solidFill>
              <a:latin typeface="Open Sans"/>
              <a:ea typeface="Open Sans"/>
              <a:cs typeface="Open Sans"/>
              <a:sym typeface="Open Sans"/>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sp>
        <p:nvSpPr>
          <p:cNvPr id="520" name="Google Shape;520;p8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Nested if statement</a:t>
            </a:r>
            <a:endParaRPr/>
          </a:p>
        </p:txBody>
      </p:sp>
      <p:sp>
        <p:nvSpPr>
          <p:cNvPr id="521" name="Google Shape;521;p85"/>
          <p:cNvSpPr txBox="1">
            <a:spLocks noGrp="1"/>
          </p:cNvSpPr>
          <p:nvPr>
            <p:ph type="body" idx="1"/>
          </p:nvPr>
        </p:nvSpPr>
        <p:spPr>
          <a:xfrm>
            <a:off x="311700" y="1266325"/>
            <a:ext cx="8520600" cy="3646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rgbClr val="666666"/>
                </a:solidFill>
                <a:highlight>
                  <a:schemeClr val="lt1"/>
                </a:highlight>
              </a:rPr>
              <a:t>If the inner condition satisfies then only outer if will be executed. Along with if conditions we can write else conditions also.</a:t>
            </a:r>
            <a:endParaRPr>
              <a:solidFill>
                <a:srgbClr val="666666"/>
              </a:solidFill>
              <a:highlight>
                <a:schemeClr val="lt1"/>
              </a:highlight>
            </a:endParaRPr>
          </a:p>
          <a:p>
            <a:pPr marL="914400" lvl="0" indent="0" algn="l" rtl="0">
              <a:spcBef>
                <a:spcPts val="1200"/>
              </a:spcBef>
              <a:spcAft>
                <a:spcPts val="1200"/>
              </a:spcAft>
              <a:buNone/>
            </a:pPr>
            <a:endParaRPr>
              <a:solidFill>
                <a:srgbClr val="000000"/>
              </a:solidFill>
            </a:endParaRPr>
          </a:p>
        </p:txBody>
      </p:sp>
      <p:sp>
        <p:nvSpPr>
          <p:cNvPr id="522" name="Google Shape;522;p85"/>
          <p:cNvSpPr txBox="1"/>
          <p:nvPr/>
        </p:nvSpPr>
        <p:spPr>
          <a:xfrm>
            <a:off x="3600300" y="2019150"/>
            <a:ext cx="5543700" cy="264684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b="1" dirty="0">
                <a:solidFill>
                  <a:srgbClr val="666666"/>
                </a:solidFill>
                <a:latin typeface="Open Sans"/>
                <a:ea typeface="Open Sans"/>
                <a:cs typeface="Open Sans"/>
                <a:sym typeface="Open Sans"/>
              </a:rPr>
              <a:t>Example</a:t>
            </a:r>
            <a:r>
              <a:rPr lang="en" sz="1600" dirty="0">
                <a:solidFill>
                  <a:srgbClr val="666666"/>
                </a:solidFill>
                <a:latin typeface="Open Sans"/>
                <a:ea typeface="Open Sans"/>
                <a:cs typeface="Open Sans"/>
                <a:sym typeface="Open Sans"/>
              </a:rPr>
              <a:t>:  </a:t>
            </a:r>
            <a:endParaRPr sz="1600" dirty="0">
              <a:solidFill>
                <a:srgbClr val="666666"/>
              </a:solidFill>
              <a:latin typeface="Open Sans"/>
              <a:ea typeface="Open Sans"/>
              <a:cs typeface="Open Sans"/>
              <a:sym typeface="Open Sans"/>
            </a:endParaRPr>
          </a:p>
          <a:p>
            <a:pPr marL="0" lvl="0" indent="457200" algn="l" rtl="0">
              <a:spcBef>
                <a:spcPts val="0"/>
              </a:spcBef>
              <a:spcAft>
                <a:spcPts val="0"/>
              </a:spcAft>
              <a:buNone/>
            </a:pPr>
            <a:r>
              <a:rPr lang="en" sz="1600" dirty="0">
                <a:solidFill>
                  <a:srgbClr val="666666"/>
                </a:solidFill>
                <a:latin typeface="Open Sans"/>
                <a:ea typeface="Open Sans"/>
                <a:cs typeface="Open Sans"/>
                <a:sym typeface="Open Sans"/>
              </a:rPr>
              <a:t>int a=5;</a:t>
            </a:r>
            <a:endParaRPr sz="1600" dirty="0">
              <a:solidFill>
                <a:srgbClr val="666666"/>
              </a:solidFill>
              <a:latin typeface="Open Sans"/>
              <a:ea typeface="Open Sans"/>
              <a:cs typeface="Open Sans"/>
              <a:sym typeface="Open Sans"/>
            </a:endParaRPr>
          </a:p>
          <a:p>
            <a:pPr marL="457200" lvl="0" indent="0" algn="l" rtl="0">
              <a:spcBef>
                <a:spcPts val="0"/>
              </a:spcBef>
              <a:spcAft>
                <a:spcPts val="0"/>
              </a:spcAft>
              <a:buNone/>
            </a:pPr>
            <a:r>
              <a:rPr lang="en" sz="1600" dirty="0">
                <a:solidFill>
                  <a:srgbClr val="666666"/>
                </a:solidFill>
                <a:latin typeface="Open Sans"/>
                <a:ea typeface="Open Sans"/>
                <a:cs typeface="Open Sans"/>
                <a:sym typeface="Open Sans"/>
              </a:rPr>
              <a:t>if</a:t>
            </a:r>
            <a:r>
              <a:rPr lang="en" sz="1600">
                <a:solidFill>
                  <a:srgbClr val="666666"/>
                </a:solidFill>
                <a:latin typeface="Open Sans"/>
                <a:ea typeface="Open Sans"/>
                <a:cs typeface="Open Sans"/>
                <a:sym typeface="Open Sans"/>
              </a:rPr>
              <a:t>(a&lt; </a:t>
            </a:r>
            <a:r>
              <a:rPr lang="en" sz="1600" dirty="0">
                <a:solidFill>
                  <a:srgbClr val="666666"/>
                </a:solidFill>
                <a:latin typeface="Open Sans"/>
                <a:ea typeface="Open Sans"/>
                <a:cs typeface="Open Sans"/>
                <a:sym typeface="Open Sans"/>
              </a:rPr>
              <a:t>10){</a:t>
            </a:r>
            <a:endParaRPr sz="1600" dirty="0">
              <a:solidFill>
                <a:srgbClr val="666666"/>
              </a:solidFill>
              <a:latin typeface="Open Sans"/>
              <a:ea typeface="Open Sans"/>
              <a:cs typeface="Open Sans"/>
              <a:sym typeface="Open Sans"/>
            </a:endParaRPr>
          </a:p>
          <a:p>
            <a:pPr marL="457200" lvl="0"/>
            <a:r>
              <a:rPr lang="en" sz="1600" dirty="0">
                <a:solidFill>
                  <a:srgbClr val="666666"/>
                </a:solidFill>
                <a:latin typeface="Open Sans"/>
                <a:ea typeface="Open Sans"/>
                <a:cs typeface="Open Sans"/>
                <a:sym typeface="Open Sans"/>
              </a:rPr>
              <a:t>	</a:t>
            </a:r>
            <a:r>
              <a:rPr lang="en-US" sz="1600" dirty="0">
                <a:solidFill>
                  <a:srgbClr val="666666"/>
                </a:solidFill>
                <a:latin typeface="Open Sans"/>
                <a:ea typeface="Open Sans"/>
                <a:cs typeface="Open Sans"/>
                <a:sym typeface="Open Sans"/>
              </a:rPr>
              <a:t>if(a==7){</a:t>
            </a:r>
          </a:p>
          <a:p>
            <a:pPr marL="457200" lvl="0"/>
            <a:r>
              <a:rPr lang="en-US" sz="1600" dirty="0">
                <a:solidFill>
                  <a:srgbClr val="666666"/>
                </a:solidFill>
                <a:latin typeface="Open Sans"/>
                <a:ea typeface="Open Sans"/>
                <a:cs typeface="Open Sans"/>
                <a:sym typeface="Open Sans"/>
              </a:rPr>
              <a:t>	</a:t>
            </a:r>
            <a:r>
              <a:rPr lang="en-US" sz="1600" dirty="0" err="1">
                <a:solidFill>
                  <a:srgbClr val="666666"/>
                </a:solidFill>
                <a:latin typeface="Open Sans"/>
                <a:ea typeface="Open Sans"/>
                <a:cs typeface="Open Sans"/>
                <a:sym typeface="Open Sans"/>
              </a:rPr>
              <a:t>System.out.println</a:t>
            </a:r>
            <a:r>
              <a:rPr lang="en-US" sz="1600" dirty="0">
                <a:solidFill>
                  <a:srgbClr val="666666"/>
                </a:solidFill>
                <a:latin typeface="Open Sans"/>
                <a:ea typeface="Open Sans"/>
                <a:cs typeface="Open Sans"/>
                <a:sym typeface="Open Sans"/>
              </a:rPr>
              <a:t>(“Value of a: ” +a);</a:t>
            </a:r>
          </a:p>
          <a:p>
            <a:pPr marL="457200" lvl="0"/>
            <a:r>
              <a:rPr lang="en-US" sz="1600" dirty="0">
                <a:solidFill>
                  <a:srgbClr val="666666"/>
                </a:solidFill>
                <a:latin typeface="Open Sans"/>
                <a:ea typeface="Open Sans"/>
                <a:cs typeface="Open Sans"/>
                <a:sym typeface="Open Sans"/>
              </a:rPr>
              <a:t>}</a:t>
            </a:r>
          </a:p>
          <a:p>
            <a:pPr marL="0" lvl="0" indent="0" algn="l" rtl="0">
              <a:spcBef>
                <a:spcPts val="0"/>
              </a:spcBef>
              <a:spcAft>
                <a:spcPts val="0"/>
              </a:spcAft>
              <a:buNone/>
            </a:pPr>
            <a:endParaRPr lang="en" sz="1600" dirty="0">
              <a:solidFill>
                <a:srgbClr val="666666"/>
              </a:solidFill>
              <a:latin typeface="Open Sans"/>
              <a:ea typeface="Open Sans"/>
              <a:cs typeface="Open Sans"/>
              <a:sym typeface="Open Sans"/>
            </a:endParaRPr>
          </a:p>
          <a:p>
            <a:pPr marL="457200" lvl="0" indent="0" algn="l" rtl="0">
              <a:spcBef>
                <a:spcPts val="0"/>
              </a:spcBef>
              <a:spcAft>
                <a:spcPts val="0"/>
              </a:spcAft>
              <a:buNone/>
            </a:pPr>
            <a:r>
              <a:rPr lang="en" sz="1600" dirty="0">
                <a:solidFill>
                  <a:srgbClr val="666666"/>
                </a:solidFill>
                <a:latin typeface="Open Sans"/>
                <a:ea typeface="Open Sans"/>
                <a:cs typeface="Open Sans"/>
                <a:sym typeface="Open Sans"/>
              </a:rPr>
              <a:t>else{</a:t>
            </a:r>
            <a:endParaRPr sz="1600" dirty="0">
              <a:solidFill>
                <a:srgbClr val="666666"/>
              </a:solidFill>
              <a:latin typeface="Open Sans"/>
              <a:ea typeface="Open Sans"/>
              <a:cs typeface="Open Sans"/>
              <a:sym typeface="Open Sans"/>
            </a:endParaRPr>
          </a:p>
          <a:p>
            <a:pPr marL="457200" lvl="0" indent="0" algn="l" rtl="0">
              <a:spcBef>
                <a:spcPts val="0"/>
              </a:spcBef>
              <a:spcAft>
                <a:spcPts val="0"/>
              </a:spcAft>
              <a:buNone/>
            </a:pPr>
            <a:r>
              <a:rPr lang="en" sz="1600" dirty="0">
                <a:solidFill>
                  <a:srgbClr val="666666"/>
                </a:solidFill>
                <a:latin typeface="Open Sans"/>
                <a:ea typeface="Open Sans"/>
                <a:cs typeface="Open Sans"/>
                <a:sym typeface="Open Sans"/>
              </a:rPr>
              <a:t>	System.out.println(“Given condition  is false”);</a:t>
            </a:r>
            <a:endParaRPr sz="1600" dirty="0">
              <a:solidFill>
                <a:srgbClr val="666666"/>
              </a:solidFill>
              <a:latin typeface="Open Sans"/>
              <a:ea typeface="Open Sans"/>
              <a:cs typeface="Open Sans"/>
              <a:sym typeface="Open Sans"/>
            </a:endParaRPr>
          </a:p>
          <a:p>
            <a:pPr marL="457200" lvl="0" indent="0" algn="l" rtl="0">
              <a:spcBef>
                <a:spcPts val="0"/>
              </a:spcBef>
              <a:spcAft>
                <a:spcPts val="0"/>
              </a:spcAft>
              <a:buNone/>
            </a:pPr>
            <a:r>
              <a:rPr lang="en" sz="1600" dirty="0">
                <a:solidFill>
                  <a:srgbClr val="666666"/>
                </a:solidFill>
                <a:latin typeface="Open Sans"/>
                <a:ea typeface="Open Sans"/>
                <a:cs typeface="Open Sans"/>
                <a:sym typeface="Open Sans"/>
              </a:rPr>
              <a:t>}</a:t>
            </a:r>
            <a:endParaRPr sz="1600" dirty="0">
              <a:solidFill>
                <a:srgbClr val="666666"/>
              </a:solidFill>
              <a:latin typeface="Open Sans"/>
              <a:ea typeface="Open Sans"/>
              <a:cs typeface="Open Sans"/>
              <a:sym typeface="Open Sans"/>
            </a:endParaRPr>
          </a:p>
        </p:txBody>
      </p:sp>
      <p:sp>
        <p:nvSpPr>
          <p:cNvPr id="523" name="Google Shape;523;p85"/>
          <p:cNvSpPr txBox="1"/>
          <p:nvPr/>
        </p:nvSpPr>
        <p:spPr>
          <a:xfrm>
            <a:off x="529550" y="2122850"/>
            <a:ext cx="3070800" cy="2696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500" b="1">
                <a:solidFill>
                  <a:srgbClr val="666666"/>
                </a:solidFill>
                <a:latin typeface="Open Sans"/>
                <a:ea typeface="Open Sans"/>
                <a:cs typeface="Open Sans"/>
                <a:sym typeface="Open Sans"/>
              </a:rPr>
              <a:t>Syntax</a:t>
            </a:r>
            <a:r>
              <a:rPr lang="en" sz="1500">
                <a:solidFill>
                  <a:srgbClr val="666666"/>
                </a:solidFill>
                <a:latin typeface="Open Sans"/>
                <a:ea typeface="Open Sans"/>
                <a:cs typeface="Open Sans"/>
                <a:sym typeface="Open Sans"/>
              </a:rPr>
              <a:t>: </a:t>
            </a:r>
            <a:r>
              <a:rPr lang="en" sz="1600">
                <a:solidFill>
                  <a:srgbClr val="666666"/>
                </a:solidFill>
                <a:latin typeface="Open Sans"/>
                <a:ea typeface="Open Sans"/>
                <a:cs typeface="Open Sans"/>
                <a:sym typeface="Open Sans"/>
              </a:rPr>
              <a:t>if(condition){</a:t>
            </a:r>
            <a:endParaRPr sz="1600">
              <a:solidFill>
                <a:srgbClr val="666666"/>
              </a:solidFill>
              <a:latin typeface="Open Sans"/>
              <a:ea typeface="Open Sans"/>
              <a:cs typeface="Open Sans"/>
              <a:sym typeface="Open Sans"/>
            </a:endParaRPr>
          </a:p>
          <a:p>
            <a:pPr marL="914400" lvl="0" indent="0" algn="l" rtl="0">
              <a:lnSpc>
                <a:spcPct val="115000"/>
              </a:lnSpc>
              <a:spcBef>
                <a:spcPts val="0"/>
              </a:spcBef>
              <a:spcAft>
                <a:spcPts val="0"/>
              </a:spcAft>
              <a:buNone/>
            </a:pPr>
            <a:r>
              <a:rPr lang="en" sz="1600">
                <a:solidFill>
                  <a:srgbClr val="666666"/>
                </a:solidFill>
                <a:latin typeface="Open Sans"/>
                <a:ea typeface="Open Sans"/>
                <a:cs typeface="Open Sans"/>
                <a:sym typeface="Open Sans"/>
              </a:rPr>
              <a:t>//statements</a:t>
            </a:r>
            <a:endParaRPr sz="1600">
              <a:solidFill>
                <a:srgbClr val="666666"/>
              </a:solidFill>
              <a:latin typeface="Open Sans"/>
              <a:ea typeface="Open Sans"/>
              <a:cs typeface="Open Sans"/>
              <a:sym typeface="Open Sans"/>
            </a:endParaRPr>
          </a:p>
          <a:p>
            <a:pPr marL="914400" lvl="0" indent="0" algn="l" rtl="0">
              <a:lnSpc>
                <a:spcPct val="115000"/>
              </a:lnSpc>
              <a:spcBef>
                <a:spcPts val="0"/>
              </a:spcBef>
              <a:spcAft>
                <a:spcPts val="0"/>
              </a:spcAft>
              <a:buNone/>
            </a:pPr>
            <a:r>
              <a:rPr lang="en" sz="1600">
                <a:solidFill>
                  <a:srgbClr val="666666"/>
                </a:solidFill>
                <a:latin typeface="Open Sans"/>
                <a:ea typeface="Open Sans"/>
                <a:cs typeface="Open Sans"/>
                <a:sym typeface="Open Sans"/>
              </a:rPr>
              <a:t>if(condition){</a:t>
            </a:r>
            <a:endParaRPr sz="1600">
              <a:solidFill>
                <a:srgbClr val="666666"/>
              </a:solidFill>
              <a:latin typeface="Open Sans"/>
              <a:ea typeface="Open Sans"/>
              <a:cs typeface="Open Sans"/>
              <a:sym typeface="Open Sans"/>
            </a:endParaRPr>
          </a:p>
          <a:p>
            <a:pPr marL="914400" lvl="0" indent="0" algn="l" rtl="0">
              <a:lnSpc>
                <a:spcPct val="115000"/>
              </a:lnSpc>
              <a:spcBef>
                <a:spcPts val="0"/>
              </a:spcBef>
              <a:spcAft>
                <a:spcPts val="0"/>
              </a:spcAft>
              <a:buNone/>
            </a:pPr>
            <a:r>
              <a:rPr lang="en" sz="1600">
                <a:solidFill>
                  <a:srgbClr val="666666"/>
                </a:solidFill>
                <a:latin typeface="Open Sans"/>
                <a:ea typeface="Open Sans"/>
                <a:cs typeface="Open Sans"/>
                <a:sym typeface="Open Sans"/>
              </a:rPr>
              <a:t>	 //statement</a:t>
            </a:r>
            <a:endParaRPr sz="1600">
              <a:solidFill>
                <a:srgbClr val="666666"/>
              </a:solidFill>
              <a:latin typeface="Open Sans"/>
              <a:ea typeface="Open Sans"/>
              <a:cs typeface="Open Sans"/>
              <a:sym typeface="Open Sans"/>
            </a:endParaRPr>
          </a:p>
          <a:p>
            <a:pPr marL="0" lvl="0" indent="457200" algn="l" rtl="0">
              <a:lnSpc>
                <a:spcPct val="115000"/>
              </a:lnSpc>
              <a:spcBef>
                <a:spcPts val="0"/>
              </a:spcBef>
              <a:spcAft>
                <a:spcPts val="0"/>
              </a:spcAft>
              <a:buNone/>
            </a:pPr>
            <a:r>
              <a:rPr lang="en" sz="1600">
                <a:solidFill>
                  <a:srgbClr val="666666"/>
                </a:solidFill>
                <a:latin typeface="Open Sans"/>
                <a:ea typeface="Open Sans"/>
                <a:cs typeface="Open Sans"/>
                <a:sym typeface="Open Sans"/>
              </a:rPr>
              <a:t>     	}</a:t>
            </a:r>
            <a:endParaRPr sz="1600">
              <a:solidFill>
                <a:srgbClr val="666666"/>
              </a:solidFill>
              <a:latin typeface="Open Sans"/>
              <a:ea typeface="Open Sans"/>
              <a:cs typeface="Open Sans"/>
              <a:sym typeface="Open Sans"/>
            </a:endParaRPr>
          </a:p>
          <a:p>
            <a:pPr marL="457200" lvl="0" indent="0" algn="l" rtl="0">
              <a:lnSpc>
                <a:spcPct val="115000"/>
              </a:lnSpc>
              <a:spcBef>
                <a:spcPts val="0"/>
              </a:spcBef>
              <a:spcAft>
                <a:spcPts val="0"/>
              </a:spcAft>
              <a:buNone/>
            </a:pPr>
            <a:r>
              <a:rPr lang="en" sz="1600">
                <a:solidFill>
                  <a:srgbClr val="666666"/>
                </a:solidFill>
                <a:latin typeface="Open Sans"/>
                <a:ea typeface="Open Sans"/>
                <a:cs typeface="Open Sans"/>
                <a:sym typeface="Open Sans"/>
              </a:rPr>
              <a:t>}</a:t>
            </a:r>
            <a:endParaRPr sz="1600">
              <a:solidFill>
                <a:srgbClr val="666666"/>
              </a:solidFill>
              <a:latin typeface="Open Sans"/>
              <a:ea typeface="Open Sans"/>
              <a:cs typeface="Open Sans"/>
              <a:sym typeface="Open Sans"/>
            </a:endParaRPr>
          </a:p>
          <a:p>
            <a:pPr marL="0" lvl="0" indent="457200" algn="l" rtl="0">
              <a:lnSpc>
                <a:spcPct val="115000"/>
              </a:lnSpc>
              <a:spcBef>
                <a:spcPts val="0"/>
              </a:spcBef>
              <a:spcAft>
                <a:spcPts val="0"/>
              </a:spcAft>
              <a:buNone/>
            </a:pPr>
            <a:r>
              <a:rPr lang="en" sz="1600">
                <a:solidFill>
                  <a:srgbClr val="666666"/>
                </a:solidFill>
                <a:latin typeface="Open Sans"/>
                <a:ea typeface="Open Sans"/>
                <a:cs typeface="Open Sans"/>
                <a:sym typeface="Open Sans"/>
              </a:rPr>
              <a:t>else{</a:t>
            </a:r>
            <a:endParaRPr sz="1600">
              <a:solidFill>
                <a:srgbClr val="666666"/>
              </a:solidFill>
              <a:latin typeface="Open Sans"/>
              <a:ea typeface="Open Sans"/>
              <a:cs typeface="Open Sans"/>
              <a:sym typeface="Open Sans"/>
            </a:endParaRPr>
          </a:p>
          <a:p>
            <a:pPr marL="914400" lvl="0" indent="0" algn="l" rtl="0">
              <a:lnSpc>
                <a:spcPct val="115000"/>
              </a:lnSpc>
              <a:spcBef>
                <a:spcPts val="0"/>
              </a:spcBef>
              <a:spcAft>
                <a:spcPts val="0"/>
              </a:spcAft>
              <a:buNone/>
            </a:pPr>
            <a:r>
              <a:rPr lang="en" sz="1600">
                <a:solidFill>
                  <a:srgbClr val="666666"/>
                </a:solidFill>
                <a:latin typeface="Open Sans"/>
                <a:ea typeface="Open Sans"/>
                <a:cs typeface="Open Sans"/>
                <a:sym typeface="Open Sans"/>
              </a:rPr>
              <a:t>//Statements</a:t>
            </a:r>
            <a:endParaRPr sz="1600">
              <a:solidFill>
                <a:srgbClr val="666666"/>
              </a:solidFill>
              <a:latin typeface="Open Sans"/>
              <a:ea typeface="Open Sans"/>
              <a:cs typeface="Open Sans"/>
              <a:sym typeface="Open Sans"/>
            </a:endParaRPr>
          </a:p>
          <a:p>
            <a:pPr marL="0" lvl="0" indent="457200" algn="l" rtl="0">
              <a:lnSpc>
                <a:spcPct val="115000"/>
              </a:lnSpc>
              <a:spcBef>
                <a:spcPts val="0"/>
              </a:spcBef>
              <a:spcAft>
                <a:spcPts val="0"/>
              </a:spcAft>
              <a:buNone/>
            </a:pPr>
            <a:r>
              <a:rPr lang="en" sz="1600">
                <a:solidFill>
                  <a:srgbClr val="666666"/>
                </a:solidFill>
                <a:latin typeface="Open Sans"/>
                <a:ea typeface="Open Sans"/>
                <a:cs typeface="Open Sans"/>
                <a:sym typeface="Open Sans"/>
              </a:rPr>
              <a:t>}</a:t>
            </a:r>
            <a:endParaRPr sz="1600">
              <a:solidFill>
                <a:srgbClr val="666666"/>
              </a:solidFill>
              <a:latin typeface="Open Sans"/>
              <a:ea typeface="Open Sans"/>
              <a:cs typeface="Open Sans"/>
              <a:sym typeface="Open Sans"/>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sp>
        <p:nvSpPr>
          <p:cNvPr id="528" name="Google Shape;528;p86"/>
          <p:cNvSpPr txBox="1">
            <a:spLocks noGrp="1"/>
          </p:cNvSpPr>
          <p:nvPr>
            <p:ph type="title"/>
          </p:nvPr>
        </p:nvSpPr>
        <p:spPr>
          <a:xfrm>
            <a:off x="311700" y="3688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Switch case</a:t>
            </a:r>
            <a:endParaRPr/>
          </a:p>
        </p:txBody>
      </p:sp>
      <p:sp>
        <p:nvSpPr>
          <p:cNvPr id="529" name="Google Shape;529;p86"/>
          <p:cNvSpPr txBox="1">
            <a:spLocks noGrp="1"/>
          </p:cNvSpPr>
          <p:nvPr>
            <p:ph type="body" idx="1"/>
          </p:nvPr>
        </p:nvSpPr>
        <p:spPr>
          <a:xfrm>
            <a:off x="311700" y="1190125"/>
            <a:ext cx="8520600" cy="3776700"/>
          </a:xfrm>
          <a:prstGeom prst="rect">
            <a:avLst/>
          </a:prstGeom>
        </p:spPr>
        <p:txBody>
          <a:bodyPr spcFirstLastPara="1" wrap="square" lIns="91425" tIns="91425" rIns="91425" bIns="91425" anchor="t" anchorCtr="0">
            <a:noAutofit/>
          </a:bodyPr>
          <a:lstStyle/>
          <a:p>
            <a:pPr marL="457200" marR="12700" lvl="0" indent="-342900" algn="l" rtl="0">
              <a:lnSpc>
                <a:spcPct val="100000"/>
              </a:lnSpc>
              <a:spcBef>
                <a:spcPts val="1100"/>
              </a:spcBef>
              <a:spcAft>
                <a:spcPts val="0"/>
              </a:spcAft>
              <a:buClr>
                <a:srgbClr val="666666"/>
              </a:buClr>
              <a:buSzPts val="1800"/>
              <a:buChar char="●"/>
            </a:pPr>
            <a:r>
              <a:rPr lang="en" b="1">
                <a:solidFill>
                  <a:srgbClr val="666666"/>
                </a:solidFill>
              </a:rPr>
              <a:t>Switch Statement: </a:t>
            </a:r>
            <a:r>
              <a:rPr lang="en">
                <a:solidFill>
                  <a:srgbClr val="666666"/>
                </a:solidFill>
              </a:rPr>
              <a:t>When there are several options and we have to choose  only one option from the available ones, we can use switch statement.</a:t>
            </a:r>
            <a:endParaRPr>
              <a:solidFill>
                <a:srgbClr val="666666"/>
              </a:solidFill>
            </a:endParaRPr>
          </a:p>
          <a:p>
            <a:pPr marL="546100" lvl="0" indent="0" algn="l" rtl="0">
              <a:lnSpc>
                <a:spcPct val="100000"/>
              </a:lnSpc>
              <a:spcBef>
                <a:spcPts val="700"/>
              </a:spcBef>
              <a:spcAft>
                <a:spcPts val="0"/>
              </a:spcAft>
              <a:buNone/>
            </a:pPr>
            <a:r>
              <a:rPr lang="en">
                <a:solidFill>
                  <a:srgbClr val="666666"/>
                </a:solidFill>
              </a:rPr>
              <a:t>Syntax: switch (expression){</a:t>
            </a:r>
            <a:endParaRPr>
              <a:solidFill>
                <a:srgbClr val="666666"/>
              </a:solidFill>
            </a:endParaRPr>
          </a:p>
          <a:p>
            <a:pPr marL="1003300" lvl="0" indent="368300" algn="l" rtl="0">
              <a:lnSpc>
                <a:spcPct val="100000"/>
              </a:lnSpc>
              <a:spcBef>
                <a:spcPts val="700"/>
              </a:spcBef>
              <a:spcAft>
                <a:spcPts val="0"/>
              </a:spcAft>
              <a:buNone/>
            </a:pPr>
            <a:r>
              <a:rPr lang="en">
                <a:solidFill>
                  <a:srgbClr val="666666"/>
                </a:solidFill>
              </a:rPr>
              <a:t>	Case value1: //statements;</a:t>
            </a:r>
            <a:endParaRPr>
              <a:solidFill>
                <a:srgbClr val="666666"/>
              </a:solidFill>
            </a:endParaRPr>
          </a:p>
          <a:p>
            <a:pPr marL="1460500" lvl="0" indent="368300" algn="l" rtl="0">
              <a:lnSpc>
                <a:spcPct val="100000"/>
              </a:lnSpc>
              <a:spcBef>
                <a:spcPts val="700"/>
              </a:spcBef>
              <a:spcAft>
                <a:spcPts val="0"/>
              </a:spcAft>
              <a:buNone/>
            </a:pPr>
            <a:r>
              <a:rPr lang="en">
                <a:solidFill>
                  <a:srgbClr val="666666"/>
                </a:solidFill>
              </a:rPr>
              <a:t>case value2: //statements;</a:t>
            </a:r>
            <a:endParaRPr>
              <a:solidFill>
                <a:srgbClr val="666666"/>
              </a:solidFill>
            </a:endParaRPr>
          </a:p>
          <a:p>
            <a:pPr marL="1460500" lvl="0" indent="368300" algn="l" rtl="0">
              <a:lnSpc>
                <a:spcPct val="100000"/>
              </a:lnSpc>
              <a:spcBef>
                <a:spcPts val="700"/>
              </a:spcBef>
              <a:spcAft>
                <a:spcPts val="0"/>
              </a:spcAft>
              <a:buNone/>
            </a:pPr>
            <a:r>
              <a:rPr lang="en">
                <a:solidFill>
                  <a:srgbClr val="666666"/>
                </a:solidFill>
              </a:rPr>
              <a:t>.</a:t>
            </a:r>
            <a:endParaRPr>
              <a:solidFill>
                <a:srgbClr val="666666"/>
              </a:solidFill>
            </a:endParaRPr>
          </a:p>
          <a:p>
            <a:pPr marL="1460500" lvl="0" indent="368300" algn="l" rtl="0">
              <a:lnSpc>
                <a:spcPct val="100000"/>
              </a:lnSpc>
              <a:spcBef>
                <a:spcPts val="700"/>
              </a:spcBef>
              <a:spcAft>
                <a:spcPts val="0"/>
              </a:spcAft>
              <a:buNone/>
            </a:pPr>
            <a:r>
              <a:rPr lang="en">
                <a:solidFill>
                  <a:srgbClr val="666666"/>
                </a:solidFill>
              </a:rPr>
              <a:t>.</a:t>
            </a:r>
            <a:endParaRPr>
              <a:solidFill>
                <a:srgbClr val="666666"/>
              </a:solidFill>
            </a:endParaRPr>
          </a:p>
          <a:p>
            <a:pPr marL="1460500" lvl="0" indent="368300" algn="l" rtl="0">
              <a:lnSpc>
                <a:spcPct val="100000"/>
              </a:lnSpc>
              <a:spcBef>
                <a:spcPts val="700"/>
              </a:spcBef>
              <a:spcAft>
                <a:spcPts val="0"/>
              </a:spcAft>
              <a:buNone/>
            </a:pPr>
            <a:r>
              <a:rPr lang="en">
                <a:solidFill>
                  <a:srgbClr val="666666"/>
                </a:solidFill>
              </a:rPr>
              <a:t>.</a:t>
            </a:r>
            <a:endParaRPr>
              <a:solidFill>
                <a:srgbClr val="666666"/>
              </a:solidFill>
            </a:endParaRPr>
          </a:p>
          <a:p>
            <a:pPr marL="1460500" lvl="0" indent="368300" algn="l" rtl="0">
              <a:lnSpc>
                <a:spcPct val="100000"/>
              </a:lnSpc>
              <a:spcBef>
                <a:spcPts val="700"/>
              </a:spcBef>
              <a:spcAft>
                <a:spcPts val="0"/>
              </a:spcAft>
              <a:buNone/>
            </a:pPr>
            <a:r>
              <a:rPr lang="en">
                <a:solidFill>
                  <a:srgbClr val="666666"/>
                </a:solidFill>
              </a:rPr>
              <a:t>default: //statement </a:t>
            </a:r>
            <a:endParaRPr>
              <a:solidFill>
                <a:srgbClr val="666666"/>
              </a:solidFill>
            </a:endParaRPr>
          </a:p>
          <a:p>
            <a:pPr marL="1003300" lvl="0" indent="368300" algn="l" rtl="0">
              <a:lnSpc>
                <a:spcPct val="100000"/>
              </a:lnSpc>
              <a:spcBef>
                <a:spcPts val="700"/>
              </a:spcBef>
              <a:spcAft>
                <a:spcPts val="0"/>
              </a:spcAft>
              <a:buNone/>
            </a:pPr>
            <a:r>
              <a:rPr lang="en">
                <a:solidFill>
                  <a:srgbClr val="666666"/>
                </a:solidFill>
              </a:rPr>
              <a:t>}</a:t>
            </a:r>
            <a:endParaRPr>
              <a:solidFill>
                <a:srgbClr val="666666"/>
              </a:solidFill>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87"/>
          <p:cNvSpPr txBox="1">
            <a:spLocks noGrp="1"/>
          </p:cNvSpPr>
          <p:nvPr>
            <p:ph type="title"/>
          </p:nvPr>
        </p:nvSpPr>
        <p:spPr>
          <a:xfrm>
            <a:off x="311700" y="3688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Switch case: example1</a:t>
            </a:r>
            <a:endParaRPr/>
          </a:p>
        </p:txBody>
      </p:sp>
      <p:pic>
        <p:nvPicPr>
          <p:cNvPr id="535" name="Google Shape;535;p87"/>
          <p:cNvPicPr preferRelativeResize="0"/>
          <p:nvPr/>
        </p:nvPicPr>
        <p:blipFill>
          <a:blip r:embed="rId3">
            <a:alphaModFix/>
          </a:blip>
          <a:stretch>
            <a:fillRect/>
          </a:stretch>
        </p:blipFill>
        <p:spPr>
          <a:xfrm>
            <a:off x="152400" y="1228625"/>
            <a:ext cx="5442605" cy="3762474"/>
          </a:xfrm>
          <a:prstGeom prst="rect">
            <a:avLst/>
          </a:prstGeom>
          <a:noFill/>
          <a:ln>
            <a:noFill/>
          </a:ln>
        </p:spPr>
      </p:pic>
      <p:pic>
        <p:nvPicPr>
          <p:cNvPr id="536" name="Google Shape;536;p87"/>
          <p:cNvPicPr preferRelativeResize="0"/>
          <p:nvPr/>
        </p:nvPicPr>
        <p:blipFill>
          <a:blip r:embed="rId4">
            <a:alphaModFix/>
          </a:blip>
          <a:stretch>
            <a:fillRect/>
          </a:stretch>
        </p:blipFill>
        <p:spPr>
          <a:xfrm>
            <a:off x="5067594" y="1514475"/>
            <a:ext cx="3681124" cy="742950"/>
          </a:xfrm>
          <a:prstGeom prst="rect">
            <a:avLst/>
          </a:prstGeom>
          <a:noFill/>
          <a:ln>
            <a:noFill/>
          </a:ln>
        </p:spPr>
      </p:pic>
      <p:sp>
        <p:nvSpPr>
          <p:cNvPr id="537" name="Google Shape;537;p87"/>
          <p:cNvSpPr txBox="1"/>
          <p:nvPr/>
        </p:nvSpPr>
        <p:spPr>
          <a:xfrm>
            <a:off x="4916350" y="1157750"/>
            <a:ext cx="4241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Open Sans"/>
                <a:ea typeface="Open Sans"/>
                <a:cs typeface="Open Sans"/>
                <a:sym typeface="Open Sans"/>
              </a:rPr>
              <a:t>OUTPUT</a:t>
            </a:r>
            <a:endParaRPr b="1">
              <a:latin typeface="Open Sans"/>
              <a:ea typeface="Open Sans"/>
              <a:cs typeface="Open Sans"/>
              <a:sym typeface="Open Sans"/>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Google Shape;542;p88"/>
          <p:cNvSpPr txBox="1">
            <a:spLocks noGrp="1"/>
          </p:cNvSpPr>
          <p:nvPr>
            <p:ph type="title"/>
          </p:nvPr>
        </p:nvSpPr>
        <p:spPr>
          <a:xfrm>
            <a:off x="311700" y="3688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Switch case: example2(Without break)</a:t>
            </a:r>
            <a:endParaRPr/>
          </a:p>
        </p:txBody>
      </p:sp>
      <p:pic>
        <p:nvPicPr>
          <p:cNvPr id="543" name="Google Shape;543;p88"/>
          <p:cNvPicPr preferRelativeResize="0"/>
          <p:nvPr/>
        </p:nvPicPr>
        <p:blipFill>
          <a:blip r:embed="rId3">
            <a:alphaModFix/>
          </a:blip>
          <a:stretch>
            <a:fillRect/>
          </a:stretch>
        </p:blipFill>
        <p:spPr>
          <a:xfrm>
            <a:off x="609600" y="1038225"/>
            <a:ext cx="6445325" cy="3628950"/>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p89"/>
          <p:cNvSpPr txBox="1">
            <a:spLocks noGrp="1"/>
          </p:cNvSpPr>
          <p:nvPr>
            <p:ph type="title"/>
          </p:nvPr>
        </p:nvSpPr>
        <p:spPr>
          <a:xfrm>
            <a:off x="311700" y="3688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Switch case: example2(Without break)</a:t>
            </a:r>
            <a:endParaRPr/>
          </a:p>
        </p:txBody>
      </p:sp>
      <p:sp>
        <p:nvSpPr>
          <p:cNvPr id="549" name="Google Shape;549;p89"/>
          <p:cNvSpPr txBox="1"/>
          <p:nvPr/>
        </p:nvSpPr>
        <p:spPr>
          <a:xfrm>
            <a:off x="672150" y="1076225"/>
            <a:ext cx="4241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Open Sans"/>
                <a:ea typeface="Open Sans"/>
                <a:cs typeface="Open Sans"/>
                <a:sym typeface="Open Sans"/>
              </a:rPr>
              <a:t>OUTPUT</a:t>
            </a:r>
            <a:endParaRPr b="1">
              <a:latin typeface="Open Sans"/>
              <a:ea typeface="Open Sans"/>
              <a:cs typeface="Open Sans"/>
              <a:sym typeface="Open Sans"/>
            </a:endParaRPr>
          </a:p>
        </p:txBody>
      </p:sp>
      <p:pic>
        <p:nvPicPr>
          <p:cNvPr id="550" name="Google Shape;550;p89"/>
          <p:cNvPicPr preferRelativeResize="0"/>
          <p:nvPr/>
        </p:nvPicPr>
        <p:blipFill>
          <a:blip r:embed="rId3">
            <a:alphaModFix/>
          </a:blip>
          <a:stretch>
            <a:fillRect/>
          </a:stretch>
        </p:blipFill>
        <p:spPr>
          <a:xfrm>
            <a:off x="838200" y="1685925"/>
            <a:ext cx="7010400" cy="2838450"/>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554"/>
        <p:cNvGrpSpPr/>
        <p:nvPr/>
      </p:nvGrpSpPr>
      <p:grpSpPr>
        <a:xfrm>
          <a:off x="0" y="0"/>
          <a:ext cx="0" cy="0"/>
          <a:chOff x="0" y="0"/>
          <a:chExt cx="0" cy="0"/>
        </a:xfrm>
      </p:grpSpPr>
      <p:sp>
        <p:nvSpPr>
          <p:cNvPr id="555" name="Google Shape;555;p90"/>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Looping/Iteration Statements</a:t>
            </a:r>
            <a:endParaRPr/>
          </a:p>
        </p:txBody>
      </p:sp>
      <p:sp>
        <p:nvSpPr>
          <p:cNvPr id="556" name="Google Shape;556;p90"/>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457200" lvl="0" indent="-342900" algn="just" rtl="0">
              <a:spcBef>
                <a:spcPts val="100"/>
              </a:spcBef>
              <a:spcAft>
                <a:spcPts val="0"/>
              </a:spcAft>
              <a:buClr>
                <a:srgbClr val="666666"/>
              </a:buClr>
              <a:buSzPts val="1800"/>
              <a:buChar char="●"/>
            </a:pPr>
            <a:r>
              <a:rPr lang="en">
                <a:solidFill>
                  <a:srgbClr val="666666"/>
                </a:solidFill>
              </a:rPr>
              <a:t>Iteration statements in java are </a:t>
            </a:r>
            <a:r>
              <a:rPr lang="en" b="1">
                <a:solidFill>
                  <a:srgbClr val="666666"/>
                </a:solidFill>
              </a:rPr>
              <a:t>for, while and do-while</a:t>
            </a:r>
            <a:r>
              <a:rPr lang="en">
                <a:solidFill>
                  <a:srgbClr val="666666"/>
                </a:solidFill>
              </a:rPr>
              <a:t>. </a:t>
            </a:r>
            <a:endParaRPr>
              <a:solidFill>
                <a:srgbClr val="666666"/>
              </a:solidFill>
            </a:endParaRPr>
          </a:p>
          <a:p>
            <a:pPr marL="457200" lvl="0" indent="-342900" algn="just" rtl="0">
              <a:spcBef>
                <a:spcPts val="1000"/>
              </a:spcBef>
              <a:spcAft>
                <a:spcPts val="0"/>
              </a:spcAft>
              <a:buClr>
                <a:srgbClr val="666666"/>
              </a:buClr>
              <a:buSzPts val="1800"/>
              <a:buChar char="●"/>
            </a:pPr>
            <a:r>
              <a:rPr lang="en">
                <a:solidFill>
                  <a:srgbClr val="666666"/>
                </a:solidFill>
              </a:rPr>
              <a:t>These statements are used to repeat same set  of instructions specified  number of times called  loops.</a:t>
            </a:r>
            <a:endParaRPr>
              <a:solidFill>
                <a:srgbClr val="666666"/>
              </a:solidFill>
            </a:endParaRPr>
          </a:p>
          <a:p>
            <a:pPr marL="457200" lvl="0" indent="-342900" algn="just" rtl="0">
              <a:spcBef>
                <a:spcPts val="1000"/>
              </a:spcBef>
              <a:spcAft>
                <a:spcPts val="1000"/>
              </a:spcAft>
              <a:buClr>
                <a:srgbClr val="666666"/>
              </a:buClr>
              <a:buSzPts val="1800"/>
              <a:buChar char="●"/>
            </a:pPr>
            <a:r>
              <a:rPr lang="en">
                <a:solidFill>
                  <a:srgbClr val="666666"/>
                </a:solidFill>
              </a:rPr>
              <a:t>A loop repeatedly executes the same set of  instructions until a termination condition is met.</a:t>
            </a:r>
            <a:endParaRPr>
              <a:solidFill>
                <a:srgbClr val="666666"/>
              </a:solidFill>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561" name="Google Shape;561;p91"/>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While loop</a:t>
            </a:r>
            <a:endParaRPr/>
          </a:p>
        </p:txBody>
      </p:sp>
      <p:sp>
        <p:nvSpPr>
          <p:cNvPr id="562" name="Google Shape;562;p91"/>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92500" lnSpcReduction="10000"/>
          </a:bodyPr>
          <a:lstStyle/>
          <a:p>
            <a:pPr marL="457200" lvl="0" indent="-342900" algn="just" rtl="0">
              <a:spcBef>
                <a:spcPts val="100"/>
              </a:spcBef>
              <a:spcAft>
                <a:spcPts val="0"/>
              </a:spcAft>
              <a:buClr>
                <a:srgbClr val="666666"/>
              </a:buClr>
              <a:buSzPts val="1800"/>
              <a:buChar char="●"/>
            </a:pPr>
            <a:r>
              <a:rPr lang="en">
                <a:solidFill>
                  <a:srgbClr val="666666"/>
                </a:solidFill>
              </a:rPr>
              <a:t>while loop repeats a group of statements as long as  condition is true.</a:t>
            </a:r>
            <a:endParaRPr>
              <a:solidFill>
                <a:srgbClr val="666666"/>
              </a:solidFill>
            </a:endParaRPr>
          </a:p>
          <a:p>
            <a:pPr marL="457200" lvl="0" indent="-342900" algn="just" rtl="0">
              <a:spcBef>
                <a:spcPts val="1000"/>
              </a:spcBef>
              <a:spcAft>
                <a:spcPts val="0"/>
              </a:spcAft>
              <a:buClr>
                <a:srgbClr val="666666"/>
              </a:buClr>
              <a:buSzPts val="1800"/>
              <a:buChar char="●"/>
            </a:pPr>
            <a:r>
              <a:rPr lang="en">
                <a:solidFill>
                  <a:srgbClr val="666666"/>
                </a:solidFill>
              </a:rPr>
              <a:t>Once the condition is false, the loop is terminated.</a:t>
            </a:r>
            <a:endParaRPr>
              <a:solidFill>
                <a:srgbClr val="666666"/>
              </a:solidFill>
            </a:endParaRPr>
          </a:p>
          <a:p>
            <a:pPr marL="457200" lvl="0" indent="-342900" algn="just" rtl="0">
              <a:spcBef>
                <a:spcPts val="1000"/>
              </a:spcBef>
              <a:spcAft>
                <a:spcPts val="0"/>
              </a:spcAft>
              <a:buClr>
                <a:srgbClr val="666666"/>
              </a:buClr>
              <a:buSzPts val="1800"/>
              <a:buChar char="●"/>
            </a:pPr>
            <a:r>
              <a:rPr lang="en">
                <a:solidFill>
                  <a:srgbClr val="666666"/>
                </a:solidFill>
              </a:rPr>
              <a:t>In while loop, the condition is tested first; if it is true,  then only the statements are executed. while loop is  called as entry control loop.</a:t>
            </a:r>
            <a:endParaRPr>
              <a:solidFill>
                <a:srgbClr val="666666"/>
              </a:solidFill>
            </a:endParaRPr>
          </a:p>
          <a:p>
            <a:pPr marL="457200" lvl="0" indent="-342900" algn="just" rtl="0">
              <a:spcBef>
                <a:spcPts val="1000"/>
              </a:spcBef>
              <a:spcAft>
                <a:spcPts val="0"/>
              </a:spcAft>
              <a:buClr>
                <a:srgbClr val="666666"/>
              </a:buClr>
              <a:buSzPts val="1800"/>
              <a:buChar char="●"/>
            </a:pPr>
            <a:r>
              <a:rPr lang="en" b="1">
                <a:solidFill>
                  <a:srgbClr val="666666"/>
                </a:solidFill>
              </a:rPr>
              <a:t>Syntax: while (condition)</a:t>
            </a:r>
            <a:endParaRPr b="1">
              <a:solidFill>
                <a:srgbClr val="666666"/>
              </a:solidFill>
            </a:endParaRPr>
          </a:p>
          <a:p>
            <a:pPr marL="914400" lvl="0" indent="457200" algn="l" rtl="0">
              <a:spcBef>
                <a:spcPts val="1000"/>
              </a:spcBef>
              <a:spcAft>
                <a:spcPts val="0"/>
              </a:spcAft>
              <a:buNone/>
            </a:pPr>
            <a:r>
              <a:rPr lang="en">
                <a:solidFill>
                  <a:srgbClr val="666666"/>
                </a:solidFill>
              </a:rPr>
              <a:t>{</a:t>
            </a:r>
            <a:endParaRPr>
              <a:solidFill>
                <a:srgbClr val="666666"/>
              </a:solidFill>
            </a:endParaRPr>
          </a:p>
          <a:p>
            <a:pPr marL="1828800" lvl="0" indent="0" algn="l" rtl="0">
              <a:spcBef>
                <a:spcPts val="1000"/>
              </a:spcBef>
              <a:spcAft>
                <a:spcPts val="0"/>
              </a:spcAft>
              <a:buNone/>
            </a:pPr>
            <a:r>
              <a:rPr lang="en">
                <a:solidFill>
                  <a:srgbClr val="666666"/>
                </a:solidFill>
              </a:rPr>
              <a:t>//Statements;</a:t>
            </a:r>
            <a:endParaRPr>
              <a:solidFill>
                <a:srgbClr val="666666"/>
              </a:solidFill>
            </a:endParaRPr>
          </a:p>
          <a:p>
            <a:pPr marL="914400" lvl="0" indent="457200" algn="l" rtl="0">
              <a:spcBef>
                <a:spcPts val="1000"/>
              </a:spcBef>
              <a:spcAft>
                <a:spcPts val="1000"/>
              </a:spcAft>
              <a:buNone/>
            </a:pPr>
            <a:r>
              <a:rPr lang="en">
                <a:solidFill>
                  <a:srgbClr val="666666"/>
                </a:solidFill>
              </a:rPr>
              <a:t>}</a:t>
            </a:r>
            <a:endParaRPr>
              <a:solidFill>
                <a:srgbClr val="666666"/>
              </a:solidFill>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sp>
        <p:nvSpPr>
          <p:cNvPr id="567" name="Google Shape;567;p92"/>
          <p:cNvSpPr txBox="1">
            <a:spLocks noGrp="1"/>
          </p:cNvSpPr>
          <p:nvPr>
            <p:ph type="title"/>
          </p:nvPr>
        </p:nvSpPr>
        <p:spPr>
          <a:xfrm>
            <a:off x="311700" y="3688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While loop: Example</a:t>
            </a:r>
            <a:endParaRPr/>
          </a:p>
        </p:txBody>
      </p:sp>
      <p:pic>
        <p:nvPicPr>
          <p:cNvPr id="568" name="Google Shape;568;p92"/>
          <p:cNvPicPr preferRelativeResize="0"/>
          <p:nvPr/>
        </p:nvPicPr>
        <p:blipFill>
          <a:blip r:embed="rId3">
            <a:alphaModFix/>
          </a:blip>
          <a:stretch>
            <a:fillRect/>
          </a:stretch>
        </p:blipFill>
        <p:spPr>
          <a:xfrm>
            <a:off x="457200" y="1100750"/>
            <a:ext cx="5831552" cy="3280750"/>
          </a:xfrm>
          <a:prstGeom prst="rect">
            <a:avLst/>
          </a:prstGeom>
          <a:noFill/>
          <a:ln>
            <a:noFill/>
          </a:ln>
        </p:spPr>
      </p:pic>
      <p:sp>
        <p:nvSpPr>
          <p:cNvPr id="569" name="Google Shape;569;p92"/>
          <p:cNvSpPr txBox="1"/>
          <p:nvPr/>
        </p:nvSpPr>
        <p:spPr>
          <a:xfrm>
            <a:off x="3620950" y="3748550"/>
            <a:ext cx="4241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Open Sans"/>
                <a:ea typeface="Open Sans"/>
                <a:cs typeface="Open Sans"/>
                <a:sym typeface="Open Sans"/>
              </a:rPr>
              <a:t>OUTPUT</a:t>
            </a:r>
            <a:endParaRPr b="1">
              <a:latin typeface="Open Sans"/>
              <a:ea typeface="Open Sans"/>
              <a:cs typeface="Open Sans"/>
              <a:sym typeface="Open Sans"/>
            </a:endParaRPr>
          </a:p>
        </p:txBody>
      </p:sp>
      <p:pic>
        <p:nvPicPr>
          <p:cNvPr id="570" name="Google Shape;570;p92"/>
          <p:cNvPicPr preferRelativeResize="0"/>
          <p:nvPr/>
        </p:nvPicPr>
        <p:blipFill>
          <a:blip r:embed="rId4">
            <a:alphaModFix/>
          </a:blip>
          <a:stretch>
            <a:fillRect/>
          </a:stretch>
        </p:blipFill>
        <p:spPr>
          <a:xfrm>
            <a:off x="3581400" y="4207500"/>
            <a:ext cx="5218176" cy="707400"/>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sp>
        <p:nvSpPr>
          <p:cNvPr id="575" name="Google Shape;575;p93"/>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do-while loop</a:t>
            </a:r>
            <a:endParaRPr/>
          </a:p>
        </p:txBody>
      </p:sp>
      <p:sp>
        <p:nvSpPr>
          <p:cNvPr id="576" name="Google Shape;576;p93"/>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457200" lvl="0" indent="-342900" algn="l" rtl="0">
              <a:spcBef>
                <a:spcPts val="100"/>
              </a:spcBef>
              <a:spcAft>
                <a:spcPts val="0"/>
              </a:spcAft>
              <a:buClr>
                <a:srgbClr val="666666"/>
              </a:buClr>
              <a:buSzPts val="1800"/>
              <a:buChar char="●"/>
            </a:pPr>
            <a:r>
              <a:rPr lang="en">
                <a:solidFill>
                  <a:srgbClr val="666666"/>
                </a:solidFill>
              </a:rPr>
              <a:t>do…while  loop  repeats  a  group  of  statements  as  long as condition is true.</a:t>
            </a:r>
            <a:endParaRPr>
              <a:solidFill>
                <a:srgbClr val="666666"/>
              </a:solidFill>
            </a:endParaRPr>
          </a:p>
          <a:p>
            <a:pPr marL="457200" lvl="0" indent="-342900" algn="l" rtl="0">
              <a:spcBef>
                <a:spcPts val="0"/>
              </a:spcBef>
              <a:spcAft>
                <a:spcPts val="0"/>
              </a:spcAft>
              <a:buClr>
                <a:srgbClr val="666666"/>
              </a:buClr>
              <a:buSzPts val="1800"/>
              <a:buChar char="●"/>
            </a:pPr>
            <a:r>
              <a:rPr lang="en">
                <a:solidFill>
                  <a:srgbClr val="666666"/>
                </a:solidFill>
              </a:rPr>
              <a:t>In do...while loop, the statements are executed first  and then the condition is tested.</a:t>
            </a:r>
            <a:endParaRPr>
              <a:solidFill>
                <a:srgbClr val="666666"/>
              </a:solidFill>
            </a:endParaRPr>
          </a:p>
          <a:p>
            <a:pPr marL="457200" lvl="0" indent="-342900" algn="l" rtl="0">
              <a:spcBef>
                <a:spcPts val="0"/>
              </a:spcBef>
              <a:spcAft>
                <a:spcPts val="0"/>
              </a:spcAft>
              <a:buClr>
                <a:srgbClr val="666666"/>
              </a:buClr>
              <a:buSzPts val="1800"/>
              <a:buChar char="●"/>
            </a:pPr>
            <a:r>
              <a:rPr lang="en">
                <a:solidFill>
                  <a:srgbClr val="666666"/>
                </a:solidFill>
              </a:rPr>
              <a:t>do…while loop is also called as exit control loop.</a:t>
            </a:r>
            <a:endParaRPr>
              <a:solidFill>
                <a:srgbClr val="666666"/>
              </a:solidFill>
            </a:endParaRPr>
          </a:p>
          <a:p>
            <a:pPr marL="457200" lvl="0" indent="-342900" algn="l" rtl="0">
              <a:spcBef>
                <a:spcPts val="0"/>
              </a:spcBef>
              <a:spcAft>
                <a:spcPts val="0"/>
              </a:spcAft>
              <a:buClr>
                <a:srgbClr val="666666"/>
              </a:buClr>
              <a:buSzPts val="1800"/>
              <a:buFont typeface="Arial"/>
              <a:buChar char="●"/>
            </a:pPr>
            <a:r>
              <a:rPr lang="en" b="1">
                <a:solidFill>
                  <a:srgbClr val="666666"/>
                </a:solidFill>
              </a:rPr>
              <a:t>Syntax: </a:t>
            </a:r>
            <a:r>
              <a:rPr lang="en">
                <a:solidFill>
                  <a:srgbClr val="666666"/>
                </a:solidFill>
              </a:rPr>
              <a:t>do{</a:t>
            </a:r>
            <a:endParaRPr>
              <a:solidFill>
                <a:srgbClr val="666666"/>
              </a:solidFill>
            </a:endParaRPr>
          </a:p>
          <a:p>
            <a:pPr marL="1841500" lvl="0" indent="0" algn="l" rtl="0">
              <a:spcBef>
                <a:spcPts val="700"/>
              </a:spcBef>
              <a:spcAft>
                <a:spcPts val="0"/>
              </a:spcAft>
              <a:buNone/>
            </a:pPr>
            <a:r>
              <a:rPr lang="en">
                <a:solidFill>
                  <a:srgbClr val="666666"/>
                </a:solidFill>
              </a:rPr>
              <a:t>//statements;</a:t>
            </a:r>
            <a:endParaRPr>
              <a:solidFill>
                <a:srgbClr val="666666"/>
              </a:solidFill>
            </a:endParaRPr>
          </a:p>
          <a:p>
            <a:pPr marL="1384300" lvl="0" indent="0" algn="l" rtl="0">
              <a:spcBef>
                <a:spcPts val="700"/>
              </a:spcBef>
              <a:spcAft>
                <a:spcPts val="0"/>
              </a:spcAft>
              <a:buNone/>
            </a:pPr>
            <a:r>
              <a:rPr lang="en">
                <a:solidFill>
                  <a:srgbClr val="666666"/>
                </a:solidFill>
              </a:rPr>
              <a:t>  } while (condition);</a:t>
            </a:r>
            <a:endParaRPr>
              <a:solidFill>
                <a:srgbClr val="666666"/>
              </a:solidFill>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581" name="Google Shape;581;p94"/>
          <p:cNvSpPr txBox="1">
            <a:spLocks noGrp="1"/>
          </p:cNvSpPr>
          <p:nvPr>
            <p:ph type="title"/>
          </p:nvPr>
        </p:nvSpPr>
        <p:spPr>
          <a:xfrm>
            <a:off x="311700" y="3688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do-while loop: Example</a:t>
            </a:r>
            <a:endParaRPr/>
          </a:p>
        </p:txBody>
      </p:sp>
      <p:pic>
        <p:nvPicPr>
          <p:cNvPr id="582" name="Google Shape;582;p94"/>
          <p:cNvPicPr preferRelativeResize="0"/>
          <p:nvPr/>
        </p:nvPicPr>
        <p:blipFill>
          <a:blip r:embed="rId3">
            <a:alphaModFix/>
          </a:blip>
          <a:stretch>
            <a:fillRect/>
          </a:stretch>
        </p:blipFill>
        <p:spPr>
          <a:xfrm>
            <a:off x="1219200" y="1228625"/>
            <a:ext cx="4038600" cy="2978875"/>
          </a:xfrm>
          <a:prstGeom prst="rect">
            <a:avLst/>
          </a:prstGeom>
          <a:noFill/>
          <a:ln>
            <a:noFill/>
          </a:ln>
        </p:spPr>
      </p:pic>
      <p:pic>
        <p:nvPicPr>
          <p:cNvPr id="583" name="Google Shape;583;p94"/>
          <p:cNvPicPr preferRelativeResize="0"/>
          <p:nvPr/>
        </p:nvPicPr>
        <p:blipFill>
          <a:blip r:embed="rId4">
            <a:alphaModFix/>
          </a:blip>
          <a:stretch>
            <a:fillRect/>
          </a:stretch>
        </p:blipFill>
        <p:spPr>
          <a:xfrm>
            <a:off x="2362200" y="4359900"/>
            <a:ext cx="6783408" cy="631201"/>
          </a:xfrm>
          <a:prstGeom prst="rect">
            <a:avLst/>
          </a:prstGeom>
          <a:noFill/>
          <a:ln>
            <a:noFill/>
          </a:ln>
        </p:spPr>
      </p:pic>
      <p:sp>
        <p:nvSpPr>
          <p:cNvPr id="584" name="Google Shape;584;p94"/>
          <p:cNvSpPr txBox="1"/>
          <p:nvPr/>
        </p:nvSpPr>
        <p:spPr>
          <a:xfrm>
            <a:off x="4611550" y="3672350"/>
            <a:ext cx="4241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Open Sans"/>
                <a:ea typeface="Open Sans"/>
                <a:cs typeface="Open Sans"/>
                <a:sym typeface="Open Sans"/>
              </a:rPr>
              <a:t>OUTPUT</a:t>
            </a:r>
            <a:endParaRPr b="1">
              <a:latin typeface="Open Sans"/>
              <a:ea typeface="Open Sans"/>
              <a:cs typeface="Open Sans"/>
              <a:sym typeface="Open Sans"/>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sp>
        <p:nvSpPr>
          <p:cNvPr id="589" name="Google Shape;589;p9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for loop</a:t>
            </a:r>
            <a:endParaRPr/>
          </a:p>
        </p:txBody>
      </p:sp>
      <p:sp>
        <p:nvSpPr>
          <p:cNvPr id="590" name="Google Shape;590;p95"/>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457200" lvl="0" indent="-342900" algn="l" rtl="0">
              <a:spcBef>
                <a:spcPts val="100"/>
              </a:spcBef>
              <a:spcAft>
                <a:spcPts val="0"/>
              </a:spcAft>
              <a:buClr>
                <a:srgbClr val="666666"/>
              </a:buClr>
              <a:buSzPts val="1800"/>
              <a:buChar char="●"/>
            </a:pPr>
            <a:r>
              <a:rPr lang="en">
                <a:solidFill>
                  <a:srgbClr val="666666"/>
                </a:solidFill>
              </a:rPr>
              <a:t>The for loop is also same as do…while or while loop,  but it is more compact syntactically.</a:t>
            </a:r>
            <a:endParaRPr>
              <a:solidFill>
                <a:srgbClr val="666666"/>
              </a:solidFill>
            </a:endParaRPr>
          </a:p>
          <a:p>
            <a:pPr marL="457200" lvl="0" indent="-342900" algn="l" rtl="0">
              <a:spcBef>
                <a:spcPts val="0"/>
              </a:spcBef>
              <a:spcAft>
                <a:spcPts val="0"/>
              </a:spcAft>
              <a:buClr>
                <a:srgbClr val="666666"/>
              </a:buClr>
              <a:buSzPts val="1800"/>
              <a:buChar char="●"/>
            </a:pPr>
            <a:r>
              <a:rPr lang="en">
                <a:solidFill>
                  <a:srgbClr val="666666"/>
                </a:solidFill>
              </a:rPr>
              <a:t>The for loop executes a group of statements as long  as a condition is true.</a:t>
            </a:r>
            <a:endParaRPr>
              <a:solidFill>
                <a:srgbClr val="666666"/>
              </a:solidFill>
            </a:endParaRPr>
          </a:p>
          <a:p>
            <a:pPr marL="457200" lvl="0" indent="-342900" algn="l" rtl="0">
              <a:spcBef>
                <a:spcPts val="0"/>
              </a:spcBef>
              <a:spcAft>
                <a:spcPts val="0"/>
              </a:spcAft>
              <a:buClr>
                <a:srgbClr val="666666"/>
              </a:buClr>
              <a:buSzPts val="1800"/>
              <a:buFont typeface="Arial"/>
              <a:buChar char="●"/>
            </a:pPr>
            <a:r>
              <a:rPr lang="en" b="1">
                <a:solidFill>
                  <a:srgbClr val="666666"/>
                </a:solidFill>
              </a:rPr>
              <a:t>Syntax: </a:t>
            </a:r>
            <a:r>
              <a:rPr lang="en">
                <a:solidFill>
                  <a:srgbClr val="666666"/>
                </a:solidFill>
              </a:rPr>
              <a:t>for (initialisation; condition; inc/dec)</a:t>
            </a:r>
            <a:endParaRPr>
              <a:solidFill>
                <a:srgbClr val="666666"/>
              </a:solidFill>
            </a:endParaRPr>
          </a:p>
          <a:p>
            <a:pPr marL="927100" lvl="0" indent="444500" algn="l" rtl="0">
              <a:spcBef>
                <a:spcPts val="700"/>
              </a:spcBef>
              <a:spcAft>
                <a:spcPts val="0"/>
              </a:spcAft>
              <a:buNone/>
            </a:pPr>
            <a:r>
              <a:rPr lang="en">
                <a:solidFill>
                  <a:srgbClr val="666666"/>
                </a:solidFill>
              </a:rPr>
              <a:t>  {</a:t>
            </a:r>
            <a:endParaRPr>
              <a:solidFill>
                <a:srgbClr val="666666"/>
              </a:solidFill>
            </a:endParaRPr>
          </a:p>
          <a:p>
            <a:pPr marL="1841500" lvl="0" indent="0" algn="l" rtl="0">
              <a:spcBef>
                <a:spcPts val="700"/>
              </a:spcBef>
              <a:spcAft>
                <a:spcPts val="0"/>
              </a:spcAft>
              <a:buNone/>
            </a:pPr>
            <a:r>
              <a:rPr lang="en">
                <a:solidFill>
                  <a:srgbClr val="666666"/>
                </a:solidFill>
              </a:rPr>
              <a:t>//Statements;</a:t>
            </a:r>
            <a:endParaRPr>
              <a:solidFill>
                <a:srgbClr val="666666"/>
              </a:solidFill>
            </a:endParaRPr>
          </a:p>
          <a:p>
            <a:pPr marL="1384300" lvl="0" indent="0" algn="l" rtl="0">
              <a:spcBef>
                <a:spcPts val="700"/>
              </a:spcBef>
              <a:spcAft>
                <a:spcPts val="0"/>
              </a:spcAft>
              <a:buNone/>
            </a:pPr>
            <a:r>
              <a:rPr lang="en">
                <a:solidFill>
                  <a:srgbClr val="666666"/>
                </a:solidFill>
              </a:rPr>
              <a:t>}</a:t>
            </a:r>
            <a:endParaRPr>
              <a:solidFill>
                <a:srgbClr val="666666"/>
              </a:solidFill>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p96"/>
          <p:cNvSpPr txBox="1">
            <a:spLocks noGrp="1"/>
          </p:cNvSpPr>
          <p:nvPr>
            <p:ph type="title"/>
          </p:nvPr>
        </p:nvSpPr>
        <p:spPr>
          <a:xfrm>
            <a:off x="311700" y="3688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for loop: Example</a:t>
            </a:r>
            <a:endParaRPr/>
          </a:p>
        </p:txBody>
      </p:sp>
      <p:sp>
        <p:nvSpPr>
          <p:cNvPr id="596" name="Google Shape;596;p96"/>
          <p:cNvSpPr txBox="1"/>
          <p:nvPr/>
        </p:nvSpPr>
        <p:spPr>
          <a:xfrm>
            <a:off x="1334950" y="3672350"/>
            <a:ext cx="4241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Open Sans"/>
                <a:ea typeface="Open Sans"/>
                <a:cs typeface="Open Sans"/>
                <a:sym typeface="Open Sans"/>
              </a:rPr>
              <a:t>OUTPUT</a:t>
            </a:r>
            <a:endParaRPr b="1">
              <a:latin typeface="Open Sans"/>
              <a:ea typeface="Open Sans"/>
              <a:cs typeface="Open Sans"/>
              <a:sym typeface="Open Sans"/>
            </a:endParaRPr>
          </a:p>
        </p:txBody>
      </p:sp>
      <p:pic>
        <p:nvPicPr>
          <p:cNvPr id="597" name="Google Shape;597;p96"/>
          <p:cNvPicPr preferRelativeResize="0"/>
          <p:nvPr/>
        </p:nvPicPr>
        <p:blipFill>
          <a:blip r:embed="rId3">
            <a:alphaModFix/>
          </a:blip>
          <a:stretch>
            <a:fillRect/>
          </a:stretch>
        </p:blipFill>
        <p:spPr>
          <a:xfrm>
            <a:off x="1524000" y="1228625"/>
            <a:ext cx="4633427" cy="2291325"/>
          </a:xfrm>
          <a:prstGeom prst="rect">
            <a:avLst/>
          </a:prstGeom>
          <a:noFill/>
          <a:ln>
            <a:noFill/>
          </a:ln>
        </p:spPr>
      </p:pic>
      <p:pic>
        <p:nvPicPr>
          <p:cNvPr id="598" name="Google Shape;598;p96"/>
          <p:cNvPicPr preferRelativeResize="0"/>
          <p:nvPr/>
        </p:nvPicPr>
        <p:blipFill>
          <a:blip r:embed="rId4">
            <a:alphaModFix/>
          </a:blip>
          <a:stretch>
            <a:fillRect/>
          </a:stretch>
        </p:blipFill>
        <p:spPr>
          <a:xfrm>
            <a:off x="1219200" y="4224950"/>
            <a:ext cx="7607419" cy="766150"/>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603" name="Google Shape;603;p97"/>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Jump Statement</a:t>
            </a:r>
            <a:endParaRPr/>
          </a:p>
        </p:txBody>
      </p:sp>
      <p:sp>
        <p:nvSpPr>
          <p:cNvPr id="604" name="Google Shape;604;p97"/>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457200" lvl="0" indent="-342900" algn="l" rtl="0">
              <a:spcBef>
                <a:spcPts val="800"/>
              </a:spcBef>
              <a:spcAft>
                <a:spcPts val="0"/>
              </a:spcAft>
              <a:buClr>
                <a:srgbClr val="000000"/>
              </a:buClr>
              <a:buSzPts val="1800"/>
              <a:buFont typeface="Arial"/>
              <a:buChar char="●"/>
            </a:pPr>
            <a:r>
              <a:rPr lang="en"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rPr>
              <a:t>Java supports three jump statements:</a:t>
            </a:r>
            <a:endParaRPr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endParaRPr>
          </a:p>
          <a:p>
            <a:pPr marL="914400" lvl="1" indent="-317500" algn="l" rtl="0">
              <a:spcBef>
                <a:spcPts val="0"/>
              </a:spcBef>
              <a:spcAft>
                <a:spcPts val="0"/>
              </a:spcAft>
              <a:buClr>
                <a:srgbClr val="000000"/>
              </a:buClr>
              <a:buSzPts val="1400"/>
              <a:buFont typeface="Arial"/>
              <a:buChar char="○"/>
            </a:pPr>
            <a:r>
              <a:rPr lang="en" b="1" dirty="0">
                <a:solidFill>
                  <a:srgbClr val="DA1F28"/>
                </a:solidFill>
                <a:latin typeface="Open Sans" panose="020B0606030504020204" pitchFamily="34" charset="0"/>
                <a:ea typeface="Open Sans" panose="020B0606030504020204" pitchFamily="34" charset="0"/>
                <a:cs typeface="Open Sans" panose="020B0606030504020204" pitchFamily="34" charset="0"/>
                <a:sym typeface="Arial"/>
              </a:rPr>
              <a:t>break  </a:t>
            </a:r>
            <a:endParaRPr b="1" dirty="0">
              <a:solidFill>
                <a:srgbClr val="DA1F28"/>
              </a:solidFill>
              <a:latin typeface="Open Sans" panose="020B0606030504020204" pitchFamily="34" charset="0"/>
              <a:ea typeface="Open Sans" panose="020B0606030504020204" pitchFamily="34" charset="0"/>
              <a:cs typeface="Open Sans" panose="020B0606030504020204" pitchFamily="34" charset="0"/>
              <a:sym typeface="Arial"/>
            </a:endParaRPr>
          </a:p>
          <a:p>
            <a:pPr marL="914400" lvl="1" indent="-317500" algn="l" rtl="0">
              <a:spcBef>
                <a:spcPts val="0"/>
              </a:spcBef>
              <a:spcAft>
                <a:spcPts val="0"/>
              </a:spcAft>
              <a:buClr>
                <a:srgbClr val="000000"/>
              </a:buClr>
              <a:buSzPts val="1400"/>
              <a:buFont typeface="Arial"/>
              <a:buChar char="○"/>
            </a:pPr>
            <a:r>
              <a:rPr lang="en" b="1" dirty="0">
                <a:solidFill>
                  <a:srgbClr val="DA1F28"/>
                </a:solidFill>
                <a:latin typeface="Open Sans" panose="020B0606030504020204" pitchFamily="34" charset="0"/>
                <a:ea typeface="Open Sans" panose="020B0606030504020204" pitchFamily="34" charset="0"/>
                <a:cs typeface="Open Sans" panose="020B0606030504020204" pitchFamily="34" charset="0"/>
                <a:sym typeface="Arial"/>
              </a:rPr>
              <a:t>continue</a:t>
            </a:r>
            <a:endParaRPr b="1" dirty="0">
              <a:solidFill>
                <a:srgbClr val="DA1F28"/>
              </a:solidFill>
              <a:latin typeface="Open Sans" panose="020B0606030504020204" pitchFamily="34" charset="0"/>
              <a:ea typeface="Open Sans" panose="020B0606030504020204" pitchFamily="34" charset="0"/>
              <a:cs typeface="Open Sans" panose="020B0606030504020204" pitchFamily="34" charset="0"/>
              <a:sym typeface="Arial"/>
            </a:endParaRPr>
          </a:p>
          <a:p>
            <a:pPr marL="914400" lvl="1" indent="-317500" algn="l" rtl="0">
              <a:spcBef>
                <a:spcPts val="0"/>
              </a:spcBef>
              <a:spcAft>
                <a:spcPts val="0"/>
              </a:spcAft>
              <a:buClr>
                <a:srgbClr val="000000"/>
              </a:buClr>
              <a:buSzPts val="1400"/>
              <a:buFont typeface="Arial"/>
              <a:buChar char="○"/>
            </a:pPr>
            <a:r>
              <a:rPr lang="en" b="1" dirty="0">
                <a:solidFill>
                  <a:srgbClr val="DA1F28"/>
                </a:solidFill>
                <a:latin typeface="Open Sans" panose="020B0606030504020204" pitchFamily="34" charset="0"/>
                <a:ea typeface="Open Sans" panose="020B0606030504020204" pitchFamily="34" charset="0"/>
                <a:cs typeface="Open Sans" panose="020B0606030504020204" pitchFamily="34" charset="0"/>
                <a:sym typeface="Arial"/>
              </a:rPr>
              <a:t>return.</a:t>
            </a:r>
            <a:endParaRPr b="1" dirty="0">
              <a:solidFill>
                <a:srgbClr val="DA1F28"/>
              </a:solidFill>
              <a:latin typeface="Open Sans" panose="020B0606030504020204" pitchFamily="34" charset="0"/>
              <a:ea typeface="Open Sans" panose="020B0606030504020204" pitchFamily="34" charset="0"/>
              <a:cs typeface="Open Sans" panose="020B0606030504020204" pitchFamily="34" charset="0"/>
              <a:sym typeface="Arial"/>
            </a:endParaRPr>
          </a:p>
          <a:p>
            <a:pPr marL="0" lvl="0" indent="0" algn="l" rtl="0">
              <a:spcBef>
                <a:spcPts val="700"/>
              </a:spcBef>
              <a:spcAft>
                <a:spcPts val="0"/>
              </a:spcAft>
              <a:buNone/>
            </a:pPr>
            <a:r>
              <a:rPr lang="en"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rPr>
              <a:t>These statements transfer control to another part of  the program.</a:t>
            </a:r>
            <a:endParaRPr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endParaRPr>
          </a:p>
          <a:p>
            <a:pPr marL="0" lvl="0" indent="0" algn="l" rtl="0">
              <a:spcBef>
                <a:spcPts val="0"/>
              </a:spcBef>
              <a:spcAft>
                <a:spcPts val="1200"/>
              </a:spcAft>
              <a:buNone/>
            </a:pPr>
            <a:endParaRPr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98"/>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Break Statement</a:t>
            </a:r>
            <a:endParaRPr/>
          </a:p>
        </p:txBody>
      </p:sp>
      <p:sp>
        <p:nvSpPr>
          <p:cNvPr id="610" name="Google Shape;610;p98"/>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70000" lnSpcReduction="20000"/>
          </a:bodyPr>
          <a:lstStyle/>
          <a:p>
            <a:pPr marL="457200" lvl="0" indent="-353060" algn="just" rtl="0">
              <a:spcBef>
                <a:spcPts val="800"/>
              </a:spcBef>
              <a:spcAft>
                <a:spcPts val="0"/>
              </a:spcAft>
              <a:buClr>
                <a:srgbClr val="000000"/>
              </a:buClr>
              <a:buSzPct val="100000"/>
              <a:buFont typeface="Arial"/>
              <a:buChar char="●"/>
            </a:pPr>
            <a:r>
              <a:rPr lang="en" sz="280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rPr>
              <a:t>break can be used inside a loop to come out of it.</a:t>
            </a:r>
            <a:endParaRPr sz="280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endParaRPr>
          </a:p>
          <a:p>
            <a:pPr marL="457200" lvl="0" indent="-353060" algn="just" rtl="0">
              <a:spcBef>
                <a:spcPts val="0"/>
              </a:spcBef>
              <a:spcAft>
                <a:spcPts val="0"/>
              </a:spcAft>
              <a:buClr>
                <a:srgbClr val="000000"/>
              </a:buClr>
              <a:buSzPct val="100000"/>
              <a:buFont typeface="Arial"/>
              <a:buChar char="●"/>
            </a:pPr>
            <a:r>
              <a:rPr lang="en" sz="280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rPr>
              <a:t>break can be used inside the switch block to come out  of the switch block.</a:t>
            </a:r>
            <a:endParaRPr sz="280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endParaRPr>
          </a:p>
          <a:p>
            <a:pPr marL="457200" lvl="0" indent="-353060" algn="just" rtl="0">
              <a:spcBef>
                <a:spcPts val="0"/>
              </a:spcBef>
              <a:spcAft>
                <a:spcPts val="0"/>
              </a:spcAft>
              <a:buClr>
                <a:srgbClr val="000000"/>
              </a:buClr>
              <a:buSzPct val="100000"/>
              <a:buFont typeface="Arial"/>
              <a:buChar char="●"/>
            </a:pPr>
            <a:r>
              <a:rPr lang="en" sz="280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rPr>
              <a:t>break can be used in nested blocks to go to the end  of a block. Nested blocks represent a block written  within another block.</a:t>
            </a:r>
            <a:endParaRPr sz="280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endParaRPr>
          </a:p>
          <a:p>
            <a:pPr marL="457200" lvl="0" indent="-353060" algn="just" rtl="0">
              <a:spcBef>
                <a:spcPts val="0"/>
              </a:spcBef>
              <a:spcAft>
                <a:spcPts val="0"/>
              </a:spcAft>
              <a:buClr>
                <a:srgbClr val="000000"/>
              </a:buClr>
              <a:buSzPct val="100000"/>
              <a:buFont typeface="Arial"/>
              <a:buChar char="●"/>
            </a:pPr>
            <a:r>
              <a:rPr lang="en" sz="2800" b="1"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rPr>
              <a:t>Syntax:</a:t>
            </a:r>
            <a:endParaRPr sz="2800" b="1"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endParaRPr>
          </a:p>
          <a:p>
            <a:pPr marL="927100" lvl="0" indent="444500" algn="l" rtl="0">
              <a:spcBef>
                <a:spcPts val="700"/>
              </a:spcBef>
              <a:spcAft>
                <a:spcPts val="0"/>
              </a:spcAft>
              <a:buNone/>
            </a:pPr>
            <a:r>
              <a:rPr lang="en" sz="280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rPr>
              <a:t>break; (or)</a:t>
            </a:r>
            <a:endParaRPr sz="280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endParaRPr>
          </a:p>
          <a:p>
            <a:pPr marL="1244600" marR="12700" lvl="0" indent="127000" algn="l" rtl="0">
              <a:spcBef>
                <a:spcPts val="700"/>
              </a:spcBef>
              <a:spcAft>
                <a:spcPts val="0"/>
              </a:spcAft>
              <a:buNone/>
            </a:pPr>
            <a:r>
              <a:rPr lang="en" sz="280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rPr>
              <a:t>break  label; //here  label  represents  the  name  of  the  block.</a:t>
            </a:r>
            <a:endParaRPr sz="280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endParaRPr>
          </a:p>
          <a:p>
            <a:pPr marL="0" lvl="0" indent="0" algn="l" rtl="0">
              <a:spcBef>
                <a:spcPts val="0"/>
              </a:spcBef>
              <a:spcAft>
                <a:spcPts val="1200"/>
              </a:spcAft>
              <a:buNone/>
            </a:pPr>
            <a:endParaRPr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615" name="Google Shape;615;p99"/>
          <p:cNvSpPr txBox="1">
            <a:spLocks noGrp="1"/>
          </p:cNvSpPr>
          <p:nvPr>
            <p:ph type="title"/>
          </p:nvPr>
        </p:nvSpPr>
        <p:spPr>
          <a:xfrm>
            <a:off x="311700" y="3688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Break: Example</a:t>
            </a:r>
            <a:endParaRPr/>
          </a:p>
        </p:txBody>
      </p:sp>
      <p:sp>
        <p:nvSpPr>
          <p:cNvPr id="616" name="Google Shape;616;p99"/>
          <p:cNvSpPr txBox="1"/>
          <p:nvPr/>
        </p:nvSpPr>
        <p:spPr>
          <a:xfrm>
            <a:off x="725350" y="3824750"/>
            <a:ext cx="4241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Open Sans"/>
                <a:ea typeface="Open Sans"/>
                <a:cs typeface="Open Sans"/>
                <a:sym typeface="Open Sans"/>
              </a:rPr>
              <a:t>OUTPUT</a:t>
            </a:r>
            <a:endParaRPr b="1">
              <a:latin typeface="Open Sans"/>
              <a:ea typeface="Open Sans"/>
              <a:cs typeface="Open Sans"/>
              <a:sym typeface="Open Sans"/>
            </a:endParaRPr>
          </a:p>
        </p:txBody>
      </p:sp>
      <p:pic>
        <p:nvPicPr>
          <p:cNvPr id="617" name="Google Shape;617;p99"/>
          <p:cNvPicPr preferRelativeResize="0"/>
          <p:nvPr/>
        </p:nvPicPr>
        <p:blipFill>
          <a:blip r:embed="rId3">
            <a:alphaModFix/>
          </a:blip>
          <a:stretch>
            <a:fillRect/>
          </a:stretch>
        </p:blipFill>
        <p:spPr>
          <a:xfrm>
            <a:off x="838200" y="1228625"/>
            <a:ext cx="6732150" cy="2596125"/>
          </a:xfrm>
          <a:prstGeom prst="rect">
            <a:avLst/>
          </a:prstGeom>
          <a:noFill/>
          <a:ln>
            <a:noFill/>
          </a:ln>
        </p:spPr>
      </p:pic>
      <p:pic>
        <p:nvPicPr>
          <p:cNvPr id="618" name="Google Shape;618;p99"/>
          <p:cNvPicPr preferRelativeResize="0"/>
          <p:nvPr/>
        </p:nvPicPr>
        <p:blipFill>
          <a:blip r:embed="rId4">
            <a:alphaModFix/>
          </a:blip>
          <a:stretch>
            <a:fillRect/>
          </a:stretch>
        </p:blipFill>
        <p:spPr>
          <a:xfrm>
            <a:off x="533400" y="4224950"/>
            <a:ext cx="7267575" cy="723900"/>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sp>
        <p:nvSpPr>
          <p:cNvPr id="623" name="Google Shape;623;p100"/>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Continue statement</a:t>
            </a:r>
            <a:endParaRPr/>
          </a:p>
        </p:txBody>
      </p:sp>
      <p:sp>
        <p:nvSpPr>
          <p:cNvPr id="624" name="Google Shape;624;p100"/>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457200" lvl="0" indent="-342900" algn="l" rtl="0">
              <a:spcBef>
                <a:spcPts val="100"/>
              </a:spcBef>
              <a:spcAft>
                <a:spcPts val="0"/>
              </a:spcAft>
              <a:buClr>
                <a:srgbClr val="666666"/>
              </a:buClr>
              <a:buSzPts val="1800"/>
              <a:buChar char="●"/>
            </a:pPr>
            <a:r>
              <a:rPr lang="en">
                <a:solidFill>
                  <a:srgbClr val="666666"/>
                </a:solidFill>
              </a:rPr>
              <a:t>This  statement  is  useful  to  continue  the  next  repetition of a loop/ iteration.</a:t>
            </a:r>
            <a:endParaRPr>
              <a:solidFill>
                <a:srgbClr val="666666"/>
              </a:solidFill>
            </a:endParaRPr>
          </a:p>
          <a:p>
            <a:pPr marL="457200" lvl="0" indent="-342900" algn="l" rtl="0">
              <a:spcBef>
                <a:spcPts val="1000"/>
              </a:spcBef>
              <a:spcAft>
                <a:spcPts val="0"/>
              </a:spcAft>
              <a:buClr>
                <a:srgbClr val="666666"/>
              </a:buClr>
              <a:buSzPts val="1800"/>
              <a:buChar char="●"/>
            </a:pPr>
            <a:r>
              <a:rPr lang="en">
                <a:solidFill>
                  <a:srgbClr val="666666"/>
                </a:solidFill>
              </a:rPr>
              <a:t>When  continue  is  executed,  subsequent  statements  inside the loop are not executed.</a:t>
            </a:r>
            <a:endParaRPr>
              <a:solidFill>
                <a:srgbClr val="666666"/>
              </a:solidFill>
            </a:endParaRPr>
          </a:p>
          <a:p>
            <a:pPr marL="457200" lvl="0" indent="-342900" algn="l" rtl="0">
              <a:spcBef>
                <a:spcPts val="1000"/>
              </a:spcBef>
              <a:spcAft>
                <a:spcPts val="1000"/>
              </a:spcAft>
              <a:buClr>
                <a:srgbClr val="666666"/>
              </a:buClr>
              <a:buSzPts val="1800"/>
              <a:buChar char="●"/>
            </a:pPr>
            <a:r>
              <a:rPr lang="en" b="1">
                <a:solidFill>
                  <a:srgbClr val="666666"/>
                </a:solidFill>
              </a:rPr>
              <a:t>Syntax: </a:t>
            </a:r>
            <a:r>
              <a:rPr lang="en">
                <a:solidFill>
                  <a:srgbClr val="666666"/>
                </a:solidFill>
              </a:rPr>
              <a:t>continue;</a:t>
            </a:r>
            <a:endParaRPr>
              <a:solidFill>
                <a:srgbClr val="666666"/>
              </a:solidFill>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sp>
        <p:nvSpPr>
          <p:cNvPr id="629" name="Google Shape;629;p101"/>
          <p:cNvSpPr txBox="1">
            <a:spLocks noGrp="1"/>
          </p:cNvSpPr>
          <p:nvPr>
            <p:ph type="title"/>
          </p:nvPr>
        </p:nvSpPr>
        <p:spPr>
          <a:xfrm>
            <a:off x="311700" y="3688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Continue: Example</a:t>
            </a:r>
            <a:endParaRPr/>
          </a:p>
        </p:txBody>
      </p:sp>
      <p:sp>
        <p:nvSpPr>
          <p:cNvPr id="630" name="Google Shape;630;p101"/>
          <p:cNvSpPr txBox="1"/>
          <p:nvPr/>
        </p:nvSpPr>
        <p:spPr>
          <a:xfrm>
            <a:off x="725350" y="3672350"/>
            <a:ext cx="4241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Open Sans"/>
                <a:ea typeface="Open Sans"/>
                <a:cs typeface="Open Sans"/>
                <a:sym typeface="Open Sans"/>
              </a:rPr>
              <a:t>OUTPUT</a:t>
            </a:r>
            <a:endParaRPr b="1">
              <a:latin typeface="Open Sans"/>
              <a:ea typeface="Open Sans"/>
              <a:cs typeface="Open Sans"/>
              <a:sym typeface="Open Sans"/>
            </a:endParaRPr>
          </a:p>
        </p:txBody>
      </p:sp>
      <p:pic>
        <p:nvPicPr>
          <p:cNvPr id="631" name="Google Shape;631;p101"/>
          <p:cNvPicPr preferRelativeResize="0"/>
          <p:nvPr/>
        </p:nvPicPr>
        <p:blipFill>
          <a:blip r:embed="rId3">
            <a:alphaModFix/>
          </a:blip>
          <a:stretch>
            <a:fillRect/>
          </a:stretch>
        </p:blipFill>
        <p:spPr>
          <a:xfrm>
            <a:off x="533400" y="1076225"/>
            <a:ext cx="5929274" cy="2596125"/>
          </a:xfrm>
          <a:prstGeom prst="rect">
            <a:avLst/>
          </a:prstGeom>
          <a:noFill/>
          <a:ln>
            <a:noFill/>
          </a:ln>
        </p:spPr>
      </p:pic>
      <p:pic>
        <p:nvPicPr>
          <p:cNvPr id="632" name="Google Shape;632;p101"/>
          <p:cNvPicPr preferRelativeResize="0"/>
          <p:nvPr/>
        </p:nvPicPr>
        <p:blipFill>
          <a:blip r:embed="rId4">
            <a:alphaModFix/>
          </a:blip>
          <a:stretch>
            <a:fillRect/>
          </a:stretch>
        </p:blipFill>
        <p:spPr>
          <a:xfrm>
            <a:off x="685800" y="4072550"/>
            <a:ext cx="6649885" cy="766150"/>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37" name="Google Shape;637;p102"/>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Return statement</a:t>
            </a:r>
            <a:endParaRPr/>
          </a:p>
        </p:txBody>
      </p:sp>
      <p:sp>
        <p:nvSpPr>
          <p:cNvPr id="638" name="Google Shape;638;p102"/>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457200" lvl="0" indent="-342900" algn="l" rtl="0">
              <a:spcBef>
                <a:spcPts val="100"/>
              </a:spcBef>
              <a:spcAft>
                <a:spcPts val="0"/>
              </a:spcAft>
              <a:buClr>
                <a:srgbClr val="666666"/>
              </a:buClr>
              <a:buSzPts val="1800"/>
              <a:buChar char="●"/>
            </a:pPr>
            <a:r>
              <a:rPr lang="en">
                <a:solidFill>
                  <a:srgbClr val="666666"/>
                </a:solidFill>
              </a:rPr>
              <a:t>return statement is useful to terminate a method and  come back to the calling method.</a:t>
            </a:r>
            <a:endParaRPr>
              <a:solidFill>
                <a:srgbClr val="666666"/>
              </a:solidFill>
            </a:endParaRPr>
          </a:p>
          <a:p>
            <a:pPr marL="457200" lvl="0" indent="-342900" algn="l" rtl="0">
              <a:spcBef>
                <a:spcPts val="0"/>
              </a:spcBef>
              <a:spcAft>
                <a:spcPts val="0"/>
              </a:spcAft>
              <a:buClr>
                <a:srgbClr val="666666"/>
              </a:buClr>
              <a:buSzPts val="1800"/>
              <a:buChar char="●"/>
            </a:pPr>
            <a:r>
              <a:rPr lang="en">
                <a:solidFill>
                  <a:srgbClr val="666666"/>
                </a:solidFill>
              </a:rPr>
              <a:t>return statement in main method terminates the  application.</a:t>
            </a:r>
            <a:endParaRPr>
              <a:solidFill>
                <a:srgbClr val="666666"/>
              </a:solidFill>
            </a:endParaRPr>
          </a:p>
          <a:p>
            <a:pPr marL="457200" lvl="0" indent="-342900" algn="l" rtl="0">
              <a:spcBef>
                <a:spcPts val="0"/>
              </a:spcBef>
              <a:spcAft>
                <a:spcPts val="0"/>
              </a:spcAft>
              <a:buClr>
                <a:srgbClr val="666666"/>
              </a:buClr>
              <a:buSzPts val="1800"/>
              <a:buChar char="●"/>
            </a:pPr>
            <a:r>
              <a:rPr lang="en">
                <a:solidFill>
                  <a:srgbClr val="666666"/>
                </a:solidFill>
              </a:rPr>
              <a:t>return statement can be used to return some value  from a method to a calling method.</a:t>
            </a:r>
            <a:endParaRPr>
              <a:solidFill>
                <a:srgbClr val="666666"/>
              </a:solidFill>
            </a:endParaRPr>
          </a:p>
          <a:p>
            <a:pPr marL="457200" lvl="0" indent="-342900" algn="l" rtl="0">
              <a:spcBef>
                <a:spcPts val="0"/>
              </a:spcBef>
              <a:spcAft>
                <a:spcPts val="0"/>
              </a:spcAft>
              <a:buClr>
                <a:srgbClr val="666666"/>
              </a:buClr>
              <a:buSzPts val="1800"/>
              <a:buChar char="●"/>
            </a:pPr>
            <a:r>
              <a:rPr lang="en" b="1">
                <a:solidFill>
                  <a:srgbClr val="666666"/>
                </a:solidFill>
              </a:rPr>
              <a:t>Syntax: </a:t>
            </a:r>
            <a:endParaRPr b="1">
              <a:solidFill>
                <a:srgbClr val="666666"/>
              </a:solidFill>
            </a:endParaRPr>
          </a:p>
          <a:p>
            <a:pPr marL="914400" lvl="0" indent="457200" algn="l" rtl="0">
              <a:spcBef>
                <a:spcPts val="100"/>
              </a:spcBef>
              <a:spcAft>
                <a:spcPts val="0"/>
              </a:spcAft>
              <a:buNone/>
            </a:pPr>
            <a:r>
              <a:rPr lang="en">
                <a:solidFill>
                  <a:srgbClr val="666666"/>
                </a:solidFill>
              </a:rPr>
              <a:t>return;</a:t>
            </a:r>
            <a:r>
              <a:rPr lang="en" b="1">
                <a:solidFill>
                  <a:srgbClr val="666666"/>
                </a:solidFill>
              </a:rPr>
              <a:t> </a:t>
            </a:r>
            <a:r>
              <a:rPr lang="en">
                <a:solidFill>
                  <a:srgbClr val="666666"/>
                </a:solidFill>
              </a:rPr>
              <a:t>(or)</a:t>
            </a:r>
            <a:endParaRPr>
              <a:solidFill>
                <a:srgbClr val="666666"/>
              </a:solidFill>
            </a:endParaRPr>
          </a:p>
          <a:p>
            <a:pPr marL="1371600" lvl="0" indent="0" algn="l" rtl="0">
              <a:spcBef>
                <a:spcPts val="700"/>
              </a:spcBef>
              <a:spcAft>
                <a:spcPts val="0"/>
              </a:spcAft>
              <a:buNone/>
            </a:pPr>
            <a:r>
              <a:rPr lang="en">
                <a:solidFill>
                  <a:srgbClr val="666666"/>
                </a:solidFill>
              </a:rPr>
              <a:t>return value; // value may be of any type</a:t>
            </a:r>
            <a:endParaRPr>
              <a:solidFill>
                <a:srgbClr val="666666"/>
              </a:solidFill>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43" name="Google Shape;643;p103"/>
          <p:cNvSpPr txBox="1">
            <a:spLocks noGrp="1"/>
          </p:cNvSpPr>
          <p:nvPr>
            <p:ph type="title"/>
          </p:nvPr>
        </p:nvSpPr>
        <p:spPr>
          <a:xfrm>
            <a:off x="311700" y="3688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Return: Example</a:t>
            </a:r>
            <a:endParaRPr/>
          </a:p>
        </p:txBody>
      </p:sp>
      <p:sp>
        <p:nvSpPr>
          <p:cNvPr id="644" name="Google Shape;644;p103"/>
          <p:cNvSpPr txBox="1"/>
          <p:nvPr/>
        </p:nvSpPr>
        <p:spPr>
          <a:xfrm>
            <a:off x="725350" y="3672350"/>
            <a:ext cx="4241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Open Sans"/>
                <a:ea typeface="Open Sans"/>
                <a:cs typeface="Open Sans"/>
                <a:sym typeface="Open Sans"/>
              </a:rPr>
              <a:t>OUTPUT</a:t>
            </a:r>
            <a:endParaRPr b="1">
              <a:latin typeface="Open Sans"/>
              <a:ea typeface="Open Sans"/>
              <a:cs typeface="Open Sans"/>
              <a:sym typeface="Open Sans"/>
            </a:endParaRPr>
          </a:p>
        </p:txBody>
      </p:sp>
      <p:pic>
        <p:nvPicPr>
          <p:cNvPr id="645" name="Google Shape;645;p103"/>
          <p:cNvPicPr preferRelativeResize="0"/>
          <p:nvPr/>
        </p:nvPicPr>
        <p:blipFill>
          <a:blip r:embed="rId3">
            <a:alphaModFix/>
          </a:blip>
          <a:stretch>
            <a:fillRect/>
          </a:stretch>
        </p:blipFill>
        <p:spPr>
          <a:xfrm>
            <a:off x="762000" y="1228625"/>
            <a:ext cx="5843251" cy="2506350"/>
          </a:xfrm>
          <a:prstGeom prst="rect">
            <a:avLst/>
          </a:prstGeom>
          <a:noFill/>
          <a:ln>
            <a:noFill/>
          </a:ln>
        </p:spPr>
      </p:pic>
      <p:pic>
        <p:nvPicPr>
          <p:cNvPr id="646" name="Google Shape;646;p103"/>
          <p:cNvPicPr preferRelativeResize="0"/>
          <p:nvPr/>
        </p:nvPicPr>
        <p:blipFill>
          <a:blip r:embed="rId4">
            <a:alphaModFix/>
          </a:blip>
          <a:stretch>
            <a:fillRect/>
          </a:stretch>
        </p:blipFill>
        <p:spPr>
          <a:xfrm>
            <a:off x="533400" y="4224950"/>
            <a:ext cx="7150734" cy="766150"/>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0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Array</a:t>
            </a:r>
            <a:endParaRPr/>
          </a:p>
        </p:txBody>
      </p:sp>
      <p:sp>
        <p:nvSpPr>
          <p:cNvPr id="652" name="Google Shape;652;p10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457200" lvl="0" indent="-342900" algn="just" rtl="0">
              <a:spcBef>
                <a:spcPts val="100"/>
              </a:spcBef>
              <a:spcAft>
                <a:spcPts val="0"/>
              </a:spcAft>
              <a:buClr>
                <a:srgbClr val="666666"/>
              </a:buClr>
              <a:buSzPts val="1800"/>
              <a:buChar char="●"/>
            </a:pPr>
            <a:r>
              <a:rPr lang="en">
                <a:solidFill>
                  <a:srgbClr val="666666"/>
                </a:solidFill>
              </a:rPr>
              <a:t>An array represents a group of elements of same  data type. Arrays are generally categorized into  two types:</a:t>
            </a:r>
            <a:endParaRPr>
              <a:solidFill>
                <a:srgbClr val="666666"/>
              </a:solidFill>
            </a:endParaRPr>
          </a:p>
          <a:p>
            <a:pPr marL="914400" lvl="1" indent="-342900" algn="just" rtl="0">
              <a:spcBef>
                <a:spcPts val="0"/>
              </a:spcBef>
              <a:spcAft>
                <a:spcPts val="0"/>
              </a:spcAft>
              <a:buClr>
                <a:srgbClr val="666666"/>
              </a:buClr>
              <a:buSzPts val="1800"/>
              <a:buChar char="○"/>
            </a:pPr>
            <a:r>
              <a:rPr lang="en" sz="1800">
                <a:solidFill>
                  <a:srgbClr val="666666"/>
                </a:solidFill>
              </a:rPr>
              <a:t>Single Dimensional arrays (or 1 Dimensional arrays)</a:t>
            </a:r>
            <a:endParaRPr sz="1800">
              <a:solidFill>
                <a:srgbClr val="666666"/>
              </a:solidFill>
            </a:endParaRPr>
          </a:p>
          <a:p>
            <a:pPr marL="914400" lvl="1" indent="-342900" algn="just" rtl="0">
              <a:spcBef>
                <a:spcPts val="0"/>
              </a:spcBef>
              <a:spcAft>
                <a:spcPts val="0"/>
              </a:spcAft>
              <a:buClr>
                <a:srgbClr val="666666"/>
              </a:buClr>
              <a:buSzPts val="1800"/>
              <a:buChar char="○"/>
            </a:pPr>
            <a:r>
              <a:rPr lang="en" sz="1800">
                <a:solidFill>
                  <a:srgbClr val="666666"/>
                </a:solidFill>
              </a:rPr>
              <a:t>Multi-Dimensional arrays (or 2 Dimensional arrays,  3 Dimensional arrays, …)</a:t>
            </a:r>
            <a:endParaRPr sz="1800">
              <a:solidFill>
                <a:srgbClr val="666666"/>
              </a:solidFill>
            </a:endParaRPr>
          </a:p>
          <a:p>
            <a:pPr marL="457200" lvl="0" indent="-342900" algn="just" rtl="0">
              <a:spcBef>
                <a:spcPts val="0"/>
              </a:spcBef>
              <a:spcAft>
                <a:spcPts val="0"/>
              </a:spcAft>
              <a:buClr>
                <a:srgbClr val="666666"/>
              </a:buClr>
              <a:buSzPts val="1800"/>
              <a:buChar char="●"/>
            </a:pPr>
            <a:r>
              <a:rPr lang="en">
                <a:solidFill>
                  <a:srgbClr val="666666"/>
                </a:solidFill>
              </a:rPr>
              <a:t>Creating an array</a:t>
            </a:r>
            <a:endParaRPr>
              <a:solidFill>
                <a:srgbClr val="666666"/>
              </a:solidFill>
            </a:endParaRPr>
          </a:p>
          <a:p>
            <a:pPr marL="914400" lvl="1" indent="-342900" algn="just" rtl="0">
              <a:spcBef>
                <a:spcPts val="0"/>
              </a:spcBef>
              <a:spcAft>
                <a:spcPts val="0"/>
              </a:spcAft>
              <a:buClr>
                <a:srgbClr val="666666"/>
              </a:buClr>
              <a:buSzPts val="1800"/>
              <a:buChar char="○"/>
            </a:pPr>
            <a:r>
              <a:rPr lang="en" sz="1800">
                <a:solidFill>
                  <a:srgbClr val="666666"/>
                </a:solidFill>
              </a:rPr>
              <a:t>Declare an array</a:t>
            </a:r>
            <a:endParaRPr sz="1800">
              <a:solidFill>
                <a:srgbClr val="666666"/>
              </a:solidFill>
            </a:endParaRPr>
          </a:p>
          <a:p>
            <a:pPr marL="914400" lvl="1" indent="-342900" algn="just" rtl="0">
              <a:spcBef>
                <a:spcPts val="0"/>
              </a:spcBef>
              <a:spcAft>
                <a:spcPts val="0"/>
              </a:spcAft>
              <a:buClr>
                <a:srgbClr val="666666"/>
              </a:buClr>
              <a:buSzPts val="1800"/>
              <a:buChar char="○"/>
            </a:pPr>
            <a:r>
              <a:rPr lang="en" sz="1800">
                <a:solidFill>
                  <a:srgbClr val="666666"/>
                </a:solidFill>
              </a:rPr>
              <a:t>Create memory location</a:t>
            </a:r>
            <a:endParaRPr sz="1800">
              <a:solidFill>
                <a:srgbClr val="666666"/>
              </a:solidFill>
            </a:endParaRPr>
          </a:p>
          <a:p>
            <a:pPr marL="914400" lvl="1" indent="-342900" algn="just" rtl="0">
              <a:spcBef>
                <a:spcPts val="0"/>
              </a:spcBef>
              <a:spcAft>
                <a:spcPts val="0"/>
              </a:spcAft>
              <a:buClr>
                <a:srgbClr val="666666"/>
              </a:buClr>
              <a:buSzPts val="1800"/>
              <a:buChar char="○"/>
            </a:pPr>
            <a:r>
              <a:rPr lang="en" sz="1800">
                <a:solidFill>
                  <a:srgbClr val="666666"/>
                </a:solidFill>
              </a:rPr>
              <a:t>Putting values to memory locations</a:t>
            </a:r>
            <a:endParaRPr>
              <a:solidFill>
                <a:srgbClr val="666666"/>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656"/>
        <p:cNvGrpSpPr/>
        <p:nvPr/>
      </p:nvGrpSpPr>
      <p:grpSpPr>
        <a:xfrm>
          <a:off x="0" y="0"/>
          <a:ext cx="0" cy="0"/>
          <a:chOff x="0" y="0"/>
          <a:chExt cx="0" cy="0"/>
        </a:xfrm>
      </p:grpSpPr>
      <p:sp>
        <p:nvSpPr>
          <p:cNvPr id="657" name="Google Shape;657;p10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Declaring array variable</a:t>
            </a:r>
            <a:endParaRPr/>
          </a:p>
        </p:txBody>
      </p:sp>
      <p:sp>
        <p:nvSpPr>
          <p:cNvPr id="658" name="Google Shape;658;p105"/>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12700" marR="152400" lvl="0" indent="0" algn="just" rtl="0">
              <a:spcBef>
                <a:spcPts val="100"/>
              </a:spcBef>
              <a:spcAft>
                <a:spcPts val="0"/>
              </a:spcAft>
              <a:buNone/>
            </a:pPr>
            <a:r>
              <a:rPr lang="en">
                <a:solidFill>
                  <a:srgbClr val="666666"/>
                </a:solidFill>
              </a:rPr>
              <a:t>To declare an array, write the data type, followed by  a set of square brackets[ ], followed by the identifier  name.</a:t>
            </a:r>
            <a:endParaRPr>
              <a:solidFill>
                <a:srgbClr val="666666"/>
              </a:solidFill>
            </a:endParaRPr>
          </a:p>
          <a:p>
            <a:pPr marL="12700" marR="152400" lvl="0" indent="0" algn="just" rtl="0">
              <a:spcBef>
                <a:spcPts val="100"/>
              </a:spcBef>
              <a:spcAft>
                <a:spcPts val="0"/>
              </a:spcAft>
              <a:buNone/>
            </a:pPr>
            <a:endParaRPr b="1">
              <a:solidFill>
                <a:srgbClr val="666666"/>
              </a:solidFill>
            </a:endParaRPr>
          </a:p>
          <a:p>
            <a:pPr marL="12700" marR="152400" lvl="0" indent="0" algn="just" rtl="0">
              <a:spcBef>
                <a:spcPts val="100"/>
              </a:spcBef>
              <a:spcAft>
                <a:spcPts val="0"/>
              </a:spcAft>
              <a:buNone/>
            </a:pPr>
            <a:endParaRPr b="1">
              <a:solidFill>
                <a:srgbClr val="666666"/>
              </a:solidFill>
            </a:endParaRPr>
          </a:p>
          <a:p>
            <a:pPr marL="12700" marR="152400" lvl="0" indent="0" algn="just" rtl="0">
              <a:spcBef>
                <a:spcPts val="100"/>
              </a:spcBef>
              <a:spcAft>
                <a:spcPts val="0"/>
              </a:spcAft>
              <a:buNone/>
            </a:pPr>
            <a:endParaRPr b="1">
              <a:solidFill>
                <a:srgbClr val="666666"/>
              </a:solidFill>
            </a:endParaRPr>
          </a:p>
          <a:p>
            <a:pPr marL="12700" marR="152400" lvl="0" indent="0" algn="just" rtl="0">
              <a:spcBef>
                <a:spcPts val="100"/>
              </a:spcBef>
              <a:spcAft>
                <a:spcPts val="0"/>
              </a:spcAft>
              <a:buNone/>
            </a:pPr>
            <a:endParaRPr b="1">
              <a:solidFill>
                <a:srgbClr val="666666"/>
              </a:solidFill>
            </a:endParaRPr>
          </a:p>
          <a:p>
            <a:pPr marL="12700" marR="152400" lvl="0" indent="0" algn="just" rtl="0">
              <a:spcBef>
                <a:spcPts val="100"/>
              </a:spcBef>
              <a:spcAft>
                <a:spcPts val="0"/>
              </a:spcAft>
              <a:buNone/>
            </a:pPr>
            <a:endParaRPr b="1">
              <a:solidFill>
                <a:srgbClr val="666666"/>
              </a:solidFill>
            </a:endParaRPr>
          </a:p>
          <a:p>
            <a:pPr marL="88900" lvl="0" indent="0" algn="l" rtl="0">
              <a:spcBef>
                <a:spcPts val="0"/>
              </a:spcBef>
              <a:spcAft>
                <a:spcPts val="0"/>
              </a:spcAft>
              <a:buNone/>
            </a:pPr>
            <a:endParaRPr b="1">
              <a:solidFill>
                <a:srgbClr val="666666"/>
              </a:solidFill>
            </a:endParaRPr>
          </a:p>
          <a:p>
            <a:pPr marL="0" lvl="0" indent="0" algn="l" rtl="0">
              <a:spcBef>
                <a:spcPts val="0"/>
              </a:spcBef>
              <a:spcAft>
                <a:spcPts val="1200"/>
              </a:spcAft>
              <a:buNone/>
            </a:pPr>
            <a:endParaRPr>
              <a:solidFill>
                <a:srgbClr val="666666"/>
              </a:solidFill>
            </a:endParaRPr>
          </a:p>
        </p:txBody>
      </p:sp>
      <p:sp>
        <p:nvSpPr>
          <p:cNvPr id="659" name="Google Shape;659;p105"/>
          <p:cNvSpPr/>
          <p:nvPr/>
        </p:nvSpPr>
        <p:spPr>
          <a:xfrm>
            <a:off x="639225" y="2089950"/>
            <a:ext cx="7578300" cy="1085700"/>
          </a:xfrm>
          <a:prstGeom prst="rect">
            <a:avLst/>
          </a:prstGeom>
          <a:solidFill>
            <a:schemeClr val="lt1"/>
          </a:solidFill>
          <a:ln w="9525" cap="flat" cmpd="sng">
            <a:solidFill>
              <a:srgbClr val="2CA1BE"/>
            </a:solidFill>
            <a:prstDash val="solid"/>
            <a:round/>
            <a:headEnd type="none" w="sm" len="sm"/>
            <a:tailEnd type="none" w="sm" len="sm"/>
          </a:ln>
        </p:spPr>
        <p:txBody>
          <a:bodyPr spcFirstLastPara="1" wrap="square" lIns="91425" tIns="91425" rIns="91425" bIns="91425" anchor="ctr" anchorCtr="0">
            <a:noAutofit/>
          </a:bodyPr>
          <a:lstStyle/>
          <a:p>
            <a:pPr marL="0" marR="152400" lvl="0" indent="0" algn="just" rtl="0">
              <a:lnSpc>
                <a:spcPct val="115000"/>
              </a:lnSpc>
              <a:spcBef>
                <a:spcPts val="100"/>
              </a:spcBef>
              <a:spcAft>
                <a:spcPts val="0"/>
              </a:spcAft>
              <a:buNone/>
            </a:pPr>
            <a:r>
              <a:rPr lang="en" sz="1800" b="1" dirty="0">
                <a:solidFill>
                  <a:srgbClr val="2CA1BE"/>
                </a:solidFill>
                <a:latin typeface="Open Sans"/>
                <a:ea typeface="Open Sans"/>
                <a:cs typeface="Open Sans"/>
                <a:sym typeface="Open Sans"/>
              </a:rPr>
              <a:t>datatype[] arrayRefvar;  // preferred way.  </a:t>
            </a:r>
            <a:endParaRPr sz="1800" b="1" dirty="0">
              <a:solidFill>
                <a:srgbClr val="2CA1BE"/>
              </a:solidFill>
              <a:latin typeface="Open Sans"/>
              <a:ea typeface="Open Sans"/>
              <a:cs typeface="Open Sans"/>
              <a:sym typeface="Open Sans"/>
            </a:endParaRPr>
          </a:p>
          <a:p>
            <a:pPr marL="1371600" marR="152400" lvl="0" indent="457200" algn="just" rtl="0">
              <a:lnSpc>
                <a:spcPct val="115000"/>
              </a:lnSpc>
              <a:spcBef>
                <a:spcPts val="100"/>
              </a:spcBef>
              <a:spcAft>
                <a:spcPts val="0"/>
              </a:spcAft>
              <a:buNone/>
            </a:pPr>
            <a:r>
              <a:rPr lang="en" sz="1800" b="1" dirty="0">
                <a:solidFill>
                  <a:srgbClr val="2CA1BE"/>
                </a:solidFill>
                <a:latin typeface="Open Sans"/>
                <a:ea typeface="Open Sans"/>
                <a:cs typeface="Open Sans"/>
                <a:sym typeface="Open Sans"/>
              </a:rPr>
              <a:t>or</a:t>
            </a:r>
            <a:endParaRPr sz="1800" b="1" dirty="0">
              <a:solidFill>
                <a:srgbClr val="2CA1BE"/>
              </a:solidFill>
              <a:latin typeface="Open Sans"/>
              <a:ea typeface="Open Sans"/>
              <a:cs typeface="Open Sans"/>
              <a:sym typeface="Open Sans"/>
            </a:endParaRPr>
          </a:p>
          <a:p>
            <a:pPr marL="0" lvl="0" indent="0" algn="l" rtl="0">
              <a:lnSpc>
                <a:spcPct val="115000"/>
              </a:lnSpc>
              <a:spcBef>
                <a:spcPts val="0"/>
              </a:spcBef>
              <a:spcAft>
                <a:spcPts val="0"/>
              </a:spcAft>
              <a:buNone/>
            </a:pPr>
            <a:r>
              <a:rPr lang="en" sz="1800" b="1" dirty="0">
                <a:solidFill>
                  <a:srgbClr val="2CA1BE"/>
                </a:solidFill>
                <a:latin typeface="Open Sans"/>
                <a:ea typeface="Open Sans"/>
                <a:cs typeface="Open Sans"/>
                <a:sym typeface="Open Sans"/>
              </a:rPr>
              <a:t>dataType arrayRefVar[];  // works but not preferred way.</a:t>
            </a:r>
            <a:endParaRPr dirty="0">
              <a:solidFill>
                <a:srgbClr val="2CA1BE"/>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60" name="Google Shape;660;p105"/>
          <p:cNvSpPr/>
          <p:nvPr/>
        </p:nvSpPr>
        <p:spPr>
          <a:xfrm>
            <a:off x="650200" y="3427900"/>
            <a:ext cx="7589100" cy="1316100"/>
          </a:xfrm>
          <a:prstGeom prst="rect">
            <a:avLst/>
          </a:prstGeom>
          <a:solidFill>
            <a:schemeClr val="lt1"/>
          </a:solidFill>
          <a:ln w="9525" cap="flat" cmpd="sng">
            <a:solidFill>
              <a:srgbClr val="2CA1BE"/>
            </a:solidFill>
            <a:prstDash val="solid"/>
            <a:round/>
            <a:headEnd type="none" w="sm" len="sm"/>
            <a:tailEnd type="none" w="sm" len="sm"/>
          </a:ln>
        </p:spPr>
        <p:txBody>
          <a:bodyPr spcFirstLastPara="1" wrap="square" lIns="91425" tIns="91425" rIns="91425" bIns="91425" anchor="ctr" anchorCtr="0">
            <a:noAutofit/>
          </a:bodyPr>
          <a:lstStyle/>
          <a:p>
            <a:pPr marL="0" marR="1130300" lvl="0" indent="0" algn="l" rtl="0">
              <a:lnSpc>
                <a:spcPct val="115000"/>
              </a:lnSpc>
              <a:spcBef>
                <a:spcPts val="0"/>
              </a:spcBef>
              <a:spcAft>
                <a:spcPts val="0"/>
              </a:spcAft>
              <a:buNone/>
            </a:pPr>
            <a:r>
              <a:rPr lang="en" sz="1800" b="1">
                <a:solidFill>
                  <a:srgbClr val="2CA1BE"/>
                </a:solidFill>
                <a:latin typeface="Open Sans"/>
                <a:ea typeface="Open Sans"/>
                <a:cs typeface="Open Sans"/>
                <a:sym typeface="Open Sans"/>
              </a:rPr>
              <a:t>double[] myList;   </a:t>
            </a:r>
            <a:endParaRPr sz="1800" b="1">
              <a:solidFill>
                <a:srgbClr val="2CA1BE"/>
              </a:solidFill>
              <a:latin typeface="Open Sans"/>
              <a:ea typeface="Open Sans"/>
              <a:cs typeface="Open Sans"/>
              <a:sym typeface="Open Sans"/>
            </a:endParaRPr>
          </a:p>
          <a:p>
            <a:pPr marL="457200" marR="1130300" lvl="0" indent="457200" algn="l" rtl="0">
              <a:lnSpc>
                <a:spcPct val="115000"/>
              </a:lnSpc>
              <a:spcBef>
                <a:spcPts val="0"/>
              </a:spcBef>
              <a:spcAft>
                <a:spcPts val="0"/>
              </a:spcAft>
              <a:buNone/>
            </a:pPr>
            <a:r>
              <a:rPr lang="en" sz="1800" b="1">
                <a:solidFill>
                  <a:srgbClr val="2CA1BE"/>
                </a:solidFill>
                <a:latin typeface="Open Sans"/>
                <a:ea typeface="Open Sans"/>
                <a:cs typeface="Open Sans"/>
                <a:sym typeface="Open Sans"/>
              </a:rPr>
              <a:t>or</a:t>
            </a:r>
            <a:endParaRPr sz="1800" b="1">
              <a:solidFill>
                <a:srgbClr val="2CA1BE"/>
              </a:solidFill>
              <a:latin typeface="Open Sans"/>
              <a:ea typeface="Open Sans"/>
              <a:cs typeface="Open Sans"/>
              <a:sym typeface="Open Sans"/>
            </a:endParaRPr>
          </a:p>
          <a:p>
            <a:pPr marL="12700" lvl="0" indent="0" algn="l" rtl="0">
              <a:lnSpc>
                <a:spcPct val="115000"/>
              </a:lnSpc>
              <a:spcBef>
                <a:spcPts val="0"/>
              </a:spcBef>
              <a:spcAft>
                <a:spcPts val="0"/>
              </a:spcAft>
              <a:buNone/>
            </a:pPr>
            <a:r>
              <a:rPr lang="en" sz="1800" b="1">
                <a:solidFill>
                  <a:srgbClr val="2CA1BE"/>
                </a:solidFill>
                <a:latin typeface="Open Sans"/>
                <a:ea typeface="Open Sans"/>
                <a:cs typeface="Open Sans"/>
                <a:sym typeface="Open Sans"/>
              </a:rPr>
              <a:t>double myList[];  </a:t>
            </a:r>
            <a:endParaRPr sz="1800">
              <a:solidFill>
                <a:srgbClr val="2CA1BE"/>
              </a:solidFill>
              <a:latin typeface="Open Sans"/>
              <a:ea typeface="Open Sans"/>
              <a:cs typeface="Open Sans"/>
              <a:sym typeface="Open Sans"/>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664"/>
        <p:cNvGrpSpPr/>
        <p:nvPr/>
      </p:nvGrpSpPr>
      <p:grpSpPr>
        <a:xfrm>
          <a:off x="0" y="0"/>
          <a:ext cx="0" cy="0"/>
          <a:chOff x="0" y="0"/>
          <a:chExt cx="0" cy="0"/>
        </a:xfrm>
      </p:grpSpPr>
      <p:sp>
        <p:nvSpPr>
          <p:cNvPr id="665" name="Google Shape;665;p10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Array Creation</a:t>
            </a:r>
            <a:endParaRPr/>
          </a:p>
        </p:txBody>
      </p:sp>
      <p:sp>
        <p:nvSpPr>
          <p:cNvPr id="666" name="Google Shape;666;p106"/>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To create array, write the </a:t>
            </a:r>
            <a:r>
              <a:rPr lang="en" b="1"/>
              <a:t>new </a:t>
            </a:r>
            <a:r>
              <a:rPr lang="en"/>
              <a:t>keyword, followed by the square[ ] brackets containing the number of elements you want to have in array.</a:t>
            </a:r>
            <a:endParaRPr/>
          </a:p>
          <a:p>
            <a:pPr marL="0" lvl="0" indent="0" algn="l" rtl="0">
              <a:spcBef>
                <a:spcPts val="1200"/>
              </a:spcBef>
              <a:spcAft>
                <a:spcPts val="0"/>
              </a:spcAft>
              <a:buNone/>
            </a:pPr>
            <a:r>
              <a:rPr lang="en"/>
              <a:t>For Example:</a:t>
            </a: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1200"/>
              </a:spcAft>
              <a:buNone/>
            </a:pPr>
            <a:r>
              <a:rPr lang="en"/>
              <a:t>Or</a:t>
            </a:r>
            <a:endParaRPr/>
          </a:p>
        </p:txBody>
      </p:sp>
      <p:sp>
        <p:nvSpPr>
          <p:cNvPr id="667" name="Google Shape;667;p106"/>
          <p:cNvSpPr/>
          <p:nvPr/>
        </p:nvSpPr>
        <p:spPr>
          <a:xfrm>
            <a:off x="758150" y="2539575"/>
            <a:ext cx="4759800" cy="998100"/>
          </a:xfrm>
          <a:prstGeom prst="rect">
            <a:avLst/>
          </a:prstGeom>
          <a:solidFill>
            <a:schemeClr val="lt1"/>
          </a:solidFill>
          <a:ln w="9525" cap="flat" cmpd="sng">
            <a:solidFill>
              <a:srgbClr val="2CA1BE"/>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800">
                <a:solidFill>
                  <a:schemeClr val="dk2"/>
                </a:solidFill>
                <a:latin typeface="Open Sans"/>
                <a:ea typeface="Open Sans"/>
                <a:cs typeface="Open Sans"/>
                <a:sym typeface="Open Sans"/>
              </a:rPr>
              <a:t>int arr[ ];	</a:t>
            </a:r>
            <a:r>
              <a:rPr lang="en" sz="1800">
                <a:solidFill>
                  <a:srgbClr val="2CA1BE"/>
                </a:solidFill>
                <a:latin typeface="Open Sans"/>
                <a:ea typeface="Open Sans"/>
                <a:cs typeface="Open Sans"/>
                <a:sym typeface="Open Sans"/>
              </a:rPr>
              <a:t>//declaration</a:t>
            </a:r>
            <a:r>
              <a:rPr lang="en" sz="1800">
                <a:solidFill>
                  <a:schemeClr val="dk2"/>
                </a:solidFill>
                <a:latin typeface="Open Sans"/>
                <a:ea typeface="Open Sans"/>
                <a:cs typeface="Open Sans"/>
                <a:sym typeface="Open Sans"/>
              </a:rPr>
              <a:t> </a:t>
            </a:r>
            <a:endParaRPr sz="1800">
              <a:solidFill>
                <a:schemeClr val="dk2"/>
              </a:solidFill>
              <a:latin typeface="Open Sans"/>
              <a:ea typeface="Open Sans"/>
              <a:cs typeface="Open Sans"/>
              <a:sym typeface="Open Sans"/>
            </a:endParaRPr>
          </a:p>
          <a:p>
            <a:pPr marL="0" lvl="0" indent="0" algn="l" rtl="0">
              <a:lnSpc>
                <a:spcPct val="115000"/>
              </a:lnSpc>
              <a:spcBef>
                <a:spcPts val="1200"/>
              </a:spcBef>
              <a:spcAft>
                <a:spcPts val="1200"/>
              </a:spcAft>
              <a:buNone/>
            </a:pPr>
            <a:r>
              <a:rPr lang="en" sz="1800">
                <a:solidFill>
                  <a:schemeClr val="dk2"/>
                </a:solidFill>
                <a:latin typeface="Open Sans"/>
                <a:ea typeface="Open Sans"/>
                <a:cs typeface="Open Sans"/>
                <a:sym typeface="Open Sans"/>
              </a:rPr>
              <a:t>arr[ ] = new int[10]; </a:t>
            </a:r>
            <a:r>
              <a:rPr lang="en" sz="1800">
                <a:solidFill>
                  <a:srgbClr val="2CA1BE"/>
                </a:solidFill>
                <a:latin typeface="Open Sans"/>
                <a:ea typeface="Open Sans"/>
                <a:cs typeface="Open Sans"/>
                <a:sym typeface="Open Sans"/>
              </a:rPr>
              <a:t>//object creation</a:t>
            </a:r>
            <a:endParaRPr sz="1800">
              <a:solidFill>
                <a:srgbClr val="2CA1BE"/>
              </a:solidFill>
              <a:latin typeface="Open Sans"/>
              <a:ea typeface="Open Sans"/>
              <a:cs typeface="Open Sans"/>
              <a:sym typeface="Open Sans"/>
            </a:endParaRPr>
          </a:p>
        </p:txBody>
      </p:sp>
      <p:sp>
        <p:nvSpPr>
          <p:cNvPr id="668" name="Google Shape;668;p106"/>
          <p:cNvSpPr/>
          <p:nvPr/>
        </p:nvSpPr>
        <p:spPr>
          <a:xfrm>
            <a:off x="683100" y="4009150"/>
            <a:ext cx="6975000" cy="707400"/>
          </a:xfrm>
          <a:prstGeom prst="rect">
            <a:avLst/>
          </a:prstGeom>
          <a:solidFill>
            <a:schemeClr val="lt1"/>
          </a:solidFill>
          <a:ln w="9525" cap="flat" cmpd="sng">
            <a:solidFill>
              <a:srgbClr val="2CA1BE"/>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1200"/>
              </a:spcAft>
              <a:buNone/>
            </a:pPr>
            <a:r>
              <a:rPr lang="en" sz="1800">
                <a:solidFill>
                  <a:schemeClr val="dk2"/>
                </a:solidFill>
                <a:latin typeface="Open Sans"/>
                <a:ea typeface="Open Sans"/>
                <a:cs typeface="Open Sans"/>
                <a:sym typeface="Open Sans"/>
              </a:rPr>
              <a:t>int arr[ ] = new int[10]; </a:t>
            </a:r>
            <a:r>
              <a:rPr lang="en" sz="1800">
                <a:solidFill>
                  <a:srgbClr val="2CA1BE"/>
                </a:solidFill>
                <a:latin typeface="Open Sans"/>
                <a:ea typeface="Open Sans"/>
                <a:cs typeface="Open Sans"/>
                <a:sym typeface="Open Sans"/>
              </a:rPr>
              <a:t>//declare &amp; object creation</a:t>
            </a:r>
            <a:endParaRPr sz="1800">
              <a:solidFill>
                <a:srgbClr val="2CA1BE"/>
              </a:solidFill>
              <a:latin typeface="Open Sans"/>
              <a:ea typeface="Open Sans"/>
              <a:cs typeface="Open Sans"/>
              <a:sym typeface="Open Sans"/>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3" name="Google Shape;673;p107"/>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Array Creation</a:t>
            </a:r>
            <a:endParaRPr/>
          </a:p>
        </p:txBody>
      </p:sp>
      <p:sp>
        <p:nvSpPr>
          <p:cNvPr id="674" name="Google Shape;674;p107"/>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Another way to create array if the elements are known:</a:t>
            </a: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1200"/>
              </a:spcAft>
              <a:buNone/>
            </a:pPr>
            <a:r>
              <a:rPr lang="en"/>
              <a:t>Example:</a:t>
            </a:r>
            <a:endParaRPr/>
          </a:p>
        </p:txBody>
      </p:sp>
      <p:sp>
        <p:nvSpPr>
          <p:cNvPr id="675" name="Google Shape;675;p107"/>
          <p:cNvSpPr/>
          <p:nvPr/>
        </p:nvSpPr>
        <p:spPr>
          <a:xfrm>
            <a:off x="683100" y="1969300"/>
            <a:ext cx="6393600" cy="998100"/>
          </a:xfrm>
          <a:prstGeom prst="rect">
            <a:avLst/>
          </a:prstGeom>
          <a:solidFill>
            <a:schemeClr val="lt1"/>
          </a:solidFill>
          <a:ln w="9525" cap="flat" cmpd="sng">
            <a:solidFill>
              <a:srgbClr val="2CA1BE"/>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1200"/>
              </a:spcAft>
              <a:buNone/>
            </a:pPr>
            <a:r>
              <a:rPr lang="en" sz="1800">
                <a:solidFill>
                  <a:schemeClr val="dk2"/>
                </a:solidFill>
                <a:latin typeface="Open Sans"/>
                <a:ea typeface="Open Sans"/>
                <a:cs typeface="Open Sans"/>
                <a:sym typeface="Open Sans"/>
              </a:rPr>
              <a:t>int arr[ ]={</a:t>
            </a:r>
            <a:r>
              <a:rPr lang="en" sz="1800">
                <a:solidFill>
                  <a:srgbClr val="2CA1BE"/>
                </a:solidFill>
                <a:latin typeface="Open Sans"/>
                <a:ea typeface="Open Sans"/>
                <a:cs typeface="Open Sans"/>
                <a:sym typeface="Open Sans"/>
              </a:rPr>
              <a:t>//array elements with comma operator</a:t>
            </a:r>
            <a:r>
              <a:rPr lang="en" sz="1800">
                <a:solidFill>
                  <a:schemeClr val="dk2"/>
                </a:solidFill>
                <a:latin typeface="Open Sans"/>
                <a:ea typeface="Open Sans"/>
                <a:cs typeface="Open Sans"/>
                <a:sym typeface="Open Sans"/>
              </a:rPr>
              <a:t> };</a:t>
            </a:r>
            <a:endParaRPr sz="1800">
              <a:solidFill>
                <a:srgbClr val="2CA1BE"/>
              </a:solidFill>
              <a:latin typeface="Open Sans"/>
              <a:ea typeface="Open Sans"/>
              <a:cs typeface="Open Sans"/>
              <a:sym typeface="Open Sans"/>
            </a:endParaRPr>
          </a:p>
        </p:txBody>
      </p:sp>
      <p:sp>
        <p:nvSpPr>
          <p:cNvPr id="676" name="Google Shape;676;p107"/>
          <p:cNvSpPr/>
          <p:nvPr/>
        </p:nvSpPr>
        <p:spPr>
          <a:xfrm>
            <a:off x="683100" y="3628150"/>
            <a:ext cx="6975000" cy="707400"/>
          </a:xfrm>
          <a:prstGeom prst="rect">
            <a:avLst/>
          </a:prstGeom>
          <a:solidFill>
            <a:schemeClr val="lt1"/>
          </a:solidFill>
          <a:ln w="9525" cap="flat" cmpd="sng">
            <a:solidFill>
              <a:srgbClr val="2CA1BE"/>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1200"/>
              </a:spcAft>
              <a:buNone/>
            </a:pPr>
            <a:r>
              <a:rPr lang="en" sz="1800">
                <a:solidFill>
                  <a:schemeClr val="dk2"/>
                </a:solidFill>
                <a:latin typeface="Open Sans"/>
                <a:ea typeface="Open Sans"/>
                <a:cs typeface="Open Sans"/>
                <a:sym typeface="Open Sans"/>
              </a:rPr>
              <a:t>int arr[] = {10,20,30,40,50};</a:t>
            </a:r>
            <a:endParaRPr sz="1800">
              <a:solidFill>
                <a:srgbClr val="2CA1BE"/>
              </a:solidFill>
              <a:latin typeface="Open Sans"/>
              <a:ea typeface="Open Sans"/>
              <a:cs typeface="Open Sans"/>
              <a:sym typeface="Open Sans"/>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680"/>
        <p:cNvGrpSpPr/>
        <p:nvPr/>
      </p:nvGrpSpPr>
      <p:grpSpPr>
        <a:xfrm>
          <a:off x="0" y="0"/>
          <a:ext cx="0" cy="0"/>
          <a:chOff x="0" y="0"/>
          <a:chExt cx="0" cy="0"/>
        </a:xfrm>
      </p:grpSpPr>
      <p:sp>
        <p:nvSpPr>
          <p:cNvPr id="681" name="Google Shape;681;p108"/>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 1</a:t>
            </a:r>
            <a:endParaRPr/>
          </a:p>
        </p:txBody>
      </p:sp>
      <p:sp>
        <p:nvSpPr>
          <p:cNvPr id="682" name="Google Shape;682;p108"/>
          <p:cNvSpPr/>
          <p:nvPr/>
        </p:nvSpPr>
        <p:spPr>
          <a:xfrm>
            <a:off x="1527550" y="1190650"/>
            <a:ext cx="7172400" cy="3706800"/>
          </a:xfrm>
          <a:prstGeom prst="rect">
            <a:avLst/>
          </a:prstGeom>
          <a:solidFill>
            <a:schemeClr val="lt1"/>
          </a:solidFill>
          <a:ln w="9525" cap="flat" cmpd="sng">
            <a:solidFill>
              <a:srgbClr val="2CA1B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Open Sans" panose="020B0606030504020204" pitchFamily="34" charset="0"/>
              <a:ea typeface="Open Sans" panose="020B0606030504020204" pitchFamily="34" charset="0"/>
              <a:cs typeface="Open Sans" panose="020B0606030504020204" pitchFamily="34" charset="0"/>
            </a:endParaRPr>
          </a:p>
        </p:txBody>
      </p:sp>
      <p:pic>
        <p:nvPicPr>
          <p:cNvPr id="683" name="Google Shape;683;p108"/>
          <p:cNvPicPr preferRelativeResize="0"/>
          <p:nvPr/>
        </p:nvPicPr>
        <p:blipFill>
          <a:blip r:embed="rId3">
            <a:alphaModFix/>
          </a:blip>
          <a:stretch>
            <a:fillRect/>
          </a:stretch>
        </p:blipFill>
        <p:spPr>
          <a:xfrm>
            <a:off x="1571425" y="1322250"/>
            <a:ext cx="6710850" cy="3575200"/>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8" name="Google Shape;688;p109"/>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 1</a:t>
            </a:r>
            <a:endParaRPr/>
          </a:p>
        </p:txBody>
      </p:sp>
      <p:sp>
        <p:nvSpPr>
          <p:cNvPr id="689" name="Google Shape;689;p109"/>
          <p:cNvSpPr txBox="1"/>
          <p:nvPr/>
        </p:nvSpPr>
        <p:spPr>
          <a:xfrm>
            <a:off x="737925" y="1420950"/>
            <a:ext cx="6317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Open Sans"/>
                <a:ea typeface="Open Sans"/>
                <a:cs typeface="Open Sans"/>
                <a:sym typeface="Open Sans"/>
              </a:rPr>
              <a:t>OUTPUT</a:t>
            </a:r>
            <a:endParaRPr b="1">
              <a:latin typeface="Open Sans"/>
              <a:ea typeface="Open Sans"/>
              <a:cs typeface="Open Sans"/>
              <a:sym typeface="Open Sans"/>
            </a:endParaRPr>
          </a:p>
        </p:txBody>
      </p:sp>
      <p:pic>
        <p:nvPicPr>
          <p:cNvPr id="690" name="Google Shape;690;p109"/>
          <p:cNvPicPr preferRelativeResize="0"/>
          <p:nvPr/>
        </p:nvPicPr>
        <p:blipFill>
          <a:blip r:embed="rId3">
            <a:alphaModFix/>
          </a:blip>
          <a:stretch>
            <a:fillRect/>
          </a:stretch>
        </p:blipFill>
        <p:spPr>
          <a:xfrm>
            <a:off x="976313" y="2038350"/>
            <a:ext cx="6886575" cy="1828800"/>
          </a:xfrm>
          <a:prstGeom prst="rect">
            <a:avLst/>
          </a:prstGeom>
          <a:noFill/>
          <a:ln w="9525" cap="flat" cmpd="sng">
            <a:solidFill>
              <a:srgbClr val="2CA1BE"/>
            </a:solidFill>
            <a:prstDash val="solid"/>
            <a:round/>
            <a:headEnd type="none" w="sm" len="sm"/>
            <a:tailEnd type="none" w="sm" len="sm"/>
          </a:ln>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694"/>
        <p:cNvGrpSpPr/>
        <p:nvPr/>
      </p:nvGrpSpPr>
      <p:grpSpPr>
        <a:xfrm>
          <a:off x="0" y="0"/>
          <a:ext cx="0" cy="0"/>
          <a:chOff x="0" y="0"/>
          <a:chExt cx="0" cy="0"/>
        </a:xfrm>
      </p:grpSpPr>
      <p:sp>
        <p:nvSpPr>
          <p:cNvPr id="695" name="Google Shape;695;p110"/>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 2</a:t>
            </a:r>
            <a:endParaRPr/>
          </a:p>
        </p:txBody>
      </p:sp>
      <p:pic>
        <p:nvPicPr>
          <p:cNvPr id="696" name="Google Shape;696;p110"/>
          <p:cNvPicPr preferRelativeResize="0"/>
          <p:nvPr/>
        </p:nvPicPr>
        <p:blipFill>
          <a:blip r:embed="rId3">
            <a:alphaModFix/>
          </a:blip>
          <a:stretch>
            <a:fillRect/>
          </a:stretch>
        </p:blipFill>
        <p:spPr>
          <a:xfrm>
            <a:off x="357200" y="1238250"/>
            <a:ext cx="4717225" cy="3198625"/>
          </a:xfrm>
          <a:prstGeom prst="rect">
            <a:avLst/>
          </a:prstGeom>
          <a:noFill/>
          <a:ln w="9525" cap="flat" cmpd="sng">
            <a:solidFill>
              <a:srgbClr val="2CA1BE"/>
            </a:solidFill>
            <a:prstDash val="solid"/>
            <a:round/>
            <a:headEnd type="none" w="sm" len="sm"/>
            <a:tailEnd type="none" w="sm" len="sm"/>
          </a:ln>
        </p:spPr>
      </p:pic>
      <p:sp>
        <p:nvSpPr>
          <p:cNvPr id="697" name="Google Shape;697;p110"/>
          <p:cNvSpPr txBox="1"/>
          <p:nvPr/>
        </p:nvSpPr>
        <p:spPr>
          <a:xfrm>
            <a:off x="5339350" y="1325675"/>
            <a:ext cx="2979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Open Sans"/>
                <a:ea typeface="Open Sans"/>
                <a:cs typeface="Open Sans"/>
                <a:sym typeface="Open Sans"/>
              </a:rPr>
              <a:t>OUTPUT</a:t>
            </a:r>
            <a:endParaRPr b="1">
              <a:latin typeface="Open Sans"/>
              <a:ea typeface="Open Sans"/>
              <a:cs typeface="Open Sans"/>
              <a:sym typeface="Open Sans"/>
            </a:endParaRPr>
          </a:p>
        </p:txBody>
      </p:sp>
      <p:sp>
        <p:nvSpPr>
          <p:cNvPr id="698" name="Google Shape;698;p110"/>
          <p:cNvSpPr/>
          <p:nvPr/>
        </p:nvSpPr>
        <p:spPr>
          <a:xfrm>
            <a:off x="5339350" y="1804800"/>
            <a:ext cx="3601800" cy="1019700"/>
          </a:xfrm>
          <a:prstGeom prst="rect">
            <a:avLst/>
          </a:prstGeom>
          <a:solidFill>
            <a:schemeClr val="lt1"/>
          </a:solidFill>
          <a:ln w="9525" cap="flat" cmpd="sng">
            <a:solidFill>
              <a:srgbClr val="2CA1B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Open Sans" panose="020B0606030504020204" pitchFamily="34" charset="0"/>
              <a:ea typeface="Open Sans" panose="020B0606030504020204" pitchFamily="34" charset="0"/>
              <a:cs typeface="Open Sans" panose="020B0606030504020204" pitchFamily="34" charset="0"/>
            </a:endParaRPr>
          </a:p>
        </p:txBody>
      </p:sp>
      <p:pic>
        <p:nvPicPr>
          <p:cNvPr id="699" name="Google Shape;699;p110"/>
          <p:cNvPicPr preferRelativeResize="0"/>
          <p:nvPr/>
        </p:nvPicPr>
        <p:blipFill>
          <a:blip r:embed="rId4">
            <a:alphaModFix/>
          </a:blip>
          <a:stretch>
            <a:fillRect/>
          </a:stretch>
        </p:blipFill>
        <p:spPr>
          <a:xfrm>
            <a:off x="5339351" y="1851075"/>
            <a:ext cx="3492950" cy="781050"/>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Google Shape;704;p111"/>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Array Length</a:t>
            </a:r>
            <a:endParaRPr/>
          </a:p>
        </p:txBody>
      </p:sp>
      <p:sp>
        <p:nvSpPr>
          <p:cNvPr id="705" name="Google Shape;705;p111"/>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457200" lvl="0" indent="-342900" algn="l" rtl="0">
              <a:spcBef>
                <a:spcPts val="100"/>
              </a:spcBef>
              <a:spcAft>
                <a:spcPts val="0"/>
              </a:spcAft>
              <a:buClr>
                <a:srgbClr val="000000"/>
              </a:buClr>
              <a:buSzPts val="1800"/>
              <a:buChar char="●"/>
            </a:pPr>
            <a:r>
              <a:rPr lang="en">
                <a:solidFill>
                  <a:srgbClr val="000000"/>
                </a:solidFill>
              </a:rPr>
              <a:t>In order to get the number of elements in an array,  you can use the length field of an array.</a:t>
            </a:r>
            <a:endParaRPr>
              <a:solidFill>
                <a:srgbClr val="000000"/>
              </a:solidFill>
            </a:endParaRPr>
          </a:p>
          <a:p>
            <a:pPr marL="457200" lvl="0" indent="-342900" algn="l" rtl="0">
              <a:spcBef>
                <a:spcPts val="1000"/>
              </a:spcBef>
              <a:spcAft>
                <a:spcPts val="0"/>
              </a:spcAft>
              <a:buClr>
                <a:srgbClr val="000000"/>
              </a:buClr>
              <a:buSzPts val="1800"/>
              <a:buChar char="●"/>
            </a:pPr>
            <a:r>
              <a:rPr lang="en">
                <a:solidFill>
                  <a:srgbClr val="000000"/>
                </a:solidFill>
              </a:rPr>
              <a:t>The  length  field  of  an  array  returns  the  size  of  the  array.</a:t>
            </a:r>
            <a:endParaRPr>
              <a:solidFill>
                <a:srgbClr val="000000"/>
              </a:solidFill>
            </a:endParaRPr>
          </a:p>
          <a:p>
            <a:pPr marL="457200" lvl="0" indent="-342900" algn="l" rtl="0">
              <a:spcBef>
                <a:spcPts val="1000"/>
              </a:spcBef>
              <a:spcAft>
                <a:spcPts val="0"/>
              </a:spcAft>
              <a:buClr>
                <a:srgbClr val="000000"/>
              </a:buClr>
              <a:buSzPts val="1800"/>
              <a:buChar char="●"/>
            </a:pPr>
            <a:r>
              <a:rPr lang="en">
                <a:solidFill>
                  <a:srgbClr val="000000"/>
                </a:solidFill>
              </a:rPr>
              <a:t>Syntax:- </a:t>
            </a:r>
            <a:endParaRPr>
              <a:solidFill>
                <a:srgbClr val="000000"/>
              </a:solidFill>
            </a:endParaRPr>
          </a:p>
          <a:p>
            <a:pPr marL="914400" lvl="0" indent="457200" algn="l" rtl="0">
              <a:spcBef>
                <a:spcPts val="1000"/>
              </a:spcBef>
              <a:spcAft>
                <a:spcPts val="0"/>
              </a:spcAft>
              <a:buNone/>
            </a:pPr>
            <a:r>
              <a:rPr lang="en">
                <a:solidFill>
                  <a:srgbClr val="000000"/>
                </a:solidFill>
              </a:rPr>
              <a:t>arrayName.length</a:t>
            </a:r>
            <a:endParaRPr>
              <a:solidFill>
                <a:srgbClr val="000000"/>
              </a:solidFill>
            </a:endParaRPr>
          </a:p>
          <a:p>
            <a:pPr marL="0" lvl="0" indent="0" algn="l" rtl="0">
              <a:spcBef>
                <a:spcPts val="1000"/>
              </a:spcBef>
              <a:spcAft>
                <a:spcPts val="1000"/>
              </a:spcAft>
              <a:buNone/>
            </a:pPr>
            <a:endParaRPr>
              <a:solidFill>
                <a:srgbClr val="000000"/>
              </a:solidFill>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112"/>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For each loop</a:t>
            </a:r>
            <a:endParaRPr/>
          </a:p>
        </p:txBody>
      </p:sp>
      <p:sp>
        <p:nvSpPr>
          <p:cNvPr id="711" name="Google Shape;711;p112"/>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Autofit/>
          </a:bodyPr>
          <a:lstStyle/>
          <a:p>
            <a:pPr marL="0" lvl="0" indent="0" algn="just" rtl="0">
              <a:spcBef>
                <a:spcPts val="1200"/>
              </a:spcBef>
              <a:spcAft>
                <a:spcPts val="0"/>
              </a:spcAft>
              <a:buNone/>
            </a:pPr>
            <a:r>
              <a:rPr lang="en" sz="1600">
                <a:solidFill>
                  <a:srgbClr val="333333"/>
                </a:solidFill>
                <a:highlight>
                  <a:srgbClr val="FFFFFF"/>
                </a:highlight>
              </a:rPr>
              <a:t>The for-each loop is used to traverse array or collection in Java. It is easier to use than simple for loop because we don't need to increment value and use subscript notation.</a:t>
            </a:r>
            <a:endParaRPr sz="1600">
              <a:solidFill>
                <a:srgbClr val="333333"/>
              </a:solidFill>
              <a:highlight>
                <a:srgbClr val="FFFFFF"/>
              </a:highlight>
            </a:endParaRPr>
          </a:p>
          <a:p>
            <a:pPr marL="0" lvl="0" indent="0" algn="just" rtl="0">
              <a:spcBef>
                <a:spcPts val="1200"/>
              </a:spcBef>
              <a:spcAft>
                <a:spcPts val="0"/>
              </a:spcAft>
              <a:buNone/>
            </a:pPr>
            <a:r>
              <a:rPr lang="en" sz="1600">
                <a:solidFill>
                  <a:srgbClr val="333333"/>
                </a:solidFill>
                <a:highlight>
                  <a:srgbClr val="FFFFFF"/>
                </a:highlight>
              </a:rPr>
              <a:t>It works on the basis of elements and not the index. It returns element one by one in the defined variable.</a:t>
            </a:r>
            <a:endParaRPr sz="1600">
              <a:solidFill>
                <a:srgbClr val="333333"/>
              </a:solidFill>
              <a:highlight>
                <a:srgbClr val="FFFFFF"/>
              </a:highlight>
            </a:endParaRPr>
          </a:p>
          <a:p>
            <a:pPr marL="0" lvl="0" indent="0" algn="just" rtl="0">
              <a:spcBef>
                <a:spcPts val="1200"/>
              </a:spcBef>
              <a:spcAft>
                <a:spcPts val="0"/>
              </a:spcAft>
              <a:buNone/>
            </a:pPr>
            <a:r>
              <a:rPr lang="en" sz="1600" b="1">
                <a:solidFill>
                  <a:srgbClr val="333333"/>
                </a:solidFill>
                <a:highlight>
                  <a:srgbClr val="FFFFFF"/>
                </a:highlight>
              </a:rPr>
              <a:t>Syntax:</a:t>
            </a:r>
            <a:endParaRPr sz="1600" b="1">
              <a:solidFill>
                <a:srgbClr val="333333"/>
              </a:solidFill>
              <a:highlight>
                <a:srgbClr val="FFFFFF"/>
              </a:highlight>
            </a:endParaRPr>
          </a:p>
          <a:p>
            <a:pPr marL="0" lvl="0" indent="0" algn="just" rtl="0">
              <a:spcBef>
                <a:spcPts val="1200"/>
              </a:spcBef>
              <a:spcAft>
                <a:spcPts val="0"/>
              </a:spcAft>
              <a:buNone/>
            </a:pPr>
            <a:r>
              <a:rPr lang="en" sz="1600">
                <a:solidFill>
                  <a:srgbClr val="333333"/>
                </a:solidFill>
                <a:highlight>
                  <a:srgbClr val="FFFFFF"/>
                </a:highlight>
              </a:rPr>
              <a:t>	for(datatype var: arrayname){</a:t>
            </a:r>
            <a:endParaRPr sz="1600">
              <a:solidFill>
                <a:srgbClr val="333333"/>
              </a:solidFill>
              <a:highlight>
                <a:srgbClr val="FFFFFF"/>
              </a:highlight>
            </a:endParaRPr>
          </a:p>
          <a:p>
            <a:pPr marL="0" lvl="0" indent="457200" algn="just" rtl="0">
              <a:spcBef>
                <a:spcPts val="1200"/>
              </a:spcBef>
              <a:spcAft>
                <a:spcPts val="0"/>
              </a:spcAft>
              <a:buNone/>
            </a:pPr>
            <a:r>
              <a:rPr lang="en" sz="1600">
                <a:solidFill>
                  <a:srgbClr val="333333"/>
                </a:solidFill>
                <a:highlight>
                  <a:srgbClr val="FFFFFF"/>
                </a:highlight>
              </a:rPr>
              <a:t>	//statement</a:t>
            </a:r>
            <a:endParaRPr sz="1600">
              <a:solidFill>
                <a:srgbClr val="333333"/>
              </a:solidFill>
              <a:highlight>
                <a:srgbClr val="FFFFFF"/>
              </a:highlight>
            </a:endParaRPr>
          </a:p>
          <a:p>
            <a:pPr marL="0" lvl="0" indent="457200" algn="just" rtl="0">
              <a:spcBef>
                <a:spcPts val="1200"/>
              </a:spcBef>
              <a:spcAft>
                <a:spcPts val="1200"/>
              </a:spcAft>
              <a:buNone/>
            </a:pPr>
            <a:r>
              <a:rPr lang="en" sz="1600">
                <a:solidFill>
                  <a:srgbClr val="333333"/>
                </a:solidFill>
                <a:highlight>
                  <a:srgbClr val="FFFFFF"/>
                </a:highlight>
              </a:rPr>
              <a:t>}</a:t>
            </a:r>
            <a:endParaRPr sz="1600">
              <a:solidFill>
                <a:srgbClr val="333333"/>
              </a:solidFill>
              <a:highlight>
                <a:srgbClr val="FFFFFF"/>
              </a:highlight>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715"/>
        <p:cNvGrpSpPr/>
        <p:nvPr/>
      </p:nvGrpSpPr>
      <p:grpSpPr>
        <a:xfrm>
          <a:off x="0" y="0"/>
          <a:ext cx="0" cy="0"/>
          <a:chOff x="0" y="0"/>
          <a:chExt cx="0" cy="0"/>
        </a:xfrm>
      </p:grpSpPr>
      <p:sp>
        <p:nvSpPr>
          <p:cNvPr id="716" name="Google Shape;716;p113"/>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a:t>
            </a:r>
            <a:endParaRPr/>
          </a:p>
        </p:txBody>
      </p:sp>
      <p:sp>
        <p:nvSpPr>
          <p:cNvPr id="717" name="Google Shape;717;p113"/>
          <p:cNvSpPr txBox="1"/>
          <p:nvPr/>
        </p:nvSpPr>
        <p:spPr>
          <a:xfrm>
            <a:off x="5339350" y="1325675"/>
            <a:ext cx="2979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Open Sans"/>
                <a:ea typeface="Open Sans"/>
                <a:cs typeface="Open Sans"/>
                <a:sym typeface="Open Sans"/>
              </a:rPr>
              <a:t>OUTPUT</a:t>
            </a:r>
            <a:endParaRPr b="1">
              <a:latin typeface="Open Sans"/>
              <a:ea typeface="Open Sans"/>
              <a:cs typeface="Open Sans"/>
              <a:sym typeface="Open Sans"/>
            </a:endParaRPr>
          </a:p>
        </p:txBody>
      </p:sp>
      <p:sp>
        <p:nvSpPr>
          <p:cNvPr id="718" name="Google Shape;718;p113"/>
          <p:cNvSpPr/>
          <p:nvPr/>
        </p:nvSpPr>
        <p:spPr>
          <a:xfrm>
            <a:off x="5339350" y="1804800"/>
            <a:ext cx="3601800" cy="1019700"/>
          </a:xfrm>
          <a:prstGeom prst="rect">
            <a:avLst/>
          </a:prstGeom>
          <a:solidFill>
            <a:schemeClr val="lt1"/>
          </a:solidFill>
          <a:ln w="9525" cap="flat" cmpd="sng">
            <a:solidFill>
              <a:srgbClr val="2CA1B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Open Sans" panose="020B0606030504020204" pitchFamily="34" charset="0"/>
              <a:ea typeface="Open Sans" panose="020B0606030504020204" pitchFamily="34" charset="0"/>
              <a:cs typeface="Open Sans" panose="020B0606030504020204" pitchFamily="34" charset="0"/>
            </a:endParaRPr>
          </a:p>
        </p:txBody>
      </p:sp>
      <p:pic>
        <p:nvPicPr>
          <p:cNvPr id="719" name="Google Shape;719;p113"/>
          <p:cNvPicPr preferRelativeResize="0"/>
          <p:nvPr/>
        </p:nvPicPr>
        <p:blipFill>
          <a:blip r:embed="rId3">
            <a:alphaModFix/>
          </a:blip>
          <a:stretch>
            <a:fillRect/>
          </a:stretch>
        </p:blipFill>
        <p:spPr>
          <a:xfrm>
            <a:off x="5339351" y="1851075"/>
            <a:ext cx="3492950" cy="781050"/>
          </a:xfrm>
          <a:prstGeom prst="rect">
            <a:avLst/>
          </a:prstGeom>
          <a:noFill/>
          <a:ln>
            <a:noFill/>
          </a:ln>
        </p:spPr>
      </p:pic>
      <p:sp>
        <p:nvSpPr>
          <p:cNvPr id="720" name="Google Shape;720;p113"/>
          <p:cNvSpPr/>
          <p:nvPr/>
        </p:nvSpPr>
        <p:spPr>
          <a:xfrm>
            <a:off x="152450" y="1244350"/>
            <a:ext cx="5034600" cy="3169500"/>
          </a:xfrm>
          <a:prstGeom prst="rect">
            <a:avLst/>
          </a:prstGeom>
          <a:solidFill>
            <a:schemeClr val="lt1"/>
          </a:solidFill>
          <a:ln w="9525" cap="flat" cmpd="sng">
            <a:solidFill>
              <a:srgbClr val="2CA1B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Open Sans" panose="020B0606030504020204" pitchFamily="34" charset="0"/>
              <a:ea typeface="Open Sans" panose="020B0606030504020204" pitchFamily="34" charset="0"/>
              <a:cs typeface="Open Sans" panose="020B0606030504020204" pitchFamily="34" charset="0"/>
            </a:endParaRPr>
          </a:p>
        </p:txBody>
      </p:sp>
      <p:pic>
        <p:nvPicPr>
          <p:cNvPr id="721" name="Google Shape;721;p113"/>
          <p:cNvPicPr preferRelativeResize="0"/>
          <p:nvPr/>
        </p:nvPicPr>
        <p:blipFill>
          <a:blip r:embed="rId4">
            <a:alphaModFix/>
          </a:blip>
          <a:stretch>
            <a:fillRect/>
          </a:stretch>
        </p:blipFill>
        <p:spPr>
          <a:xfrm>
            <a:off x="152400" y="1381025"/>
            <a:ext cx="5034549" cy="3032825"/>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p11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Multi-dimensional array</a:t>
            </a:r>
            <a:endParaRPr/>
          </a:p>
        </p:txBody>
      </p:sp>
      <p:sp>
        <p:nvSpPr>
          <p:cNvPr id="727" name="Google Shape;727;p11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rgbClr val="666666"/>
                </a:solidFill>
              </a:rPr>
              <a:t>A multidimensional array is an array of arrays. That is, each element of a multidimensional array is an array itself.</a:t>
            </a:r>
            <a:endParaRPr>
              <a:solidFill>
                <a:srgbClr val="666666"/>
              </a:solidFill>
            </a:endParaRPr>
          </a:p>
          <a:p>
            <a:pPr marL="0" lvl="0" indent="0" algn="l" rtl="0">
              <a:spcBef>
                <a:spcPts val="1000"/>
              </a:spcBef>
              <a:spcAft>
                <a:spcPts val="0"/>
              </a:spcAft>
              <a:buNone/>
            </a:pPr>
            <a:r>
              <a:rPr lang="en">
                <a:solidFill>
                  <a:srgbClr val="666666"/>
                </a:solidFill>
              </a:rPr>
              <a:t>For example:</a:t>
            </a:r>
            <a:endParaRPr>
              <a:solidFill>
                <a:srgbClr val="666666"/>
              </a:solidFill>
            </a:endParaRPr>
          </a:p>
          <a:p>
            <a:pPr marL="0" lvl="0" indent="0" algn="l" rtl="0">
              <a:spcBef>
                <a:spcPts val="1000"/>
              </a:spcBef>
              <a:spcAft>
                <a:spcPts val="0"/>
              </a:spcAft>
              <a:buNone/>
            </a:pPr>
            <a:r>
              <a:rPr lang="en">
                <a:solidFill>
                  <a:srgbClr val="666666"/>
                </a:solidFill>
              </a:rPr>
              <a:t>  		int[][] arr={{1,2,3},{4,5,6}}</a:t>
            </a:r>
            <a:endParaRPr>
              <a:solidFill>
                <a:srgbClr val="666666"/>
              </a:solidFill>
            </a:endParaRPr>
          </a:p>
          <a:p>
            <a:pPr marL="0" lvl="0" indent="0" algn="l" rtl="0">
              <a:spcBef>
                <a:spcPts val="1000"/>
              </a:spcBef>
              <a:spcAft>
                <a:spcPts val="1000"/>
              </a:spcAft>
              <a:buNone/>
            </a:pPr>
            <a:r>
              <a:rPr lang="en">
                <a:solidFill>
                  <a:srgbClr val="666666"/>
                </a:solidFill>
              </a:rPr>
              <a:t>To access the elements of the </a:t>
            </a:r>
            <a:r>
              <a:rPr lang="en" b="1">
                <a:solidFill>
                  <a:srgbClr val="666666"/>
                </a:solidFill>
              </a:rPr>
              <a:t>arr</a:t>
            </a:r>
            <a:r>
              <a:rPr lang="en">
                <a:solidFill>
                  <a:srgbClr val="666666"/>
                </a:solidFill>
              </a:rPr>
              <a:t> array, specify two indexes: one for the array, and one for the element inside that array.</a:t>
            </a:r>
            <a:endParaRPr>
              <a:solidFill>
                <a:srgbClr val="666666"/>
              </a:solidFill>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731"/>
        <p:cNvGrpSpPr/>
        <p:nvPr/>
      </p:nvGrpSpPr>
      <p:grpSpPr>
        <a:xfrm>
          <a:off x="0" y="0"/>
          <a:ext cx="0" cy="0"/>
          <a:chOff x="0" y="0"/>
          <a:chExt cx="0" cy="0"/>
        </a:xfrm>
      </p:grpSpPr>
      <p:sp>
        <p:nvSpPr>
          <p:cNvPr id="732" name="Google Shape;732;p11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Multi-dimensional array: using for loop</a:t>
            </a:r>
            <a:endParaRPr/>
          </a:p>
        </p:txBody>
      </p:sp>
      <p:pic>
        <p:nvPicPr>
          <p:cNvPr id="733" name="Google Shape;733;p115"/>
          <p:cNvPicPr preferRelativeResize="0"/>
          <p:nvPr/>
        </p:nvPicPr>
        <p:blipFill>
          <a:blip r:embed="rId3">
            <a:alphaModFix/>
          </a:blip>
          <a:stretch>
            <a:fillRect/>
          </a:stretch>
        </p:blipFill>
        <p:spPr>
          <a:xfrm>
            <a:off x="427100" y="1304825"/>
            <a:ext cx="4525900" cy="3300595"/>
          </a:xfrm>
          <a:prstGeom prst="rect">
            <a:avLst/>
          </a:prstGeom>
          <a:noFill/>
          <a:ln w="9525" cap="flat" cmpd="sng">
            <a:solidFill>
              <a:srgbClr val="2CA1BE"/>
            </a:solidFill>
            <a:prstDash val="solid"/>
            <a:round/>
            <a:headEnd type="none" w="sm" len="sm"/>
            <a:tailEnd type="none" w="sm" len="sm"/>
          </a:ln>
        </p:spPr>
      </p:pic>
      <p:sp>
        <p:nvSpPr>
          <p:cNvPr id="734" name="Google Shape;734;p115"/>
          <p:cNvSpPr/>
          <p:nvPr/>
        </p:nvSpPr>
        <p:spPr>
          <a:xfrm>
            <a:off x="5212450" y="2542600"/>
            <a:ext cx="3706800" cy="1052700"/>
          </a:xfrm>
          <a:prstGeom prst="rect">
            <a:avLst/>
          </a:prstGeom>
          <a:solidFill>
            <a:schemeClr val="lt1"/>
          </a:solidFill>
          <a:ln w="9525" cap="flat" cmpd="sng">
            <a:solidFill>
              <a:srgbClr val="2CA1B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Open Sans" panose="020B0606030504020204" pitchFamily="34" charset="0"/>
              <a:ea typeface="Open Sans" panose="020B0606030504020204" pitchFamily="34" charset="0"/>
              <a:cs typeface="Open Sans" panose="020B0606030504020204" pitchFamily="34" charset="0"/>
            </a:endParaRPr>
          </a:p>
        </p:txBody>
      </p:sp>
      <p:pic>
        <p:nvPicPr>
          <p:cNvPr id="735" name="Google Shape;735;p115"/>
          <p:cNvPicPr preferRelativeResize="0"/>
          <p:nvPr/>
        </p:nvPicPr>
        <p:blipFill>
          <a:blip r:embed="rId4">
            <a:alphaModFix/>
          </a:blip>
          <a:stretch>
            <a:fillRect/>
          </a:stretch>
        </p:blipFill>
        <p:spPr>
          <a:xfrm>
            <a:off x="5292625" y="2647950"/>
            <a:ext cx="3571249" cy="914400"/>
          </a:xfrm>
          <a:prstGeom prst="rect">
            <a:avLst/>
          </a:prstGeom>
          <a:noFill/>
          <a:ln>
            <a:noFill/>
          </a:ln>
        </p:spPr>
      </p:pic>
      <p:sp>
        <p:nvSpPr>
          <p:cNvPr id="736" name="Google Shape;736;p115"/>
          <p:cNvSpPr txBox="1"/>
          <p:nvPr/>
        </p:nvSpPr>
        <p:spPr>
          <a:xfrm>
            <a:off x="5162175" y="1947375"/>
            <a:ext cx="3385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Open Sans"/>
                <a:ea typeface="Open Sans"/>
                <a:cs typeface="Open Sans"/>
                <a:sym typeface="Open Sans"/>
              </a:rPr>
              <a:t>OUTPUT</a:t>
            </a:r>
            <a:endParaRPr b="1">
              <a:latin typeface="Open Sans"/>
              <a:ea typeface="Open Sans"/>
              <a:cs typeface="Open Sans"/>
              <a:sym typeface="Open Sans"/>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sp>
        <p:nvSpPr>
          <p:cNvPr id="741" name="Google Shape;741;p11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Multi-dimensional array: using for each loop</a:t>
            </a:r>
            <a:endParaRPr/>
          </a:p>
        </p:txBody>
      </p:sp>
      <p:sp>
        <p:nvSpPr>
          <p:cNvPr id="742" name="Google Shape;742;p116"/>
          <p:cNvSpPr/>
          <p:nvPr/>
        </p:nvSpPr>
        <p:spPr>
          <a:xfrm>
            <a:off x="5212450" y="2542600"/>
            <a:ext cx="3706800" cy="1521300"/>
          </a:xfrm>
          <a:prstGeom prst="rect">
            <a:avLst/>
          </a:prstGeom>
          <a:solidFill>
            <a:schemeClr val="lt1"/>
          </a:solidFill>
          <a:ln w="9525" cap="flat" cmpd="sng">
            <a:solidFill>
              <a:srgbClr val="2CA1B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Open Sans" panose="020B0606030504020204" pitchFamily="34" charset="0"/>
              <a:ea typeface="Open Sans" panose="020B0606030504020204" pitchFamily="34" charset="0"/>
              <a:cs typeface="Open Sans" panose="020B0606030504020204" pitchFamily="34" charset="0"/>
            </a:endParaRPr>
          </a:p>
        </p:txBody>
      </p:sp>
      <p:sp>
        <p:nvSpPr>
          <p:cNvPr id="743" name="Google Shape;743;p116"/>
          <p:cNvSpPr txBox="1"/>
          <p:nvPr/>
        </p:nvSpPr>
        <p:spPr>
          <a:xfrm>
            <a:off x="5162175" y="1947375"/>
            <a:ext cx="3385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Open Sans"/>
                <a:ea typeface="Open Sans"/>
                <a:cs typeface="Open Sans"/>
                <a:sym typeface="Open Sans"/>
              </a:rPr>
              <a:t>OUTPUT</a:t>
            </a:r>
            <a:endParaRPr b="1">
              <a:latin typeface="Open Sans"/>
              <a:ea typeface="Open Sans"/>
              <a:cs typeface="Open Sans"/>
              <a:sym typeface="Open Sans"/>
            </a:endParaRPr>
          </a:p>
        </p:txBody>
      </p:sp>
      <p:sp>
        <p:nvSpPr>
          <p:cNvPr id="744" name="Google Shape;744;p116"/>
          <p:cNvSpPr/>
          <p:nvPr/>
        </p:nvSpPr>
        <p:spPr>
          <a:xfrm>
            <a:off x="200550" y="1234525"/>
            <a:ext cx="4803300" cy="3805500"/>
          </a:xfrm>
          <a:prstGeom prst="rect">
            <a:avLst/>
          </a:prstGeom>
          <a:solidFill>
            <a:schemeClr val="lt1"/>
          </a:solidFill>
          <a:ln w="9525" cap="flat" cmpd="sng">
            <a:solidFill>
              <a:srgbClr val="2CA1B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Open Sans" panose="020B0606030504020204" pitchFamily="34" charset="0"/>
              <a:ea typeface="Open Sans" panose="020B0606030504020204" pitchFamily="34" charset="0"/>
              <a:cs typeface="Open Sans" panose="020B0606030504020204" pitchFamily="34" charset="0"/>
            </a:endParaRPr>
          </a:p>
        </p:txBody>
      </p:sp>
      <p:pic>
        <p:nvPicPr>
          <p:cNvPr id="745" name="Google Shape;745;p116"/>
          <p:cNvPicPr preferRelativeResize="0"/>
          <p:nvPr/>
        </p:nvPicPr>
        <p:blipFill>
          <a:blip r:embed="rId3">
            <a:alphaModFix/>
          </a:blip>
          <a:stretch>
            <a:fillRect/>
          </a:stretch>
        </p:blipFill>
        <p:spPr>
          <a:xfrm>
            <a:off x="304800" y="1304825"/>
            <a:ext cx="4543973" cy="3686275"/>
          </a:xfrm>
          <a:prstGeom prst="rect">
            <a:avLst/>
          </a:prstGeom>
          <a:noFill/>
          <a:ln>
            <a:noFill/>
          </a:ln>
        </p:spPr>
      </p:pic>
      <p:pic>
        <p:nvPicPr>
          <p:cNvPr id="746" name="Google Shape;746;p116"/>
          <p:cNvPicPr preferRelativeResize="0"/>
          <p:nvPr/>
        </p:nvPicPr>
        <p:blipFill>
          <a:blip r:embed="rId4">
            <a:alphaModFix/>
          </a:blip>
          <a:stretch>
            <a:fillRect/>
          </a:stretch>
        </p:blipFill>
        <p:spPr>
          <a:xfrm>
            <a:off x="5289225" y="2734975"/>
            <a:ext cx="3543074" cy="1238250"/>
          </a:xfrm>
          <a:prstGeom prst="rect">
            <a:avLst/>
          </a:prstGeom>
          <a:noFill/>
          <a:ln>
            <a:noFill/>
          </a:ln>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750"/>
        <p:cNvGrpSpPr/>
        <p:nvPr/>
      </p:nvGrpSpPr>
      <p:grpSpPr>
        <a:xfrm>
          <a:off x="0" y="0"/>
          <a:ext cx="0" cy="0"/>
          <a:chOff x="0" y="0"/>
          <a:chExt cx="0" cy="0"/>
        </a:xfrm>
      </p:grpSpPr>
      <p:sp>
        <p:nvSpPr>
          <p:cNvPr id="751" name="Google Shape;751;p117"/>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Jagged array</a:t>
            </a:r>
            <a:endParaRPr/>
          </a:p>
        </p:txBody>
      </p:sp>
      <p:sp>
        <p:nvSpPr>
          <p:cNvPr id="752" name="Google Shape;752;p117"/>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Jagged array are the multidimensional arrays with different size</a:t>
            </a:r>
            <a:endParaRPr/>
          </a:p>
          <a:p>
            <a:pPr marL="0" lvl="0" indent="0" algn="l" rtl="0">
              <a:spcBef>
                <a:spcPts val="1200"/>
              </a:spcBef>
              <a:spcAft>
                <a:spcPts val="1200"/>
              </a:spcAft>
              <a:buNone/>
            </a:pPr>
            <a:endParaRPr/>
          </a:p>
        </p:txBody>
      </p:sp>
      <p:pic>
        <p:nvPicPr>
          <p:cNvPr id="753" name="Google Shape;753;p117"/>
          <p:cNvPicPr preferRelativeResize="0"/>
          <p:nvPr/>
        </p:nvPicPr>
        <p:blipFill>
          <a:blip r:embed="rId3">
            <a:alphaModFix/>
          </a:blip>
          <a:stretch>
            <a:fillRect/>
          </a:stretch>
        </p:blipFill>
        <p:spPr>
          <a:xfrm>
            <a:off x="1052513" y="2085975"/>
            <a:ext cx="6581775" cy="2495550"/>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757"/>
        <p:cNvGrpSpPr/>
        <p:nvPr/>
      </p:nvGrpSpPr>
      <p:grpSpPr>
        <a:xfrm>
          <a:off x="0" y="0"/>
          <a:ext cx="0" cy="0"/>
          <a:chOff x="0" y="0"/>
          <a:chExt cx="0" cy="0"/>
        </a:xfrm>
      </p:grpSpPr>
      <p:sp>
        <p:nvSpPr>
          <p:cNvPr id="758" name="Google Shape;758;p118"/>
          <p:cNvSpPr txBox="1">
            <a:spLocks noGrp="1"/>
          </p:cNvSpPr>
          <p:nvPr>
            <p:ph type="title"/>
          </p:nvPr>
        </p:nvSpPr>
        <p:spPr>
          <a:xfrm>
            <a:off x="311700" y="2926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Jagged array</a:t>
            </a:r>
            <a:endParaRPr/>
          </a:p>
        </p:txBody>
      </p:sp>
      <p:sp>
        <p:nvSpPr>
          <p:cNvPr id="759" name="Google Shape;759;p118"/>
          <p:cNvSpPr/>
          <p:nvPr/>
        </p:nvSpPr>
        <p:spPr>
          <a:xfrm>
            <a:off x="352950" y="1000025"/>
            <a:ext cx="7358700" cy="4040100"/>
          </a:xfrm>
          <a:prstGeom prst="rect">
            <a:avLst/>
          </a:prstGeom>
          <a:solidFill>
            <a:schemeClr val="lt1"/>
          </a:solidFill>
          <a:ln w="9525" cap="flat" cmpd="sng">
            <a:solidFill>
              <a:srgbClr val="2CA1B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Open Sans" panose="020B0606030504020204" pitchFamily="34" charset="0"/>
              <a:ea typeface="Open Sans" panose="020B0606030504020204" pitchFamily="34" charset="0"/>
              <a:cs typeface="Open Sans" panose="020B0606030504020204" pitchFamily="34" charset="0"/>
            </a:endParaRPr>
          </a:p>
        </p:txBody>
      </p:sp>
      <p:pic>
        <p:nvPicPr>
          <p:cNvPr id="760" name="Google Shape;760;p118"/>
          <p:cNvPicPr preferRelativeResize="0"/>
          <p:nvPr/>
        </p:nvPicPr>
        <p:blipFill>
          <a:blip r:embed="rId3">
            <a:alphaModFix/>
          </a:blip>
          <a:stretch>
            <a:fillRect/>
          </a:stretch>
        </p:blipFill>
        <p:spPr>
          <a:xfrm>
            <a:off x="485700" y="1102925"/>
            <a:ext cx="6854350" cy="3816500"/>
          </a:xfrm>
          <a:prstGeom prst="rect">
            <a:avLst/>
          </a:prstGeom>
          <a:noFill/>
          <a:ln>
            <a:noFill/>
          </a:ln>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764"/>
        <p:cNvGrpSpPr/>
        <p:nvPr/>
      </p:nvGrpSpPr>
      <p:grpSpPr>
        <a:xfrm>
          <a:off x="0" y="0"/>
          <a:ext cx="0" cy="0"/>
          <a:chOff x="0" y="0"/>
          <a:chExt cx="0" cy="0"/>
        </a:xfrm>
      </p:grpSpPr>
      <p:sp>
        <p:nvSpPr>
          <p:cNvPr id="765" name="Google Shape;765;p119"/>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Jagged array</a:t>
            </a:r>
            <a:endParaRPr/>
          </a:p>
        </p:txBody>
      </p:sp>
      <p:sp>
        <p:nvSpPr>
          <p:cNvPr id="766" name="Google Shape;766;p119"/>
          <p:cNvSpPr txBox="1"/>
          <p:nvPr/>
        </p:nvSpPr>
        <p:spPr>
          <a:xfrm>
            <a:off x="588950" y="1267425"/>
            <a:ext cx="3385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Open Sans"/>
                <a:ea typeface="Open Sans"/>
                <a:cs typeface="Open Sans"/>
                <a:sym typeface="Open Sans"/>
              </a:rPr>
              <a:t>OUTPUT</a:t>
            </a:r>
            <a:endParaRPr b="1">
              <a:latin typeface="Open Sans"/>
              <a:ea typeface="Open Sans"/>
              <a:cs typeface="Open Sans"/>
              <a:sym typeface="Open Sans"/>
            </a:endParaRPr>
          </a:p>
        </p:txBody>
      </p:sp>
      <p:pic>
        <p:nvPicPr>
          <p:cNvPr id="767" name="Google Shape;767;p119"/>
          <p:cNvPicPr preferRelativeResize="0"/>
          <p:nvPr/>
        </p:nvPicPr>
        <p:blipFill>
          <a:blip r:embed="rId3">
            <a:alphaModFix/>
          </a:blip>
          <a:stretch>
            <a:fillRect/>
          </a:stretch>
        </p:blipFill>
        <p:spPr>
          <a:xfrm>
            <a:off x="762000" y="2090738"/>
            <a:ext cx="5486400" cy="2181225"/>
          </a:xfrm>
          <a:prstGeom prst="rect">
            <a:avLst/>
          </a:prstGeom>
          <a:noFill/>
          <a:ln w="9525" cap="flat" cmpd="sng">
            <a:solidFill>
              <a:srgbClr val="2CA1BE"/>
            </a:solidFill>
            <a:prstDash val="solid"/>
            <a:round/>
            <a:headEnd type="none" w="sm" len="sm"/>
            <a:tailEnd type="none" w="sm" len="sm"/>
          </a:ln>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p120"/>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Advantages &amp; disadvantages of array</a:t>
            </a:r>
            <a:endParaRPr/>
          </a:p>
        </p:txBody>
      </p:sp>
      <p:sp>
        <p:nvSpPr>
          <p:cNvPr id="773" name="Google Shape;773;p120"/>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FF8118"/>
                </a:solidFill>
              </a:rPr>
              <a:t>Advantages:</a:t>
            </a:r>
            <a:endParaRPr>
              <a:solidFill>
                <a:srgbClr val="FF8118"/>
              </a:solidFill>
            </a:endParaRPr>
          </a:p>
          <a:p>
            <a:pPr marL="457200" lvl="0" indent="-342900" algn="l" rtl="0">
              <a:spcBef>
                <a:spcPts val="1200"/>
              </a:spcBef>
              <a:spcAft>
                <a:spcPts val="0"/>
              </a:spcAft>
              <a:buClr>
                <a:srgbClr val="000000"/>
              </a:buClr>
              <a:buSzPts val="1800"/>
              <a:buAutoNum type="arabicPeriod"/>
            </a:pPr>
            <a:r>
              <a:rPr lang="en" b="1">
                <a:solidFill>
                  <a:srgbClr val="000000"/>
                </a:solidFill>
              </a:rPr>
              <a:t>Code Optimization:</a:t>
            </a:r>
            <a:r>
              <a:rPr lang="en">
                <a:solidFill>
                  <a:srgbClr val="000000"/>
                </a:solidFill>
              </a:rPr>
              <a:t> It makes the code optimized, we can retrieve or sort the data efficiently.</a:t>
            </a:r>
            <a:endParaRPr>
              <a:solidFill>
                <a:srgbClr val="000000"/>
              </a:solidFill>
            </a:endParaRPr>
          </a:p>
          <a:p>
            <a:pPr marL="457200" lvl="0" indent="-342900" algn="l" rtl="0">
              <a:spcBef>
                <a:spcPts val="0"/>
              </a:spcBef>
              <a:spcAft>
                <a:spcPts val="0"/>
              </a:spcAft>
              <a:buClr>
                <a:srgbClr val="000000"/>
              </a:buClr>
              <a:buSzPts val="1800"/>
              <a:buAutoNum type="arabicPeriod"/>
            </a:pPr>
            <a:r>
              <a:rPr lang="en" b="1">
                <a:solidFill>
                  <a:srgbClr val="000000"/>
                </a:solidFill>
              </a:rPr>
              <a:t>Random access:</a:t>
            </a:r>
            <a:r>
              <a:rPr lang="en">
                <a:solidFill>
                  <a:srgbClr val="000000"/>
                </a:solidFill>
              </a:rPr>
              <a:t> We can get any data located at an index position.</a:t>
            </a:r>
            <a:endParaRPr>
              <a:solidFill>
                <a:srgbClr val="000000"/>
              </a:solidFill>
            </a:endParaRPr>
          </a:p>
          <a:p>
            <a:pPr marL="0" lvl="0" indent="0" algn="l" rtl="0">
              <a:spcBef>
                <a:spcPts val="1000"/>
              </a:spcBef>
              <a:spcAft>
                <a:spcPts val="0"/>
              </a:spcAft>
              <a:buNone/>
            </a:pPr>
            <a:r>
              <a:rPr lang="en">
                <a:solidFill>
                  <a:srgbClr val="FF8118"/>
                </a:solidFill>
              </a:rPr>
              <a:t>Disadvantages:</a:t>
            </a:r>
            <a:endParaRPr>
              <a:solidFill>
                <a:srgbClr val="FF8118"/>
              </a:solidFill>
            </a:endParaRPr>
          </a:p>
          <a:p>
            <a:pPr marL="457200" lvl="0" indent="-342900" algn="l" rtl="0">
              <a:spcBef>
                <a:spcPts val="1200"/>
              </a:spcBef>
              <a:spcAft>
                <a:spcPts val="0"/>
              </a:spcAft>
              <a:buClr>
                <a:srgbClr val="000000"/>
              </a:buClr>
              <a:buSzPts val="1800"/>
              <a:buAutoNum type="arabicPeriod"/>
            </a:pPr>
            <a:r>
              <a:rPr lang="en" b="1">
                <a:solidFill>
                  <a:srgbClr val="000000"/>
                </a:solidFill>
              </a:rPr>
              <a:t>Size Limit:</a:t>
            </a:r>
            <a:r>
              <a:rPr lang="en">
                <a:solidFill>
                  <a:srgbClr val="000000"/>
                </a:solidFill>
              </a:rPr>
              <a:t> We can store only the fixed size of elements in the array. It doesn't grow its size at runtime. To solve this problem, collection framework is used in Java which grows automatically.</a:t>
            </a:r>
            <a:endParaRPr>
              <a:solidFill>
                <a:srgbClr val="FF8118"/>
              </a:solidFill>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777"/>
        <p:cNvGrpSpPr/>
        <p:nvPr/>
      </p:nvGrpSpPr>
      <p:grpSpPr>
        <a:xfrm>
          <a:off x="0" y="0"/>
          <a:ext cx="0" cy="0"/>
          <a:chOff x="0" y="0"/>
          <a:chExt cx="0" cy="0"/>
        </a:xfrm>
      </p:grpSpPr>
      <p:sp>
        <p:nvSpPr>
          <p:cNvPr id="778" name="Google Shape;778;p121"/>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String</a:t>
            </a:r>
            <a:endParaRPr/>
          </a:p>
        </p:txBody>
      </p:sp>
      <p:sp>
        <p:nvSpPr>
          <p:cNvPr id="779" name="Google Shape;779;p121"/>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rgbClr val="666666"/>
              </a:buClr>
              <a:buSzPts val="1800"/>
              <a:buChar char="●"/>
            </a:pPr>
            <a:r>
              <a:rPr lang="en">
                <a:solidFill>
                  <a:srgbClr val="666666"/>
                </a:solidFill>
              </a:rPr>
              <a:t>Strings are very important in the world of programming languages as they are used to process long textual/symbolic information.</a:t>
            </a:r>
            <a:endParaRPr>
              <a:solidFill>
                <a:srgbClr val="666666"/>
              </a:solidFill>
            </a:endParaRPr>
          </a:p>
          <a:p>
            <a:pPr marL="457200" lvl="0" indent="-342900" algn="l" rtl="0">
              <a:spcBef>
                <a:spcPts val="0"/>
              </a:spcBef>
              <a:spcAft>
                <a:spcPts val="0"/>
              </a:spcAft>
              <a:buClr>
                <a:srgbClr val="666666"/>
              </a:buClr>
              <a:buSzPts val="1800"/>
              <a:buChar char="●"/>
            </a:pPr>
            <a:r>
              <a:rPr lang="en">
                <a:solidFill>
                  <a:srgbClr val="666666"/>
                </a:solidFill>
              </a:rPr>
              <a:t>Strings are considered fundamental data types in almost all programming languages. These languages use character arrays to process long textual information.</a:t>
            </a:r>
            <a:endParaRPr>
              <a:solidFill>
                <a:srgbClr val="666666"/>
              </a:solidFill>
            </a:endParaRPr>
          </a:p>
          <a:p>
            <a:pPr marL="457200" lvl="0" indent="-342900" algn="l" rtl="0">
              <a:spcBef>
                <a:spcPts val="0"/>
              </a:spcBef>
              <a:spcAft>
                <a:spcPts val="0"/>
              </a:spcAft>
              <a:buClr>
                <a:srgbClr val="666666"/>
              </a:buClr>
              <a:buSzPts val="1800"/>
              <a:buChar char="●"/>
            </a:pPr>
            <a:r>
              <a:rPr lang="en">
                <a:solidFill>
                  <a:srgbClr val="666666"/>
                </a:solidFill>
              </a:rPr>
              <a:t>In java, string class is provided to work with strings along with the facility of character arrays.</a:t>
            </a:r>
            <a:endParaRPr>
              <a:solidFill>
                <a:srgbClr val="666666"/>
              </a:solidFill>
            </a:endParaRPr>
          </a:p>
          <a:p>
            <a:pPr marL="457200" lvl="0" indent="-342900" algn="l" rtl="0">
              <a:spcBef>
                <a:spcPts val="0"/>
              </a:spcBef>
              <a:spcAft>
                <a:spcPts val="0"/>
              </a:spcAft>
              <a:buClr>
                <a:srgbClr val="666666"/>
              </a:buClr>
              <a:buSzPts val="1800"/>
              <a:buChar char="●"/>
            </a:pPr>
            <a:r>
              <a:rPr lang="en">
                <a:solidFill>
                  <a:srgbClr val="666666"/>
                </a:solidFill>
              </a:rPr>
              <a:t>The strings are immutable as once an object of the String class is created &amp; initialized with some value, it cannot be changed.</a:t>
            </a:r>
            <a:endParaRPr>
              <a:solidFill>
                <a:srgbClr val="666666"/>
              </a:solidFill>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783"/>
        <p:cNvGrpSpPr/>
        <p:nvPr/>
      </p:nvGrpSpPr>
      <p:grpSpPr>
        <a:xfrm>
          <a:off x="0" y="0"/>
          <a:ext cx="0" cy="0"/>
          <a:chOff x="0" y="0"/>
          <a:chExt cx="0" cy="0"/>
        </a:xfrm>
      </p:grpSpPr>
      <p:sp>
        <p:nvSpPr>
          <p:cNvPr id="784" name="Google Shape;784;p122"/>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String</a:t>
            </a:r>
            <a:endParaRPr/>
          </a:p>
        </p:txBody>
      </p:sp>
      <p:sp>
        <p:nvSpPr>
          <p:cNvPr id="785" name="Google Shape;785;p122"/>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rgbClr val="000000"/>
              </a:buClr>
              <a:buSzPts val="1800"/>
              <a:buChar char="●"/>
            </a:pPr>
            <a:r>
              <a:rPr lang="en">
                <a:solidFill>
                  <a:srgbClr val="000000"/>
                </a:solidFill>
              </a:rPr>
              <a:t>To handle string data in Java, we require objects of the String class.</a:t>
            </a:r>
            <a:endParaRPr>
              <a:solidFill>
                <a:srgbClr val="000000"/>
              </a:solidFill>
            </a:endParaRPr>
          </a:p>
          <a:p>
            <a:pPr marL="457200" lvl="0" indent="-342900" algn="l" rtl="0">
              <a:spcBef>
                <a:spcPts val="1000"/>
              </a:spcBef>
              <a:spcAft>
                <a:spcPts val="0"/>
              </a:spcAft>
              <a:buClr>
                <a:srgbClr val="000000"/>
              </a:buClr>
              <a:buSzPts val="1800"/>
              <a:buChar char="●"/>
            </a:pPr>
            <a:r>
              <a:rPr lang="en">
                <a:solidFill>
                  <a:srgbClr val="000000"/>
                </a:solidFill>
              </a:rPr>
              <a:t>The String class is included in the java.lang package. Therefore each class can use the String class without importing any package.</a:t>
            </a:r>
            <a:endParaRPr>
              <a:solidFill>
                <a:srgbClr val="000000"/>
              </a:solidFill>
            </a:endParaRPr>
          </a:p>
          <a:p>
            <a:pPr marL="457200" lvl="0" indent="-342900" algn="l" rtl="0">
              <a:spcBef>
                <a:spcPts val="1000"/>
              </a:spcBef>
              <a:spcAft>
                <a:spcPts val="1000"/>
              </a:spcAft>
              <a:buClr>
                <a:srgbClr val="000000"/>
              </a:buClr>
              <a:buSzPts val="1800"/>
              <a:buChar char="●"/>
            </a:pPr>
            <a:r>
              <a:rPr lang="en">
                <a:solidFill>
                  <a:srgbClr val="000000"/>
                </a:solidFill>
              </a:rPr>
              <a:t>Example: String str = “Hello”</a:t>
            </a:r>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789"/>
        <p:cNvGrpSpPr/>
        <p:nvPr/>
      </p:nvGrpSpPr>
      <p:grpSpPr>
        <a:xfrm>
          <a:off x="0" y="0"/>
          <a:ext cx="0" cy="0"/>
          <a:chOff x="0" y="0"/>
          <a:chExt cx="0" cy="0"/>
        </a:xfrm>
      </p:grpSpPr>
      <p:sp>
        <p:nvSpPr>
          <p:cNvPr id="790" name="Google Shape;790;p123"/>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Operation on String</a:t>
            </a:r>
            <a:endParaRPr/>
          </a:p>
        </p:txBody>
      </p:sp>
      <p:sp>
        <p:nvSpPr>
          <p:cNvPr id="791" name="Google Shape;791;p123"/>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00000"/>
                </a:solidFill>
              </a:rPr>
              <a:t>The string class in java provides various methods that enable you to perform various tasks like:</a:t>
            </a:r>
            <a:endParaRPr>
              <a:solidFill>
                <a:srgbClr val="000000"/>
              </a:solidFill>
            </a:endParaRPr>
          </a:p>
          <a:p>
            <a:pPr marL="857250" lvl="0" indent="-342900" algn="l" rtl="0">
              <a:spcBef>
                <a:spcPts val="1000"/>
              </a:spcBef>
              <a:spcAft>
                <a:spcPts val="0"/>
              </a:spcAft>
              <a:buClr>
                <a:srgbClr val="000000"/>
              </a:buClr>
              <a:buSzPts val="1800"/>
              <a:buAutoNum type="arabicPeriod"/>
            </a:pPr>
            <a:r>
              <a:rPr lang="en">
                <a:solidFill>
                  <a:srgbClr val="000000"/>
                </a:solidFill>
              </a:rPr>
              <a:t>Convert a string into a character</a:t>
            </a:r>
            <a:endParaRPr>
              <a:solidFill>
                <a:srgbClr val="000000"/>
              </a:solidFill>
            </a:endParaRPr>
          </a:p>
          <a:p>
            <a:pPr marL="857250" lvl="0" indent="-342900" algn="l" rtl="0">
              <a:spcBef>
                <a:spcPts val="0"/>
              </a:spcBef>
              <a:spcAft>
                <a:spcPts val="0"/>
              </a:spcAft>
              <a:buClr>
                <a:srgbClr val="000000"/>
              </a:buClr>
              <a:buSzPts val="1800"/>
              <a:buAutoNum type="arabicPeriod"/>
            </a:pPr>
            <a:r>
              <a:rPr lang="en">
                <a:solidFill>
                  <a:srgbClr val="000000"/>
                </a:solidFill>
              </a:rPr>
              <a:t>Convert numbers into strings</a:t>
            </a:r>
            <a:endParaRPr>
              <a:solidFill>
                <a:srgbClr val="000000"/>
              </a:solidFill>
            </a:endParaRPr>
          </a:p>
          <a:p>
            <a:pPr marL="857250" lvl="0" indent="-342900" algn="l" rtl="0">
              <a:spcBef>
                <a:spcPts val="0"/>
              </a:spcBef>
              <a:spcAft>
                <a:spcPts val="0"/>
              </a:spcAft>
              <a:buClr>
                <a:srgbClr val="000000"/>
              </a:buClr>
              <a:buSzPts val="1800"/>
              <a:buAutoNum type="arabicPeriod"/>
            </a:pPr>
            <a:r>
              <a:rPr lang="en">
                <a:solidFill>
                  <a:srgbClr val="000000"/>
                </a:solidFill>
              </a:rPr>
              <a:t>Search strings</a:t>
            </a:r>
            <a:endParaRPr>
              <a:solidFill>
                <a:srgbClr val="000000"/>
              </a:solidFill>
            </a:endParaRPr>
          </a:p>
          <a:p>
            <a:pPr marL="857250" lvl="0" indent="-342900" algn="l" rtl="0">
              <a:spcBef>
                <a:spcPts val="0"/>
              </a:spcBef>
              <a:spcAft>
                <a:spcPts val="0"/>
              </a:spcAft>
              <a:buClr>
                <a:srgbClr val="000000"/>
              </a:buClr>
              <a:buSzPts val="1800"/>
              <a:buAutoNum type="arabicPeriod"/>
            </a:pPr>
            <a:r>
              <a:rPr lang="en">
                <a:solidFill>
                  <a:srgbClr val="000000"/>
                </a:solidFill>
              </a:rPr>
              <a:t>Create substrings</a:t>
            </a:r>
            <a:endParaRPr>
              <a:solidFill>
                <a:srgbClr val="000000"/>
              </a:solidFill>
            </a:endParaRPr>
          </a:p>
          <a:p>
            <a:pPr marL="857250" lvl="0" indent="-342900" algn="l" rtl="0">
              <a:spcBef>
                <a:spcPts val="0"/>
              </a:spcBef>
              <a:spcAft>
                <a:spcPts val="0"/>
              </a:spcAft>
              <a:buClr>
                <a:srgbClr val="000000"/>
              </a:buClr>
              <a:buSzPts val="1800"/>
              <a:buAutoNum type="arabicPeriod"/>
            </a:pPr>
            <a:r>
              <a:rPr lang="en">
                <a:solidFill>
                  <a:srgbClr val="000000"/>
                </a:solidFill>
              </a:rPr>
              <a:t>Change the case of string</a:t>
            </a:r>
            <a:endParaRPr>
              <a:solidFill>
                <a:srgbClr val="000000"/>
              </a:solidFill>
            </a:endParaRPr>
          </a:p>
          <a:p>
            <a:pPr marL="857250" lvl="0" indent="-342900" algn="l" rtl="0">
              <a:spcBef>
                <a:spcPts val="0"/>
              </a:spcBef>
              <a:spcAft>
                <a:spcPts val="0"/>
              </a:spcAft>
              <a:buClr>
                <a:srgbClr val="000000"/>
              </a:buClr>
              <a:buSzPts val="1800"/>
              <a:buAutoNum type="arabicPeriod"/>
            </a:pPr>
            <a:r>
              <a:rPr lang="en">
                <a:solidFill>
                  <a:srgbClr val="000000"/>
                </a:solidFill>
              </a:rPr>
              <a:t>Get a string length</a:t>
            </a:r>
            <a:endParaRPr>
              <a:solidFill>
                <a:srgbClr val="000000"/>
              </a:solidFill>
            </a:endParaRPr>
          </a:p>
          <a:p>
            <a:pPr marL="857250" lvl="0" indent="-342900" algn="l" rtl="0">
              <a:spcBef>
                <a:spcPts val="0"/>
              </a:spcBef>
              <a:spcAft>
                <a:spcPts val="0"/>
              </a:spcAft>
              <a:buClr>
                <a:srgbClr val="000000"/>
              </a:buClr>
              <a:buSzPts val="1800"/>
              <a:buAutoNum type="arabicPeriod"/>
            </a:pPr>
            <a:r>
              <a:rPr lang="en">
                <a:solidFill>
                  <a:srgbClr val="000000"/>
                </a:solidFill>
              </a:rPr>
              <a:t>Compare strings</a:t>
            </a:r>
            <a:endParaRPr>
              <a:solidFill>
                <a:srgbClr val="000000"/>
              </a:solidFill>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795"/>
        <p:cNvGrpSpPr/>
        <p:nvPr/>
      </p:nvGrpSpPr>
      <p:grpSpPr>
        <a:xfrm>
          <a:off x="0" y="0"/>
          <a:ext cx="0" cy="0"/>
          <a:chOff x="0" y="0"/>
          <a:chExt cx="0" cy="0"/>
        </a:xfrm>
      </p:grpSpPr>
      <p:sp>
        <p:nvSpPr>
          <p:cNvPr id="796" name="Google Shape;796;p12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length() method</a:t>
            </a:r>
            <a:endParaRPr/>
          </a:p>
        </p:txBody>
      </p:sp>
      <p:sp>
        <p:nvSpPr>
          <p:cNvPr id="797" name="Google Shape;797;p12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rgbClr val="000000"/>
              </a:buClr>
              <a:buSzPts val="1800"/>
              <a:buChar char="●"/>
            </a:pPr>
            <a:r>
              <a:rPr lang="en" dirty="0">
                <a:solidFill>
                  <a:srgbClr val="000000"/>
                </a:solidFill>
              </a:rPr>
              <a:t>The length method returns the length of the a string. This method calculates all the characters, symbols &amp; numbers enclosed in double quotes (“”).</a:t>
            </a:r>
            <a:endParaRPr dirty="0">
              <a:solidFill>
                <a:srgbClr val="000000"/>
              </a:solidFill>
            </a:endParaRPr>
          </a:p>
          <a:p>
            <a:pPr marL="457200" lvl="0" indent="-342900" algn="l" rtl="0">
              <a:spcBef>
                <a:spcPts val="0"/>
              </a:spcBef>
              <a:spcAft>
                <a:spcPts val="0"/>
              </a:spcAft>
              <a:buClr>
                <a:srgbClr val="000000"/>
              </a:buClr>
              <a:buSzPts val="1800"/>
              <a:buChar char="●"/>
            </a:pPr>
            <a:r>
              <a:rPr lang="en" dirty="0">
                <a:solidFill>
                  <a:srgbClr val="000000"/>
                </a:solidFill>
              </a:rPr>
              <a:t>The method returns an integer value</a:t>
            </a:r>
          </a:p>
          <a:p>
            <a:pPr marL="457200" lvl="0" indent="-342900" algn="l" rtl="0">
              <a:spcBef>
                <a:spcPts val="0"/>
              </a:spcBef>
              <a:spcAft>
                <a:spcPts val="0"/>
              </a:spcAft>
              <a:buClr>
                <a:srgbClr val="000000"/>
              </a:buClr>
              <a:buSzPts val="1800"/>
              <a:buChar char="●"/>
            </a:pPr>
            <a:r>
              <a:rPr lang="en" dirty="0">
                <a:solidFill>
                  <a:srgbClr val="000000"/>
                </a:solidFill>
              </a:rPr>
              <a:t>Syntax:</a:t>
            </a:r>
          </a:p>
          <a:p>
            <a:pPr marL="114300" lvl="0" indent="0" algn="l" rtl="0">
              <a:spcBef>
                <a:spcPts val="0"/>
              </a:spcBef>
              <a:spcAft>
                <a:spcPts val="0"/>
              </a:spcAft>
              <a:buClr>
                <a:srgbClr val="000000"/>
              </a:buClr>
              <a:buSzPts val="1800"/>
              <a:buNone/>
            </a:pPr>
            <a:r>
              <a:rPr lang="en" dirty="0">
                <a:solidFill>
                  <a:srgbClr val="000000"/>
                </a:solidFill>
              </a:rPr>
              <a:t>		varname.length()</a:t>
            </a:r>
          </a:p>
          <a:p>
            <a:pPr>
              <a:buClr>
                <a:srgbClr val="000000"/>
              </a:buClr>
            </a:pPr>
            <a:r>
              <a:rPr lang="en" dirty="0">
                <a:solidFill>
                  <a:srgbClr val="000000"/>
                </a:solidFill>
              </a:rPr>
              <a:t>Example:</a:t>
            </a:r>
          </a:p>
          <a:p>
            <a:pPr marL="114300" indent="0">
              <a:buClr>
                <a:srgbClr val="000000"/>
              </a:buClr>
              <a:buNone/>
            </a:pPr>
            <a:r>
              <a:rPr lang="en" dirty="0">
                <a:solidFill>
                  <a:srgbClr val="000000"/>
                </a:solidFill>
              </a:rPr>
              <a:t>		String a=“hello”;</a:t>
            </a:r>
          </a:p>
          <a:p>
            <a:pPr marL="114300" indent="0">
              <a:buClr>
                <a:srgbClr val="000000"/>
              </a:buClr>
              <a:buNone/>
            </a:pPr>
            <a:r>
              <a:rPr lang="en" dirty="0">
                <a:solidFill>
                  <a:srgbClr val="000000"/>
                </a:solidFill>
              </a:rPr>
              <a:t>		System.out.println(“The length of a string is</a:t>
            </a:r>
            <a:r>
              <a:rPr lang="en">
                <a:solidFill>
                  <a:srgbClr val="000000"/>
                </a:solidFill>
              </a:rPr>
              <a:t>: ”+a.length);</a:t>
            </a:r>
            <a:endParaRPr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802" name="Google Shape;802;p12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toLowerCase() </a:t>
            </a:r>
            <a:endParaRPr/>
          </a:p>
        </p:txBody>
      </p:sp>
      <p:sp>
        <p:nvSpPr>
          <p:cNvPr id="803" name="Google Shape;803;p125"/>
          <p:cNvSpPr txBox="1">
            <a:spLocks noGrp="1"/>
          </p:cNvSpPr>
          <p:nvPr>
            <p:ph type="body" idx="1"/>
          </p:nvPr>
        </p:nvSpPr>
        <p:spPr>
          <a:xfrm>
            <a:off x="311700" y="1266325"/>
            <a:ext cx="8520600" cy="1361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600">
                <a:solidFill>
                  <a:srgbClr val="666666"/>
                </a:solidFill>
              </a:rPr>
              <a:t>The toLowerCase() method returns a string after converting all uppercase letters of the invoking string into lowercase.</a:t>
            </a:r>
            <a:endParaRPr sz="1600">
              <a:solidFill>
                <a:srgbClr val="666666"/>
              </a:solidFill>
            </a:endParaRPr>
          </a:p>
          <a:p>
            <a:pPr marL="0" lvl="0" indent="0" algn="l" rtl="0">
              <a:spcBef>
                <a:spcPts val="1000"/>
              </a:spcBef>
              <a:spcAft>
                <a:spcPts val="0"/>
              </a:spcAft>
              <a:buNone/>
            </a:pPr>
            <a:r>
              <a:rPr lang="en" sz="1600" b="1">
                <a:solidFill>
                  <a:srgbClr val="666666"/>
                </a:solidFill>
              </a:rPr>
              <a:t>Syntax:</a:t>
            </a:r>
            <a:r>
              <a:rPr lang="en" sz="1600">
                <a:solidFill>
                  <a:srgbClr val="666666"/>
                </a:solidFill>
              </a:rPr>
              <a:t> stringname.toLowerCase()</a:t>
            </a:r>
            <a:endParaRPr sz="1600">
              <a:solidFill>
                <a:srgbClr val="666666"/>
              </a:solidFill>
            </a:endParaRPr>
          </a:p>
        </p:txBody>
      </p:sp>
      <p:sp>
        <p:nvSpPr>
          <p:cNvPr id="804" name="Google Shape;804;p125"/>
          <p:cNvSpPr txBox="1">
            <a:spLocks noGrp="1"/>
          </p:cNvSpPr>
          <p:nvPr>
            <p:ph type="title"/>
          </p:nvPr>
        </p:nvSpPr>
        <p:spPr>
          <a:xfrm>
            <a:off x="387900" y="26548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toUpperCase() </a:t>
            </a:r>
            <a:endParaRPr/>
          </a:p>
        </p:txBody>
      </p:sp>
      <p:sp>
        <p:nvSpPr>
          <p:cNvPr id="805" name="Google Shape;805;p125"/>
          <p:cNvSpPr txBox="1">
            <a:spLocks noGrp="1"/>
          </p:cNvSpPr>
          <p:nvPr>
            <p:ph type="body" idx="1"/>
          </p:nvPr>
        </p:nvSpPr>
        <p:spPr>
          <a:xfrm>
            <a:off x="464100" y="3399925"/>
            <a:ext cx="8520600" cy="1361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600">
                <a:solidFill>
                  <a:srgbClr val="666666"/>
                </a:solidFill>
              </a:rPr>
              <a:t>The toUpperCase() method returns a string after converting all lowercase letters of the invoking string into Uppercase.</a:t>
            </a:r>
            <a:endParaRPr sz="1600">
              <a:solidFill>
                <a:srgbClr val="666666"/>
              </a:solidFill>
            </a:endParaRPr>
          </a:p>
          <a:p>
            <a:pPr marL="0" lvl="0" indent="0" algn="l" rtl="0">
              <a:spcBef>
                <a:spcPts val="1000"/>
              </a:spcBef>
              <a:spcAft>
                <a:spcPts val="0"/>
              </a:spcAft>
              <a:buNone/>
            </a:pPr>
            <a:r>
              <a:rPr lang="en" sz="1600" b="1">
                <a:solidFill>
                  <a:srgbClr val="666666"/>
                </a:solidFill>
              </a:rPr>
              <a:t>Syntax:</a:t>
            </a:r>
            <a:r>
              <a:rPr lang="en" sz="1600">
                <a:solidFill>
                  <a:srgbClr val="666666"/>
                </a:solidFill>
              </a:rPr>
              <a:t> stringname.toUpperCase()</a:t>
            </a:r>
            <a:endParaRPr sz="1600">
              <a:solidFill>
                <a:srgbClr val="666666"/>
              </a:solidFill>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0" name="Google Shape;810;p12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substring()</a:t>
            </a:r>
            <a:endParaRPr/>
          </a:p>
          <a:p>
            <a:pPr marL="0" lvl="0" indent="0" algn="l" rtl="0">
              <a:spcBef>
                <a:spcPts val="0"/>
              </a:spcBef>
              <a:spcAft>
                <a:spcPts val="0"/>
              </a:spcAft>
              <a:buNone/>
            </a:pPr>
            <a:endParaRPr/>
          </a:p>
        </p:txBody>
      </p:sp>
      <p:sp>
        <p:nvSpPr>
          <p:cNvPr id="811" name="Google Shape;811;p126"/>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lnSpcReduction="10000"/>
          </a:bodyPr>
          <a:lstStyle/>
          <a:p>
            <a:pPr marL="457200" lvl="0" indent="-342900" algn="l" rtl="0">
              <a:spcBef>
                <a:spcPts val="0"/>
              </a:spcBef>
              <a:spcAft>
                <a:spcPts val="0"/>
              </a:spcAft>
              <a:buClr>
                <a:srgbClr val="666666"/>
              </a:buClr>
              <a:buSzPts val="1800"/>
              <a:buChar char="●"/>
            </a:pPr>
            <a:r>
              <a:rPr lang="en">
                <a:solidFill>
                  <a:srgbClr val="666666"/>
                </a:solidFill>
              </a:rPr>
              <a:t>This method returns a new String instance that is a substring of the original String instance.</a:t>
            </a:r>
            <a:endParaRPr>
              <a:solidFill>
                <a:srgbClr val="666666"/>
              </a:solidFill>
            </a:endParaRPr>
          </a:p>
          <a:p>
            <a:pPr marL="457200" lvl="0" indent="-342900" algn="l" rtl="0">
              <a:spcBef>
                <a:spcPts val="0"/>
              </a:spcBef>
              <a:spcAft>
                <a:spcPts val="0"/>
              </a:spcAft>
              <a:buClr>
                <a:srgbClr val="666666"/>
              </a:buClr>
              <a:buSzPts val="1800"/>
              <a:buChar char="●"/>
            </a:pPr>
            <a:r>
              <a:rPr lang="en">
                <a:solidFill>
                  <a:srgbClr val="666666"/>
                </a:solidFill>
              </a:rPr>
              <a:t>The substring() method is available in the following two forms:</a:t>
            </a:r>
            <a:endParaRPr>
              <a:solidFill>
                <a:srgbClr val="666666"/>
              </a:solidFill>
            </a:endParaRPr>
          </a:p>
          <a:p>
            <a:pPr marL="971550" lvl="0" indent="-342900" algn="l" rtl="0">
              <a:spcBef>
                <a:spcPts val="0"/>
              </a:spcBef>
              <a:spcAft>
                <a:spcPts val="0"/>
              </a:spcAft>
              <a:buClr>
                <a:srgbClr val="666666"/>
              </a:buClr>
              <a:buSzPts val="1800"/>
              <a:buAutoNum type="arabicPeriod"/>
            </a:pPr>
            <a:r>
              <a:rPr lang="en">
                <a:solidFill>
                  <a:srgbClr val="666666"/>
                </a:solidFill>
              </a:rPr>
              <a:t>substring(int begin)</a:t>
            </a:r>
            <a:endParaRPr>
              <a:solidFill>
                <a:srgbClr val="666666"/>
              </a:solidFill>
            </a:endParaRPr>
          </a:p>
          <a:p>
            <a:pPr marL="971550" lvl="0" indent="0" algn="l" rtl="0">
              <a:spcBef>
                <a:spcPts val="0"/>
              </a:spcBef>
              <a:spcAft>
                <a:spcPts val="0"/>
              </a:spcAft>
              <a:buNone/>
            </a:pPr>
            <a:r>
              <a:rPr lang="en">
                <a:solidFill>
                  <a:srgbClr val="666666"/>
                </a:solidFill>
              </a:rPr>
              <a:t>It takes a single parameter, which creates a new string that begins at the index specified by the argument value &amp; ends at the last character of the string.</a:t>
            </a:r>
            <a:endParaRPr>
              <a:solidFill>
                <a:srgbClr val="666666"/>
              </a:solidFill>
            </a:endParaRPr>
          </a:p>
          <a:p>
            <a:pPr marL="482600" lvl="0" indent="431800" algn="l" rtl="0">
              <a:spcBef>
                <a:spcPts val="0"/>
              </a:spcBef>
              <a:spcAft>
                <a:spcPts val="0"/>
              </a:spcAft>
              <a:buNone/>
            </a:pPr>
            <a:r>
              <a:rPr lang="en" b="1">
                <a:solidFill>
                  <a:srgbClr val="666666"/>
                </a:solidFill>
              </a:rPr>
              <a:t>Example:</a:t>
            </a:r>
            <a:endParaRPr b="1">
              <a:solidFill>
                <a:srgbClr val="666666"/>
              </a:solidFill>
            </a:endParaRPr>
          </a:p>
          <a:p>
            <a:pPr marL="1371600" lvl="0" indent="0" algn="l" rtl="0">
              <a:spcBef>
                <a:spcPts val="0"/>
              </a:spcBef>
              <a:spcAft>
                <a:spcPts val="0"/>
              </a:spcAft>
              <a:buNone/>
            </a:pPr>
            <a:r>
              <a:rPr lang="en">
                <a:solidFill>
                  <a:srgbClr val="666666"/>
                </a:solidFill>
              </a:rPr>
              <a:t>  String str = “EDUCATION”</a:t>
            </a:r>
            <a:endParaRPr>
              <a:solidFill>
                <a:srgbClr val="666666"/>
              </a:solidFill>
            </a:endParaRPr>
          </a:p>
          <a:p>
            <a:pPr marL="1371600" lvl="0" indent="0" algn="l" rtl="0">
              <a:spcBef>
                <a:spcPts val="0"/>
              </a:spcBef>
              <a:spcAft>
                <a:spcPts val="0"/>
              </a:spcAft>
              <a:buNone/>
            </a:pPr>
            <a:r>
              <a:rPr lang="en">
                <a:solidFill>
                  <a:srgbClr val="666666"/>
                </a:solidFill>
              </a:rPr>
              <a:t>  system.out.println(str.substring(4));</a:t>
            </a:r>
            <a:endParaRPr>
              <a:solidFill>
                <a:srgbClr val="666666"/>
              </a:solidFill>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815"/>
        <p:cNvGrpSpPr/>
        <p:nvPr/>
      </p:nvGrpSpPr>
      <p:grpSpPr>
        <a:xfrm>
          <a:off x="0" y="0"/>
          <a:ext cx="0" cy="0"/>
          <a:chOff x="0" y="0"/>
          <a:chExt cx="0" cy="0"/>
        </a:xfrm>
      </p:grpSpPr>
      <p:sp>
        <p:nvSpPr>
          <p:cNvPr id="816" name="Google Shape;816;p127"/>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substring()</a:t>
            </a:r>
            <a:endParaRPr/>
          </a:p>
          <a:p>
            <a:pPr marL="0" lvl="0" indent="0" algn="l" rtl="0">
              <a:spcBef>
                <a:spcPts val="0"/>
              </a:spcBef>
              <a:spcAft>
                <a:spcPts val="0"/>
              </a:spcAft>
              <a:buNone/>
            </a:pPr>
            <a:endParaRPr/>
          </a:p>
        </p:txBody>
      </p:sp>
      <p:sp>
        <p:nvSpPr>
          <p:cNvPr id="817" name="Google Shape;817;p127"/>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1143000" lvl="0" indent="-342900" algn="l" rtl="0">
              <a:spcBef>
                <a:spcPts val="0"/>
              </a:spcBef>
              <a:spcAft>
                <a:spcPts val="0"/>
              </a:spcAft>
              <a:buClr>
                <a:srgbClr val="666666"/>
              </a:buClr>
              <a:buSzPts val="1800"/>
              <a:buAutoNum type="arabicPeriod" startAt="2"/>
            </a:pPr>
            <a:r>
              <a:rPr lang="en">
                <a:solidFill>
                  <a:srgbClr val="666666"/>
                </a:solidFill>
              </a:rPr>
              <a:t>substring(int begin, int end)</a:t>
            </a:r>
            <a:endParaRPr>
              <a:solidFill>
                <a:srgbClr val="666666"/>
              </a:solidFill>
            </a:endParaRPr>
          </a:p>
          <a:p>
            <a:pPr marL="1143000" lvl="0" indent="0" algn="l" rtl="0">
              <a:spcBef>
                <a:spcPts val="0"/>
              </a:spcBef>
              <a:spcAft>
                <a:spcPts val="0"/>
              </a:spcAft>
              <a:buNone/>
            </a:pPr>
            <a:r>
              <a:rPr lang="en">
                <a:solidFill>
                  <a:srgbClr val="666666"/>
                </a:solidFill>
              </a:rPr>
              <a:t>This takes two parameters, the starting index and the ending index.</a:t>
            </a:r>
            <a:endParaRPr>
              <a:solidFill>
                <a:srgbClr val="666666"/>
              </a:solidFill>
            </a:endParaRPr>
          </a:p>
          <a:p>
            <a:pPr marL="1143000" lvl="0" indent="0" algn="l" rtl="0">
              <a:spcBef>
                <a:spcPts val="0"/>
              </a:spcBef>
              <a:spcAft>
                <a:spcPts val="0"/>
              </a:spcAft>
              <a:buNone/>
            </a:pPr>
            <a:r>
              <a:rPr lang="en">
                <a:solidFill>
                  <a:srgbClr val="666666"/>
                </a:solidFill>
              </a:rPr>
              <a:t>The character at the start index is included in substring but the character at the end index is not.</a:t>
            </a:r>
            <a:endParaRPr>
              <a:solidFill>
                <a:srgbClr val="666666"/>
              </a:solidFill>
            </a:endParaRPr>
          </a:p>
          <a:p>
            <a:pPr marL="1143000" lvl="0" indent="0" algn="l" rtl="0">
              <a:spcBef>
                <a:spcPts val="0"/>
              </a:spcBef>
              <a:spcAft>
                <a:spcPts val="0"/>
              </a:spcAft>
              <a:buNone/>
            </a:pPr>
            <a:r>
              <a:rPr lang="en" b="1">
                <a:solidFill>
                  <a:srgbClr val="666666"/>
                </a:solidFill>
              </a:rPr>
              <a:t>Example:</a:t>
            </a:r>
            <a:endParaRPr b="1">
              <a:solidFill>
                <a:srgbClr val="666666"/>
              </a:solidFill>
            </a:endParaRPr>
          </a:p>
          <a:p>
            <a:pPr marL="1143000" lvl="0" indent="228600" algn="l" rtl="0">
              <a:spcBef>
                <a:spcPts val="0"/>
              </a:spcBef>
              <a:spcAft>
                <a:spcPts val="0"/>
              </a:spcAft>
              <a:buNone/>
            </a:pPr>
            <a:r>
              <a:rPr lang="en">
                <a:solidFill>
                  <a:srgbClr val="666666"/>
                </a:solidFill>
              </a:rPr>
              <a:t>String str = “EDUCATION”</a:t>
            </a:r>
            <a:endParaRPr>
              <a:solidFill>
                <a:srgbClr val="666666"/>
              </a:solidFill>
            </a:endParaRPr>
          </a:p>
          <a:p>
            <a:pPr marL="1143000" lvl="0" indent="228600" algn="l" rtl="0">
              <a:spcBef>
                <a:spcPts val="0"/>
              </a:spcBef>
              <a:spcAft>
                <a:spcPts val="0"/>
              </a:spcAft>
              <a:buNone/>
            </a:pPr>
            <a:r>
              <a:rPr lang="en">
                <a:solidFill>
                  <a:srgbClr val="666666"/>
                </a:solidFill>
              </a:rPr>
              <a:t>System.out.println(str.substring(3,6));</a:t>
            </a:r>
            <a:endParaRPr>
              <a:solidFill>
                <a:srgbClr val="666666"/>
              </a:solidFill>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Shape 821"/>
        <p:cNvGrpSpPr/>
        <p:nvPr/>
      </p:nvGrpSpPr>
      <p:grpSpPr>
        <a:xfrm>
          <a:off x="0" y="0"/>
          <a:ext cx="0" cy="0"/>
          <a:chOff x="0" y="0"/>
          <a:chExt cx="0" cy="0"/>
        </a:xfrm>
      </p:grpSpPr>
      <p:sp>
        <p:nvSpPr>
          <p:cNvPr id="822" name="Google Shape;822;p128"/>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concat()</a:t>
            </a:r>
            <a:endParaRPr/>
          </a:p>
        </p:txBody>
      </p:sp>
      <p:sp>
        <p:nvSpPr>
          <p:cNvPr id="823" name="Google Shape;823;p128"/>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rgbClr val="666666"/>
                </a:solidFill>
              </a:rPr>
              <a:t>We can concatenate strings in two ways</a:t>
            </a:r>
            <a:endParaRPr>
              <a:solidFill>
                <a:srgbClr val="666666"/>
              </a:solidFill>
            </a:endParaRPr>
          </a:p>
          <a:p>
            <a:pPr marL="457200" lvl="0" indent="-342900" algn="l" rtl="0">
              <a:spcBef>
                <a:spcPts val="0"/>
              </a:spcBef>
              <a:spcAft>
                <a:spcPts val="0"/>
              </a:spcAft>
              <a:buClr>
                <a:srgbClr val="666666"/>
              </a:buClr>
              <a:buSzPts val="1800"/>
              <a:buChar char="●"/>
            </a:pPr>
            <a:r>
              <a:rPr lang="en">
                <a:solidFill>
                  <a:srgbClr val="666666"/>
                </a:solidFill>
              </a:rPr>
              <a:t>Using addition(+)operator</a:t>
            </a:r>
            <a:endParaRPr>
              <a:solidFill>
                <a:srgbClr val="666666"/>
              </a:solidFill>
            </a:endParaRPr>
          </a:p>
          <a:p>
            <a:pPr marL="457200" lvl="0" indent="-342900" algn="l" rtl="0">
              <a:spcBef>
                <a:spcPts val="0"/>
              </a:spcBef>
              <a:spcAft>
                <a:spcPts val="0"/>
              </a:spcAft>
              <a:buClr>
                <a:srgbClr val="666666"/>
              </a:buClr>
              <a:buSzPts val="1800"/>
              <a:buChar char="●"/>
            </a:pPr>
            <a:r>
              <a:rPr lang="en">
                <a:solidFill>
                  <a:srgbClr val="666666"/>
                </a:solidFill>
              </a:rPr>
              <a:t>Using concat() method.</a:t>
            </a:r>
            <a:endParaRPr>
              <a:solidFill>
                <a:srgbClr val="666666"/>
              </a:solidFill>
            </a:endParaRPr>
          </a:p>
          <a:p>
            <a:pPr marL="0" lvl="0" indent="0" algn="l" rtl="0">
              <a:spcBef>
                <a:spcPts val="0"/>
              </a:spcBef>
              <a:spcAft>
                <a:spcPts val="0"/>
              </a:spcAft>
              <a:buNone/>
            </a:pPr>
            <a:r>
              <a:rPr lang="en" b="1">
                <a:solidFill>
                  <a:srgbClr val="666666"/>
                </a:solidFill>
              </a:rPr>
              <a:t>Example:</a:t>
            </a:r>
            <a:endParaRPr b="1">
              <a:solidFill>
                <a:srgbClr val="666666"/>
              </a:solidFill>
            </a:endParaRPr>
          </a:p>
          <a:p>
            <a:pPr marL="457200" lvl="0" indent="0" algn="l" rtl="0">
              <a:spcBef>
                <a:spcPts val="0"/>
              </a:spcBef>
              <a:spcAft>
                <a:spcPts val="0"/>
              </a:spcAft>
              <a:buNone/>
            </a:pPr>
            <a:r>
              <a:rPr lang="en">
                <a:solidFill>
                  <a:srgbClr val="666666"/>
                </a:solidFill>
              </a:rPr>
              <a:t>String str = “Hello”</a:t>
            </a:r>
            <a:endParaRPr>
              <a:solidFill>
                <a:srgbClr val="666666"/>
              </a:solidFill>
            </a:endParaRPr>
          </a:p>
          <a:p>
            <a:pPr marL="457200" lvl="0" indent="0" algn="l" rtl="0">
              <a:spcBef>
                <a:spcPts val="0"/>
              </a:spcBef>
              <a:spcAft>
                <a:spcPts val="0"/>
              </a:spcAft>
              <a:buNone/>
            </a:pPr>
            <a:r>
              <a:rPr lang="en">
                <a:solidFill>
                  <a:srgbClr val="666666"/>
                </a:solidFill>
              </a:rPr>
              <a:t>String str1 = “Java”</a:t>
            </a:r>
            <a:endParaRPr>
              <a:solidFill>
                <a:srgbClr val="666666"/>
              </a:solidFill>
            </a:endParaRPr>
          </a:p>
          <a:p>
            <a:pPr marL="457200" lvl="0" indent="0" algn="l" rtl="0">
              <a:spcBef>
                <a:spcPts val="0"/>
              </a:spcBef>
              <a:spcAft>
                <a:spcPts val="0"/>
              </a:spcAft>
              <a:buNone/>
            </a:pPr>
            <a:r>
              <a:rPr lang="en">
                <a:solidFill>
                  <a:srgbClr val="666666"/>
                </a:solidFill>
              </a:rPr>
              <a:t>System.out.println(str+str1);</a:t>
            </a:r>
            <a:endParaRPr>
              <a:solidFill>
                <a:srgbClr val="666666"/>
              </a:solidFill>
            </a:endParaRPr>
          </a:p>
          <a:p>
            <a:pPr marL="457200" lvl="0" indent="0" algn="l" rtl="0">
              <a:spcBef>
                <a:spcPts val="0"/>
              </a:spcBef>
              <a:spcAft>
                <a:spcPts val="0"/>
              </a:spcAft>
              <a:buNone/>
            </a:pPr>
            <a:r>
              <a:rPr lang="en">
                <a:solidFill>
                  <a:srgbClr val="666666"/>
                </a:solidFill>
              </a:rPr>
              <a:t>System.out.println(str.concat(str1));</a:t>
            </a:r>
            <a:endParaRPr>
              <a:solidFill>
                <a:srgbClr val="666666"/>
              </a:solidFill>
            </a:endParaRPr>
          </a:p>
          <a:p>
            <a:pPr marL="0" lvl="0" indent="0" algn="l" rtl="0">
              <a:spcBef>
                <a:spcPts val="0"/>
              </a:spcBef>
              <a:spcAft>
                <a:spcPts val="1200"/>
              </a:spcAft>
              <a:buNone/>
            </a:pPr>
            <a:endParaRPr>
              <a:solidFill>
                <a:srgbClr val="666666"/>
              </a:solidFill>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p129"/>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equals &amp; equalsIgnoreCase()</a:t>
            </a:r>
            <a:endParaRPr/>
          </a:p>
        </p:txBody>
      </p:sp>
      <p:sp>
        <p:nvSpPr>
          <p:cNvPr id="829" name="Google Shape;829;p129"/>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rgbClr val="000000"/>
              </a:buClr>
              <a:buSzPts val="1800"/>
              <a:buChar char="●"/>
            </a:pPr>
            <a:r>
              <a:rPr lang="en">
                <a:solidFill>
                  <a:srgbClr val="000000"/>
                </a:solidFill>
              </a:rPr>
              <a:t>These methods are used for comparing two strings.</a:t>
            </a:r>
            <a:endParaRPr>
              <a:solidFill>
                <a:srgbClr val="000000"/>
              </a:solidFill>
            </a:endParaRPr>
          </a:p>
          <a:p>
            <a:pPr marL="457200" lvl="0" indent="-342900" algn="l" rtl="0">
              <a:spcBef>
                <a:spcPts val="0"/>
              </a:spcBef>
              <a:spcAft>
                <a:spcPts val="0"/>
              </a:spcAft>
              <a:buClr>
                <a:srgbClr val="000000"/>
              </a:buClr>
              <a:buSzPts val="1800"/>
              <a:buChar char="●"/>
            </a:pPr>
            <a:r>
              <a:rPr lang="en">
                <a:solidFill>
                  <a:srgbClr val="000000"/>
                </a:solidFill>
              </a:rPr>
              <a:t>equals() compare the positions of the individual characters in a string.</a:t>
            </a:r>
            <a:endParaRPr>
              <a:solidFill>
                <a:srgbClr val="000000"/>
              </a:solidFill>
            </a:endParaRPr>
          </a:p>
          <a:p>
            <a:pPr marL="457200" lvl="0" indent="-342900" algn="l" rtl="0">
              <a:spcBef>
                <a:spcPts val="0"/>
              </a:spcBef>
              <a:spcAft>
                <a:spcPts val="0"/>
              </a:spcAft>
              <a:buClr>
                <a:srgbClr val="000000"/>
              </a:buClr>
              <a:buSzPts val="1800"/>
              <a:buChar char="●"/>
            </a:pPr>
            <a:r>
              <a:rPr lang="en">
                <a:solidFill>
                  <a:srgbClr val="000000"/>
                </a:solidFill>
              </a:rPr>
              <a:t>The equalsIgnoreCase() method does the same but ignores the case of characters</a:t>
            </a:r>
            <a:endParaRPr>
              <a:solidFill>
                <a:srgbClr val="000000"/>
              </a:solidFill>
            </a:endParaRPr>
          </a:p>
          <a:p>
            <a:pPr marL="457200" lvl="0" indent="-342900" algn="l" rtl="0">
              <a:spcBef>
                <a:spcPts val="0"/>
              </a:spcBef>
              <a:spcAft>
                <a:spcPts val="0"/>
              </a:spcAft>
              <a:buClr>
                <a:srgbClr val="000000"/>
              </a:buClr>
              <a:buSzPts val="1800"/>
              <a:buChar char="●"/>
            </a:pPr>
            <a:r>
              <a:rPr lang="en">
                <a:solidFill>
                  <a:srgbClr val="000000"/>
                </a:solidFill>
              </a:rPr>
              <a:t>Example:</a:t>
            </a:r>
            <a:endParaRPr>
              <a:solidFill>
                <a:srgbClr val="000000"/>
              </a:solidFill>
            </a:endParaRPr>
          </a:p>
          <a:p>
            <a:pPr marL="457200" lvl="0" indent="0" algn="l" rtl="0">
              <a:spcBef>
                <a:spcPts val="0"/>
              </a:spcBef>
              <a:spcAft>
                <a:spcPts val="0"/>
              </a:spcAft>
              <a:buNone/>
            </a:pPr>
            <a:r>
              <a:rPr lang="en">
                <a:solidFill>
                  <a:srgbClr val="000000"/>
                </a:solidFill>
              </a:rPr>
              <a:t>  String str = “Java is oopl”</a:t>
            </a:r>
            <a:endParaRPr>
              <a:solidFill>
                <a:srgbClr val="000000"/>
              </a:solidFill>
            </a:endParaRPr>
          </a:p>
          <a:p>
            <a:pPr marL="457200" lvl="0" indent="0" algn="l" rtl="0">
              <a:spcBef>
                <a:spcPts val="0"/>
              </a:spcBef>
              <a:spcAft>
                <a:spcPts val="0"/>
              </a:spcAft>
              <a:buNone/>
            </a:pPr>
            <a:r>
              <a:rPr lang="en">
                <a:solidFill>
                  <a:srgbClr val="000000"/>
                </a:solidFill>
              </a:rPr>
              <a:t>  String str1 = “JAVA IS OOPL”</a:t>
            </a:r>
            <a:endParaRPr>
              <a:solidFill>
                <a:srgbClr val="000000"/>
              </a:solidFill>
            </a:endParaRPr>
          </a:p>
          <a:p>
            <a:pPr marL="457200" lvl="0" indent="0" algn="l" rtl="0">
              <a:spcBef>
                <a:spcPts val="0"/>
              </a:spcBef>
              <a:spcAft>
                <a:spcPts val="0"/>
              </a:spcAft>
              <a:buNone/>
            </a:pPr>
            <a:r>
              <a:rPr lang="en">
                <a:solidFill>
                  <a:srgbClr val="000000"/>
                </a:solidFill>
              </a:rPr>
              <a:t>  System.out.println(str.equals(str1));</a:t>
            </a:r>
            <a:endParaRPr>
              <a:solidFill>
                <a:srgbClr val="000000"/>
              </a:solidFill>
            </a:endParaRPr>
          </a:p>
          <a:p>
            <a:pPr marL="457200" lvl="0" indent="0" algn="l" rtl="0">
              <a:spcBef>
                <a:spcPts val="0"/>
              </a:spcBef>
              <a:spcAft>
                <a:spcPts val="0"/>
              </a:spcAft>
              <a:buNone/>
            </a:pPr>
            <a:r>
              <a:rPr lang="en">
                <a:solidFill>
                  <a:srgbClr val="000000"/>
                </a:solidFill>
              </a:rPr>
              <a:t>  System.out.println(str.equalsIgnoreCase(str1));</a:t>
            </a:r>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sp>
        <p:nvSpPr>
          <p:cNvPr id="834" name="Google Shape;834;p130"/>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a:t>
            </a:r>
            <a:endParaRPr/>
          </a:p>
        </p:txBody>
      </p:sp>
      <p:pic>
        <p:nvPicPr>
          <p:cNvPr id="835" name="Google Shape;835;p130"/>
          <p:cNvPicPr preferRelativeResize="0"/>
          <p:nvPr/>
        </p:nvPicPr>
        <p:blipFill>
          <a:blip r:embed="rId3">
            <a:alphaModFix/>
          </a:blip>
          <a:stretch>
            <a:fillRect/>
          </a:stretch>
        </p:blipFill>
        <p:spPr>
          <a:xfrm>
            <a:off x="1295400" y="1304825"/>
            <a:ext cx="6121400" cy="3686275"/>
          </a:xfrm>
          <a:prstGeom prst="rect">
            <a:avLst/>
          </a:prstGeom>
          <a:noFill/>
          <a:ln>
            <a:noFill/>
          </a:ln>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Shape 839"/>
        <p:cNvGrpSpPr/>
        <p:nvPr/>
      </p:nvGrpSpPr>
      <p:grpSpPr>
        <a:xfrm>
          <a:off x="0" y="0"/>
          <a:ext cx="0" cy="0"/>
          <a:chOff x="0" y="0"/>
          <a:chExt cx="0" cy="0"/>
        </a:xfrm>
      </p:grpSpPr>
      <p:sp>
        <p:nvSpPr>
          <p:cNvPr id="840" name="Google Shape;840;p131"/>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a:t>
            </a:r>
            <a:endParaRPr/>
          </a:p>
        </p:txBody>
      </p:sp>
      <p:pic>
        <p:nvPicPr>
          <p:cNvPr id="841" name="Google Shape;841;p131"/>
          <p:cNvPicPr preferRelativeResize="0"/>
          <p:nvPr/>
        </p:nvPicPr>
        <p:blipFill>
          <a:blip r:embed="rId3">
            <a:alphaModFix/>
          </a:blip>
          <a:stretch>
            <a:fillRect/>
          </a:stretch>
        </p:blipFill>
        <p:spPr>
          <a:xfrm>
            <a:off x="423863" y="1733550"/>
            <a:ext cx="8296275" cy="2286000"/>
          </a:xfrm>
          <a:prstGeom prst="rect">
            <a:avLst/>
          </a:prstGeom>
          <a:noFill/>
          <a:ln>
            <a:noFill/>
          </a:ln>
        </p:spPr>
      </p:pic>
      <p:sp>
        <p:nvSpPr>
          <p:cNvPr id="842" name="Google Shape;842;p131"/>
          <p:cNvSpPr txBox="1"/>
          <p:nvPr/>
        </p:nvSpPr>
        <p:spPr>
          <a:xfrm>
            <a:off x="433125" y="1169850"/>
            <a:ext cx="6317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Open Sans"/>
                <a:ea typeface="Open Sans"/>
                <a:cs typeface="Open Sans"/>
                <a:sym typeface="Open Sans"/>
              </a:rPr>
              <a:t>OUTPUT</a:t>
            </a:r>
            <a:endParaRPr b="1">
              <a:latin typeface="Open Sans"/>
              <a:ea typeface="Open Sans"/>
              <a:cs typeface="Open Sans"/>
              <a:sym typeface="Open Sans"/>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Shape 846"/>
        <p:cNvGrpSpPr/>
        <p:nvPr/>
      </p:nvGrpSpPr>
      <p:grpSpPr>
        <a:xfrm>
          <a:off x="0" y="0"/>
          <a:ext cx="0" cy="0"/>
          <a:chOff x="0" y="0"/>
          <a:chExt cx="0" cy="0"/>
        </a:xfrm>
      </p:grpSpPr>
      <p:sp>
        <p:nvSpPr>
          <p:cNvPr id="847" name="Google Shape;847;p132"/>
          <p:cNvSpPr txBox="1">
            <a:spLocks noGrp="1"/>
          </p:cNvSpPr>
          <p:nvPr>
            <p:ph type="title"/>
          </p:nvPr>
        </p:nvSpPr>
        <p:spPr>
          <a:xfrm>
            <a:off x="311700" y="291500"/>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Stringbuffer</a:t>
            </a:r>
            <a:endParaRPr/>
          </a:p>
        </p:txBody>
      </p:sp>
      <p:sp>
        <p:nvSpPr>
          <p:cNvPr id="848" name="Google Shape;848;p132"/>
          <p:cNvSpPr txBox="1">
            <a:spLocks noGrp="1"/>
          </p:cNvSpPr>
          <p:nvPr>
            <p:ph type="body" idx="1"/>
          </p:nvPr>
        </p:nvSpPr>
        <p:spPr>
          <a:xfrm>
            <a:off x="311700" y="1101825"/>
            <a:ext cx="8520600" cy="33027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Clr>
                <a:srgbClr val="000000"/>
              </a:buClr>
              <a:buSzPts val="1600"/>
              <a:buChar char="●"/>
            </a:pPr>
            <a:r>
              <a:rPr lang="en" sz="1600" dirty="0">
                <a:solidFill>
                  <a:srgbClr val="000000"/>
                </a:solidFill>
              </a:rPr>
              <a:t>StringBuffer class gives the facility to create a sequence of characters with mutable (modifiable) attributes.</a:t>
            </a:r>
            <a:endParaRPr sz="1600" dirty="0">
              <a:solidFill>
                <a:srgbClr val="000000"/>
              </a:solidFill>
            </a:endParaRPr>
          </a:p>
          <a:p>
            <a:pPr marL="457200" lvl="0" indent="-330200" algn="l" rtl="0">
              <a:spcBef>
                <a:spcPts val="0"/>
              </a:spcBef>
              <a:spcAft>
                <a:spcPts val="0"/>
              </a:spcAft>
              <a:buClr>
                <a:srgbClr val="000000"/>
              </a:buClr>
              <a:buSzPts val="1600"/>
              <a:buChar char="●"/>
            </a:pPr>
            <a:r>
              <a:rPr lang="en" sz="1600" dirty="0">
                <a:solidFill>
                  <a:srgbClr val="000000"/>
                </a:solidFill>
              </a:rPr>
              <a:t>Syntax:</a:t>
            </a:r>
            <a:endParaRPr sz="1600" dirty="0">
              <a:solidFill>
                <a:srgbClr val="000000"/>
              </a:solidFill>
            </a:endParaRPr>
          </a:p>
          <a:p>
            <a:pPr marL="0" lvl="0" indent="0" algn="l" rtl="0">
              <a:spcBef>
                <a:spcPts val="0"/>
              </a:spcBef>
              <a:spcAft>
                <a:spcPts val="0"/>
              </a:spcAft>
              <a:buNone/>
            </a:pPr>
            <a:r>
              <a:rPr lang="en" sz="1600" dirty="0">
                <a:solidFill>
                  <a:srgbClr val="000000"/>
                </a:solidFill>
              </a:rPr>
              <a:t>  		StringBuffer str = new StringBuffer();</a:t>
            </a:r>
            <a:endParaRPr sz="1600" dirty="0">
              <a:solidFill>
                <a:srgbClr val="000000"/>
              </a:solidFill>
            </a:endParaRPr>
          </a:p>
          <a:p>
            <a:pPr marL="457200" lvl="0" indent="-330200" algn="l" rtl="0">
              <a:spcBef>
                <a:spcPts val="0"/>
              </a:spcBef>
              <a:spcAft>
                <a:spcPts val="0"/>
              </a:spcAft>
              <a:buClr>
                <a:srgbClr val="000000"/>
              </a:buClr>
              <a:buSzPts val="1600"/>
              <a:buChar char="●"/>
            </a:pPr>
            <a:r>
              <a:rPr lang="en" sz="1600" dirty="0">
                <a:solidFill>
                  <a:srgbClr val="000000"/>
                </a:solidFill>
              </a:rPr>
              <a:t>The various StringBuffer methods are:</a:t>
            </a:r>
            <a:endParaRPr sz="1600" dirty="0">
              <a:solidFill>
                <a:srgbClr val="000000"/>
              </a:solidFill>
            </a:endParaRPr>
          </a:p>
          <a:p>
            <a:pPr marL="857250" lvl="0" indent="-330200" algn="l" rtl="0">
              <a:spcBef>
                <a:spcPts val="0"/>
              </a:spcBef>
              <a:spcAft>
                <a:spcPts val="0"/>
              </a:spcAft>
              <a:buClr>
                <a:srgbClr val="000000"/>
              </a:buClr>
              <a:buSzPts val="1600"/>
              <a:buAutoNum type="arabicPeriod"/>
            </a:pPr>
            <a:r>
              <a:rPr lang="en" sz="1600" dirty="0">
                <a:solidFill>
                  <a:srgbClr val="000000"/>
                </a:solidFill>
              </a:rPr>
              <a:t>length()</a:t>
            </a:r>
            <a:endParaRPr sz="1600" dirty="0">
              <a:solidFill>
                <a:srgbClr val="000000"/>
              </a:solidFill>
            </a:endParaRPr>
          </a:p>
          <a:p>
            <a:pPr marL="857250" lvl="0" indent="-330200" algn="l" rtl="0">
              <a:spcBef>
                <a:spcPts val="0"/>
              </a:spcBef>
              <a:spcAft>
                <a:spcPts val="0"/>
              </a:spcAft>
              <a:buClr>
                <a:srgbClr val="000000"/>
              </a:buClr>
              <a:buSzPts val="1600"/>
              <a:buAutoNum type="arabicPeriod"/>
            </a:pPr>
            <a:r>
              <a:rPr lang="en" sz="1600" dirty="0">
                <a:solidFill>
                  <a:srgbClr val="000000"/>
                </a:solidFill>
              </a:rPr>
              <a:t>capacity()</a:t>
            </a:r>
            <a:endParaRPr sz="1600" dirty="0">
              <a:solidFill>
                <a:srgbClr val="000000"/>
              </a:solidFill>
            </a:endParaRPr>
          </a:p>
          <a:p>
            <a:pPr marL="857250" lvl="0" indent="-330200" algn="l" rtl="0">
              <a:spcBef>
                <a:spcPts val="0"/>
              </a:spcBef>
              <a:spcAft>
                <a:spcPts val="0"/>
              </a:spcAft>
              <a:buClr>
                <a:srgbClr val="000000"/>
              </a:buClr>
              <a:buSzPts val="1600"/>
              <a:buAutoNum type="arabicPeriod"/>
            </a:pPr>
            <a:r>
              <a:rPr lang="en" sz="1600" dirty="0">
                <a:solidFill>
                  <a:srgbClr val="000000"/>
                </a:solidFill>
              </a:rPr>
              <a:t>reverse()</a:t>
            </a:r>
            <a:endParaRPr sz="1600" dirty="0">
              <a:solidFill>
                <a:srgbClr val="000000"/>
              </a:solidFill>
            </a:endParaRPr>
          </a:p>
          <a:p>
            <a:pPr marL="857250" lvl="0" indent="-330200" algn="l" rtl="0">
              <a:spcBef>
                <a:spcPts val="0"/>
              </a:spcBef>
              <a:spcAft>
                <a:spcPts val="0"/>
              </a:spcAft>
              <a:buClr>
                <a:srgbClr val="000000"/>
              </a:buClr>
              <a:buSzPts val="1600"/>
              <a:buAutoNum type="arabicPeriod"/>
            </a:pPr>
            <a:r>
              <a:rPr lang="en" sz="1600" dirty="0">
                <a:solidFill>
                  <a:srgbClr val="000000"/>
                </a:solidFill>
              </a:rPr>
              <a:t>append()</a:t>
            </a:r>
            <a:endParaRPr sz="1600" dirty="0">
              <a:solidFill>
                <a:srgbClr val="000000"/>
              </a:solidFill>
            </a:endParaRPr>
          </a:p>
          <a:p>
            <a:pPr marL="857250" lvl="0" indent="-330200" algn="l" rtl="0">
              <a:spcBef>
                <a:spcPts val="0"/>
              </a:spcBef>
              <a:spcAft>
                <a:spcPts val="0"/>
              </a:spcAft>
              <a:buClr>
                <a:srgbClr val="000000"/>
              </a:buClr>
              <a:buSzPts val="1600"/>
              <a:buAutoNum type="arabicPeriod"/>
            </a:pPr>
            <a:r>
              <a:rPr lang="en" sz="1600" dirty="0">
                <a:solidFill>
                  <a:srgbClr val="000000"/>
                </a:solidFill>
              </a:rPr>
              <a:t>insert()</a:t>
            </a:r>
            <a:endParaRPr sz="1600" dirty="0">
              <a:solidFill>
                <a:srgbClr val="000000"/>
              </a:solidFill>
            </a:endParaRPr>
          </a:p>
          <a:p>
            <a:pPr marL="857250" lvl="0" indent="-330200" algn="l" rtl="0">
              <a:spcBef>
                <a:spcPts val="0"/>
              </a:spcBef>
              <a:spcAft>
                <a:spcPts val="0"/>
              </a:spcAft>
              <a:buClr>
                <a:srgbClr val="000000"/>
              </a:buClr>
              <a:buSzPts val="1600"/>
              <a:buAutoNum type="arabicPeriod"/>
            </a:pPr>
            <a:r>
              <a:rPr lang="en" sz="1600" dirty="0">
                <a:solidFill>
                  <a:srgbClr val="000000"/>
                </a:solidFill>
              </a:rPr>
              <a:t>delete()</a:t>
            </a:r>
            <a:endParaRPr sz="1600" dirty="0">
              <a:solidFill>
                <a:srgbClr val="000000"/>
              </a:solidFill>
            </a:endParaRPr>
          </a:p>
          <a:p>
            <a:pPr marL="857250" lvl="0" indent="-330200" algn="l" rtl="0">
              <a:spcBef>
                <a:spcPts val="0"/>
              </a:spcBef>
              <a:spcAft>
                <a:spcPts val="0"/>
              </a:spcAft>
              <a:buClr>
                <a:srgbClr val="000000"/>
              </a:buClr>
              <a:buSzPts val="1600"/>
              <a:buAutoNum type="arabicPeriod"/>
            </a:pPr>
            <a:r>
              <a:rPr lang="en" sz="1600" dirty="0">
                <a:solidFill>
                  <a:srgbClr val="000000"/>
                </a:solidFill>
              </a:rPr>
              <a:t>deleteCharAt()</a:t>
            </a:r>
            <a:endParaRPr sz="1600" dirty="0">
              <a:solidFill>
                <a:srgbClr val="000000"/>
              </a:solidFill>
            </a:endParaRPr>
          </a:p>
          <a:p>
            <a:pPr marL="857250" lvl="0" indent="-330200" algn="l" rtl="0">
              <a:spcBef>
                <a:spcPts val="0"/>
              </a:spcBef>
              <a:spcAft>
                <a:spcPts val="0"/>
              </a:spcAft>
              <a:buClr>
                <a:srgbClr val="000000"/>
              </a:buClr>
              <a:buSzPts val="1600"/>
              <a:buAutoNum type="arabicPeriod"/>
            </a:pPr>
            <a:r>
              <a:rPr lang="en" sz="1600" dirty="0">
                <a:solidFill>
                  <a:srgbClr val="000000"/>
                </a:solidFill>
              </a:rPr>
              <a:t>replace()</a:t>
            </a:r>
            <a:endParaRPr sz="1600" dirty="0">
              <a:solidFill>
                <a:srgbClr val="000000"/>
              </a:solidFill>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Shape 852"/>
        <p:cNvGrpSpPr/>
        <p:nvPr/>
      </p:nvGrpSpPr>
      <p:grpSpPr>
        <a:xfrm>
          <a:off x="0" y="0"/>
          <a:ext cx="0" cy="0"/>
          <a:chOff x="0" y="0"/>
          <a:chExt cx="0" cy="0"/>
        </a:xfrm>
      </p:grpSpPr>
      <p:sp>
        <p:nvSpPr>
          <p:cNvPr id="853" name="Google Shape;853;p133"/>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length()</a:t>
            </a:r>
            <a:endParaRPr/>
          </a:p>
        </p:txBody>
      </p:sp>
      <p:sp>
        <p:nvSpPr>
          <p:cNvPr id="854" name="Google Shape;854;p133"/>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rgbClr val="666666"/>
                </a:solidFill>
              </a:rPr>
              <a:t>It defines the number of characters in the String.</a:t>
            </a:r>
            <a:endParaRPr>
              <a:solidFill>
                <a:srgbClr val="666666"/>
              </a:solidFill>
            </a:endParaRPr>
          </a:p>
          <a:p>
            <a:pPr marL="0" lvl="0" indent="0" algn="l" rtl="0">
              <a:spcBef>
                <a:spcPts val="1200"/>
              </a:spcBef>
              <a:spcAft>
                <a:spcPts val="0"/>
              </a:spcAft>
              <a:buNone/>
            </a:pPr>
            <a:r>
              <a:rPr lang="en">
                <a:solidFill>
                  <a:srgbClr val="666666"/>
                </a:solidFill>
              </a:rPr>
              <a:t>Example:</a:t>
            </a:r>
            <a:endParaRPr>
              <a:solidFill>
                <a:srgbClr val="666666"/>
              </a:solidFill>
            </a:endParaRPr>
          </a:p>
          <a:p>
            <a:pPr marL="914400" lvl="0" indent="0" algn="l" rtl="0">
              <a:spcBef>
                <a:spcPts val="1200"/>
              </a:spcBef>
              <a:spcAft>
                <a:spcPts val="0"/>
              </a:spcAft>
              <a:buNone/>
            </a:pPr>
            <a:r>
              <a:rPr lang="en">
                <a:solidFill>
                  <a:srgbClr val="666666"/>
                </a:solidFill>
              </a:rPr>
              <a:t>StringBuffer str = new StringBuffer("ContentWriter");</a:t>
            </a:r>
            <a:endParaRPr>
              <a:solidFill>
                <a:srgbClr val="666666"/>
              </a:solidFill>
            </a:endParaRPr>
          </a:p>
          <a:p>
            <a:pPr marL="914400" lvl="0" indent="0" algn="l" rtl="0">
              <a:spcBef>
                <a:spcPts val="0"/>
              </a:spcBef>
              <a:spcAft>
                <a:spcPts val="0"/>
              </a:spcAft>
              <a:buNone/>
            </a:pPr>
            <a:r>
              <a:rPr lang="en">
                <a:solidFill>
                  <a:srgbClr val="666666"/>
                </a:solidFill>
              </a:rPr>
              <a:t> int len = str.length();</a:t>
            </a:r>
            <a:endParaRPr>
              <a:solidFill>
                <a:srgbClr val="666666"/>
              </a:solidFill>
            </a:endParaRPr>
          </a:p>
          <a:p>
            <a:pPr marL="914400" lvl="0" indent="0" algn="l" rtl="0">
              <a:spcBef>
                <a:spcPts val="0"/>
              </a:spcBef>
              <a:spcAft>
                <a:spcPts val="0"/>
              </a:spcAft>
              <a:buNone/>
            </a:pPr>
            <a:r>
              <a:rPr lang="en">
                <a:solidFill>
                  <a:srgbClr val="666666"/>
                </a:solidFill>
              </a:rPr>
              <a:t>System.out.println("Length : " + len); } }</a:t>
            </a:r>
            <a:endParaRPr>
              <a:solidFill>
                <a:srgbClr val="666666"/>
              </a:solidFill>
            </a:endParaRPr>
          </a:p>
          <a:p>
            <a:pPr marL="0" lvl="0" indent="0" algn="l" rtl="0">
              <a:spcBef>
                <a:spcPts val="0"/>
              </a:spcBef>
              <a:spcAft>
                <a:spcPts val="1200"/>
              </a:spcAft>
              <a:buNone/>
            </a:pPr>
            <a:endParaRPr>
              <a:solidFill>
                <a:srgbClr val="666666"/>
              </a:solidFill>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p13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capacity()</a:t>
            </a:r>
            <a:endParaRPr/>
          </a:p>
        </p:txBody>
      </p:sp>
      <p:sp>
        <p:nvSpPr>
          <p:cNvPr id="860" name="Google Shape;860;p13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666666"/>
                </a:solidFill>
              </a:rPr>
              <a:t>It defines the capacity of the string occupied in the buffer. The capacity method also counts the reserved space occupied by the string.</a:t>
            </a:r>
            <a:endParaRPr>
              <a:solidFill>
                <a:srgbClr val="666666"/>
              </a:solidFill>
            </a:endParaRPr>
          </a:p>
          <a:p>
            <a:pPr marL="0" lvl="0" indent="0" algn="l" rtl="0">
              <a:spcBef>
                <a:spcPts val="1000"/>
              </a:spcBef>
              <a:spcAft>
                <a:spcPts val="0"/>
              </a:spcAft>
              <a:buNone/>
            </a:pPr>
            <a:r>
              <a:rPr lang="en">
                <a:solidFill>
                  <a:srgbClr val="666666"/>
                </a:solidFill>
              </a:rPr>
              <a:t>The default capacity of the stringbuffer is of </a:t>
            </a:r>
            <a:r>
              <a:rPr lang="en" b="1">
                <a:solidFill>
                  <a:srgbClr val="666666"/>
                </a:solidFill>
              </a:rPr>
              <a:t>16 characters</a:t>
            </a:r>
            <a:r>
              <a:rPr lang="en">
                <a:solidFill>
                  <a:srgbClr val="666666"/>
                </a:solidFill>
              </a:rPr>
              <a:t>. </a:t>
            </a:r>
            <a:endParaRPr>
              <a:solidFill>
                <a:srgbClr val="666666"/>
              </a:solidFill>
            </a:endParaRPr>
          </a:p>
          <a:p>
            <a:pPr marL="0" lvl="0" indent="0" algn="l" rtl="0">
              <a:spcBef>
                <a:spcPts val="1000"/>
              </a:spcBef>
              <a:spcAft>
                <a:spcPts val="0"/>
              </a:spcAft>
              <a:buNone/>
            </a:pPr>
            <a:r>
              <a:rPr lang="en">
                <a:solidFill>
                  <a:srgbClr val="666666"/>
                </a:solidFill>
                <a:highlight>
                  <a:srgbClr val="FFFFFF"/>
                </a:highlight>
                <a:latin typeface="Roboto"/>
                <a:ea typeface="Roboto"/>
                <a:cs typeface="Roboto"/>
                <a:sym typeface="Roboto"/>
              </a:rPr>
              <a:t>If the number of the character increases from its current capacity, it increases the capacity by </a:t>
            </a:r>
            <a:r>
              <a:rPr lang="en" b="1">
                <a:solidFill>
                  <a:srgbClr val="666666"/>
                </a:solidFill>
                <a:highlight>
                  <a:srgbClr val="FFFFFF"/>
                </a:highlight>
                <a:latin typeface="Roboto"/>
                <a:ea typeface="Roboto"/>
                <a:cs typeface="Roboto"/>
                <a:sym typeface="Roboto"/>
              </a:rPr>
              <a:t>(oldcapacity*2)+2</a:t>
            </a:r>
            <a:r>
              <a:rPr lang="en">
                <a:solidFill>
                  <a:srgbClr val="666666"/>
                </a:solidFill>
                <a:highlight>
                  <a:srgbClr val="FFFFFF"/>
                </a:highlight>
                <a:latin typeface="Roboto"/>
                <a:ea typeface="Roboto"/>
                <a:cs typeface="Roboto"/>
                <a:sym typeface="Roboto"/>
              </a:rPr>
              <a:t>.</a:t>
            </a:r>
            <a:endParaRPr>
              <a:solidFill>
                <a:srgbClr val="666666"/>
              </a:solidFill>
            </a:endParaRPr>
          </a:p>
          <a:p>
            <a:pPr marL="0" lvl="0" indent="0" algn="l" rtl="0">
              <a:spcBef>
                <a:spcPts val="1000"/>
              </a:spcBef>
              <a:spcAft>
                <a:spcPts val="0"/>
              </a:spcAft>
              <a:buNone/>
            </a:pPr>
            <a:r>
              <a:rPr lang="en">
                <a:solidFill>
                  <a:srgbClr val="666666"/>
                </a:solidFill>
              </a:rPr>
              <a:t>Example:</a:t>
            </a:r>
            <a:endParaRPr>
              <a:solidFill>
                <a:srgbClr val="666666"/>
              </a:solidFill>
            </a:endParaRPr>
          </a:p>
          <a:p>
            <a:pPr marL="457200" lvl="0" indent="0" algn="l" rtl="0">
              <a:spcBef>
                <a:spcPts val="1000"/>
              </a:spcBef>
              <a:spcAft>
                <a:spcPts val="0"/>
              </a:spcAft>
              <a:buNone/>
            </a:pPr>
            <a:r>
              <a:rPr lang="en" sz="1600">
                <a:solidFill>
                  <a:srgbClr val="666666"/>
                </a:solidFill>
              </a:rPr>
              <a:t>StringBuffer str = </a:t>
            </a:r>
            <a:r>
              <a:rPr lang="en" sz="1600" b="1">
                <a:solidFill>
                  <a:srgbClr val="666666"/>
                </a:solidFill>
              </a:rPr>
              <a:t>new</a:t>
            </a:r>
            <a:r>
              <a:rPr lang="en" sz="1600">
                <a:solidFill>
                  <a:srgbClr val="666666"/>
                </a:solidFill>
              </a:rPr>
              <a:t> StringBuffer("ContentWriter"); </a:t>
            </a:r>
            <a:endParaRPr sz="1600">
              <a:solidFill>
                <a:srgbClr val="666666"/>
              </a:solidFill>
            </a:endParaRPr>
          </a:p>
          <a:p>
            <a:pPr marL="457200" lvl="0" indent="0" algn="l" rtl="0">
              <a:spcBef>
                <a:spcPts val="0"/>
              </a:spcBef>
              <a:spcAft>
                <a:spcPts val="0"/>
              </a:spcAft>
              <a:buNone/>
            </a:pPr>
            <a:r>
              <a:rPr lang="en" sz="1600">
                <a:solidFill>
                  <a:srgbClr val="666666"/>
                </a:solidFill>
              </a:rPr>
              <a:t>int cap = str.capacity();</a:t>
            </a:r>
            <a:endParaRPr sz="1600">
              <a:solidFill>
                <a:srgbClr val="666666"/>
              </a:solidFill>
            </a:endParaRPr>
          </a:p>
          <a:p>
            <a:pPr marL="457200" lvl="0" indent="0" algn="l" rtl="0">
              <a:spcBef>
                <a:spcPts val="0"/>
              </a:spcBef>
              <a:spcAft>
                <a:spcPts val="0"/>
              </a:spcAft>
              <a:buNone/>
            </a:pPr>
            <a:r>
              <a:rPr lang="en" sz="1600">
                <a:solidFill>
                  <a:srgbClr val="666666"/>
                </a:solidFill>
              </a:rPr>
              <a:t>System.out.println("Capacity : " + cap); //capacity= str+16=29</a:t>
            </a:r>
            <a:endParaRPr sz="1600">
              <a:solidFill>
                <a:srgbClr val="666666"/>
              </a:solidFill>
            </a:endParaRPr>
          </a:p>
          <a:p>
            <a:pPr marL="457200" lvl="0" indent="0" algn="l" rtl="0">
              <a:spcBef>
                <a:spcPts val="0"/>
              </a:spcBef>
              <a:spcAft>
                <a:spcPts val="0"/>
              </a:spcAft>
              <a:buNone/>
            </a:pPr>
            <a:endParaRPr>
              <a:solidFill>
                <a:srgbClr val="666666"/>
              </a:solidFill>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p13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append()</a:t>
            </a:r>
            <a:endParaRPr/>
          </a:p>
        </p:txBody>
      </p:sp>
      <p:sp>
        <p:nvSpPr>
          <p:cNvPr id="866" name="Google Shape;866;p135"/>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rgbClr val="666666"/>
                </a:solidFill>
              </a:rPr>
              <a:t>The append() method is used to append the string or number at the end of the string.</a:t>
            </a:r>
            <a:endParaRPr>
              <a:solidFill>
                <a:srgbClr val="666666"/>
              </a:solidFill>
            </a:endParaRPr>
          </a:p>
          <a:p>
            <a:pPr marL="0" lvl="0" indent="0" algn="l" rtl="0">
              <a:spcBef>
                <a:spcPts val="0"/>
              </a:spcBef>
              <a:spcAft>
                <a:spcPts val="0"/>
              </a:spcAft>
              <a:buNone/>
            </a:pPr>
            <a:endParaRPr>
              <a:solidFill>
                <a:srgbClr val="666666"/>
              </a:solidFill>
            </a:endParaRPr>
          </a:p>
          <a:p>
            <a:pPr marL="0" lvl="0" indent="0" algn="l" rtl="0">
              <a:spcBef>
                <a:spcPts val="0"/>
              </a:spcBef>
              <a:spcAft>
                <a:spcPts val="0"/>
              </a:spcAft>
              <a:buNone/>
            </a:pPr>
            <a:r>
              <a:rPr lang="en">
                <a:solidFill>
                  <a:srgbClr val="666666"/>
                </a:solidFill>
              </a:rPr>
              <a:t>Example:</a:t>
            </a:r>
            <a:endParaRPr>
              <a:solidFill>
                <a:srgbClr val="666666"/>
              </a:solidFill>
            </a:endParaRPr>
          </a:p>
          <a:p>
            <a:pPr marL="457200" lvl="0" indent="0" algn="l" rtl="0">
              <a:spcBef>
                <a:spcPts val="0"/>
              </a:spcBef>
              <a:spcAft>
                <a:spcPts val="0"/>
              </a:spcAft>
              <a:buNone/>
            </a:pPr>
            <a:r>
              <a:rPr lang="en">
                <a:solidFill>
                  <a:srgbClr val="666666"/>
                </a:solidFill>
              </a:rPr>
              <a:t>StringBuffer str = </a:t>
            </a:r>
            <a:r>
              <a:rPr lang="en" b="1">
                <a:solidFill>
                  <a:srgbClr val="666666"/>
                </a:solidFill>
              </a:rPr>
              <a:t>new</a:t>
            </a:r>
            <a:r>
              <a:rPr lang="en">
                <a:solidFill>
                  <a:srgbClr val="666666"/>
                </a:solidFill>
              </a:rPr>
              <a:t> StringBuffer(“Hello");</a:t>
            </a:r>
            <a:endParaRPr>
              <a:solidFill>
                <a:srgbClr val="666666"/>
              </a:solidFill>
            </a:endParaRPr>
          </a:p>
          <a:p>
            <a:pPr marL="457200" lvl="0" indent="0" algn="l" rtl="0">
              <a:spcBef>
                <a:spcPts val="0"/>
              </a:spcBef>
              <a:spcAft>
                <a:spcPts val="0"/>
              </a:spcAft>
              <a:buNone/>
            </a:pPr>
            <a:r>
              <a:rPr lang="en">
                <a:solidFill>
                  <a:srgbClr val="666666"/>
                </a:solidFill>
              </a:rPr>
              <a:t>str.append(“java");</a:t>
            </a:r>
            <a:endParaRPr>
              <a:solidFill>
                <a:srgbClr val="666666"/>
              </a:solidFill>
            </a:endParaRPr>
          </a:p>
          <a:p>
            <a:pPr marL="457200" lvl="0" indent="0" algn="l" rtl="0">
              <a:spcBef>
                <a:spcPts val="0"/>
              </a:spcBef>
              <a:spcAft>
                <a:spcPts val="0"/>
              </a:spcAft>
              <a:buNone/>
            </a:pPr>
            <a:r>
              <a:rPr lang="en">
                <a:solidFill>
                  <a:srgbClr val="666666"/>
                </a:solidFill>
              </a:rPr>
              <a:t>System.out.println(str);</a:t>
            </a:r>
            <a:endParaRPr>
              <a:solidFill>
                <a:srgbClr val="666666"/>
              </a:solidFill>
            </a:endParaRPr>
          </a:p>
          <a:p>
            <a:pPr marL="457200" lvl="0" indent="0" algn="l" rtl="0">
              <a:spcBef>
                <a:spcPts val="0"/>
              </a:spcBef>
              <a:spcAft>
                <a:spcPts val="0"/>
              </a:spcAft>
              <a:buNone/>
            </a:pPr>
            <a:r>
              <a:rPr lang="en">
                <a:solidFill>
                  <a:srgbClr val="666666"/>
                </a:solidFill>
              </a:rPr>
              <a:t>str.append(0);</a:t>
            </a:r>
            <a:endParaRPr>
              <a:solidFill>
                <a:srgbClr val="666666"/>
              </a:solidFill>
            </a:endParaRPr>
          </a:p>
          <a:p>
            <a:pPr marL="457200" lvl="0" indent="0" algn="l" rtl="0">
              <a:spcBef>
                <a:spcPts val="0"/>
              </a:spcBef>
              <a:spcAft>
                <a:spcPts val="1200"/>
              </a:spcAft>
              <a:buNone/>
            </a:pPr>
            <a:r>
              <a:rPr lang="en">
                <a:solidFill>
                  <a:srgbClr val="666666"/>
                </a:solidFill>
              </a:rPr>
              <a:t>System.out.println(str);</a:t>
            </a:r>
            <a:endParaRPr>
              <a:solidFill>
                <a:srgbClr val="666666"/>
              </a:solidFill>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Shape 870"/>
        <p:cNvGrpSpPr/>
        <p:nvPr/>
      </p:nvGrpSpPr>
      <p:grpSpPr>
        <a:xfrm>
          <a:off x="0" y="0"/>
          <a:ext cx="0" cy="0"/>
          <a:chOff x="0" y="0"/>
          <a:chExt cx="0" cy="0"/>
        </a:xfrm>
      </p:grpSpPr>
      <p:sp>
        <p:nvSpPr>
          <p:cNvPr id="871" name="Google Shape;871;p13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insert()</a:t>
            </a:r>
            <a:endParaRPr/>
          </a:p>
        </p:txBody>
      </p:sp>
      <p:sp>
        <p:nvSpPr>
          <p:cNvPr id="872" name="Google Shape;872;p136"/>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rgbClr val="666666"/>
                </a:solidFill>
              </a:rPr>
              <a:t>The insert() method is used to insert the string into the previously defined string at a particular indexed position.</a:t>
            </a:r>
            <a:endParaRPr>
              <a:solidFill>
                <a:srgbClr val="666666"/>
              </a:solidFill>
            </a:endParaRPr>
          </a:p>
          <a:p>
            <a:pPr marL="0" lvl="0" indent="0" algn="l" rtl="0">
              <a:spcBef>
                <a:spcPts val="0"/>
              </a:spcBef>
              <a:spcAft>
                <a:spcPts val="0"/>
              </a:spcAft>
              <a:buNone/>
            </a:pPr>
            <a:r>
              <a:rPr lang="en">
                <a:solidFill>
                  <a:srgbClr val="666666"/>
                </a:solidFill>
              </a:rPr>
              <a:t>In the insert method as a parameter, we provide </a:t>
            </a:r>
            <a:r>
              <a:rPr lang="en" b="1">
                <a:solidFill>
                  <a:srgbClr val="666666"/>
                </a:solidFill>
              </a:rPr>
              <a:t>two-argument</a:t>
            </a:r>
            <a:r>
              <a:rPr lang="en">
                <a:solidFill>
                  <a:srgbClr val="666666"/>
                </a:solidFill>
              </a:rPr>
              <a:t>, first is the </a:t>
            </a:r>
            <a:r>
              <a:rPr lang="en" b="1">
                <a:solidFill>
                  <a:srgbClr val="666666"/>
                </a:solidFill>
              </a:rPr>
              <a:t>index </a:t>
            </a:r>
            <a:r>
              <a:rPr lang="en">
                <a:solidFill>
                  <a:srgbClr val="666666"/>
                </a:solidFill>
              </a:rPr>
              <a:t>and second is the </a:t>
            </a:r>
            <a:r>
              <a:rPr lang="en" b="1">
                <a:solidFill>
                  <a:srgbClr val="666666"/>
                </a:solidFill>
              </a:rPr>
              <a:t>string</a:t>
            </a:r>
            <a:r>
              <a:rPr lang="en">
                <a:solidFill>
                  <a:srgbClr val="666666"/>
                </a:solidFill>
              </a:rPr>
              <a:t>.</a:t>
            </a:r>
            <a:endParaRPr>
              <a:solidFill>
                <a:srgbClr val="666666"/>
              </a:solidFill>
            </a:endParaRPr>
          </a:p>
          <a:p>
            <a:pPr marL="0" lvl="0" indent="0" algn="l" rtl="0">
              <a:spcBef>
                <a:spcPts val="1000"/>
              </a:spcBef>
              <a:spcAft>
                <a:spcPts val="0"/>
              </a:spcAft>
              <a:buNone/>
            </a:pPr>
            <a:r>
              <a:rPr lang="en">
                <a:solidFill>
                  <a:srgbClr val="666666"/>
                </a:solidFill>
              </a:rPr>
              <a:t>Example:</a:t>
            </a:r>
            <a:endParaRPr>
              <a:solidFill>
                <a:srgbClr val="666666"/>
              </a:solidFill>
            </a:endParaRPr>
          </a:p>
          <a:p>
            <a:pPr marL="457200" lvl="0" indent="0" algn="l" rtl="0">
              <a:spcBef>
                <a:spcPts val="0"/>
              </a:spcBef>
              <a:spcAft>
                <a:spcPts val="0"/>
              </a:spcAft>
              <a:buNone/>
            </a:pPr>
            <a:r>
              <a:rPr lang="en">
                <a:solidFill>
                  <a:srgbClr val="666666"/>
                </a:solidFill>
              </a:rPr>
              <a:t>StringBuffer stringName = </a:t>
            </a:r>
            <a:r>
              <a:rPr lang="en" b="1">
                <a:solidFill>
                  <a:srgbClr val="666666"/>
                </a:solidFill>
              </a:rPr>
              <a:t>new</a:t>
            </a:r>
            <a:r>
              <a:rPr lang="en">
                <a:solidFill>
                  <a:srgbClr val="666666"/>
                </a:solidFill>
              </a:rPr>
              <a:t> StringBuffer(" Welcome");</a:t>
            </a:r>
            <a:endParaRPr>
              <a:solidFill>
                <a:srgbClr val="666666"/>
              </a:solidFill>
            </a:endParaRPr>
          </a:p>
          <a:p>
            <a:pPr marL="457200" lvl="0" indent="0" algn="l" rtl="0">
              <a:spcBef>
                <a:spcPts val="0"/>
              </a:spcBef>
              <a:spcAft>
                <a:spcPts val="0"/>
              </a:spcAft>
              <a:buNone/>
            </a:pPr>
            <a:r>
              <a:rPr lang="en">
                <a:solidFill>
                  <a:srgbClr val="666666"/>
                </a:solidFill>
              </a:rPr>
              <a:t>System.out.println(stringName);</a:t>
            </a:r>
            <a:endParaRPr>
              <a:solidFill>
                <a:srgbClr val="666666"/>
              </a:solidFill>
            </a:endParaRPr>
          </a:p>
          <a:p>
            <a:pPr marL="457200" lvl="0" indent="0" algn="l" rtl="0">
              <a:spcBef>
                <a:spcPts val="0"/>
              </a:spcBef>
              <a:spcAft>
                <a:spcPts val="0"/>
              </a:spcAft>
              <a:buNone/>
            </a:pPr>
            <a:r>
              <a:rPr lang="en">
                <a:solidFill>
                  <a:srgbClr val="666666"/>
                </a:solidFill>
              </a:rPr>
              <a:t>stringName.insert(8, " to  java");</a:t>
            </a:r>
            <a:endParaRPr>
              <a:solidFill>
                <a:srgbClr val="666666"/>
              </a:solidFill>
            </a:endParaRPr>
          </a:p>
          <a:p>
            <a:pPr marL="457200" lvl="0" indent="0" algn="l" rtl="0">
              <a:spcBef>
                <a:spcPts val="0"/>
              </a:spcBef>
              <a:spcAft>
                <a:spcPts val="0"/>
              </a:spcAft>
              <a:buNone/>
            </a:pPr>
            <a:r>
              <a:rPr lang="en">
                <a:solidFill>
                  <a:srgbClr val="666666"/>
                </a:solidFill>
              </a:rPr>
              <a:t>System.out.println(stringName);</a:t>
            </a:r>
            <a:endParaRPr>
              <a:solidFill>
                <a:srgbClr val="666666"/>
              </a:solidFill>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Shape 876"/>
        <p:cNvGrpSpPr/>
        <p:nvPr/>
      </p:nvGrpSpPr>
      <p:grpSpPr>
        <a:xfrm>
          <a:off x="0" y="0"/>
          <a:ext cx="0" cy="0"/>
          <a:chOff x="0" y="0"/>
          <a:chExt cx="0" cy="0"/>
        </a:xfrm>
      </p:grpSpPr>
      <p:sp>
        <p:nvSpPr>
          <p:cNvPr id="877" name="Google Shape;877;p137"/>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reverse()</a:t>
            </a:r>
            <a:endParaRPr/>
          </a:p>
        </p:txBody>
      </p:sp>
      <p:sp>
        <p:nvSpPr>
          <p:cNvPr id="878" name="Google Shape;878;p137"/>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rgbClr val="666666"/>
                </a:solidFill>
              </a:rPr>
              <a:t>The reverse() method reverses all the characters of the object of the StringBuffer class. And, as an output, this method returns or gives the reversed String object.</a:t>
            </a:r>
            <a:endParaRPr>
              <a:solidFill>
                <a:srgbClr val="666666"/>
              </a:solidFill>
            </a:endParaRPr>
          </a:p>
          <a:p>
            <a:pPr marL="0" lvl="0" indent="0" algn="l" rtl="0">
              <a:spcBef>
                <a:spcPts val="0"/>
              </a:spcBef>
              <a:spcAft>
                <a:spcPts val="0"/>
              </a:spcAft>
              <a:buNone/>
            </a:pPr>
            <a:endParaRPr>
              <a:solidFill>
                <a:srgbClr val="666666"/>
              </a:solidFill>
            </a:endParaRPr>
          </a:p>
          <a:p>
            <a:pPr marL="0" lvl="0" indent="0" algn="l" rtl="0">
              <a:spcBef>
                <a:spcPts val="0"/>
              </a:spcBef>
              <a:spcAft>
                <a:spcPts val="0"/>
              </a:spcAft>
              <a:buNone/>
            </a:pPr>
            <a:r>
              <a:rPr lang="en">
                <a:solidFill>
                  <a:srgbClr val="666666"/>
                </a:solidFill>
              </a:rPr>
              <a:t>Example:</a:t>
            </a:r>
            <a:endParaRPr>
              <a:solidFill>
                <a:srgbClr val="666666"/>
              </a:solidFill>
            </a:endParaRPr>
          </a:p>
          <a:p>
            <a:pPr marL="457200" lvl="0" indent="0" algn="l" rtl="0">
              <a:spcBef>
                <a:spcPts val="0"/>
              </a:spcBef>
              <a:spcAft>
                <a:spcPts val="0"/>
              </a:spcAft>
              <a:buNone/>
            </a:pPr>
            <a:r>
              <a:rPr lang="en">
                <a:solidFill>
                  <a:srgbClr val="666666"/>
                </a:solidFill>
              </a:rPr>
              <a:t>StringBuffer sb = </a:t>
            </a:r>
            <a:r>
              <a:rPr lang="en" b="1">
                <a:solidFill>
                  <a:srgbClr val="666666"/>
                </a:solidFill>
              </a:rPr>
              <a:t>new</a:t>
            </a:r>
            <a:r>
              <a:rPr lang="en">
                <a:solidFill>
                  <a:srgbClr val="666666"/>
                </a:solidFill>
              </a:rPr>
              <a:t> StringBuffer("Welcome to Java");</a:t>
            </a:r>
            <a:endParaRPr>
              <a:solidFill>
                <a:srgbClr val="666666"/>
              </a:solidFill>
            </a:endParaRPr>
          </a:p>
          <a:p>
            <a:pPr marL="457200" lvl="0" indent="0" algn="l" rtl="0">
              <a:spcBef>
                <a:spcPts val="0"/>
              </a:spcBef>
              <a:spcAft>
                <a:spcPts val="0"/>
              </a:spcAft>
              <a:buNone/>
            </a:pPr>
            <a:r>
              <a:rPr lang="en">
                <a:solidFill>
                  <a:srgbClr val="666666"/>
                </a:solidFill>
              </a:rPr>
              <a:t>System.out.println("Original String: " + sb);</a:t>
            </a:r>
            <a:endParaRPr>
              <a:solidFill>
                <a:srgbClr val="666666"/>
              </a:solidFill>
            </a:endParaRPr>
          </a:p>
          <a:p>
            <a:pPr marL="457200" lvl="0" indent="0" algn="l" rtl="0">
              <a:spcBef>
                <a:spcPts val="0"/>
              </a:spcBef>
              <a:spcAft>
                <a:spcPts val="0"/>
              </a:spcAft>
              <a:buNone/>
            </a:pPr>
            <a:r>
              <a:rPr lang="en">
                <a:solidFill>
                  <a:srgbClr val="666666"/>
                </a:solidFill>
              </a:rPr>
              <a:t>stringName.reverse();</a:t>
            </a:r>
            <a:endParaRPr>
              <a:solidFill>
                <a:srgbClr val="666666"/>
              </a:solidFill>
            </a:endParaRPr>
          </a:p>
          <a:p>
            <a:pPr marL="457200" lvl="0" indent="0" algn="l" rtl="0">
              <a:spcBef>
                <a:spcPts val="0"/>
              </a:spcBef>
              <a:spcAft>
                <a:spcPts val="0"/>
              </a:spcAft>
              <a:buNone/>
            </a:pPr>
            <a:r>
              <a:rPr lang="en">
                <a:solidFill>
                  <a:srgbClr val="666666"/>
                </a:solidFill>
              </a:rPr>
              <a:t>System.out.println("Reversed String: " + sb);</a:t>
            </a:r>
            <a:endParaRPr>
              <a:solidFill>
                <a:srgbClr val="666666"/>
              </a:solidFill>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sp>
        <p:nvSpPr>
          <p:cNvPr id="883" name="Google Shape;883;p138"/>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delete()</a:t>
            </a:r>
            <a:endParaRPr/>
          </a:p>
        </p:txBody>
      </p:sp>
      <p:sp>
        <p:nvSpPr>
          <p:cNvPr id="884" name="Google Shape;884;p138"/>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rgbClr val="666666"/>
                </a:solidFill>
              </a:rPr>
              <a:t>The delete() method deletes a sequence of characters from the StringBuffer object.</a:t>
            </a:r>
            <a:endParaRPr>
              <a:solidFill>
                <a:srgbClr val="666666"/>
              </a:solidFill>
            </a:endParaRPr>
          </a:p>
          <a:p>
            <a:pPr marL="0" lvl="0" indent="0" algn="l" rtl="0">
              <a:spcBef>
                <a:spcPts val="0"/>
              </a:spcBef>
              <a:spcAft>
                <a:spcPts val="0"/>
              </a:spcAft>
              <a:buNone/>
            </a:pPr>
            <a:r>
              <a:rPr lang="en">
                <a:solidFill>
                  <a:srgbClr val="666666"/>
                </a:solidFill>
              </a:rPr>
              <a:t>Syntax:</a:t>
            </a:r>
            <a:endParaRPr>
              <a:solidFill>
                <a:srgbClr val="666666"/>
              </a:solidFill>
            </a:endParaRPr>
          </a:p>
          <a:p>
            <a:pPr marL="0" lvl="0" indent="457200" algn="l" rtl="0">
              <a:spcBef>
                <a:spcPts val="0"/>
              </a:spcBef>
              <a:spcAft>
                <a:spcPts val="0"/>
              </a:spcAft>
              <a:buNone/>
            </a:pPr>
            <a:r>
              <a:rPr lang="en" b="1">
                <a:solidFill>
                  <a:srgbClr val="666666"/>
                </a:solidFill>
              </a:rPr>
              <a:t>stringName.delete(int startIndex, int endIndex)</a:t>
            </a:r>
            <a:endParaRPr b="1">
              <a:solidFill>
                <a:srgbClr val="666666"/>
              </a:solidFill>
            </a:endParaRPr>
          </a:p>
          <a:p>
            <a:pPr marL="0" lvl="0" indent="0" algn="l" rtl="0">
              <a:spcBef>
                <a:spcPts val="0"/>
              </a:spcBef>
              <a:spcAft>
                <a:spcPts val="0"/>
              </a:spcAft>
              <a:buNone/>
            </a:pPr>
            <a:r>
              <a:rPr lang="en">
                <a:solidFill>
                  <a:srgbClr val="666666"/>
                </a:solidFill>
              </a:rPr>
              <a:t>Example:</a:t>
            </a:r>
            <a:endParaRPr>
              <a:solidFill>
                <a:srgbClr val="666666"/>
              </a:solidFill>
            </a:endParaRPr>
          </a:p>
          <a:p>
            <a:pPr marL="457200" lvl="0" indent="0" algn="l" rtl="0">
              <a:spcBef>
                <a:spcPts val="0"/>
              </a:spcBef>
              <a:spcAft>
                <a:spcPts val="0"/>
              </a:spcAft>
              <a:buNone/>
            </a:pPr>
            <a:r>
              <a:rPr lang="en">
                <a:solidFill>
                  <a:srgbClr val="666666"/>
                </a:solidFill>
              </a:rPr>
              <a:t>StringBuffer sb= </a:t>
            </a:r>
            <a:r>
              <a:rPr lang="en" b="1">
                <a:solidFill>
                  <a:srgbClr val="666666"/>
                </a:solidFill>
              </a:rPr>
              <a:t>new</a:t>
            </a:r>
            <a:r>
              <a:rPr lang="en">
                <a:solidFill>
                  <a:srgbClr val="666666"/>
                </a:solidFill>
              </a:rPr>
              <a:t> StringBuffer(“welcometojava");</a:t>
            </a:r>
            <a:endParaRPr>
              <a:solidFill>
                <a:srgbClr val="666666"/>
              </a:solidFill>
            </a:endParaRPr>
          </a:p>
          <a:p>
            <a:pPr marL="457200" lvl="0" indent="0" algn="l" rtl="0">
              <a:spcBef>
                <a:spcPts val="0"/>
              </a:spcBef>
              <a:spcAft>
                <a:spcPts val="0"/>
              </a:spcAft>
              <a:buNone/>
            </a:pPr>
            <a:r>
              <a:rPr lang="en">
                <a:solidFill>
                  <a:srgbClr val="666666"/>
                </a:solidFill>
              </a:rPr>
              <a:t>System.out.println("Original String: " + sb);</a:t>
            </a:r>
            <a:endParaRPr>
              <a:solidFill>
                <a:srgbClr val="666666"/>
              </a:solidFill>
            </a:endParaRPr>
          </a:p>
          <a:p>
            <a:pPr marL="457200" lvl="0" indent="0" algn="l" rtl="0">
              <a:spcBef>
                <a:spcPts val="0"/>
              </a:spcBef>
              <a:spcAft>
                <a:spcPts val="0"/>
              </a:spcAft>
              <a:buNone/>
            </a:pPr>
            <a:r>
              <a:rPr lang="en">
                <a:solidFill>
                  <a:srgbClr val="666666"/>
                </a:solidFill>
              </a:rPr>
              <a:t>myString.delete(0, 4);</a:t>
            </a:r>
            <a:endParaRPr>
              <a:solidFill>
                <a:srgbClr val="666666"/>
              </a:solidFill>
            </a:endParaRPr>
          </a:p>
          <a:p>
            <a:pPr marL="457200" lvl="0" indent="0" algn="l" rtl="0">
              <a:spcBef>
                <a:spcPts val="0"/>
              </a:spcBef>
              <a:spcAft>
                <a:spcPts val="0"/>
              </a:spcAft>
              <a:buNone/>
            </a:pPr>
            <a:r>
              <a:rPr lang="en">
                <a:solidFill>
                  <a:srgbClr val="666666"/>
                </a:solidFill>
              </a:rPr>
              <a:t>System.out.println("String after deleting sequence of characters: "   + sb);</a:t>
            </a:r>
            <a:endParaRPr>
              <a:solidFill>
                <a:srgbClr val="666666"/>
              </a:solidFill>
            </a:endParaRPr>
          </a:p>
          <a:p>
            <a:pPr marL="457200" lvl="0" indent="0" algn="l" rtl="0">
              <a:spcBef>
                <a:spcPts val="0"/>
              </a:spcBef>
              <a:spcAft>
                <a:spcPts val="1200"/>
              </a:spcAft>
              <a:buNone/>
            </a:pPr>
            <a:endParaRPr>
              <a:solidFill>
                <a:srgbClr val="666666"/>
              </a:solidFill>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Shape 888"/>
        <p:cNvGrpSpPr/>
        <p:nvPr/>
      </p:nvGrpSpPr>
      <p:grpSpPr>
        <a:xfrm>
          <a:off x="0" y="0"/>
          <a:ext cx="0" cy="0"/>
          <a:chOff x="0" y="0"/>
          <a:chExt cx="0" cy="0"/>
        </a:xfrm>
      </p:grpSpPr>
      <p:sp>
        <p:nvSpPr>
          <p:cNvPr id="889" name="Google Shape;889;p139"/>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deleteCharAt()</a:t>
            </a:r>
            <a:endParaRPr/>
          </a:p>
        </p:txBody>
      </p:sp>
      <p:sp>
        <p:nvSpPr>
          <p:cNvPr id="890" name="Google Shape;890;p139"/>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rgbClr val="666666"/>
                </a:solidFill>
              </a:rPr>
              <a:t>The deleteCharAt() method deletes only the character at the specified index.</a:t>
            </a:r>
            <a:endParaRPr>
              <a:solidFill>
                <a:srgbClr val="666666"/>
              </a:solidFill>
            </a:endParaRPr>
          </a:p>
          <a:p>
            <a:pPr marL="0" lvl="0" indent="0" algn="l" rtl="0">
              <a:spcBef>
                <a:spcPts val="0"/>
              </a:spcBef>
              <a:spcAft>
                <a:spcPts val="0"/>
              </a:spcAft>
              <a:buNone/>
            </a:pPr>
            <a:r>
              <a:rPr lang="en">
                <a:solidFill>
                  <a:srgbClr val="666666"/>
                </a:solidFill>
              </a:rPr>
              <a:t>Syntax:</a:t>
            </a:r>
            <a:endParaRPr>
              <a:solidFill>
                <a:srgbClr val="666666"/>
              </a:solidFill>
            </a:endParaRPr>
          </a:p>
          <a:p>
            <a:pPr marL="0" lvl="0" indent="457200" algn="l" rtl="0">
              <a:spcBef>
                <a:spcPts val="0"/>
              </a:spcBef>
              <a:spcAft>
                <a:spcPts val="0"/>
              </a:spcAft>
              <a:buNone/>
            </a:pPr>
            <a:r>
              <a:rPr lang="en" b="1">
                <a:solidFill>
                  <a:srgbClr val="666666"/>
                </a:solidFill>
              </a:rPr>
              <a:t>stringName.deleteCharAt(int index)</a:t>
            </a:r>
            <a:endParaRPr b="1">
              <a:solidFill>
                <a:srgbClr val="666666"/>
              </a:solidFill>
            </a:endParaRPr>
          </a:p>
          <a:p>
            <a:pPr marL="0" lvl="0" indent="0" algn="l" rtl="0">
              <a:spcBef>
                <a:spcPts val="0"/>
              </a:spcBef>
              <a:spcAft>
                <a:spcPts val="0"/>
              </a:spcAft>
              <a:buNone/>
            </a:pPr>
            <a:r>
              <a:rPr lang="en">
                <a:solidFill>
                  <a:srgbClr val="666666"/>
                </a:solidFill>
              </a:rPr>
              <a:t>Example:</a:t>
            </a:r>
            <a:endParaRPr>
              <a:solidFill>
                <a:srgbClr val="666666"/>
              </a:solidFill>
            </a:endParaRPr>
          </a:p>
          <a:p>
            <a:pPr marL="457200" lvl="0" indent="0" algn="l" rtl="0">
              <a:spcBef>
                <a:spcPts val="0"/>
              </a:spcBef>
              <a:spcAft>
                <a:spcPts val="0"/>
              </a:spcAft>
              <a:buNone/>
            </a:pPr>
            <a:r>
              <a:rPr lang="en">
                <a:solidFill>
                  <a:srgbClr val="666666"/>
                </a:solidFill>
              </a:rPr>
              <a:t>StringBuffer sb= </a:t>
            </a:r>
            <a:r>
              <a:rPr lang="en" b="1">
                <a:solidFill>
                  <a:srgbClr val="666666"/>
                </a:solidFill>
              </a:rPr>
              <a:t>new</a:t>
            </a:r>
            <a:r>
              <a:rPr lang="en">
                <a:solidFill>
                  <a:srgbClr val="666666"/>
                </a:solidFill>
              </a:rPr>
              <a:t> StringBuffer(“Welcome to java");</a:t>
            </a:r>
            <a:endParaRPr>
              <a:solidFill>
                <a:srgbClr val="666666"/>
              </a:solidFill>
            </a:endParaRPr>
          </a:p>
          <a:p>
            <a:pPr marL="457200" lvl="0" indent="0" algn="l" rtl="0">
              <a:spcBef>
                <a:spcPts val="0"/>
              </a:spcBef>
              <a:spcAft>
                <a:spcPts val="0"/>
              </a:spcAft>
              <a:buNone/>
            </a:pPr>
            <a:r>
              <a:rPr lang="en">
                <a:solidFill>
                  <a:srgbClr val="666666"/>
                </a:solidFill>
              </a:rPr>
              <a:t>System.out.println("Original String: " + sb);</a:t>
            </a:r>
            <a:endParaRPr>
              <a:solidFill>
                <a:srgbClr val="666666"/>
              </a:solidFill>
            </a:endParaRPr>
          </a:p>
          <a:p>
            <a:pPr marL="457200" lvl="0" indent="0" algn="l" rtl="0">
              <a:spcBef>
                <a:spcPts val="0"/>
              </a:spcBef>
              <a:spcAft>
                <a:spcPts val="0"/>
              </a:spcAft>
              <a:buNone/>
            </a:pPr>
            <a:r>
              <a:rPr lang="en">
                <a:solidFill>
                  <a:srgbClr val="666666"/>
                </a:solidFill>
              </a:rPr>
              <a:t>myString.deleteCharAt(7);</a:t>
            </a:r>
            <a:endParaRPr>
              <a:solidFill>
                <a:srgbClr val="666666"/>
              </a:solidFill>
            </a:endParaRPr>
          </a:p>
          <a:p>
            <a:pPr marL="457200" lvl="0" indent="0" algn="l" rtl="0">
              <a:spcBef>
                <a:spcPts val="0"/>
              </a:spcBef>
              <a:spcAft>
                <a:spcPts val="0"/>
              </a:spcAft>
              <a:buNone/>
            </a:pPr>
            <a:r>
              <a:rPr lang="en">
                <a:solidFill>
                  <a:srgbClr val="666666"/>
                </a:solidFill>
              </a:rPr>
              <a:t>System.out.println("Resulting String " + sb);</a:t>
            </a:r>
            <a:endParaRPr>
              <a:solidFill>
                <a:srgbClr val="666666"/>
              </a:solidFill>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Shape 894"/>
        <p:cNvGrpSpPr/>
        <p:nvPr/>
      </p:nvGrpSpPr>
      <p:grpSpPr>
        <a:xfrm>
          <a:off x="0" y="0"/>
          <a:ext cx="0" cy="0"/>
          <a:chOff x="0" y="0"/>
          <a:chExt cx="0" cy="0"/>
        </a:xfrm>
      </p:grpSpPr>
      <p:sp>
        <p:nvSpPr>
          <p:cNvPr id="895" name="Google Shape;895;p140"/>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replace()</a:t>
            </a:r>
            <a:endParaRPr/>
          </a:p>
        </p:txBody>
      </p:sp>
      <p:sp>
        <p:nvSpPr>
          <p:cNvPr id="896" name="Google Shape;896;p140"/>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rgbClr val="000000"/>
                </a:solidFill>
              </a:rPr>
              <a:t>The replace() method of the StringBuffer class replaces a sequence of characters with another sequence of characters.</a:t>
            </a:r>
            <a:endParaRPr>
              <a:solidFill>
                <a:srgbClr val="000000"/>
              </a:solidFill>
            </a:endParaRPr>
          </a:p>
          <a:p>
            <a:pPr marL="0" lvl="0" indent="0" algn="l" rtl="0">
              <a:spcBef>
                <a:spcPts val="0"/>
              </a:spcBef>
              <a:spcAft>
                <a:spcPts val="0"/>
              </a:spcAft>
              <a:buNone/>
            </a:pPr>
            <a:r>
              <a:rPr lang="en">
                <a:solidFill>
                  <a:srgbClr val="000000"/>
                </a:solidFill>
              </a:rPr>
              <a:t>Syntax:</a:t>
            </a:r>
            <a:endParaRPr>
              <a:solidFill>
                <a:srgbClr val="000000"/>
              </a:solidFill>
            </a:endParaRPr>
          </a:p>
          <a:p>
            <a:pPr marL="0" lvl="0" indent="457200" algn="l" rtl="0">
              <a:spcBef>
                <a:spcPts val="0"/>
              </a:spcBef>
              <a:spcAft>
                <a:spcPts val="0"/>
              </a:spcAft>
              <a:buNone/>
            </a:pPr>
            <a:r>
              <a:rPr lang="en" b="1">
                <a:solidFill>
                  <a:srgbClr val="000000"/>
                </a:solidFill>
              </a:rPr>
              <a:t>stringName.replace(int startIndex, int endIndex, String string)</a:t>
            </a:r>
            <a:endParaRPr b="1">
              <a:solidFill>
                <a:srgbClr val="000000"/>
              </a:solidFill>
            </a:endParaRPr>
          </a:p>
          <a:p>
            <a:pPr marL="0" lvl="0" indent="0" algn="l" rtl="0">
              <a:spcBef>
                <a:spcPts val="0"/>
              </a:spcBef>
              <a:spcAft>
                <a:spcPts val="0"/>
              </a:spcAft>
              <a:buNone/>
            </a:pPr>
            <a:r>
              <a:rPr lang="en">
                <a:solidFill>
                  <a:srgbClr val="000000"/>
                </a:solidFill>
              </a:rPr>
              <a:t>Example:</a:t>
            </a:r>
            <a:endParaRPr>
              <a:solidFill>
                <a:srgbClr val="000000"/>
              </a:solidFill>
            </a:endParaRPr>
          </a:p>
          <a:p>
            <a:pPr marL="457200" lvl="0" indent="0" algn="l" rtl="0">
              <a:spcBef>
                <a:spcPts val="0"/>
              </a:spcBef>
              <a:spcAft>
                <a:spcPts val="0"/>
              </a:spcAft>
              <a:buNone/>
            </a:pPr>
            <a:r>
              <a:rPr lang="en">
                <a:solidFill>
                  <a:srgbClr val="000000"/>
                </a:solidFill>
              </a:rPr>
              <a:t>StringBuffer s = </a:t>
            </a:r>
            <a:r>
              <a:rPr lang="en" b="1">
                <a:solidFill>
                  <a:srgbClr val="000000"/>
                </a:solidFill>
              </a:rPr>
              <a:t>new</a:t>
            </a:r>
            <a:r>
              <a:rPr lang="en">
                <a:solidFill>
                  <a:srgbClr val="000000"/>
                </a:solidFill>
              </a:rPr>
              <a:t> StringBuffer(“Welcome to java");</a:t>
            </a:r>
            <a:endParaRPr>
              <a:solidFill>
                <a:srgbClr val="000000"/>
              </a:solidFill>
            </a:endParaRPr>
          </a:p>
          <a:p>
            <a:pPr marL="457200" lvl="0" indent="0" algn="l" rtl="0">
              <a:spcBef>
                <a:spcPts val="0"/>
              </a:spcBef>
              <a:spcAft>
                <a:spcPts val="0"/>
              </a:spcAft>
              <a:buNone/>
            </a:pPr>
            <a:r>
              <a:rPr lang="en">
                <a:solidFill>
                  <a:srgbClr val="000000"/>
                </a:solidFill>
              </a:rPr>
              <a:t>System.out.println("Original String: " + s);</a:t>
            </a:r>
            <a:endParaRPr>
              <a:solidFill>
                <a:srgbClr val="000000"/>
              </a:solidFill>
            </a:endParaRPr>
          </a:p>
          <a:p>
            <a:pPr marL="457200" lvl="0" indent="0" algn="l" rtl="0">
              <a:spcBef>
                <a:spcPts val="0"/>
              </a:spcBef>
              <a:spcAft>
                <a:spcPts val="0"/>
              </a:spcAft>
              <a:buNone/>
            </a:pPr>
            <a:r>
              <a:rPr lang="en">
                <a:solidFill>
                  <a:srgbClr val="000000"/>
                </a:solidFill>
              </a:rPr>
              <a:t>s.replace(12, 15, "Tutorial");</a:t>
            </a:r>
            <a:endParaRPr>
              <a:solidFill>
                <a:srgbClr val="000000"/>
              </a:solidFill>
            </a:endParaRPr>
          </a:p>
          <a:p>
            <a:pPr marL="457200" lvl="0" indent="0" algn="l" rtl="0">
              <a:spcBef>
                <a:spcPts val="0"/>
              </a:spcBef>
              <a:spcAft>
                <a:spcPts val="0"/>
              </a:spcAft>
              <a:buNone/>
            </a:pPr>
            <a:r>
              <a:rPr lang="en">
                <a:solidFill>
                  <a:srgbClr val="000000"/>
                </a:solidFill>
              </a:rPr>
              <a:t>System.out.println("Resulting String after replacing: " + s);</a:t>
            </a:r>
            <a:endParaRPr>
              <a:solidFill>
                <a:srgbClr val="666666"/>
              </a:solidFill>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Shape 900"/>
        <p:cNvGrpSpPr/>
        <p:nvPr/>
      </p:nvGrpSpPr>
      <p:grpSpPr>
        <a:xfrm>
          <a:off x="0" y="0"/>
          <a:ext cx="0" cy="0"/>
          <a:chOff x="0" y="0"/>
          <a:chExt cx="0" cy="0"/>
        </a:xfrm>
      </p:grpSpPr>
      <p:sp>
        <p:nvSpPr>
          <p:cNvPr id="901" name="Google Shape;901;p141"/>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a:t>
            </a:r>
            <a:endParaRPr/>
          </a:p>
        </p:txBody>
      </p:sp>
      <p:pic>
        <p:nvPicPr>
          <p:cNvPr id="902" name="Google Shape;902;p141"/>
          <p:cNvPicPr preferRelativeResize="0"/>
          <p:nvPr/>
        </p:nvPicPr>
        <p:blipFill>
          <a:blip r:embed="rId3">
            <a:alphaModFix/>
          </a:blip>
          <a:stretch>
            <a:fillRect/>
          </a:stretch>
        </p:blipFill>
        <p:spPr>
          <a:xfrm>
            <a:off x="152400" y="1304825"/>
            <a:ext cx="8839200" cy="3450075"/>
          </a:xfrm>
          <a:prstGeom prst="rect">
            <a:avLst/>
          </a:prstGeom>
          <a:noFill/>
          <a:ln>
            <a:noFill/>
          </a:ln>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142"/>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a:t>
            </a:r>
            <a:endParaRPr/>
          </a:p>
        </p:txBody>
      </p:sp>
      <p:pic>
        <p:nvPicPr>
          <p:cNvPr id="908" name="Google Shape;908;p142"/>
          <p:cNvPicPr preferRelativeResize="0"/>
          <p:nvPr/>
        </p:nvPicPr>
        <p:blipFill>
          <a:blip r:embed="rId3">
            <a:alphaModFix/>
          </a:blip>
          <a:stretch>
            <a:fillRect/>
          </a:stretch>
        </p:blipFill>
        <p:spPr>
          <a:xfrm>
            <a:off x="457200" y="1304825"/>
            <a:ext cx="8839199" cy="3185297"/>
          </a:xfrm>
          <a:prstGeom prst="rect">
            <a:avLst/>
          </a:prstGeom>
          <a:noFill/>
          <a:ln>
            <a:noFill/>
          </a:ln>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Shape 954"/>
        <p:cNvGrpSpPr/>
        <p:nvPr/>
      </p:nvGrpSpPr>
      <p:grpSpPr>
        <a:xfrm>
          <a:off x="0" y="0"/>
          <a:ext cx="0" cy="0"/>
          <a:chOff x="0" y="0"/>
          <a:chExt cx="0" cy="0"/>
        </a:xfrm>
      </p:grpSpPr>
      <p:sp>
        <p:nvSpPr>
          <p:cNvPr id="955" name="Google Shape;955;p149"/>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Wrapper Class</a:t>
            </a:r>
            <a:endParaRPr/>
          </a:p>
        </p:txBody>
      </p:sp>
      <p:sp>
        <p:nvSpPr>
          <p:cNvPr id="956" name="Google Shape;956;p149"/>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rgbClr val="666666"/>
              </a:buClr>
              <a:buSzPts val="1800"/>
              <a:buChar char="●"/>
            </a:pPr>
            <a:r>
              <a:rPr lang="en">
                <a:solidFill>
                  <a:srgbClr val="666666"/>
                </a:solidFill>
              </a:rPr>
              <a:t>In java, wrapper classes are used to convert primitive types into class objects.</a:t>
            </a:r>
            <a:endParaRPr>
              <a:solidFill>
                <a:srgbClr val="666666"/>
              </a:solidFill>
            </a:endParaRPr>
          </a:p>
          <a:p>
            <a:pPr marL="457200" lvl="0" indent="-342900" algn="l" rtl="0">
              <a:spcBef>
                <a:spcPts val="0"/>
              </a:spcBef>
              <a:spcAft>
                <a:spcPts val="0"/>
              </a:spcAft>
              <a:buClr>
                <a:srgbClr val="666666"/>
              </a:buClr>
              <a:buSzPts val="1800"/>
              <a:buChar char="●"/>
            </a:pPr>
            <a:r>
              <a:rPr lang="en">
                <a:solidFill>
                  <a:srgbClr val="666666"/>
                </a:solidFill>
              </a:rPr>
              <a:t>Basically, generic classes only work with objects and don't support primitives. As a result, if we want to work with them, we have to convert primitive values into wrapper objects.</a:t>
            </a:r>
            <a:endParaRPr>
              <a:solidFill>
                <a:srgbClr val="666666"/>
              </a:solidFill>
            </a:endParaRPr>
          </a:p>
          <a:p>
            <a:pPr marL="457200" lvl="0" indent="-342900" algn="l" rtl="0">
              <a:spcBef>
                <a:spcPts val="0"/>
              </a:spcBef>
              <a:spcAft>
                <a:spcPts val="0"/>
              </a:spcAft>
              <a:buClr>
                <a:srgbClr val="666666"/>
              </a:buClr>
              <a:buSzPts val="1800"/>
              <a:buChar char="●"/>
            </a:pPr>
            <a:r>
              <a:rPr lang="en">
                <a:solidFill>
                  <a:srgbClr val="666666"/>
                </a:solidFill>
              </a:rPr>
              <a:t>Each primitive type has corresponding wrapper classes.</a:t>
            </a:r>
            <a:endParaRPr>
              <a:solidFill>
                <a:srgbClr val="666666"/>
              </a:solidFill>
            </a:endParaRPr>
          </a:p>
          <a:p>
            <a:pPr marL="457200" lvl="0" indent="-342900" algn="l" rtl="0">
              <a:spcBef>
                <a:spcPts val="0"/>
              </a:spcBef>
              <a:spcAft>
                <a:spcPts val="0"/>
              </a:spcAft>
              <a:buClr>
                <a:srgbClr val="666666"/>
              </a:buClr>
              <a:buSzPts val="1800"/>
              <a:buChar char="●"/>
            </a:pPr>
            <a:r>
              <a:rPr lang="en">
                <a:solidFill>
                  <a:srgbClr val="666666"/>
                </a:solidFill>
              </a:rPr>
              <a:t>All wrapper classes belongs to the </a:t>
            </a:r>
            <a:r>
              <a:rPr lang="en" b="1">
                <a:solidFill>
                  <a:srgbClr val="666666"/>
                </a:solidFill>
              </a:rPr>
              <a:t>java.lang</a:t>
            </a:r>
            <a:r>
              <a:rPr lang="en">
                <a:solidFill>
                  <a:srgbClr val="666666"/>
                </a:solidFill>
              </a:rPr>
              <a:t> package</a:t>
            </a:r>
            <a:endParaRPr>
              <a:solidFill>
                <a:srgbClr val="666666"/>
              </a:solidFill>
            </a:endParaRPr>
          </a:p>
          <a:p>
            <a:pPr marL="0" lvl="0" indent="0" algn="l" rtl="0">
              <a:spcBef>
                <a:spcPts val="0"/>
              </a:spcBef>
              <a:spcAft>
                <a:spcPts val="1200"/>
              </a:spcAft>
              <a:buNone/>
            </a:pPr>
            <a:endParaRPr>
              <a:solidFill>
                <a:srgbClr val="666666"/>
              </a:solidFill>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Shape 960"/>
        <p:cNvGrpSpPr/>
        <p:nvPr/>
      </p:nvGrpSpPr>
      <p:grpSpPr>
        <a:xfrm>
          <a:off x="0" y="0"/>
          <a:ext cx="0" cy="0"/>
          <a:chOff x="0" y="0"/>
          <a:chExt cx="0" cy="0"/>
        </a:xfrm>
      </p:grpSpPr>
      <p:sp>
        <p:nvSpPr>
          <p:cNvPr id="961" name="Google Shape;961;p150"/>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Wrapper Class</a:t>
            </a:r>
            <a:endParaRPr/>
          </a:p>
        </p:txBody>
      </p:sp>
      <p:pic>
        <p:nvPicPr>
          <p:cNvPr id="962" name="Google Shape;962;p150"/>
          <p:cNvPicPr preferRelativeResize="0"/>
          <p:nvPr/>
        </p:nvPicPr>
        <p:blipFill>
          <a:blip r:embed="rId3">
            <a:alphaModFix/>
          </a:blip>
          <a:stretch>
            <a:fillRect/>
          </a:stretch>
        </p:blipFill>
        <p:spPr>
          <a:xfrm>
            <a:off x="1230650" y="1355150"/>
            <a:ext cx="5659751" cy="3459875"/>
          </a:xfrm>
          <a:prstGeom prst="rect">
            <a:avLst/>
          </a:prstGeom>
          <a:noFill/>
          <a:ln>
            <a:noFill/>
          </a:ln>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Shape 966"/>
        <p:cNvGrpSpPr/>
        <p:nvPr/>
      </p:nvGrpSpPr>
      <p:grpSpPr>
        <a:xfrm>
          <a:off x="0" y="0"/>
          <a:ext cx="0" cy="0"/>
          <a:chOff x="0" y="0"/>
          <a:chExt cx="0" cy="0"/>
        </a:xfrm>
      </p:grpSpPr>
      <p:sp>
        <p:nvSpPr>
          <p:cNvPr id="967" name="Google Shape;967;p151"/>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Need of Wrapper Class</a:t>
            </a:r>
            <a:endParaRPr/>
          </a:p>
        </p:txBody>
      </p:sp>
      <p:sp>
        <p:nvSpPr>
          <p:cNvPr id="968" name="Google Shape;968;p151"/>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Autofit/>
          </a:bodyPr>
          <a:lstStyle/>
          <a:p>
            <a:pPr marL="457200" lvl="0" indent="-323850" algn="l" rtl="0">
              <a:spcBef>
                <a:spcPts val="1000"/>
              </a:spcBef>
              <a:spcAft>
                <a:spcPts val="0"/>
              </a:spcAft>
              <a:buClr>
                <a:srgbClr val="666666"/>
              </a:buClr>
              <a:buSzPts val="1500"/>
              <a:buFont typeface="Open Sans"/>
              <a:buChar char="●"/>
            </a:pPr>
            <a:r>
              <a:rPr lang="en" sz="1500">
                <a:solidFill>
                  <a:srgbClr val="666666"/>
                </a:solidFill>
                <a:highlight>
                  <a:srgbClr val="FAFBFC"/>
                </a:highlight>
              </a:rPr>
              <a:t>Whenever the primitive types are required as an object, wrapper classes can be used. Wrapper classes also include methods to unwrap the object and give back the data type.</a:t>
            </a:r>
            <a:endParaRPr sz="1500">
              <a:solidFill>
                <a:srgbClr val="666666"/>
              </a:solidFill>
              <a:highlight>
                <a:srgbClr val="FAFBFC"/>
              </a:highlight>
            </a:endParaRPr>
          </a:p>
          <a:p>
            <a:pPr marL="457200" lvl="0" indent="-323850" algn="l" rtl="0">
              <a:spcBef>
                <a:spcPts val="0"/>
              </a:spcBef>
              <a:spcAft>
                <a:spcPts val="0"/>
              </a:spcAft>
              <a:buClr>
                <a:srgbClr val="666666"/>
              </a:buClr>
              <a:buSzPts val="1500"/>
              <a:buFont typeface="Open Sans"/>
              <a:buChar char="●"/>
            </a:pPr>
            <a:r>
              <a:rPr lang="en" sz="1500">
                <a:solidFill>
                  <a:srgbClr val="666666"/>
                </a:solidFill>
                <a:highlight>
                  <a:srgbClr val="FAFBFC"/>
                </a:highlight>
              </a:rPr>
              <a:t>In java.util package, the classes handle only objects. In this case wrapper class are helpful as they convert primitive data type to objects.</a:t>
            </a:r>
            <a:endParaRPr sz="1500">
              <a:solidFill>
                <a:srgbClr val="666666"/>
              </a:solidFill>
              <a:highlight>
                <a:srgbClr val="FAFBFC"/>
              </a:highlight>
            </a:endParaRPr>
          </a:p>
          <a:p>
            <a:pPr marL="457200" lvl="0" indent="-323850" algn="l" rtl="0">
              <a:spcBef>
                <a:spcPts val="0"/>
              </a:spcBef>
              <a:spcAft>
                <a:spcPts val="0"/>
              </a:spcAft>
              <a:buClr>
                <a:srgbClr val="666666"/>
              </a:buClr>
              <a:buSzPts val="1500"/>
              <a:buFont typeface="Open Sans"/>
              <a:buChar char="●"/>
            </a:pPr>
            <a:r>
              <a:rPr lang="en" sz="1500">
                <a:solidFill>
                  <a:srgbClr val="666666"/>
                </a:solidFill>
                <a:highlight>
                  <a:srgbClr val="FAFBFC"/>
                </a:highlight>
              </a:rPr>
              <a:t>In the Collection framework, Data Structures such as ArrayList store data only as objects and not the primitive types.</a:t>
            </a:r>
            <a:endParaRPr sz="1500">
              <a:solidFill>
                <a:srgbClr val="666666"/>
              </a:solidFill>
              <a:highlight>
                <a:srgbClr val="FAFBFC"/>
              </a:highlight>
            </a:endParaRPr>
          </a:p>
          <a:p>
            <a:pPr marL="457200" lvl="0" indent="-323850" algn="l" rtl="0">
              <a:spcBef>
                <a:spcPts val="0"/>
              </a:spcBef>
              <a:spcAft>
                <a:spcPts val="0"/>
              </a:spcAft>
              <a:buClr>
                <a:srgbClr val="666666"/>
              </a:buClr>
              <a:buSzPts val="1500"/>
              <a:buFont typeface="Open Sans"/>
              <a:buChar char="●"/>
            </a:pPr>
            <a:r>
              <a:rPr lang="en" sz="1500">
                <a:solidFill>
                  <a:srgbClr val="666666"/>
                </a:solidFill>
                <a:highlight>
                  <a:srgbClr val="FAFBFC"/>
                </a:highlight>
              </a:rPr>
              <a:t>Wrapper classes have methods that support object creation from other object types such as string.</a:t>
            </a:r>
            <a:endParaRPr sz="1500">
              <a:solidFill>
                <a:srgbClr val="666666"/>
              </a:solidFill>
              <a:highlight>
                <a:srgbClr val="FAFBFC"/>
              </a:highlight>
            </a:endParaRPr>
          </a:p>
          <a:p>
            <a:pPr marL="457200" lvl="0" indent="-323850" algn="l" rtl="0">
              <a:spcBef>
                <a:spcPts val="0"/>
              </a:spcBef>
              <a:spcAft>
                <a:spcPts val="0"/>
              </a:spcAft>
              <a:buClr>
                <a:srgbClr val="666666"/>
              </a:buClr>
              <a:buSzPts val="1500"/>
              <a:buFont typeface="Open Sans"/>
              <a:buChar char="●"/>
            </a:pPr>
            <a:r>
              <a:rPr lang="en" sz="1500">
                <a:solidFill>
                  <a:srgbClr val="666666"/>
                </a:solidFill>
                <a:highlight>
                  <a:srgbClr val="FAFBFC"/>
                </a:highlight>
              </a:rPr>
              <a:t>Wrapper classes are also used for synchronization in multithreading. As in synchronization process, we try to achieve that the shared resource will be used by only one thread at a time. Objects are needed for this.</a:t>
            </a:r>
            <a:endParaRPr sz="1500">
              <a:solidFill>
                <a:srgbClr val="666666"/>
              </a:solidFill>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Shape 972"/>
        <p:cNvGrpSpPr/>
        <p:nvPr/>
      </p:nvGrpSpPr>
      <p:grpSpPr>
        <a:xfrm>
          <a:off x="0" y="0"/>
          <a:ext cx="0" cy="0"/>
          <a:chOff x="0" y="0"/>
          <a:chExt cx="0" cy="0"/>
        </a:xfrm>
      </p:grpSpPr>
      <p:sp>
        <p:nvSpPr>
          <p:cNvPr id="973" name="Google Shape;973;p152"/>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Wrapper Class</a:t>
            </a:r>
            <a:endParaRPr/>
          </a:p>
        </p:txBody>
      </p:sp>
      <p:sp>
        <p:nvSpPr>
          <p:cNvPr id="974" name="Google Shape;974;p152"/>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rgbClr val="666666"/>
                </a:solidFill>
              </a:rPr>
              <a:t>Creating wrapper object:</a:t>
            </a:r>
            <a:endParaRPr>
              <a:solidFill>
                <a:srgbClr val="666666"/>
              </a:solidFill>
            </a:endParaRPr>
          </a:p>
          <a:p>
            <a:pPr marL="457200" lvl="0" indent="-342900" algn="l" rtl="0">
              <a:spcBef>
                <a:spcPts val="1200"/>
              </a:spcBef>
              <a:spcAft>
                <a:spcPts val="0"/>
              </a:spcAft>
              <a:buClr>
                <a:srgbClr val="666666"/>
              </a:buClr>
              <a:buSzPts val="1800"/>
              <a:buAutoNum type="arabicPeriod"/>
            </a:pPr>
            <a:r>
              <a:rPr lang="en">
                <a:solidFill>
                  <a:srgbClr val="666666"/>
                </a:solidFill>
              </a:rPr>
              <a:t>Using wrapper class constructor	//deprecated</a:t>
            </a:r>
            <a:endParaRPr>
              <a:solidFill>
                <a:srgbClr val="666666"/>
              </a:solidFill>
            </a:endParaRPr>
          </a:p>
          <a:p>
            <a:pPr marL="457200" lvl="0" indent="-342900" algn="l" rtl="0">
              <a:spcBef>
                <a:spcPts val="0"/>
              </a:spcBef>
              <a:spcAft>
                <a:spcPts val="0"/>
              </a:spcAft>
              <a:buClr>
                <a:srgbClr val="666666"/>
              </a:buClr>
              <a:buSzPts val="1800"/>
              <a:buAutoNum type="arabicPeriod"/>
            </a:pPr>
            <a:r>
              <a:rPr lang="en">
                <a:solidFill>
                  <a:srgbClr val="666666"/>
                </a:solidFill>
              </a:rPr>
              <a:t>Using wrapper class only</a:t>
            </a:r>
            <a:endParaRPr>
              <a:solidFill>
                <a:srgbClr val="666666"/>
              </a:solidFill>
            </a:endParaRPr>
          </a:p>
          <a:p>
            <a:pPr marL="457200" lvl="0" indent="-342900" algn="l" rtl="0">
              <a:spcBef>
                <a:spcPts val="0"/>
              </a:spcBef>
              <a:spcAft>
                <a:spcPts val="0"/>
              </a:spcAft>
              <a:buClr>
                <a:srgbClr val="666666"/>
              </a:buClr>
              <a:buSzPts val="1800"/>
              <a:buAutoNum type="arabicPeriod"/>
            </a:pPr>
            <a:r>
              <a:rPr lang="en">
                <a:solidFill>
                  <a:srgbClr val="666666"/>
                </a:solidFill>
              </a:rPr>
              <a:t>Using valueOf() method</a:t>
            </a:r>
            <a:endParaRPr>
              <a:solidFill>
                <a:srgbClr val="666666"/>
              </a:solidFill>
            </a:endParaRPr>
          </a:p>
          <a:p>
            <a:pPr marL="457200" lvl="0" indent="0" algn="l" rtl="0">
              <a:spcBef>
                <a:spcPts val="0"/>
              </a:spcBef>
              <a:spcAft>
                <a:spcPts val="1200"/>
              </a:spcAft>
              <a:buNone/>
            </a:pPr>
            <a:endParaRPr>
              <a:solidFill>
                <a:srgbClr val="666666"/>
              </a:solidFill>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Shape 978"/>
        <p:cNvGrpSpPr/>
        <p:nvPr/>
      </p:nvGrpSpPr>
      <p:grpSpPr>
        <a:xfrm>
          <a:off x="0" y="0"/>
          <a:ext cx="0" cy="0"/>
          <a:chOff x="0" y="0"/>
          <a:chExt cx="0" cy="0"/>
        </a:xfrm>
      </p:grpSpPr>
      <p:sp>
        <p:nvSpPr>
          <p:cNvPr id="979" name="Google Shape;979;p153"/>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Using wrapper class constructor</a:t>
            </a:r>
            <a:endParaRPr/>
          </a:p>
        </p:txBody>
      </p:sp>
      <p:sp>
        <p:nvSpPr>
          <p:cNvPr id="980" name="Google Shape;980;p153"/>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Autofit/>
          </a:bodyPr>
          <a:lstStyle/>
          <a:p>
            <a:pPr marL="457200" lvl="0" indent="-336550" algn="l" rtl="0">
              <a:spcBef>
                <a:spcPts val="0"/>
              </a:spcBef>
              <a:spcAft>
                <a:spcPts val="0"/>
              </a:spcAft>
              <a:buClr>
                <a:srgbClr val="666666"/>
              </a:buClr>
              <a:buSzPts val="1700"/>
              <a:buChar char="●"/>
            </a:pPr>
            <a:r>
              <a:rPr lang="en" sz="1700">
                <a:solidFill>
                  <a:srgbClr val="666666"/>
                </a:solidFill>
              </a:rPr>
              <a:t>•We can create a wrapper object using the wrapper class and its constructor by passing the value to it.</a:t>
            </a:r>
            <a:endParaRPr sz="1700">
              <a:solidFill>
                <a:srgbClr val="666666"/>
              </a:solidFill>
            </a:endParaRPr>
          </a:p>
          <a:p>
            <a:pPr marL="457200" lvl="0" indent="-336550" algn="l" rtl="0">
              <a:spcBef>
                <a:spcPts val="0"/>
              </a:spcBef>
              <a:spcAft>
                <a:spcPts val="0"/>
              </a:spcAft>
              <a:buClr>
                <a:srgbClr val="666666"/>
              </a:buClr>
              <a:buSzPts val="1700"/>
              <a:buChar char="●"/>
            </a:pPr>
            <a:r>
              <a:rPr lang="en" sz="1700" b="1">
                <a:solidFill>
                  <a:srgbClr val="666666"/>
                </a:solidFill>
              </a:rPr>
              <a:t>Syntax</a:t>
            </a:r>
            <a:r>
              <a:rPr lang="en" sz="1700">
                <a:solidFill>
                  <a:srgbClr val="666666"/>
                </a:solidFill>
              </a:rPr>
              <a:t>:</a:t>
            </a:r>
            <a:endParaRPr sz="1700">
              <a:solidFill>
                <a:srgbClr val="666666"/>
              </a:solidFill>
            </a:endParaRPr>
          </a:p>
          <a:p>
            <a:pPr marL="457200" lvl="0" indent="457200" algn="l" rtl="0">
              <a:spcBef>
                <a:spcPts val="0"/>
              </a:spcBef>
              <a:spcAft>
                <a:spcPts val="0"/>
              </a:spcAft>
              <a:buNone/>
            </a:pPr>
            <a:r>
              <a:rPr lang="en" sz="1700" b="1">
                <a:solidFill>
                  <a:srgbClr val="666666"/>
                </a:solidFill>
              </a:rPr>
              <a:t>ClassName object = new ClassName(argument);</a:t>
            </a:r>
            <a:endParaRPr sz="1700" b="1">
              <a:solidFill>
                <a:srgbClr val="666666"/>
              </a:solidFill>
            </a:endParaRPr>
          </a:p>
          <a:p>
            <a:pPr marL="457200" lvl="0" indent="-336550" algn="l" rtl="0">
              <a:spcBef>
                <a:spcPts val="0"/>
              </a:spcBef>
              <a:spcAft>
                <a:spcPts val="0"/>
              </a:spcAft>
              <a:buClr>
                <a:srgbClr val="666666"/>
              </a:buClr>
              <a:buSzPts val="1700"/>
              <a:buChar char="●"/>
            </a:pPr>
            <a:r>
              <a:rPr lang="en" sz="1700" b="1">
                <a:solidFill>
                  <a:srgbClr val="666666"/>
                </a:solidFill>
              </a:rPr>
              <a:t>Example</a:t>
            </a:r>
            <a:r>
              <a:rPr lang="en" sz="1700">
                <a:solidFill>
                  <a:srgbClr val="666666"/>
                </a:solidFill>
              </a:rPr>
              <a:t>:</a:t>
            </a:r>
            <a:endParaRPr sz="1700">
              <a:solidFill>
                <a:srgbClr val="666666"/>
              </a:solidFill>
            </a:endParaRPr>
          </a:p>
          <a:p>
            <a:pPr marL="457200" lvl="0" indent="457200" algn="l" rtl="0">
              <a:spcBef>
                <a:spcPts val="0"/>
              </a:spcBef>
              <a:spcAft>
                <a:spcPts val="0"/>
              </a:spcAft>
              <a:buNone/>
            </a:pPr>
            <a:r>
              <a:rPr lang="en" sz="1700" b="1">
                <a:solidFill>
                  <a:srgbClr val="666666"/>
                </a:solidFill>
              </a:rPr>
              <a:t>Integer number = new Integer(58);</a:t>
            </a:r>
            <a:endParaRPr sz="1700" b="1">
              <a:solidFill>
                <a:srgbClr val="666666"/>
              </a:solidFill>
            </a:endParaRPr>
          </a:p>
          <a:p>
            <a:pPr marL="457200" lvl="0" indent="-336550" algn="l" rtl="0">
              <a:spcBef>
                <a:spcPts val="0"/>
              </a:spcBef>
              <a:spcAft>
                <a:spcPts val="0"/>
              </a:spcAft>
              <a:buClr>
                <a:srgbClr val="666666"/>
              </a:buClr>
              <a:buSzPts val="1700"/>
              <a:buChar char="●"/>
            </a:pPr>
            <a:r>
              <a:rPr lang="en" sz="1700">
                <a:solidFill>
                  <a:srgbClr val="666666"/>
                </a:solidFill>
              </a:rPr>
              <a:t>However, the way of creating an instance of </a:t>
            </a:r>
            <a:r>
              <a:rPr lang="en" sz="1700">
                <a:solidFill>
                  <a:srgbClr val="FF8118"/>
                </a:solidFill>
              </a:rPr>
              <a:t>wrapper classes using constructor is deprecated</a:t>
            </a:r>
            <a:r>
              <a:rPr lang="en" sz="1700">
                <a:solidFill>
                  <a:srgbClr val="666666"/>
                </a:solidFill>
              </a:rPr>
              <a:t> as of the latest version of JDK.</a:t>
            </a:r>
            <a:endParaRPr sz="1700">
              <a:solidFill>
                <a:srgbClr val="666666"/>
              </a:solidFill>
            </a:endParaRPr>
          </a:p>
          <a:p>
            <a:pPr marL="457200" lvl="0" indent="-336550" algn="l" rtl="0">
              <a:spcBef>
                <a:spcPts val="0"/>
              </a:spcBef>
              <a:spcAft>
                <a:spcPts val="0"/>
              </a:spcAft>
              <a:buClr>
                <a:srgbClr val="666666"/>
              </a:buClr>
              <a:buSzPts val="1700"/>
              <a:buChar char="●"/>
            </a:pPr>
            <a:r>
              <a:rPr lang="en" sz="1700">
                <a:solidFill>
                  <a:srgbClr val="666666"/>
                </a:solidFill>
              </a:rPr>
              <a:t>This is because each time new memory is allocated in the heap when we create an object with the help of the constructor.</a:t>
            </a:r>
            <a:endParaRPr sz="1700">
              <a:solidFill>
                <a:srgbClr val="666666"/>
              </a:solidFill>
            </a:endParaRPr>
          </a:p>
          <a:p>
            <a:pPr marL="457200" lvl="0" indent="-336550" algn="l" rtl="0">
              <a:spcBef>
                <a:spcPts val="0"/>
              </a:spcBef>
              <a:spcAft>
                <a:spcPts val="0"/>
              </a:spcAft>
              <a:buClr>
                <a:srgbClr val="666666"/>
              </a:buClr>
              <a:buSzPts val="1700"/>
              <a:buChar char="●"/>
            </a:pPr>
            <a:r>
              <a:rPr lang="en" sz="1700">
                <a:solidFill>
                  <a:srgbClr val="666666"/>
                </a:solidFill>
              </a:rPr>
              <a:t>Also, the </a:t>
            </a:r>
            <a:r>
              <a:rPr lang="en" sz="1700">
                <a:solidFill>
                  <a:srgbClr val="FF8118"/>
                </a:solidFill>
              </a:rPr>
              <a:t>constructor Character(char) has been deprecated </a:t>
            </a:r>
            <a:r>
              <a:rPr lang="en" sz="1700">
                <a:solidFill>
                  <a:srgbClr val="666666"/>
                </a:solidFill>
              </a:rPr>
              <a:t>since JDK version 9.</a:t>
            </a:r>
            <a:endParaRPr sz="1700">
              <a:solidFill>
                <a:srgbClr val="666666"/>
              </a:solidFill>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Shape 984"/>
        <p:cNvGrpSpPr/>
        <p:nvPr/>
      </p:nvGrpSpPr>
      <p:grpSpPr>
        <a:xfrm>
          <a:off x="0" y="0"/>
          <a:ext cx="0" cy="0"/>
          <a:chOff x="0" y="0"/>
          <a:chExt cx="0" cy="0"/>
        </a:xfrm>
      </p:grpSpPr>
      <p:sp>
        <p:nvSpPr>
          <p:cNvPr id="985" name="Google Shape;985;p15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Using Wrapper Class</a:t>
            </a:r>
            <a:endParaRPr/>
          </a:p>
        </p:txBody>
      </p:sp>
      <p:sp>
        <p:nvSpPr>
          <p:cNvPr id="986" name="Google Shape;986;p15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rgbClr val="666666"/>
              </a:buClr>
              <a:buSzPts val="1800"/>
              <a:buChar char="●"/>
            </a:pPr>
            <a:r>
              <a:rPr lang="en">
                <a:solidFill>
                  <a:srgbClr val="666666"/>
                </a:solidFill>
              </a:rPr>
              <a:t>We can create without using constructor as well by using the wrapper class instead of the primitive type to create a wrapper object without passing the value to the constructor</a:t>
            </a:r>
            <a:endParaRPr>
              <a:solidFill>
                <a:srgbClr val="666666"/>
              </a:solidFill>
            </a:endParaRPr>
          </a:p>
          <a:p>
            <a:pPr marL="457200" lvl="0" indent="-342900" algn="l" rtl="0">
              <a:spcBef>
                <a:spcPts val="0"/>
              </a:spcBef>
              <a:spcAft>
                <a:spcPts val="0"/>
              </a:spcAft>
              <a:buClr>
                <a:srgbClr val="666666"/>
              </a:buClr>
              <a:buSzPts val="1800"/>
              <a:buChar char="●"/>
            </a:pPr>
            <a:r>
              <a:rPr lang="en">
                <a:solidFill>
                  <a:srgbClr val="666666"/>
                </a:solidFill>
              </a:rPr>
              <a:t>To get the value, we can print the particular object.</a:t>
            </a:r>
            <a:endParaRPr>
              <a:solidFill>
                <a:srgbClr val="666666"/>
              </a:solidFill>
            </a:endParaRPr>
          </a:p>
          <a:p>
            <a:pPr marL="457200" lvl="0" indent="-342900" algn="l" rtl="0">
              <a:spcBef>
                <a:spcPts val="0"/>
              </a:spcBef>
              <a:spcAft>
                <a:spcPts val="0"/>
              </a:spcAft>
              <a:buClr>
                <a:srgbClr val="666666"/>
              </a:buClr>
              <a:buSzPts val="1800"/>
              <a:buChar char="●"/>
            </a:pPr>
            <a:r>
              <a:rPr lang="en" b="1">
                <a:solidFill>
                  <a:srgbClr val="666666"/>
                </a:solidFill>
              </a:rPr>
              <a:t>Syntax:</a:t>
            </a:r>
            <a:endParaRPr b="1">
              <a:solidFill>
                <a:srgbClr val="666666"/>
              </a:solidFill>
            </a:endParaRPr>
          </a:p>
          <a:p>
            <a:pPr marL="0" lvl="0" indent="0" algn="l" rtl="0">
              <a:spcBef>
                <a:spcPts val="0"/>
              </a:spcBef>
              <a:spcAft>
                <a:spcPts val="0"/>
              </a:spcAft>
              <a:buNone/>
            </a:pPr>
            <a:r>
              <a:rPr lang="en" b="1">
                <a:solidFill>
                  <a:srgbClr val="666666"/>
                </a:solidFill>
              </a:rPr>
              <a:t>  		ClassName object = value;             	</a:t>
            </a:r>
            <a:endParaRPr b="1">
              <a:solidFill>
                <a:srgbClr val="666666"/>
              </a:solidFill>
            </a:endParaRPr>
          </a:p>
          <a:p>
            <a:pPr marL="457200" lvl="0" indent="-342900" algn="l" rtl="0">
              <a:spcBef>
                <a:spcPts val="0"/>
              </a:spcBef>
              <a:spcAft>
                <a:spcPts val="0"/>
              </a:spcAft>
              <a:buClr>
                <a:srgbClr val="666666"/>
              </a:buClr>
              <a:buSzPts val="1800"/>
              <a:buChar char="●"/>
            </a:pPr>
            <a:r>
              <a:rPr lang="en" b="1">
                <a:solidFill>
                  <a:srgbClr val="666666"/>
                </a:solidFill>
              </a:rPr>
              <a:t>Example:</a:t>
            </a:r>
            <a:endParaRPr b="1">
              <a:solidFill>
                <a:srgbClr val="666666"/>
              </a:solidFill>
            </a:endParaRPr>
          </a:p>
          <a:p>
            <a:pPr marL="0" lvl="0" indent="0" algn="l" rtl="0">
              <a:spcBef>
                <a:spcPts val="0"/>
              </a:spcBef>
              <a:spcAft>
                <a:spcPts val="0"/>
              </a:spcAft>
              <a:buNone/>
            </a:pPr>
            <a:r>
              <a:rPr lang="en">
                <a:solidFill>
                  <a:srgbClr val="666666"/>
                </a:solidFill>
              </a:rPr>
              <a:t>  		Integer intValue = 10;</a:t>
            </a:r>
            <a:endParaRPr>
              <a:solidFill>
                <a:srgbClr val="666666"/>
              </a:solidFill>
            </a:endParaRPr>
          </a:p>
          <a:p>
            <a:pPr marL="0" lvl="0" indent="0" algn="l" rtl="0">
              <a:spcBef>
                <a:spcPts val="0"/>
              </a:spcBef>
              <a:spcAft>
                <a:spcPts val="0"/>
              </a:spcAft>
              <a:buNone/>
            </a:pPr>
            <a:r>
              <a:rPr lang="en">
                <a:solidFill>
                  <a:srgbClr val="666666"/>
                </a:solidFill>
              </a:rPr>
              <a:t>  		System.out.println(intValue); </a:t>
            </a:r>
            <a:endParaRPr>
              <a:solidFill>
                <a:srgbClr val="666666"/>
              </a:solidFill>
            </a:endParaRPr>
          </a:p>
          <a:p>
            <a:pPr marL="0" lvl="0" indent="0" algn="l" rtl="0">
              <a:spcBef>
                <a:spcPts val="0"/>
              </a:spcBef>
              <a:spcAft>
                <a:spcPts val="1200"/>
              </a:spcAft>
              <a:buNone/>
            </a:pPr>
            <a:endParaRPr>
              <a:solidFill>
                <a:srgbClr val="666666"/>
              </a:solidFill>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Shape 990"/>
        <p:cNvGrpSpPr/>
        <p:nvPr/>
      </p:nvGrpSpPr>
      <p:grpSpPr>
        <a:xfrm>
          <a:off x="0" y="0"/>
          <a:ext cx="0" cy="0"/>
          <a:chOff x="0" y="0"/>
          <a:chExt cx="0" cy="0"/>
        </a:xfrm>
      </p:grpSpPr>
      <p:sp>
        <p:nvSpPr>
          <p:cNvPr id="991" name="Google Shape;991;p15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Using valueof() method</a:t>
            </a:r>
            <a:endParaRPr/>
          </a:p>
        </p:txBody>
      </p:sp>
      <p:sp>
        <p:nvSpPr>
          <p:cNvPr id="992" name="Google Shape;992;p155"/>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rgbClr val="666666"/>
                </a:solidFill>
                <a:highlight>
                  <a:srgbClr val="FAFBFC"/>
                </a:highlight>
              </a:rPr>
              <a:t>By using valueOf Static method, a Wrapper object can be created.</a:t>
            </a:r>
            <a:endParaRPr>
              <a:solidFill>
                <a:srgbClr val="666666"/>
              </a:solidFill>
              <a:highlight>
                <a:srgbClr val="FAFBFC"/>
              </a:highlight>
            </a:endParaRPr>
          </a:p>
          <a:p>
            <a:pPr marL="457200" lvl="0" indent="-342900" algn="l" rtl="0">
              <a:spcBef>
                <a:spcPts val="1200"/>
              </a:spcBef>
              <a:spcAft>
                <a:spcPts val="0"/>
              </a:spcAft>
              <a:buClr>
                <a:srgbClr val="666666"/>
              </a:buClr>
              <a:buSzPts val="1800"/>
              <a:buChar char="●"/>
            </a:pPr>
            <a:r>
              <a:rPr lang="en" b="1">
                <a:solidFill>
                  <a:srgbClr val="666666"/>
                </a:solidFill>
              </a:rPr>
              <a:t>Syntax:</a:t>
            </a:r>
            <a:endParaRPr b="1">
              <a:solidFill>
                <a:srgbClr val="666666"/>
              </a:solidFill>
            </a:endParaRPr>
          </a:p>
          <a:p>
            <a:pPr marL="914400" lvl="0" indent="457200" algn="l" rtl="0">
              <a:spcBef>
                <a:spcPts val="0"/>
              </a:spcBef>
              <a:spcAft>
                <a:spcPts val="0"/>
              </a:spcAft>
              <a:buNone/>
            </a:pPr>
            <a:r>
              <a:rPr lang="en" b="1">
                <a:solidFill>
                  <a:srgbClr val="666666"/>
                </a:solidFill>
              </a:rPr>
              <a:t>ClassName object = ClassName.valueOf(argument);</a:t>
            </a:r>
            <a:endParaRPr b="1">
              <a:solidFill>
                <a:srgbClr val="666666"/>
              </a:solidFill>
            </a:endParaRPr>
          </a:p>
          <a:p>
            <a:pPr marL="457200" lvl="0" indent="-342900" algn="l" rtl="0">
              <a:spcBef>
                <a:spcPts val="0"/>
              </a:spcBef>
              <a:spcAft>
                <a:spcPts val="0"/>
              </a:spcAft>
              <a:buClr>
                <a:srgbClr val="666666"/>
              </a:buClr>
              <a:buSzPts val="1800"/>
              <a:buChar char="●"/>
            </a:pPr>
            <a:r>
              <a:rPr lang="en">
                <a:solidFill>
                  <a:srgbClr val="666666"/>
                </a:solidFill>
              </a:rPr>
              <a:t>Example:</a:t>
            </a:r>
            <a:endParaRPr>
              <a:solidFill>
                <a:srgbClr val="666666"/>
              </a:solidFill>
            </a:endParaRPr>
          </a:p>
          <a:p>
            <a:pPr marL="914400" lvl="0" indent="457200" algn="l" rtl="0">
              <a:spcBef>
                <a:spcPts val="0"/>
              </a:spcBef>
              <a:spcAft>
                <a:spcPts val="0"/>
              </a:spcAft>
              <a:buNone/>
            </a:pPr>
            <a:r>
              <a:rPr lang="en">
                <a:solidFill>
                  <a:srgbClr val="666666"/>
                </a:solidFill>
              </a:rPr>
              <a:t>int a= 10;</a:t>
            </a:r>
            <a:endParaRPr>
              <a:solidFill>
                <a:srgbClr val="666666"/>
              </a:solidFill>
            </a:endParaRPr>
          </a:p>
          <a:p>
            <a:pPr marL="914400" lvl="0" indent="457200" algn="l" rtl="0">
              <a:spcBef>
                <a:spcPts val="0"/>
              </a:spcBef>
              <a:spcAft>
                <a:spcPts val="0"/>
              </a:spcAft>
              <a:buNone/>
            </a:pPr>
            <a:r>
              <a:rPr lang="en">
                <a:solidFill>
                  <a:srgbClr val="666666"/>
                </a:solidFill>
              </a:rPr>
              <a:t>Integer num= Integer.valueOf(a);</a:t>
            </a:r>
            <a:endParaRPr>
              <a:solidFill>
                <a:srgbClr val="666666"/>
              </a:solidFill>
            </a:endParaRPr>
          </a:p>
          <a:p>
            <a:pPr marL="0" lvl="0" indent="0" algn="l" rtl="0">
              <a:spcBef>
                <a:spcPts val="0"/>
              </a:spcBef>
              <a:spcAft>
                <a:spcPts val="1200"/>
              </a:spcAft>
              <a:buNone/>
            </a:pPr>
            <a:endParaRPr>
              <a:solidFill>
                <a:srgbClr val="666666"/>
              </a:solidFill>
              <a:highlight>
                <a:srgbClr val="FAFBFC"/>
              </a:highlight>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Shape 996"/>
        <p:cNvGrpSpPr/>
        <p:nvPr/>
      </p:nvGrpSpPr>
      <p:grpSpPr>
        <a:xfrm>
          <a:off x="0" y="0"/>
          <a:ext cx="0" cy="0"/>
          <a:chOff x="0" y="0"/>
          <a:chExt cx="0" cy="0"/>
        </a:xfrm>
      </p:grpSpPr>
      <p:sp>
        <p:nvSpPr>
          <p:cNvPr id="997" name="Google Shape;997;p156"/>
          <p:cNvSpPr txBox="1">
            <a:spLocks noGrp="1"/>
          </p:cNvSpPr>
          <p:nvPr>
            <p:ph type="title"/>
          </p:nvPr>
        </p:nvSpPr>
        <p:spPr>
          <a:xfrm>
            <a:off x="311700" y="203750"/>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Wrapper class methods</a:t>
            </a:r>
            <a:endParaRPr/>
          </a:p>
        </p:txBody>
      </p:sp>
      <p:pic>
        <p:nvPicPr>
          <p:cNvPr id="998" name="Google Shape;998;p156"/>
          <p:cNvPicPr preferRelativeResize="0"/>
          <p:nvPr/>
        </p:nvPicPr>
        <p:blipFill>
          <a:blip r:embed="rId3">
            <a:alphaModFix/>
          </a:blip>
          <a:stretch>
            <a:fillRect/>
          </a:stretch>
        </p:blipFill>
        <p:spPr>
          <a:xfrm>
            <a:off x="1187575" y="1076225"/>
            <a:ext cx="6064725" cy="3686275"/>
          </a:xfrm>
          <a:prstGeom prst="rect">
            <a:avLst/>
          </a:prstGeom>
          <a:noFill/>
          <a:ln>
            <a:noFill/>
          </a:ln>
        </p:spPr>
      </p:pic>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Shape 1002"/>
        <p:cNvGrpSpPr/>
        <p:nvPr/>
      </p:nvGrpSpPr>
      <p:grpSpPr>
        <a:xfrm>
          <a:off x="0" y="0"/>
          <a:ext cx="0" cy="0"/>
          <a:chOff x="0" y="0"/>
          <a:chExt cx="0" cy="0"/>
        </a:xfrm>
      </p:grpSpPr>
      <p:sp>
        <p:nvSpPr>
          <p:cNvPr id="1003" name="Google Shape;1003;p157"/>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Autoboxing</a:t>
            </a:r>
            <a:endParaRPr/>
          </a:p>
        </p:txBody>
      </p:sp>
      <p:sp>
        <p:nvSpPr>
          <p:cNvPr id="1004" name="Google Shape;1004;p157"/>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a:solidFill>
                  <a:srgbClr val="666666"/>
                </a:solidFill>
                <a:highlight>
                  <a:srgbClr val="FAFBFC"/>
                </a:highlight>
              </a:rPr>
              <a:t>Autoboxing is when the Java compiler performs the automatic conversion of the primitive data types to the object of their corresponding wrapper classes. For example, converting an </a:t>
            </a:r>
            <a:r>
              <a:rPr lang="en" i="1">
                <a:solidFill>
                  <a:srgbClr val="666666"/>
                </a:solidFill>
                <a:highlight>
                  <a:srgbClr val="FAFBFC"/>
                </a:highlight>
              </a:rPr>
              <a:t>int</a:t>
            </a:r>
            <a:r>
              <a:rPr lang="en">
                <a:solidFill>
                  <a:srgbClr val="666666"/>
                </a:solidFill>
                <a:highlight>
                  <a:srgbClr val="FAFBFC"/>
                </a:highlight>
              </a:rPr>
              <a:t> to </a:t>
            </a:r>
            <a:r>
              <a:rPr lang="en" i="1">
                <a:solidFill>
                  <a:srgbClr val="666666"/>
                </a:solidFill>
                <a:highlight>
                  <a:srgbClr val="FAFBFC"/>
                </a:highlight>
              </a:rPr>
              <a:t>Integer</a:t>
            </a:r>
            <a:r>
              <a:rPr lang="en">
                <a:solidFill>
                  <a:srgbClr val="666666"/>
                </a:solidFill>
                <a:highlight>
                  <a:srgbClr val="FAFBFC"/>
                </a:highlight>
              </a:rPr>
              <a:t>, a </a:t>
            </a:r>
            <a:r>
              <a:rPr lang="en" i="1">
                <a:solidFill>
                  <a:srgbClr val="666666"/>
                </a:solidFill>
                <a:highlight>
                  <a:srgbClr val="FAFBFC"/>
                </a:highlight>
              </a:rPr>
              <a:t>double</a:t>
            </a:r>
            <a:r>
              <a:rPr lang="en">
                <a:solidFill>
                  <a:srgbClr val="666666"/>
                </a:solidFill>
                <a:highlight>
                  <a:srgbClr val="FAFBFC"/>
                </a:highlight>
              </a:rPr>
              <a:t> to </a:t>
            </a:r>
            <a:r>
              <a:rPr lang="en" i="1">
                <a:solidFill>
                  <a:srgbClr val="666666"/>
                </a:solidFill>
                <a:highlight>
                  <a:srgbClr val="FAFBFC"/>
                </a:highlight>
              </a:rPr>
              <a:t>Double</a:t>
            </a:r>
            <a:r>
              <a:rPr lang="en">
                <a:solidFill>
                  <a:srgbClr val="666666"/>
                </a:solidFill>
                <a:highlight>
                  <a:srgbClr val="FAFBFC"/>
                </a:highlight>
              </a:rPr>
              <a:t>, etc.</a:t>
            </a:r>
            <a:endParaRPr>
              <a:solidFill>
                <a:srgbClr val="666666"/>
              </a:solidFill>
              <a:highlight>
                <a:srgbClr val="FAFBFC"/>
              </a:highlight>
            </a:endParaRPr>
          </a:p>
          <a:p>
            <a:pPr marL="0" lvl="0" indent="0" algn="l" rtl="0">
              <a:spcBef>
                <a:spcPts val="1900"/>
              </a:spcBef>
              <a:spcAft>
                <a:spcPts val="0"/>
              </a:spcAft>
              <a:buNone/>
            </a:pPr>
            <a:r>
              <a:rPr lang="en">
                <a:solidFill>
                  <a:srgbClr val="666666"/>
                </a:solidFill>
                <a:highlight>
                  <a:srgbClr val="FAFBFC"/>
                </a:highlight>
              </a:rPr>
              <a:t>The Java compiler applies autoboxing when a primitive value is:</a:t>
            </a:r>
            <a:endParaRPr>
              <a:solidFill>
                <a:srgbClr val="666666"/>
              </a:solidFill>
              <a:highlight>
                <a:srgbClr val="FAFBFC"/>
              </a:highlight>
            </a:endParaRPr>
          </a:p>
          <a:p>
            <a:pPr marL="457200" lvl="0" indent="-342900" algn="l" rtl="0">
              <a:spcBef>
                <a:spcPts val="1900"/>
              </a:spcBef>
              <a:spcAft>
                <a:spcPts val="0"/>
              </a:spcAft>
              <a:buClr>
                <a:srgbClr val="666666"/>
              </a:buClr>
              <a:buSzPts val="1800"/>
              <a:buFont typeface="Open Sans"/>
              <a:buChar char="●"/>
            </a:pPr>
            <a:r>
              <a:rPr lang="en">
                <a:solidFill>
                  <a:srgbClr val="666666"/>
                </a:solidFill>
                <a:highlight>
                  <a:srgbClr val="FAFBFC"/>
                </a:highlight>
              </a:rPr>
              <a:t>Passed as a parameter to a method that expects an object of the corresponding wrapper class.</a:t>
            </a:r>
            <a:endParaRPr>
              <a:solidFill>
                <a:srgbClr val="666666"/>
              </a:solidFill>
              <a:highlight>
                <a:srgbClr val="FAFBFC"/>
              </a:highlight>
            </a:endParaRPr>
          </a:p>
          <a:p>
            <a:pPr marL="457200" lvl="0" indent="-342900" algn="l" rtl="0">
              <a:spcBef>
                <a:spcPts val="0"/>
              </a:spcBef>
              <a:spcAft>
                <a:spcPts val="0"/>
              </a:spcAft>
              <a:buClr>
                <a:srgbClr val="666666"/>
              </a:buClr>
              <a:buSzPts val="1800"/>
              <a:buFont typeface="Open Sans"/>
              <a:buChar char="●"/>
            </a:pPr>
            <a:r>
              <a:rPr lang="en">
                <a:solidFill>
                  <a:srgbClr val="666666"/>
                </a:solidFill>
                <a:highlight>
                  <a:srgbClr val="FAFBFC"/>
                </a:highlight>
              </a:rPr>
              <a:t>Assigned to a variable of the corresponding wrapper class.</a:t>
            </a:r>
            <a:endParaRPr>
              <a:solidFill>
                <a:srgbClr val="666666"/>
              </a:solidFill>
              <a:highlight>
                <a:srgbClr val="FAFBFC"/>
              </a:highlight>
            </a:endParaRPr>
          </a:p>
          <a:p>
            <a:pPr marL="0" lvl="0" indent="0" algn="l" rtl="0">
              <a:spcBef>
                <a:spcPts val="1000"/>
              </a:spcBef>
              <a:spcAft>
                <a:spcPts val="1000"/>
              </a:spcAft>
              <a:buNone/>
            </a:pPr>
            <a:r>
              <a:rPr lang="en">
                <a:solidFill>
                  <a:srgbClr val="666666"/>
                </a:solidFill>
                <a:highlight>
                  <a:srgbClr val="FAFBFC"/>
                </a:highlight>
              </a:rPr>
              <a:t>To explicitly convert primitive to object we use </a:t>
            </a:r>
            <a:r>
              <a:rPr lang="en" b="1">
                <a:solidFill>
                  <a:srgbClr val="666666"/>
                </a:solidFill>
                <a:highlight>
                  <a:srgbClr val="FAFBFC"/>
                </a:highlight>
              </a:rPr>
              <a:t>valueOf()</a:t>
            </a:r>
            <a:r>
              <a:rPr lang="en">
                <a:solidFill>
                  <a:srgbClr val="666666"/>
                </a:solidFill>
                <a:highlight>
                  <a:srgbClr val="FAFBFC"/>
                </a:highlight>
              </a:rPr>
              <a:t> method.</a:t>
            </a:r>
            <a:endParaRPr>
              <a:solidFill>
                <a:srgbClr val="666666"/>
              </a:solidFill>
              <a:highlight>
                <a:srgbClr val="FAFBFC"/>
              </a:highlight>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Shape 1008"/>
        <p:cNvGrpSpPr/>
        <p:nvPr/>
      </p:nvGrpSpPr>
      <p:grpSpPr>
        <a:xfrm>
          <a:off x="0" y="0"/>
          <a:ext cx="0" cy="0"/>
          <a:chOff x="0" y="0"/>
          <a:chExt cx="0" cy="0"/>
        </a:xfrm>
      </p:grpSpPr>
      <p:sp>
        <p:nvSpPr>
          <p:cNvPr id="1009" name="Google Shape;1009;p158"/>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Autoboxing: Example</a:t>
            </a:r>
            <a:endParaRPr/>
          </a:p>
        </p:txBody>
      </p:sp>
      <p:pic>
        <p:nvPicPr>
          <p:cNvPr id="1010" name="Google Shape;1010;p158"/>
          <p:cNvPicPr preferRelativeResize="0"/>
          <p:nvPr/>
        </p:nvPicPr>
        <p:blipFill>
          <a:blip r:embed="rId3">
            <a:alphaModFix/>
          </a:blip>
          <a:stretch>
            <a:fillRect/>
          </a:stretch>
        </p:blipFill>
        <p:spPr>
          <a:xfrm>
            <a:off x="609600" y="1304825"/>
            <a:ext cx="7858936" cy="3686276"/>
          </a:xfrm>
          <a:prstGeom prst="rect">
            <a:avLst/>
          </a:prstGeom>
          <a:noFill/>
          <a:ln>
            <a:noFill/>
          </a:ln>
        </p:spPr>
      </p:pic>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Shape 1014"/>
        <p:cNvGrpSpPr/>
        <p:nvPr/>
      </p:nvGrpSpPr>
      <p:grpSpPr>
        <a:xfrm>
          <a:off x="0" y="0"/>
          <a:ext cx="0" cy="0"/>
          <a:chOff x="0" y="0"/>
          <a:chExt cx="0" cy="0"/>
        </a:xfrm>
      </p:grpSpPr>
      <p:sp>
        <p:nvSpPr>
          <p:cNvPr id="1015" name="Google Shape;1015;p159"/>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Autoboxing: Example</a:t>
            </a:r>
            <a:endParaRPr/>
          </a:p>
        </p:txBody>
      </p:sp>
      <p:pic>
        <p:nvPicPr>
          <p:cNvPr id="1016" name="Google Shape;1016;p159"/>
          <p:cNvPicPr preferRelativeResize="0"/>
          <p:nvPr/>
        </p:nvPicPr>
        <p:blipFill>
          <a:blip r:embed="rId3">
            <a:alphaModFix/>
          </a:blip>
          <a:stretch>
            <a:fillRect/>
          </a:stretch>
        </p:blipFill>
        <p:spPr>
          <a:xfrm>
            <a:off x="381000" y="1990625"/>
            <a:ext cx="8410575" cy="1352550"/>
          </a:xfrm>
          <a:prstGeom prst="rect">
            <a:avLst/>
          </a:prstGeom>
          <a:noFill/>
          <a:ln>
            <a:noFill/>
          </a:ln>
        </p:spPr>
      </p:pic>
      <p:sp>
        <p:nvSpPr>
          <p:cNvPr id="1017" name="Google Shape;1017;p159"/>
          <p:cNvSpPr txBox="1"/>
          <p:nvPr/>
        </p:nvSpPr>
        <p:spPr>
          <a:xfrm>
            <a:off x="388700" y="1322250"/>
            <a:ext cx="6317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Open Sans"/>
                <a:ea typeface="Open Sans"/>
                <a:cs typeface="Open Sans"/>
                <a:sym typeface="Open Sans"/>
              </a:rPr>
              <a:t>OUTPUT</a:t>
            </a:r>
            <a:endParaRPr b="1">
              <a:latin typeface="Open Sans"/>
              <a:ea typeface="Open Sans"/>
              <a:cs typeface="Open Sans"/>
              <a:sym typeface="Open Sans"/>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Shape 1021"/>
        <p:cNvGrpSpPr/>
        <p:nvPr/>
      </p:nvGrpSpPr>
      <p:grpSpPr>
        <a:xfrm>
          <a:off x="0" y="0"/>
          <a:ext cx="0" cy="0"/>
          <a:chOff x="0" y="0"/>
          <a:chExt cx="0" cy="0"/>
        </a:xfrm>
      </p:grpSpPr>
      <p:sp>
        <p:nvSpPr>
          <p:cNvPr id="1022" name="Google Shape;1022;p160"/>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Auto-Unboxing</a:t>
            </a:r>
            <a:endParaRPr/>
          </a:p>
        </p:txBody>
      </p:sp>
      <p:sp>
        <p:nvSpPr>
          <p:cNvPr id="1023" name="Google Shape;1023;p160"/>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lnSpcReduction="10000"/>
          </a:bodyPr>
          <a:lstStyle/>
          <a:p>
            <a:pPr marL="457200" lvl="0" indent="-342900" algn="l" rtl="0">
              <a:spcBef>
                <a:spcPts val="0"/>
              </a:spcBef>
              <a:spcAft>
                <a:spcPts val="0"/>
              </a:spcAft>
              <a:buClr>
                <a:srgbClr val="666666"/>
              </a:buClr>
              <a:buSzPts val="1800"/>
              <a:buChar char="●"/>
            </a:pPr>
            <a:r>
              <a:rPr lang="en">
                <a:solidFill>
                  <a:srgbClr val="666666"/>
                </a:solidFill>
              </a:rPr>
              <a:t>Unboxing is automatically converting an object of a wrapper type (Integer, for example) to its corresponding primitive (int) value.</a:t>
            </a:r>
            <a:endParaRPr>
              <a:solidFill>
                <a:srgbClr val="666666"/>
              </a:solidFill>
            </a:endParaRPr>
          </a:p>
          <a:p>
            <a:pPr marL="457200" lvl="0" indent="-342900" algn="l" rtl="0">
              <a:spcBef>
                <a:spcPts val="1000"/>
              </a:spcBef>
              <a:spcAft>
                <a:spcPts val="0"/>
              </a:spcAft>
              <a:buClr>
                <a:srgbClr val="666666"/>
              </a:buClr>
              <a:buSzPts val="1800"/>
              <a:buChar char="●"/>
            </a:pPr>
            <a:r>
              <a:rPr lang="en">
                <a:solidFill>
                  <a:srgbClr val="666666"/>
                </a:solidFill>
              </a:rPr>
              <a:t>The Java compiler applies unboxing when an object of a wrapper class is:</a:t>
            </a:r>
            <a:endParaRPr>
              <a:solidFill>
                <a:srgbClr val="666666"/>
              </a:solidFill>
            </a:endParaRPr>
          </a:p>
          <a:p>
            <a:pPr marL="457200" lvl="0" indent="-342900" algn="l" rtl="0">
              <a:spcBef>
                <a:spcPts val="1000"/>
              </a:spcBef>
              <a:spcAft>
                <a:spcPts val="0"/>
              </a:spcAft>
              <a:buClr>
                <a:srgbClr val="666666"/>
              </a:buClr>
              <a:buSzPts val="1800"/>
              <a:buChar char="●"/>
            </a:pPr>
            <a:r>
              <a:rPr lang="en">
                <a:solidFill>
                  <a:srgbClr val="666666"/>
                </a:solidFill>
              </a:rPr>
              <a:t>Passed as a parameter to a method that expects a value of the corresponding primitive type.</a:t>
            </a:r>
            <a:endParaRPr>
              <a:solidFill>
                <a:srgbClr val="666666"/>
              </a:solidFill>
            </a:endParaRPr>
          </a:p>
          <a:p>
            <a:pPr marL="457200" lvl="0" indent="-342900" algn="l" rtl="0">
              <a:spcBef>
                <a:spcPts val="1000"/>
              </a:spcBef>
              <a:spcAft>
                <a:spcPts val="0"/>
              </a:spcAft>
              <a:buClr>
                <a:srgbClr val="666666"/>
              </a:buClr>
              <a:buSzPts val="1800"/>
              <a:buChar char="●"/>
            </a:pPr>
            <a:r>
              <a:rPr lang="en">
                <a:solidFill>
                  <a:srgbClr val="666666"/>
                </a:solidFill>
              </a:rPr>
              <a:t>Assigned to a variable of the corresponding primitive type.</a:t>
            </a:r>
            <a:endParaRPr>
              <a:solidFill>
                <a:srgbClr val="666666"/>
              </a:solidFill>
            </a:endParaRPr>
          </a:p>
          <a:p>
            <a:pPr marL="457200" lvl="0" indent="-342900" algn="l" rtl="0">
              <a:spcBef>
                <a:spcPts val="1000"/>
              </a:spcBef>
              <a:spcAft>
                <a:spcPts val="1000"/>
              </a:spcAft>
              <a:buClr>
                <a:srgbClr val="666666"/>
              </a:buClr>
              <a:buSzPts val="1800"/>
              <a:buChar char="●"/>
            </a:pPr>
            <a:r>
              <a:rPr lang="en">
                <a:solidFill>
                  <a:srgbClr val="666666"/>
                </a:solidFill>
              </a:rPr>
              <a:t>To explicitly convert object to corresponding primitive type we use </a:t>
            </a:r>
            <a:r>
              <a:rPr lang="en" b="1">
                <a:solidFill>
                  <a:srgbClr val="666666"/>
                </a:solidFill>
              </a:rPr>
              <a:t>xxxValue()</a:t>
            </a:r>
            <a:r>
              <a:rPr lang="en">
                <a:solidFill>
                  <a:srgbClr val="666666"/>
                </a:solidFill>
              </a:rPr>
              <a:t> method.</a:t>
            </a:r>
            <a:endParaRPr>
              <a:solidFill>
                <a:srgbClr val="666666"/>
              </a:solidFill>
            </a:endParaRP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Shape 1027"/>
        <p:cNvGrpSpPr/>
        <p:nvPr/>
      </p:nvGrpSpPr>
      <p:grpSpPr>
        <a:xfrm>
          <a:off x="0" y="0"/>
          <a:ext cx="0" cy="0"/>
          <a:chOff x="0" y="0"/>
          <a:chExt cx="0" cy="0"/>
        </a:xfrm>
      </p:grpSpPr>
      <p:sp>
        <p:nvSpPr>
          <p:cNvPr id="1028" name="Google Shape;1028;p161"/>
          <p:cNvSpPr txBox="1">
            <a:spLocks noGrp="1"/>
          </p:cNvSpPr>
          <p:nvPr>
            <p:ph type="title"/>
          </p:nvPr>
        </p:nvSpPr>
        <p:spPr>
          <a:xfrm>
            <a:off x="311700" y="2926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Auto-Unboxing: Example</a:t>
            </a:r>
            <a:endParaRPr/>
          </a:p>
        </p:txBody>
      </p:sp>
      <p:pic>
        <p:nvPicPr>
          <p:cNvPr id="1029" name="Google Shape;1029;p161"/>
          <p:cNvPicPr preferRelativeResize="0"/>
          <p:nvPr/>
        </p:nvPicPr>
        <p:blipFill>
          <a:blip r:embed="rId3">
            <a:alphaModFix/>
          </a:blip>
          <a:stretch>
            <a:fillRect/>
          </a:stretch>
        </p:blipFill>
        <p:spPr>
          <a:xfrm>
            <a:off x="609600" y="1152425"/>
            <a:ext cx="7784635" cy="3686276"/>
          </a:xfrm>
          <a:prstGeom prst="rect">
            <a:avLst/>
          </a:prstGeom>
          <a:noFill/>
          <a:ln>
            <a:noFill/>
          </a:ln>
        </p:spPr>
      </p:pic>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Shape 1033"/>
        <p:cNvGrpSpPr/>
        <p:nvPr/>
      </p:nvGrpSpPr>
      <p:grpSpPr>
        <a:xfrm>
          <a:off x="0" y="0"/>
          <a:ext cx="0" cy="0"/>
          <a:chOff x="0" y="0"/>
          <a:chExt cx="0" cy="0"/>
        </a:xfrm>
      </p:grpSpPr>
      <p:sp>
        <p:nvSpPr>
          <p:cNvPr id="1034" name="Google Shape;1034;p162"/>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Auto-Unboxing: Example</a:t>
            </a:r>
            <a:endParaRPr/>
          </a:p>
        </p:txBody>
      </p:sp>
      <p:pic>
        <p:nvPicPr>
          <p:cNvPr id="1035" name="Google Shape;1035;p162"/>
          <p:cNvPicPr preferRelativeResize="0"/>
          <p:nvPr/>
        </p:nvPicPr>
        <p:blipFill>
          <a:blip r:embed="rId3">
            <a:alphaModFix/>
          </a:blip>
          <a:stretch>
            <a:fillRect/>
          </a:stretch>
        </p:blipFill>
        <p:spPr>
          <a:xfrm>
            <a:off x="533400" y="2219225"/>
            <a:ext cx="8058150" cy="923925"/>
          </a:xfrm>
          <a:prstGeom prst="rect">
            <a:avLst/>
          </a:prstGeom>
          <a:noFill/>
          <a:ln>
            <a:noFill/>
          </a:ln>
        </p:spPr>
      </p:pic>
      <p:sp>
        <p:nvSpPr>
          <p:cNvPr id="1036" name="Google Shape;1036;p162"/>
          <p:cNvSpPr txBox="1"/>
          <p:nvPr/>
        </p:nvSpPr>
        <p:spPr>
          <a:xfrm>
            <a:off x="542225" y="1410000"/>
            <a:ext cx="6317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Open Sans"/>
                <a:ea typeface="Open Sans"/>
                <a:cs typeface="Open Sans"/>
                <a:sym typeface="Open Sans"/>
              </a:rPr>
              <a:t>OUTPUT</a:t>
            </a:r>
            <a:endParaRPr b="1">
              <a:latin typeface="Open Sans"/>
              <a:ea typeface="Open Sans"/>
              <a:cs typeface="Open Sans"/>
              <a:sym typeface="Open Sans"/>
            </a:endParaRP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Shape 1040"/>
        <p:cNvGrpSpPr/>
        <p:nvPr/>
      </p:nvGrpSpPr>
      <p:grpSpPr>
        <a:xfrm>
          <a:off x="0" y="0"/>
          <a:ext cx="0" cy="0"/>
          <a:chOff x="0" y="0"/>
          <a:chExt cx="0" cy="0"/>
        </a:xfrm>
      </p:grpSpPr>
      <p:sp>
        <p:nvSpPr>
          <p:cNvPr id="1041" name="Google Shape;1041;p163"/>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toString() method</a:t>
            </a:r>
            <a:endParaRPr/>
          </a:p>
        </p:txBody>
      </p:sp>
      <p:sp>
        <p:nvSpPr>
          <p:cNvPr id="1042" name="Google Shape;1042;p163"/>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just" rtl="0">
              <a:spcBef>
                <a:spcPts val="1200"/>
              </a:spcBef>
              <a:spcAft>
                <a:spcPts val="0"/>
              </a:spcAft>
              <a:buNone/>
            </a:pPr>
            <a:r>
              <a:rPr lang="en">
                <a:solidFill>
                  <a:srgbClr val="343434"/>
                </a:solidFill>
                <a:highlight>
                  <a:srgbClr val="FFFFFF"/>
                </a:highlight>
              </a:rPr>
              <a:t>The toString() method returns the String representation of the object.</a:t>
            </a:r>
            <a:endParaRPr>
              <a:solidFill>
                <a:srgbClr val="343434"/>
              </a:solidFill>
              <a:highlight>
                <a:srgbClr val="FFFFFF"/>
              </a:highlight>
            </a:endParaRPr>
          </a:p>
          <a:p>
            <a:pPr marL="0" lvl="0" indent="0" algn="just" rtl="0">
              <a:spcBef>
                <a:spcPts val="1200"/>
              </a:spcBef>
              <a:spcAft>
                <a:spcPts val="0"/>
              </a:spcAft>
              <a:buNone/>
            </a:pPr>
            <a:r>
              <a:rPr lang="en">
                <a:solidFill>
                  <a:srgbClr val="343434"/>
                </a:solidFill>
                <a:highlight>
                  <a:srgbClr val="FFFFFF"/>
                </a:highlight>
              </a:rPr>
              <a:t>If you print any object, Java compiler internally invokes the toString() method on the object. So overriding the toString() method, returns the desired output, it can be the state of an object etc. depending on your implementation.</a:t>
            </a:r>
            <a:endParaRPr>
              <a:solidFill>
                <a:srgbClr val="343434"/>
              </a:solidFill>
              <a:highlight>
                <a:srgbClr val="FFFFFF"/>
              </a:highlight>
            </a:endParaRPr>
          </a:p>
          <a:p>
            <a:pPr marL="0" lvl="0" indent="0" algn="l" rtl="0">
              <a:spcBef>
                <a:spcPts val="1200"/>
              </a:spcBef>
              <a:spcAft>
                <a:spcPts val="1200"/>
              </a:spcAft>
              <a:buNone/>
            </a:pPr>
            <a:endParaRPr>
              <a:solidFill>
                <a:srgbClr val="343434"/>
              </a:solidFill>
            </a:endParaRP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Shape 1046"/>
        <p:cNvGrpSpPr/>
        <p:nvPr/>
      </p:nvGrpSpPr>
      <p:grpSpPr>
        <a:xfrm>
          <a:off x="0" y="0"/>
          <a:ext cx="0" cy="0"/>
          <a:chOff x="0" y="0"/>
          <a:chExt cx="0" cy="0"/>
        </a:xfrm>
      </p:grpSpPr>
      <p:sp>
        <p:nvSpPr>
          <p:cNvPr id="1047" name="Google Shape;1047;p164"/>
          <p:cNvSpPr txBox="1">
            <a:spLocks noGrp="1"/>
          </p:cNvSpPr>
          <p:nvPr>
            <p:ph type="title"/>
          </p:nvPr>
        </p:nvSpPr>
        <p:spPr>
          <a:xfrm>
            <a:off x="311700" y="2164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toString() method</a:t>
            </a:r>
            <a:endParaRPr/>
          </a:p>
        </p:txBody>
      </p:sp>
      <p:pic>
        <p:nvPicPr>
          <p:cNvPr id="1048" name="Google Shape;1048;p164"/>
          <p:cNvPicPr preferRelativeResize="0"/>
          <p:nvPr/>
        </p:nvPicPr>
        <p:blipFill>
          <a:blip r:embed="rId3">
            <a:alphaModFix/>
          </a:blip>
          <a:stretch>
            <a:fillRect/>
          </a:stretch>
        </p:blipFill>
        <p:spPr>
          <a:xfrm>
            <a:off x="152400" y="1000025"/>
            <a:ext cx="8486775" cy="2430150"/>
          </a:xfrm>
          <a:prstGeom prst="rect">
            <a:avLst/>
          </a:prstGeom>
          <a:noFill/>
          <a:ln>
            <a:noFill/>
          </a:ln>
        </p:spPr>
      </p:pic>
      <p:pic>
        <p:nvPicPr>
          <p:cNvPr id="1049" name="Google Shape;1049;p164"/>
          <p:cNvPicPr preferRelativeResize="0"/>
          <p:nvPr/>
        </p:nvPicPr>
        <p:blipFill>
          <a:blip r:embed="rId4">
            <a:alphaModFix/>
          </a:blip>
          <a:stretch>
            <a:fillRect/>
          </a:stretch>
        </p:blipFill>
        <p:spPr>
          <a:xfrm>
            <a:off x="233363" y="3505200"/>
            <a:ext cx="8067675" cy="1485900"/>
          </a:xfrm>
          <a:prstGeom prst="rect">
            <a:avLst/>
          </a:prstGeom>
          <a:noFill/>
          <a:ln>
            <a:noFill/>
          </a:ln>
        </p:spPr>
      </p:pic>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Shape 1053"/>
        <p:cNvGrpSpPr/>
        <p:nvPr/>
      </p:nvGrpSpPr>
      <p:grpSpPr>
        <a:xfrm>
          <a:off x="0" y="0"/>
          <a:ext cx="0" cy="0"/>
          <a:chOff x="0" y="0"/>
          <a:chExt cx="0" cy="0"/>
        </a:xfrm>
      </p:grpSpPr>
      <p:sp>
        <p:nvSpPr>
          <p:cNvPr id="1054" name="Google Shape;1054;p16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parseXXX() method</a:t>
            </a:r>
            <a:endParaRPr/>
          </a:p>
        </p:txBody>
      </p:sp>
      <p:sp>
        <p:nvSpPr>
          <p:cNvPr id="1055" name="Google Shape;1055;p165"/>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parseXXX() method is use to convert String to a primitive type.</a:t>
            </a:r>
            <a:endParaRPr/>
          </a:p>
        </p:txBody>
      </p:sp>
      <p:pic>
        <p:nvPicPr>
          <p:cNvPr id="1056" name="Google Shape;1056;p165"/>
          <p:cNvPicPr preferRelativeResize="0"/>
          <p:nvPr/>
        </p:nvPicPr>
        <p:blipFill>
          <a:blip r:embed="rId3">
            <a:alphaModFix/>
          </a:blip>
          <a:stretch>
            <a:fillRect/>
          </a:stretch>
        </p:blipFill>
        <p:spPr>
          <a:xfrm>
            <a:off x="319100" y="1938350"/>
            <a:ext cx="8106675" cy="2675850"/>
          </a:xfrm>
          <a:prstGeom prst="rect">
            <a:avLst/>
          </a:prstGeom>
          <a:noFill/>
          <a:ln>
            <a:noFill/>
          </a:ln>
        </p:spPr>
      </p:pic>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Shape 1060"/>
        <p:cNvGrpSpPr/>
        <p:nvPr/>
      </p:nvGrpSpPr>
      <p:grpSpPr>
        <a:xfrm>
          <a:off x="0" y="0"/>
          <a:ext cx="0" cy="0"/>
          <a:chOff x="0" y="0"/>
          <a:chExt cx="0" cy="0"/>
        </a:xfrm>
      </p:grpSpPr>
      <p:sp>
        <p:nvSpPr>
          <p:cNvPr id="1061" name="Google Shape;1061;p16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parseXXX() method</a:t>
            </a:r>
            <a:endParaRPr/>
          </a:p>
        </p:txBody>
      </p:sp>
      <p:pic>
        <p:nvPicPr>
          <p:cNvPr id="1062" name="Google Shape;1062;p166"/>
          <p:cNvPicPr preferRelativeResize="0"/>
          <p:nvPr/>
        </p:nvPicPr>
        <p:blipFill>
          <a:blip r:embed="rId3">
            <a:alphaModFix/>
          </a:blip>
          <a:stretch>
            <a:fillRect/>
          </a:stretch>
        </p:blipFill>
        <p:spPr>
          <a:xfrm>
            <a:off x="609600" y="1762025"/>
            <a:ext cx="7878550" cy="1405425"/>
          </a:xfrm>
          <a:prstGeom prst="rect">
            <a:avLst/>
          </a:prstGeom>
          <a:noFill/>
          <a:ln>
            <a:noFill/>
          </a:ln>
        </p:spPr>
      </p:pic>
    </p:spTree>
  </p:cSld>
  <p:clrMapOvr>
    <a:masterClrMapping/>
  </p:clrMapOvr>
</p:sld>
</file>

<file path=ppt/theme/theme1.xml><?xml version="1.0" encoding="utf-8"?>
<a:theme xmlns:a="http://schemas.openxmlformats.org/drawingml/2006/main"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8741</TotalTime>
  <Words>8611</Words>
  <Application>Microsoft Office PowerPoint</Application>
  <PresentationFormat>On-screen Show (16:9)</PresentationFormat>
  <Paragraphs>871</Paragraphs>
  <Slides>163</Slides>
  <Notes>151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163</vt:i4>
      </vt:variant>
    </vt:vector>
  </HeadingPairs>
  <TitlesOfParts>
    <vt:vector size="172" baseType="lpstr">
      <vt:lpstr>PT Sans Narrow</vt:lpstr>
      <vt:lpstr>Arial</vt:lpstr>
      <vt:lpstr>Nunito</vt:lpstr>
      <vt:lpstr>Roboto</vt:lpstr>
      <vt:lpstr>Courier New</vt:lpstr>
      <vt:lpstr>Open Sans</vt:lpstr>
      <vt:lpstr>Times New Roman</vt:lpstr>
      <vt:lpstr>Georgia</vt:lpstr>
      <vt:lpstr>Tropic</vt:lpstr>
      <vt:lpstr>UNIT- 1</vt:lpstr>
      <vt:lpstr>INTRODUCTION</vt:lpstr>
      <vt:lpstr>INTRODUCTION</vt:lpstr>
      <vt:lpstr>POP v/s OOP</vt:lpstr>
      <vt:lpstr>POP v/s OOP</vt:lpstr>
      <vt:lpstr>Java Platforms/Editions</vt:lpstr>
      <vt:lpstr>Java Platforms: Standard Edition</vt:lpstr>
      <vt:lpstr>Java Platforms: Enterprise Edition/ Jakarta Enterprise  Edition</vt:lpstr>
      <vt:lpstr>Java Platforms: Micro Edition</vt:lpstr>
      <vt:lpstr>Java Platforms: JavaFX</vt:lpstr>
      <vt:lpstr>Java Platforms: Comparison</vt:lpstr>
      <vt:lpstr>Uses of java</vt:lpstr>
      <vt:lpstr>Components of Java Programming</vt:lpstr>
      <vt:lpstr>Java Development kit</vt:lpstr>
      <vt:lpstr>Java Runtime Environment</vt:lpstr>
      <vt:lpstr>Working of JRE</vt:lpstr>
      <vt:lpstr>Java Virtual Machine</vt:lpstr>
      <vt:lpstr>PowerPoint Presentation</vt:lpstr>
      <vt:lpstr>JVM Architecture</vt:lpstr>
      <vt:lpstr>JVM Architecture</vt:lpstr>
      <vt:lpstr>JVM Architecture</vt:lpstr>
      <vt:lpstr>JVM Architecture</vt:lpstr>
      <vt:lpstr>JVM memory management</vt:lpstr>
      <vt:lpstr>Features</vt:lpstr>
      <vt:lpstr>Features</vt:lpstr>
      <vt:lpstr>Features</vt:lpstr>
      <vt:lpstr>Syntax</vt:lpstr>
      <vt:lpstr>The main() method </vt:lpstr>
      <vt:lpstr>The main() method </vt:lpstr>
      <vt:lpstr>The main() method </vt:lpstr>
      <vt:lpstr>The main() method </vt:lpstr>
      <vt:lpstr>Structure of System.out.println()</vt:lpstr>
      <vt:lpstr>PowerPoint Presentation</vt:lpstr>
      <vt:lpstr>Simple Program</vt:lpstr>
      <vt:lpstr>DATA TYPES</vt:lpstr>
      <vt:lpstr>PowerPoint Presentation</vt:lpstr>
      <vt:lpstr>Primitive Data-types</vt:lpstr>
      <vt:lpstr>Primitive data-type</vt:lpstr>
      <vt:lpstr>Primitive data-type</vt:lpstr>
      <vt:lpstr>Primitive data-type</vt:lpstr>
      <vt:lpstr>Primitive data-type</vt:lpstr>
      <vt:lpstr>Primitive data-type</vt:lpstr>
      <vt:lpstr>Primitive data-type</vt:lpstr>
      <vt:lpstr>Primitive data-type</vt:lpstr>
      <vt:lpstr>Primitive data-type</vt:lpstr>
      <vt:lpstr>PowerPoint Presentation</vt:lpstr>
      <vt:lpstr>Primitive data-type</vt:lpstr>
      <vt:lpstr>Identifiers</vt:lpstr>
      <vt:lpstr>Variables</vt:lpstr>
      <vt:lpstr>Variables</vt:lpstr>
      <vt:lpstr>Variables</vt:lpstr>
      <vt:lpstr>Rules for Variable declaration</vt:lpstr>
      <vt:lpstr>Taking User Input (Scanner class)</vt:lpstr>
      <vt:lpstr>Taking User Input (Scanner class)</vt:lpstr>
      <vt:lpstr>Taking User Input (Scanner class)</vt:lpstr>
      <vt:lpstr>Command line arguments</vt:lpstr>
      <vt:lpstr>Example-1</vt:lpstr>
      <vt:lpstr>Example-2</vt:lpstr>
      <vt:lpstr>varargs</vt:lpstr>
      <vt:lpstr>Rules for defining varargs</vt:lpstr>
      <vt:lpstr>Example-3 : CLA using varargs</vt:lpstr>
      <vt:lpstr>Type Conversion &amp; Type Casting</vt:lpstr>
      <vt:lpstr>Type Conversion</vt:lpstr>
      <vt:lpstr>Type Conversion</vt:lpstr>
      <vt:lpstr>Type Conversion</vt:lpstr>
      <vt:lpstr>Type Casting</vt:lpstr>
      <vt:lpstr>Type Casting</vt:lpstr>
      <vt:lpstr>Type Casting </vt:lpstr>
      <vt:lpstr>Reserved Words/Keywords</vt:lpstr>
      <vt:lpstr>Reserved Words/Keywords</vt:lpstr>
      <vt:lpstr>Comments</vt:lpstr>
      <vt:lpstr>Access Modifiers</vt:lpstr>
      <vt:lpstr>Operators</vt:lpstr>
      <vt:lpstr>Operators: Arithmetic Operators</vt:lpstr>
      <vt:lpstr>Operators: Assignment Operators</vt:lpstr>
      <vt:lpstr>Operators: Unary Operators</vt:lpstr>
      <vt:lpstr>Operators: Relational Operators</vt:lpstr>
      <vt:lpstr>Operators: Logical/ Short Circuit Operators</vt:lpstr>
      <vt:lpstr>Operators: Bitwise Operators</vt:lpstr>
      <vt:lpstr>Operators: Ternary/ Conditional Operators</vt:lpstr>
      <vt:lpstr>Special Operator: instanceof</vt:lpstr>
      <vt:lpstr>Operator: Example</vt:lpstr>
      <vt:lpstr>Control Statements</vt:lpstr>
      <vt:lpstr>Selection Statements</vt:lpstr>
      <vt:lpstr>if statement</vt:lpstr>
      <vt:lpstr>if-else statement</vt:lpstr>
      <vt:lpstr>else if statement</vt:lpstr>
      <vt:lpstr>Nested if statement</vt:lpstr>
      <vt:lpstr>Switch case</vt:lpstr>
      <vt:lpstr>Switch case: example1</vt:lpstr>
      <vt:lpstr>Switch case: example2(Without break)</vt:lpstr>
      <vt:lpstr>Switch case: example2(Without break)</vt:lpstr>
      <vt:lpstr>Looping/Iteration Statements</vt:lpstr>
      <vt:lpstr>While loop</vt:lpstr>
      <vt:lpstr>While loop: Example</vt:lpstr>
      <vt:lpstr>do-while loop</vt:lpstr>
      <vt:lpstr>do-while loop: Example</vt:lpstr>
      <vt:lpstr>for loop</vt:lpstr>
      <vt:lpstr>for loop: Example</vt:lpstr>
      <vt:lpstr>Jump Statement</vt:lpstr>
      <vt:lpstr>Break Statement</vt:lpstr>
      <vt:lpstr>Break: Example</vt:lpstr>
      <vt:lpstr>Continue statement</vt:lpstr>
      <vt:lpstr>Continue: Example</vt:lpstr>
      <vt:lpstr>Return statement</vt:lpstr>
      <vt:lpstr>Return: Example</vt:lpstr>
      <vt:lpstr>Array</vt:lpstr>
      <vt:lpstr>Declaring array variable</vt:lpstr>
      <vt:lpstr>Array Creation</vt:lpstr>
      <vt:lpstr>Array Creation</vt:lpstr>
      <vt:lpstr>Example 1</vt:lpstr>
      <vt:lpstr>Example 1</vt:lpstr>
      <vt:lpstr>Example 2</vt:lpstr>
      <vt:lpstr>Array Length</vt:lpstr>
      <vt:lpstr>For each loop</vt:lpstr>
      <vt:lpstr>Example</vt:lpstr>
      <vt:lpstr>Multi-dimensional array</vt:lpstr>
      <vt:lpstr>Multi-dimensional array: using for loop</vt:lpstr>
      <vt:lpstr>Multi-dimensional array: using for each loop</vt:lpstr>
      <vt:lpstr>Jagged array</vt:lpstr>
      <vt:lpstr>Jagged array</vt:lpstr>
      <vt:lpstr>Jagged array</vt:lpstr>
      <vt:lpstr>Advantages &amp; disadvantages of array</vt:lpstr>
      <vt:lpstr>String</vt:lpstr>
      <vt:lpstr>String</vt:lpstr>
      <vt:lpstr>Operation on String</vt:lpstr>
      <vt:lpstr>length() method</vt:lpstr>
      <vt:lpstr>toLowerCase() </vt:lpstr>
      <vt:lpstr>substring() </vt:lpstr>
      <vt:lpstr>substring() </vt:lpstr>
      <vt:lpstr>concat()</vt:lpstr>
      <vt:lpstr>equals &amp; equalsIgnoreCase()</vt:lpstr>
      <vt:lpstr>Example</vt:lpstr>
      <vt:lpstr>Example</vt:lpstr>
      <vt:lpstr>Stringbuffer</vt:lpstr>
      <vt:lpstr>length()</vt:lpstr>
      <vt:lpstr>capacity()</vt:lpstr>
      <vt:lpstr>append()</vt:lpstr>
      <vt:lpstr>insert()</vt:lpstr>
      <vt:lpstr>reverse()</vt:lpstr>
      <vt:lpstr>delete()</vt:lpstr>
      <vt:lpstr>deleteCharAt()</vt:lpstr>
      <vt:lpstr>replace()</vt:lpstr>
      <vt:lpstr>Example</vt:lpstr>
      <vt:lpstr>Example</vt:lpstr>
      <vt:lpstr>Wrapper Class</vt:lpstr>
      <vt:lpstr>Wrapper Class</vt:lpstr>
      <vt:lpstr>Need of Wrapper Class</vt:lpstr>
      <vt:lpstr>Wrapper Class</vt:lpstr>
      <vt:lpstr>Using wrapper class constructor</vt:lpstr>
      <vt:lpstr>Using Wrapper Class</vt:lpstr>
      <vt:lpstr>Using valueof() method</vt:lpstr>
      <vt:lpstr>Wrapper class methods</vt:lpstr>
      <vt:lpstr>Autoboxing</vt:lpstr>
      <vt:lpstr>Autoboxing: Example</vt:lpstr>
      <vt:lpstr>Autoboxing: Example</vt:lpstr>
      <vt:lpstr>Auto-Unboxing</vt:lpstr>
      <vt:lpstr>Auto-Unboxing: Example</vt:lpstr>
      <vt:lpstr>Auto-Unboxing: Example</vt:lpstr>
      <vt:lpstr>toString() method</vt:lpstr>
      <vt:lpstr>toString() method</vt:lpstr>
      <vt:lpstr>parseXXX() method</vt:lpstr>
      <vt:lpstr>parseXXX() method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HP</dc:creator>
  <cp:lastModifiedBy>Nikhil Durgapal</cp:lastModifiedBy>
  <cp:revision>24</cp:revision>
  <cp:lastPrinted>2026-06-22T09:16:32Z</cp:lastPrinted>
  <dcterms:modified xsi:type="dcterms:W3CDTF">2026-07-14T09:15:30Z</dcterms:modified>
</cp:coreProperties>
</file>