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3" r:id="rId1"/>
  </p:sldMasterIdLst>
  <p:notesMasterIdLst>
    <p:notesMasterId r:id="rId16"/>
  </p:notesMasterIdLst>
  <p:handoutMasterIdLst>
    <p:handoutMasterId r:id="rId17"/>
  </p:handoutMasterIdLst>
  <p:sldIdLst>
    <p:sldId id="310" r:id="rId2"/>
    <p:sldId id="324" r:id="rId3"/>
    <p:sldId id="346" r:id="rId4"/>
    <p:sldId id="348" r:id="rId5"/>
    <p:sldId id="349" r:id="rId6"/>
    <p:sldId id="350" r:id="rId7"/>
    <p:sldId id="351" r:id="rId8"/>
    <p:sldId id="352" r:id="rId9"/>
    <p:sldId id="354" r:id="rId10"/>
    <p:sldId id="353" r:id="rId11"/>
    <p:sldId id="358" r:id="rId12"/>
    <p:sldId id="355" r:id="rId13"/>
    <p:sldId id="356" r:id="rId14"/>
    <p:sldId id="357" r:id="rId15"/>
  </p:sldIdLst>
  <p:sldSz cx="12192000" cy="6858000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Roboto Condensed Light" panose="02000000000000000000" pitchFamily="2" charset="0"/>
      <p:regular r:id="rId19"/>
      <p:italic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  <p:embeddedFont>
      <p:font typeface="Wingdings 2" panose="05020102010507070707" pitchFamily="18" charset="2"/>
      <p:regular r:id="rId25"/>
    </p:embeddedFont>
    <p:embeddedFont>
      <p:font typeface="Wingdings 3" panose="05040102010807070707" pitchFamily="18" charset="2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nal vyas" initials="kv" lastIdx="1" clrIdx="0">
    <p:extLst>
      <p:ext uri="{19B8F6BF-5375-455C-9EA6-DF929625EA0E}">
        <p15:presenceInfo xmlns:p15="http://schemas.microsoft.com/office/powerpoint/2012/main" userId="bf93b71aea7da0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D8B"/>
    <a:srgbClr val="301B92"/>
    <a:srgbClr val="673BB7"/>
    <a:srgbClr val="ED524F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3842" autoAdjust="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7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B85114-151F-4DD3-A0B8-3D48A21591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E6D90B-9A8F-485C-8292-FBB99BB4E9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54983-44D3-45A8-9D86-0B9C45442AB1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CB2A6-6534-401E-8C5F-E86CDFCB3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E556C-8D15-4673-BFA2-E8DEF4C2CB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C8025-BFE7-4B0B-BEDD-AFE1C976C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550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49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1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7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7.jpe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7.jpeg"/><Relationship Id="rId5" Type="http://schemas.openxmlformats.org/officeDocument/2006/relationships/image" Target="../media/image5.png"/><Relationship Id="rId10" Type="http://schemas.openxmlformats.org/officeDocument/2006/relationships/image" Target="../media/image12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5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73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7DC608-354C-CFE4-E5B1-9DC2F1AA5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B40A2-5E35-1A76-6B48-A838B58D44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9F0F322-3965-4E7B-BE66-3E312161E7CE}"/>
              </a:ext>
            </a:extLst>
          </p:cNvPr>
          <p:cNvGrpSpPr/>
          <p:nvPr userDrawn="1"/>
        </p:nvGrpSpPr>
        <p:grpSpPr>
          <a:xfrm>
            <a:off x="9437223" y="6087939"/>
            <a:ext cx="2554143" cy="587454"/>
            <a:chOff x="131177" y="5775962"/>
            <a:chExt cx="2530239" cy="58195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77B9F73-27AB-4DFA-120E-434D42CB4C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D9FA56-0BDF-5549-0776-23EADFEF5A2F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reeform 17">
            <a:extLst>
              <a:ext uri="{FF2B5EF4-FFF2-40B4-BE49-F238E27FC236}">
                <a16:creationId xmlns:a16="http://schemas.microsoft.com/office/drawing/2014/main" id="{F0B9F442-FBAF-7778-3E38-2055351EA5E9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06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82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66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22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5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3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45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3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6342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90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56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6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01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19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>
                  <a:alpha val="91000"/>
                </a:srgbClr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0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7803FA-3B47-4611-8387-305D7E1D16D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92" y="1386529"/>
            <a:ext cx="4679915" cy="350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301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9A17D564-E434-4030-AE14-DE2D243B4EBE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7 – Computer Arithmetic</a:t>
            </a:r>
          </a:p>
        </p:txBody>
      </p:sp>
    </p:spTree>
    <p:extLst>
      <p:ext uri="{BB962C8B-B14F-4D97-AF65-F5344CB8AC3E}">
        <p14:creationId xmlns:p14="http://schemas.microsoft.com/office/powerpoint/2010/main" val="2218310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6C226DAF-A3C6-40FB-8F91-C7F7A713C3D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AC05D353-A70B-4687-8A49-D44BCD80FCA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F30B49D8-C78B-4C5B-B305-999A81B46B71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7 – Computer Arithmetic</a:t>
            </a:r>
          </a:p>
        </p:txBody>
      </p:sp>
    </p:spTree>
    <p:extLst>
      <p:ext uri="{BB962C8B-B14F-4D97-AF65-F5344CB8AC3E}">
        <p14:creationId xmlns:p14="http://schemas.microsoft.com/office/powerpoint/2010/main" val="6818646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933000" cy="5635677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F057E15D-299F-4CE6-88FB-068089620708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7 – Computer Arithmetic</a:t>
            </a:r>
          </a:p>
        </p:txBody>
      </p:sp>
    </p:spTree>
    <p:extLst>
      <p:ext uri="{BB962C8B-B14F-4D97-AF65-F5344CB8AC3E}">
        <p14:creationId xmlns:p14="http://schemas.microsoft.com/office/powerpoint/2010/main" val="34425966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7 – Computer Arithmetic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E1C651DC-CFA8-4914-92F1-1FF83E900B8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E1B8BC83-3189-4BEF-9B76-E5B3BE752022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89E23C08-83AC-423E-9AC0-33B0E5E615F2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7 – Computer Arithmetic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Date Placeholder 1">
            <a:extLst>
              <a:ext uri="{FF2B5EF4-FFF2-40B4-BE49-F238E27FC236}">
                <a16:creationId xmlns:a16="http://schemas.microsoft.com/office/drawing/2014/main" id="{3D54113D-A297-4D4F-B507-CA01E1459CB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4DF0B2CA-0D59-41EF-8432-9E74D5B5179D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7A9D92B4-C1EB-49D5-B30F-DE458691727F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7 – Computer Arithmetic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AC9F0E07-E84B-4A94-8124-2A56A55F2AFE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4DBF1E76-977D-4892-ACFE-BC891B8F7A4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FED82C7F-CF4E-4B26-B07D-1891251986B5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7 – Computer Arithmetic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8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667" r:id="rId21"/>
    <p:sldLayoutId id="2147483670" r:id="rId22"/>
    <p:sldLayoutId id="2147483672" r:id="rId23"/>
    <p:sldLayoutId id="2147483689" r:id="rId24"/>
    <p:sldLayoutId id="2147483690" r:id="rId25"/>
    <p:sldLayoutId id="2147483673" r:id="rId26"/>
    <p:sldLayoutId id="2147483691" r:id="rId27"/>
    <p:sldLayoutId id="2147483674" r:id="rId28"/>
    <p:sldLayoutId id="2147483676" r:id="rId29"/>
    <p:sldLayoutId id="2147483677" r:id="rId30"/>
    <p:sldLayoutId id="2147483678" r:id="rId31"/>
    <p:sldLayoutId id="2147483679" r:id="rId32"/>
    <p:sldLayoutId id="2147483683" r:id="rId33"/>
    <p:sldLayoutId id="2147483682" r:id="rId34"/>
    <p:sldLayoutId id="2147483684" r:id="rId35"/>
    <p:sldLayoutId id="2147483685" r:id="rId36"/>
    <p:sldLayoutId id="2147483686" r:id="rId3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517B9A-CB15-4105-8DB6-3BE4CEF0C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292423" cy="2578780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Unit-7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Computer Arithmetic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74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2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69714"/>
            <a:ext cx="89030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Addition and Subtraction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Multiplication Algorithms (Booth Multiplication Algorithm)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Decimal 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103371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Addition and Subtraction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76107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421F-6C08-4247-AF1A-E3603EE5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Addition and Subtraction</a:t>
            </a:r>
            <a:endParaRPr lang="en-IN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A6AEEBE-4B08-451F-8296-1C78AF5CF3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9085589"/>
              </p:ext>
            </p:extLst>
          </p:nvPr>
        </p:nvGraphicFramePr>
        <p:xfrm>
          <a:off x="1455775" y="1043763"/>
          <a:ext cx="8763000" cy="493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Operation</a:t>
                      </a:r>
                    </a:p>
                  </a:txBody>
                  <a:tcPr anchor="ctr" anchorCtr="1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Add Magnitudes</a:t>
                      </a:r>
                    </a:p>
                  </a:txBody>
                  <a:tcPr anchor="ctr" anchorCtr="1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Subtract</a:t>
                      </a:r>
                      <a:r>
                        <a:rPr lang="en-US" sz="2400" b="1" baseline="0" dirty="0">
                          <a:solidFill>
                            <a:sysClr val="windowText" lastClr="000000"/>
                          </a:solidFill>
                        </a:rPr>
                        <a:t> Magnitudes</a:t>
                      </a:r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2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When A &gt;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2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When A &lt;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2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When A =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(+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 + (+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+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+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(+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 + (-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+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 (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+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(-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 + (+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+ (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+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(-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 + (-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+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(+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 - (+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+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 (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+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(+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 - (-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+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+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(-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 - (+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+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(-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 - (-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+ (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+ (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-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88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3FC1-27C2-46FA-9A8D-3962A2216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Flowchart for Addition &amp; Subtraction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5997E-4686-4A87-97B6-6FF3E69EC795}"/>
              </a:ext>
            </a:extLst>
          </p:cNvPr>
          <p:cNvSpPr txBox="1"/>
          <p:nvPr/>
        </p:nvSpPr>
        <p:spPr>
          <a:xfrm>
            <a:off x="3757335" y="903768"/>
            <a:ext cx="194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Subtract</a:t>
            </a:r>
            <a:r>
              <a:rPr lang="en-US" dirty="0"/>
              <a:t> operation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201C4-F4E7-4C50-BF83-F3419EB62185}"/>
              </a:ext>
            </a:extLst>
          </p:cNvPr>
          <p:cNvSpPr txBox="1"/>
          <p:nvPr/>
        </p:nvSpPr>
        <p:spPr>
          <a:xfrm>
            <a:off x="7214910" y="903768"/>
            <a:ext cx="1530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Add</a:t>
            </a:r>
            <a:r>
              <a:rPr lang="en-US" dirty="0"/>
              <a:t> operation</a:t>
            </a: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AAB806F7-8842-48BA-808F-E4E48705B407}"/>
              </a:ext>
            </a:extLst>
          </p:cNvPr>
          <p:cNvSpPr/>
          <p:nvPr/>
        </p:nvSpPr>
        <p:spPr>
          <a:xfrm>
            <a:off x="3764478" y="1428596"/>
            <a:ext cx="1938338" cy="60769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Minuend in A</a:t>
            </a:r>
          </a:p>
          <a:p>
            <a:pPr algn="ctr"/>
            <a:r>
              <a:rPr lang="en-US" dirty="0"/>
              <a:t>Subtrahend in B</a:t>
            </a: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8A10D217-785E-4DCF-B941-5B22DF460387}"/>
              </a:ext>
            </a:extLst>
          </p:cNvPr>
          <p:cNvSpPr/>
          <p:nvPr/>
        </p:nvSpPr>
        <p:spPr>
          <a:xfrm>
            <a:off x="7012503" y="1438121"/>
            <a:ext cx="1938338" cy="60769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Augend in A</a:t>
            </a:r>
          </a:p>
          <a:p>
            <a:pPr algn="ctr"/>
            <a:r>
              <a:rPr lang="en-US" dirty="0"/>
              <a:t>Addend in B</a:t>
            </a:r>
          </a:p>
        </p:txBody>
      </p:sp>
      <p:sp>
        <p:nvSpPr>
          <p:cNvPr id="8" name="Flowchart: Preparation 7">
            <a:extLst>
              <a:ext uri="{FF2B5EF4-FFF2-40B4-BE49-F238E27FC236}">
                <a16:creationId xmlns:a16="http://schemas.microsoft.com/office/drawing/2014/main" id="{B8FC9572-22B2-4AE5-90E7-12D4580492BA}"/>
              </a:ext>
            </a:extLst>
          </p:cNvPr>
          <p:cNvSpPr/>
          <p:nvPr/>
        </p:nvSpPr>
        <p:spPr>
          <a:xfrm>
            <a:off x="3999066" y="2275368"/>
            <a:ext cx="1463602" cy="390342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</a:t>
            </a:r>
            <a:r>
              <a:rPr lang="en-US" baseline="-25000" dirty="0" err="1"/>
              <a:t>s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⊕</a:t>
            </a:r>
            <a:r>
              <a:rPr lang="en-US" dirty="0" err="1"/>
              <a:t>B</a:t>
            </a:r>
            <a:r>
              <a:rPr lang="en-US" baseline="-25000" dirty="0" err="1"/>
              <a:t>s</a:t>
            </a:r>
            <a:endParaRPr lang="en-US" baseline="-25000" dirty="0"/>
          </a:p>
        </p:txBody>
      </p:sp>
      <p:sp>
        <p:nvSpPr>
          <p:cNvPr id="9" name="Flowchart: Preparation 8">
            <a:extLst>
              <a:ext uri="{FF2B5EF4-FFF2-40B4-BE49-F238E27FC236}">
                <a16:creationId xmlns:a16="http://schemas.microsoft.com/office/drawing/2014/main" id="{D909B6F9-CE80-45E8-A810-43C708A48EEA}"/>
              </a:ext>
            </a:extLst>
          </p:cNvPr>
          <p:cNvSpPr/>
          <p:nvPr/>
        </p:nvSpPr>
        <p:spPr>
          <a:xfrm>
            <a:off x="7247091" y="2284893"/>
            <a:ext cx="1463602" cy="390342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</a:t>
            </a:r>
            <a:r>
              <a:rPr lang="en-US" baseline="-25000" dirty="0" err="1"/>
              <a:t>s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⊕</a:t>
            </a:r>
            <a:r>
              <a:rPr lang="en-US" dirty="0" err="1"/>
              <a:t>B</a:t>
            </a:r>
            <a:r>
              <a:rPr lang="en-US" baseline="-25000" dirty="0" err="1"/>
              <a:t>s</a:t>
            </a:r>
            <a:endParaRPr lang="en-US" baseline="-25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9AD348-5932-44BA-85D1-EE7381DBE2A7}"/>
              </a:ext>
            </a:extLst>
          </p:cNvPr>
          <p:cNvSpPr/>
          <p:nvPr/>
        </p:nvSpPr>
        <p:spPr>
          <a:xfrm>
            <a:off x="3989394" y="2918132"/>
            <a:ext cx="1504950" cy="495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← </a:t>
            </a:r>
            <a:r>
              <a:rPr lang="en-US" dirty="0"/>
              <a:t>A+B’+1</a:t>
            </a:r>
          </a:p>
          <a:p>
            <a:pPr algn="ctr"/>
            <a:r>
              <a:rPr lang="en-US" dirty="0"/>
              <a:t>AVF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← </a:t>
            </a:r>
            <a:r>
              <a:rPr lang="en-US" dirty="0"/>
              <a:t>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5D432A-6FEA-48EC-8B03-EC8A475E5CDF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4730867" y="2036291"/>
            <a:ext cx="2780" cy="23907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738220-4201-445B-BF79-0A37C79F7688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7978892" y="2045816"/>
            <a:ext cx="2780" cy="23907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09C9531-0300-4DA7-A4AD-55E0AD52E30C}"/>
              </a:ext>
            </a:extLst>
          </p:cNvPr>
          <p:cNvSpPr/>
          <p:nvPr/>
        </p:nvSpPr>
        <p:spPr>
          <a:xfrm>
            <a:off x="7218369" y="2884968"/>
            <a:ext cx="1504950" cy="4098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← </a:t>
            </a:r>
            <a:r>
              <a:rPr lang="en-US" dirty="0"/>
              <a:t>A+B</a:t>
            </a:r>
          </a:p>
        </p:txBody>
      </p:sp>
      <p:cxnSp>
        <p:nvCxnSpPr>
          <p:cNvPr id="14" name="Elbow Connector 14">
            <a:extLst>
              <a:ext uri="{FF2B5EF4-FFF2-40B4-BE49-F238E27FC236}">
                <a16:creationId xmlns:a16="http://schemas.microsoft.com/office/drawing/2014/main" id="{94A2B2D1-CB05-4C9D-95A8-887D3D9BA0AA}"/>
              </a:ext>
            </a:extLst>
          </p:cNvPr>
          <p:cNvCxnSpPr>
            <a:stCxn id="8" idx="1"/>
            <a:endCxn id="10" idx="1"/>
          </p:cNvCxnSpPr>
          <p:nvPr/>
        </p:nvCxnSpPr>
        <p:spPr>
          <a:xfrm rot="10800000" flipV="1">
            <a:off x="3989394" y="2470539"/>
            <a:ext cx="9672" cy="695558"/>
          </a:xfrm>
          <a:prstGeom prst="bentConnector3">
            <a:avLst>
              <a:gd name="adj1" fmla="val 2463524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5">
            <a:extLst>
              <a:ext uri="{FF2B5EF4-FFF2-40B4-BE49-F238E27FC236}">
                <a16:creationId xmlns:a16="http://schemas.microsoft.com/office/drawing/2014/main" id="{C9159CA7-297B-4090-B41A-400F8DF8B648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rot="10800000" flipV="1">
            <a:off x="5494345" y="2480063"/>
            <a:ext cx="1752747" cy="686033"/>
          </a:xfrm>
          <a:prstGeom prst="bentConnector3">
            <a:avLst>
              <a:gd name="adj1" fmla="val 5000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6">
            <a:extLst>
              <a:ext uri="{FF2B5EF4-FFF2-40B4-BE49-F238E27FC236}">
                <a16:creationId xmlns:a16="http://schemas.microsoft.com/office/drawing/2014/main" id="{3EE33B0D-54B5-4440-983F-96A9A95CA4BA}"/>
              </a:ext>
            </a:extLst>
          </p:cNvPr>
          <p:cNvCxnSpPr>
            <a:stCxn id="8" idx="3"/>
            <a:endCxn id="13" idx="1"/>
          </p:cNvCxnSpPr>
          <p:nvPr/>
        </p:nvCxnSpPr>
        <p:spPr>
          <a:xfrm>
            <a:off x="5462668" y="2470539"/>
            <a:ext cx="1755701" cy="619359"/>
          </a:xfrm>
          <a:prstGeom prst="bentConnector3">
            <a:avLst>
              <a:gd name="adj1" fmla="val 5000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7">
            <a:extLst>
              <a:ext uri="{FF2B5EF4-FFF2-40B4-BE49-F238E27FC236}">
                <a16:creationId xmlns:a16="http://schemas.microsoft.com/office/drawing/2014/main" id="{F284F050-FC3D-43CC-8BF0-BAC09C7F5EE5}"/>
              </a:ext>
            </a:extLst>
          </p:cNvPr>
          <p:cNvCxnSpPr>
            <a:stCxn id="9" idx="3"/>
            <a:endCxn id="13" idx="3"/>
          </p:cNvCxnSpPr>
          <p:nvPr/>
        </p:nvCxnSpPr>
        <p:spPr>
          <a:xfrm>
            <a:off x="8710693" y="2480064"/>
            <a:ext cx="12626" cy="609834"/>
          </a:xfrm>
          <a:prstGeom prst="bentConnector3">
            <a:avLst>
              <a:gd name="adj1" fmla="val 191055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B0079D-B09E-410C-800E-4408DDE4E01B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727409" y="1273100"/>
            <a:ext cx="6238" cy="1554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95B6D7-9138-422A-9F26-6D694024FA2C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7980280" y="1273100"/>
            <a:ext cx="1392" cy="16502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992FEE1B-9D2C-45A4-8175-4AE272E52847}"/>
              </a:ext>
            </a:extLst>
          </p:cNvPr>
          <p:cNvSpPr/>
          <p:nvPr/>
        </p:nvSpPr>
        <p:spPr>
          <a:xfrm>
            <a:off x="4416590" y="3668541"/>
            <a:ext cx="660083" cy="36671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0C9E1F-9F10-44C7-8EE1-60ED32EC4FAC}"/>
              </a:ext>
            </a:extLst>
          </p:cNvPr>
          <p:cNvCxnSpPr>
            <a:stCxn id="10" idx="2"/>
            <a:endCxn id="20" idx="0"/>
          </p:cNvCxnSpPr>
          <p:nvPr/>
        </p:nvCxnSpPr>
        <p:spPr>
          <a:xfrm>
            <a:off x="4741869" y="3414062"/>
            <a:ext cx="4763" cy="25447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B41F1C4-FF38-4D7D-88F9-95CF804B17DD}"/>
              </a:ext>
            </a:extLst>
          </p:cNvPr>
          <p:cNvSpPr/>
          <p:nvPr/>
        </p:nvSpPr>
        <p:spPr>
          <a:xfrm>
            <a:off x="7218369" y="3770793"/>
            <a:ext cx="1504950" cy="4098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AVF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←</a:t>
            </a:r>
            <a:r>
              <a:rPr lang="en-US" dirty="0"/>
              <a:t> 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B8A2CD-9DF5-4C62-88E0-A95B7F1B1FD8}"/>
              </a:ext>
            </a:extLst>
          </p:cNvPr>
          <p:cNvSpPr/>
          <p:nvPr/>
        </p:nvSpPr>
        <p:spPr>
          <a:xfrm>
            <a:off x="3501640" y="4180368"/>
            <a:ext cx="934455" cy="307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←</a:t>
            </a:r>
            <a:r>
              <a:rPr lang="en-US" dirty="0"/>
              <a:t> A’</a:t>
            </a:r>
          </a:p>
        </p:txBody>
      </p:sp>
      <p:sp>
        <p:nvSpPr>
          <p:cNvPr id="24" name="Flowchart: Decision 23">
            <a:extLst>
              <a:ext uri="{FF2B5EF4-FFF2-40B4-BE49-F238E27FC236}">
                <a16:creationId xmlns:a16="http://schemas.microsoft.com/office/drawing/2014/main" id="{3121D4D1-EAAA-4FB0-A246-2B28D3E04786}"/>
              </a:ext>
            </a:extLst>
          </p:cNvPr>
          <p:cNvSpPr/>
          <p:nvPr/>
        </p:nvSpPr>
        <p:spPr>
          <a:xfrm>
            <a:off x="5283365" y="4198603"/>
            <a:ext cx="660083" cy="36671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F0BD88-1FDD-423C-8D23-B9239D5824A2}"/>
              </a:ext>
            </a:extLst>
          </p:cNvPr>
          <p:cNvSpPr/>
          <p:nvPr/>
        </p:nvSpPr>
        <p:spPr>
          <a:xfrm>
            <a:off x="3464441" y="4939172"/>
            <a:ext cx="1027902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←</a:t>
            </a:r>
            <a:r>
              <a:rPr lang="en-US" dirty="0"/>
              <a:t> A+1</a:t>
            </a:r>
          </a:p>
          <a:p>
            <a:pPr algn="ctr"/>
            <a:r>
              <a:rPr lang="en-US" dirty="0"/>
              <a:t>A</a:t>
            </a:r>
            <a:r>
              <a:rPr lang="en-US" baseline="-25000" dirty="0"/>
              <a:t>s</a:t>
            </a:r>
            <a:r>
              <a:rPr lang="en-US" dirty="0"/>
              <a:t>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←</a:t>
            </a:r>
            <a:r>
              <a:rPr lang="en-US" dirty="0"/>
              <a:t> A</a:t>
            </a:r>
            <a:r>
              <a:rPr lang="en-US" baseline="-25000" dirty="0"/>
              <a:t>s</a:t>
            </a:r>
            <a:r>
              <a:rPr lang="en-US" dirty="0"/>
              <a:t>’</a:t>
            </a:r>
            <a:endParaRPr lang="en-US" baseline="-25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41686A-26AB-4F98-AD33-42BD44AE9560}"/>
              </a:ext>
            </a:extLst>
          </p:cNvPr>
          <p:cNvSpPr/>
          <p:nvPr/>
        </p:nvSpPr>
        <p:spPr>
          <a:xfrm>
            <a:off x="6109108" y="4939172"/>
            <a:ext cx="934455" cy="307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r>
              <a:rPr lang="en-US" baseline="-25000" dirty="0"/>
              <a:t>s</a:t>
            </a:r>
            <a:r>
              <a:rPr lang="en-US" dirty="0"/>
              <a:t>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←</a:t>
            </a:r>
            <a:r>
              <a:rPr lang="en-US" dirty="0"/>
              <a:t> 0</a:t>
            </a:r>
          </a:p>
        </p:txBody>
      </p:sp>
      <p:cxnSp>
        <p:nvCxnSpPr>
          <p:cNvPr id="27" name="Elbow Connector 27">
            <a:extLst>
              <a:ext uri="{FF2B5EF4-FFF2-40B4-BE49-F238E27FC236}">
                <a16:creationId xmlns:a16="http://schemas.microsoft.com/office/drawing/2014/main" id="{F8B0453C-AFF4-474D-8568-F3D3DAC16EB7}"/>
              </a:ext>
            </a:extLst>
          </p:cNvPr>
          <p:cNvCxnSpPr>
            <a:stCxn id="20" idx="1"/>
            <a:endCxn id="23" idx="0"/>
          </p:cNvCxnSpPr>
          <p:nvPr/>
        </p:nvCxnSpPr>
        <p:spPr>
          <a:xfrm rot="10800000" flipV="1">
            <a:off x="3968868" y="3851898"/>
            <a:ext cx="447722" cy="328470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8">
            <a:extLst>
              <a:ext uri="{FF2B5EF4-FFF2-40B4-BE49-F238E27FC236}">
                <a16:creationId xmlns:a16="http://schemas.microsoft.com/office/drawing/2014/main" id="{F9BE0CCA-8DBF-4631-A9ED-73D93997641F}"/>
              </a:ext>
            </a:extLst>
          </p:cNvPr>
          <p:cNvCxnSpPr>
            <a:stCxn id="20" idx="3"/>
            <a:endCxn id="24" idx="0"/>
          </p:cNvCxnSpPr>
          <p:nvPr/>
        </p:nvCxnSpPr>
        <p:spPr>
          <a:xfrm>
            <a:off x="5076673" y="3851898"/>
            <a:ext cx="536734" cy="346705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A8568C-666B-48D3-87AF-2CAA958F048A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>
            <a:off x="3968868" y="4488301"/>
            <a:ext cx="9524" cy="450871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Terminator 29">
            <a:extLst>
              <a:ext uri="{FF2B5EF4-FFF2-40B4-BE49-F238E27FC236}">
                <a16:creationId xmlns:a16="http://schemas.microsoft.com/office/drawing/2014/main" id="{AA432E46-EE19-4EE8-AC45-66885E320B2C}"/>
              </a:ext>
            </a:extLst>
          </p:cNvPr>
          <p:cNvSpPr/>
          <p:nvPr/>
        </p:nvSpPr>
        <p:spPr>
          <a:xfrm>
            <a:off x="4408278" y="5757708"/>
            <a:ext cx="2345389" cy="60769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  <a:p>
            <a:pPr algn="ctr"/>
            <a:r>
              <a:rPr lang="en-US" dirty="0"/>
              <a:t>(result is in A and A</a:t>
            </a:r>
            <a:r>
              <a:rPr lang="en-US" baseline="-25000" dirty="0"/>
              <a:t>s</a:t>
            </a:r>
            <a:r>
              <a:rPr lang="en-US" dirty="0"/>
              <a:t>)</a:t>
            </a:r>
            <a:endParaRPr lang="en-US" baseline="-25000" dirty="0"/>
          </a:p>
        </p:txBody>
      </p:sp>
      <p:cxnSp>
        <p:nvCxnSpPr>
          <p:cNvPr id="31" name="Elbow Connector 31">
            <a:extLst>
              <a:ext uri="{FF2B5EF4-FFF2-40B4-BE49-F238E27FC236}">
                <a16:creationId xmlns:a16="http://schemas.microsoft.com/office/drawing/2014/main" id="{12DBD509-A8D4-4134-A6FB-9191849B8348}"/>
              </a:ext>
            </a:extLst>
          </p:cNvPr>
          <p:cNvCxnSpPr>
            <a:stCxn id="25" idx="2"/>
            <a:endCxn id="30" idx="1"/>
          </p:cNvCxnSpPr>
          <p:nvPr/>
        </p:nvCxnSpPr>
        <p:spPr>
          <a:xfrm rot="16200000" flipH="1">
            <a:off x="3932181" y="5585458"/>
            <a:ext cx="522309" cy="429886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2">
            <a:extLst>
              <a:ext uri="{FF2B5EF4-FFF2-40B4-BE49-F238E27FC236}">
                <a16:creationId xmlns:a16="http://schemas.microsoft.com/office/drawing/2014/main" id="{334DE7B0-49E6-4562-97B4-5314616EAECA}"/>
              </a:ext>
            </a:extLst>
          </p:cNvPr>
          <p:cNvCxnSpPr>
            <a:stCxn id="24" idx="3"/>
            <a:endCxn id="26" idx="0"/>
          </p:cNvCxnSpPr>
          <p:nvPr/>
        </p:nvCxnSpPr>
        <p:spPr>
          <a:xfrm>
            <a:off x="5943448" y="4381960"/>
            <a:ext cx="632888" cy="557212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3">
            <a:extLst>
              <a:ext uri="{FF2B5EF4-FFF2-40B4-BE49-F238E27FC236}">
                <a16:creationId xmlns:a16="http://schemas.microsoft.com/office/drawing/2014/main" id="{649F6C19-2185-48CE-BACA-2B20C6DEC4A5}"/>
              </a:ext>
            </a:extLst>
          </p:cNvPr>
          <p:cNvCxnSpPr>
            <a:stCxn id="24" idx="1"/>
          </p:cNvCxnSpPr>
          <p:nvPr/>
        </p:nvCxnSpPr>
        <p:spPr>
          <a:xfrm rot="10800000" flipV="1">
            <a:off x="5076673" y="4381960"/>
            <a:ext cx="206692" cy="1375748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4">
            <a:extLst>
              <a:ext uri="{FF2B5EF4-FFF2-40B4-BE49-F238E27FC236}">
                <a16:creationId xmlns:a16="http://schemas.microsoft.com/office/drawing/2014/main" id="{758EDCA3-1442-4628-A3D7-26323125598D}"/>
              </a:ext>
            </a:extLst>
          </p:cNvPr>
          <p:cNvCxnSpPr>
            <a:stCxn id="26" idx="2"/>
            <a:endCxn id="30" idx="0"/>
          </p:cNvCxnSpPr>
          <p:nvPr/>
        </p:nvCxnSpPr>
        <p:spPr>
          <a:xfrm rot="5400000">
            <a:off x="5823354" y="5004725"/>
            <a:ext cx="510603" cy="995363"/>
          </a:xfrm>
          <a:prstGeom prst="bentConnector3">
            <a:avLst>
              <a:gd name="adj1" fmla="val 5000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5">
            <a:extLst>
              <a:ext uri="{FF2B5EF4-FFF2-40B4-BE49-F238E27FC236}">
                <a16:creationId xmlns:a16="http://schemas.microsoft.com/office/drawing/2014/main" id="{8A9CD349-7AB8-4B0B-8904-7510B3FBF207}"/>
              </a:ext>
            </a:extLst>
          </p:cNvPr>
          <p:cNvCxnSpPr>
            <a:stCxn id="22" idx="2"/>
            <a:endCxn id="30" idx="3"/>
          </p:cNvCxnSpPr>
          <p:nvPr/>
        </p:nvCxnSpPr>
        <p:spPr>
          <a:xfrm rot="5400000">
            <a:off x="6421804" y="4512516"/>
            <a:ext cx="1880904" cy="1217177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5767555-7318-49B7-A13E-A07CAC3BDD1F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970844" y="3294827"/>
            <a:ext cx="0" cy="47596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90978DB-5AA9-446D-9752-D73C7BABB4F2}"/>
              </a:ext>
            </a:extLst>
          </p:cNvPr>
          <p:cNvSpPr txBox="1"/>
          <p:nvPr/>
        </p:nvSpPr>
        <p:spPr>
          <a:xfrm>
            <a:off x="3604041" y="2170495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CCBB1B-D7C5-4DB8-96CA-53C607F4625E}"/>
              </a:ext>
            </a:extLst>
          </p:cNvPr>
          <p:cNvSpPr txBox="1"/>
          <p:nvPr/>
        </p:nvSpPr>
        <p:spPr>
          <a:xfrm>
            <a:off x="5370088" y="2190203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519F98-D336-4376-B799-397BDE91F1A5}"/>
              </a:ext>
            </a:extLst>
          </p:cNvPr>
          <p:cNvSpPr txBox="1"/>
          <p:nvPr/>
        </p:nvSpPr>
        <p:spPr>
          <a:xfrm>
            <a:off x="6867194" y="2164234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A18112-D8B2-4B36-9804-8BC1EC0ED564}"/>
              </a:ext>
            </a:extLst>
          </p:cNvPr>
          <p:cNvSpPr txBox="1"/>
          <p:nvPr/>
        </p:nvSpPr>
        <p:spPr>
          <a:xfrm>
            <a:off x="8646041" y="2183942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FA6AD3-E33B-4595-8E0B-B6FF0B04668D}"/>
              </a:ext>
            </a:extLst>
          </p:cNvPr>
          <p:cNvSpPr txBox="1"/>
          <p:nvPr/>
        </p:nvSpPr>
        <p:spPr>
          <a:xfrm>
            <a:off x="8924702" y="2700302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s</a:t>
            </a:r>
            <a:r>
              <a:rPr lang="en-US" dirty="0"/>
              <a:t> = </a:t>
            </a:r>
            <a:r>
              <a:rPr lang="en-US" dirty="0" err="1"/>
              <a:t>B</a:t>
            </a:r>
            <a:r>
              <a:rPr lang="en-US" baseline="-25000" dirty="0" err="1"/>
              <a:t>s</a:t>
            </a:r>
            <a:endParaRPr lang="en-US" baseline="-25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EDAD9C-09C9-43F6-A4DD-9B021DA5AF68}"/>
              </a:ext>
            </a:extLst>
          </p:cNvPr>
          <p:cNvSpPr txBox="1"/>
          <p:nvPr/>
        </p:nvSpPr>
        <p:spPr>
          <a:xfrm>
            <a:off x="2983448" y="2744236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s</a:t>
            </a:r>
            <a:r>
              <a:rPr lang="en-US" dirty="0"/>
              <a:t> = </a:t>
            </a:r>
            <a:r>
              <a:rPr lang="en-US" dirty="0" err="1"/>
              <a:t>B</a:t>
            </a:r>
            <a:r>
              <a:rPr lang="en-US" baseline="-25000" dirty="0" err="1"/>
              <a:t>s</a:t>
            </a:r>
            <a:endParaRPr lang="en-US" baseline="-25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B7679A-E0E4-4748-9FFA-4ED8235AFEF2}"/>
              </a:ext>
            </a:extLst>
          </p:cNvPr>
          <p:cNvSpPr txBox="1"/>
          <p:nvPr/>
        </p:nvSpPr>
        <p:spPr>
          <a:xfrm>
            <a:off x="6458629" y="2730090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s</a:t>
            </a:r>
            <a:r>
              <a:rPr lang="en-US" dirty="0"/>
              <a:t> ≠ </a:t>
            </a:r>
            <a:r>
              <a:rPr lang="en-US" dirty="0" err="1"/>
              <a:t>B</a:t>
            </a:r>
            <a:r>
              <a:rPr lang="en-US" baseline="-25000" dirty="0" err="1"/>
              <a:t>s</a:t>
            </a:r>
            <a:endParaRPr lang="en-US" baseline="-25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17E3E4-6FB4-42D8-B486-849ED8F366D8}"/>
              </a:ext>
            </a:extLst>
          </p:cNvPr>
          <p:cNvSpPr txBox="1"/>
          <p:nvPr/>
        </p:nvSpPr>
        <p:spPr>
          <a:xfrm>
            <a:off x="5498048" y="2820436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s</a:t>
            </a:r>
            <a:r>
              <a:rPr lang="en-US" dirty="0"/>
              <a:t> ≠ </a:t>
            </a:r>
            <a:r>
              <a:rPr lang="en-US" dirty="0" err="1"/>
              <a:t>B</a:t>
            </a:r>
            <a:r>
              <a:rPr lang="en-US" baseline="-25000" dirty="0" err="1"/>
              <a:t>s</a:t>
            </a:r>
            <a:endParaRPr lang="en-US" baseline="-25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E0D7C7-6877-433E-A9CA-A98CCA6B5B3B}"/>
              </a:ext>
            </a:extLst>
          </p:cNvPr>
          <p:cNvSpPr txBox="1"/>
          <p:nvPr/>
        </p:nvSpPr>
        <p:spPr>
          <a:xfrm>
            <a:off x="3908841" y="3519579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D28DCF-E017-4EC8-A0F7-60DECB5352B7}"/>
              </a:ext>
            </a:extLst>
          </p:cNvPr>
          <p:cNvSpPr txBox="1"/>
          <p:nvPr/>
        </p:nvSpPr>
        <p:spPr>
          <a:xfrm>
            <a:off x="5228000" y="3525840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D1570F-51F2-4F09-A241-EB4084E3D424}"/>
              </a:ext>
            </a:extLst>
          </p:cNvPr>
          <p:cNvSpPr txBox="1"/>
          <p:nvPr/>
        </p:nvSpPr>
        <p:spPr>
          <a:xfrm>
            <a:off x="3284571" y="378414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&lt; B</a:t>
            </a:r>
            <a:endParaRPr lang="en-US" baseline="-25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720C41-D54D-4ACC-AC02-33D7FBAF62AF}"/>
              </a:ext>
            </a:extLst>
          </p:cNvPr>
          <p:cNvSpPr txBox="1"/>
          <p:nvPr/>
        </p:nvSpPr>
        <p:spPr>
          <a:xfrm>
            <a:off x="5619877" y="3797589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≥ B</a:t>
            </a:r>
            <a:endParaRPr lang="en-US" baseline="-25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6FE46E-5B7D-45CA-B049-3212A3F66479}"/>
              </a:ext>
            </a:extLst>
          </p:cNvPr>
          <p:cNvSpPr txBox="1"/>
          <p:nvPr/>
        </p:nvSpPr>
        <p:spPr>
          <a:xfrm>
            <a:off x="4826376" y="4069234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≠ 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3FF801-B096-4829-9E4D-9BBE8F475317}"/>
              </a:ext>
            </a:extLst>
          </p:cNvPr>
          <p:cNvSpPr txBox="1"/>
          <p:nvPr/>
        </p:nvSpPr>
        <p:spPr>
          <a:xfrm>
            <a:off x="6207641" y="4075495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B63C71-C404-43E9-A5D7-EB0C95B1F487}"/>
              </a:ext>
            </a:extLst>
          </p:cNvPr>
          <p:cNvSpPr txBox="1"/>
          <p:nvPr/>
        </p:nvSpPr>
        <p:spPr>
          <a:xfrm>
            <a:off x="1864241" y="1360968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s</a:t>
            </a:r>
            <a:r>
              <a:rPr lang="en-US" dirty="0"/>
              <a:t> = Sign bit of A</a:t>
            </a:r>
            <a:endParaRPr lang="en-US" baseline="-25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50983D-185E-4540-A3DE-9305823F8708}"/>
              </a:ext>
            </a:extLst>
          </p:cNvPr>
          <p:cNvSpPr txBox="1"/>
          <p:nvPr/>
        </p:nvSpPr>
        <p:spPr>
          <a:xfrm>
            <a:off x="1864241" y="1677436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</a:t>
            </a:r>
            <a:r>
              <a:rPr lang="en-US" baseline="-25000" dirty="0" err="1"/>
              <a:t>s</a:t>
            </a:r>
            <a:r>
              <a:rPr lang="en-US" dirty="0"/>
              <a:t> = Sign bit of B</a:t>
            </a:r>
            <a:endParaRPr lang="en-US" baseline="-25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A0FDC9-3596-47E8-ADFF-44603E3B4583}"/>
              </a:ext>
            </a:extLst>
          </p:cNvPr>
          <p:cNvSpPr txBox="1"/>
          <p:nvPr/>
        </p:nvSpPr>
        <p:spPr>
          <a:xfrm>
            <a:off x="8760341" y="5286637"/>
            <a:ext cx="2095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AVF = add overflow flip-flop</a:t>
            </a:r>
            <a:endParaRPr lang="en-US" baseline="-25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B333E9-9C29-46EE-A395-8CE92B74DB3B}"/>
              </a:ext>
            </a:extLst>
          </p:cNvPr>
          <p:cNvSpPr txBox="1"/>
          <p:nvPr/>
        </p:nvSpPr>
        <p:spPr>
          <a:xfrm>
            <a:off x="8760341" y="4958058"/>
            <a:ext cx="1017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 = Carry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08552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3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0" grpId="0" animBg="1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Multiplication Algorithms (Booth Multiplication Algorithm)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298330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9262C4-78ED-4F57-A7A7-E5059DC5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Multiplication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E1FAC6-284A-45BA-A27A-09A35ADA9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way of binary multiplication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7E19F8-8EF5-4425-9895-D0A419D56657}"/>
              </a:ext>
            </a:extLst>
          </p:cNvPr>
          <p:cNvSpPr txBox="1"/>
          <p:nvPr/>
        </p:nvSpPr>
        <p:spPr>
          <a:xfrm>
            <a:off x="1796199" y="16108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BA918-814B-4212-9697-7D68D612B1F7}"/>
              </a:ext>
            </a:extLst>
          </p:cNvPr>
          <p:cNvSpPr txBox="1"/>
          <p:nvPr/>
        </p:nvSpPr>
        <p:spPr>
          <a:xfrm>
            <a:off x="1796199" y="206361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09A87-B98C-4BF2-B5D1-F4484FA2051F}"/>
              </a:ext>
            </a:extLst>
          </p:cNvPr>
          <p:cNvSpPr txBox="1"/>
          <p:nvPr/>
        </p:nvSpPr>
        <p:spPr>
          <a:xfrm>
            <a:off x="2922468" y="1610876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48E986-B45E-4FD0-B8DF-448BE3DDEF7E}"/>
              </a:ext>
            </a:extLst>
          </p:cNvPr>
          <p:cNvSpPr txBox="1"/>
          <p:nvPr/>
        </p:nvSpPr>
        <p:spPr>
          <a:xfrm>
            <a:off x="2922468" y="2063611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46453-E4E2-498B-AE94-F93E781E13BB}"/>
              </a:ext>
            </a:extLst>
          </p:cNvPr>
          <p:cNvSpPr txBox="1"/>
          <p:nvPr/>
        </p:nvSpPr>
        <p:spPr>
          <a:xfrm>
            <a:off x="2692507" y="2050164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BB458-7747-45B8-9AD1-D5D4070C0212}"/>
              </a:ext>
            </a:extLst>
          </p:cNvPr>
          <p:cNvSpPr txBox="1"/>
          <p:nvPr/>
        </p:nvSpPr>
        <p:spPr>
          <a:xfrm>
            <a:off x="1630883" y="2050164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E006DF-2204-4E70-B1A4-1BC630F1C5B8}"/>
              </a:ext>
            </a:extLst>
          </p:cNvPr>
          <p:cNvCxnSpPr/>
          <p:nvPr/>
        </p:nvCxnSpPr>
        <p:spPr>
          <a:xfrm>
            <a:off x="2692507" y="2525276"/>
            <a:ext cx="119208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399221-5F03-4EF2-A9EC-D305042C161B}"/>
              </a:ext>
            </a:extLst>
          </p:cNvPr>
          <p:cNvCxnSpPr/>
          <p:nvPr/>
        </p:nvCxnSpPr>
        <p:spPr>
          <a:xfrm>
            <a:off x="1598591" y="2525276"/>
            <a:ext cx="6729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6F04869-ED81-4B31-A2FE-58F633E5F2B8}"/>
              </a:ext>
            </a:extLst>
          </p:cNvPr>
          <p:cNvSpPr txBox="1"/>
          <p:nvPr/>
        </p:nvSpPr>
        <p:spPr>
          <a:xfrm>
            <a:off x="2922468" y="2520811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19D921-DA65-4240-A063-77D6B47059D0}"/>
              </a:ext>
            </a:extLst>
          </p:cNvPr>
          <p:cNvSpPr txBox="1"/>
          <p:nvPr/>
        </p:nvSpPr>
        <p:spPr>
          <a:xfrm>
            <a:off x="2805927" y="2901811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FDB4D3-38D9-4B7B-A507-511E73C4F277}"/>
              </a:ext>
            </a:extLst>
          </p:cNvPr>
          <p:cNvSpPr txBox="1"/>
          <p:nvPr/>
        </p:nvSpPr>
        <p:spPr>
          <a:xfrm>
            <a:off x="2665391" y="3309705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5765C0-7DFA-4080-BBDE-8266228BE83F}"/>
              </a:ext>
            </a:extLst>
          </p:cNvPr>
          <p:cNvSpPr txBox="1"/>
          <p:nvPr/>
        </p:nvSpPr>
        <p:spPr>
          <a:xfrm>
            <a:off x="2539885" y="3740011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E4B44B-BC9C-49BD-A57C-22FA5C110314}"/>
              </a:ext>
            </a:extLst>
          </p:cNvPr>
          <p:cNvSpPr txBox="1"/>
          <p:nvPr/>
        </p:nvSpPr>
        <p:spPr>
          <a:xfrm>
            <a:off x="2423344" y="4138923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10111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5B47EF-E506-484E-9FAD-6A21047DA30E}"/>
              </a:ext>
            </a:extLst>
          </p:cNvPr>
          <p:cNvCxnSpPr/>
          <p:nvPr/>
        </p:nvCxnSpPr>
        <p:spPr>
          <a:xfrm>
            <a:off x="2390622" y="4658876"/>
            <a:ext cx="16073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48036AC-B0A9-457D-B713-090D002412BB}"/>
              </a:ext>
            </a:extLst>
          </p:cNvPr>
          <p:cNvSpPr txBox="1"/>
          <p:nvPr/>
        </p:nvSpPr>
        <p:spPr>
          <a:xfrm>
            <a:off x="2436791" y="4654411"/>
            <a:ext cx="1584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110110101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080AC0-382A-469A-BFC0-1DFB170C8E4F}"/>
              </a:ext>
            </a:extLst>
          </p:cNvPr>
          <p:cNvSpPr txBox="1"/>
          <p:nvPr/>
        </p:nvSpPr>
        <p:spPr>
          <a:xfrm>
            <a:off x="1643799" y="4658876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617D88-0123-44DE-BB6F-CE3F056BF165}"/>
              </a:ext>
            </a:extLst>
          </p:cNvPr>
          <p:cNvSpPr txBox="1"/>
          <p:nvPr/>
        </p:nvSpPr>
        <p:spPr>
          <a:xfrm>
            <a:off x="7962839" y="863446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Multiply operation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4222A51-BBD2-4F53-BD3A-C0543FBEE486}"/>
              </a:ext>
            </a:extLst>
          </p:cNvPr>
          <p:cNvCxnSpPr>
            <a:stCxn id="22" idx="2"/>
            <a:endCxn id="39" idx="0"/>
          </p:cNvCxnSpPr>
          <p:nvPr/>
        </p:nvCxnSpPr>
        <p:spPr>
          <a:xfrm flipH="1">
            <a:off x="9024237" y="1202000"/>
            <a:ext cx="5402" cy="19484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5D75050-15E5-463A-952A-87779EE6623A}"/>
                  </a:ext>
                </a:extLst>
              </p:cNvPr>
              <p:cNvSpPr/>
              <p:nvPr/>
            </p:nvSpPr>
            <p:spPr>
              <a:xfrm>
                <a:off x="7581839" y="2216192"/>
                <a:ext cx="2895600" cy="10287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 </m:t>
                      </m:r>
                      <m:sSub>
                        <m:sSubPr>
                          <m:ctrlP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 </m:t>
                      </m:r>
                      <m:sSub>
                        <m:sSubPr>
                          <m:ctrlP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IN" sz="16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 </m:t>
                      </m:r>
                      <m:sSub>
                        <m:sSubPr>
                          <m:ctrlP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 </m:t>
                      </m:r>
                      <m:sSub>
                        <m:sSubPr>
                          <m:ctrlP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</m:t>
                      </m:r>
                      <m:r>
                        <m:rPr>
                          <m:sty m:val="p"/>
                        </m:rPr>
                        <a:rPr lang="en-IN" sz="1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←0</m:t>
                      </m:r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IN" sz="1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5D75050-15E5-463A-952A-87779EE66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839" y="2216192"/>
                <a:ext cx="2895600" cy="10287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9510D9-2E28-4B4E-BBC4-2657C0C35FEE}"/>
              </a:ext>
            </a:extLst>
          </p:cNvPr>
          <p:cNvCxnSpPr>
            <a:stCxn id="39" idx="2"/>
            <a:endCxn id="24" idx="0"/>
          </p:cNvCxnSpPr>
          <p:nvPr/>
        </p:nvCxnSpPr>
        <p:spPr>
          <a:xfrm>
            <a:off x="9024237" y="1987592"/>
            <a:ext cx="5402" cy="228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Diamond 25">
                <a:extLst>
                  <a:ext uri="{FF2B5EF4-FFF2-40B4-BE49-F238E27FC236}">
                    <a16:creationId xmlns:a16="http://schemas.microsoft.com/office/drawing/2014/main" id="{9E016774-3A9E-4F61-B9A3-30E06D19BDE1}"/>
                  </a:ext>
                </a:extLst>
              </p:cNvPr>
              <p:cNvSpPr/>
              <p:nvPr/>
            </p:nvSpPr>
            <p:spPr>
              <a:xfrm>
                <a:off x="8573069" y="3624890"/>
                <a:ext cx="913141" cy="572502"/>
              </a:xfrm>
              <a:prstGeom prst="diamond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Diamond 25">
                <a:extLst>
                  <a:ext uri="{FF2B5EF4-FFF2-40B4-BE49-F238E27FC236}">
                    <a16:creationId xmlns:a16="http://schemas.microsoft.com/office/drawing/2014/main" id="{9E016774-3A9E-4F61-B9A3-30E06D19BD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069" y="3624890"/>
                <a:ext cx="913141" cy="572502"/>
              </a:xfrm>
              <a:prstGeom prst="diamond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C686A3-E1AD-494C-91CE-2088625E2E33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>
            <a:off x="9029639" y="3244892"/>
            <a:ext cx="1" cy="37999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9">
            <a:extLst>
              <a:ext uri="{FF2B5EF4-FFF2-40B4-BE49-F238E27FC236}">
                <a16:creationId xmlns:a16="http://schemas.microsoft.com/office/drawing/2014/main" id="{84DEB750-208E-4F7B-9A20-2EA6F4999184}"/>
              </a:ext>
            </a:extLst>
          </p:cNvPr>
          <p:cNvCxnSpPr>
            <a:stCxn id="26" idx="3"/>
            <a:endCxn id="29" idx="0"/>
          </p:cNvCxnSpPr>
          <p:nvPr/>
        </p:nvCxnSpPr>
        <p:spPr>
          <a:xfrm>
            <a:off x="9486210" y="3911141"/>
            <a:ext cx="1523451" cy="438651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F303C39-6BCF-472C-A3C0-3DCA72A0AD41}"/>
                  </a:ext>
                </a:extLst>
              </p:cNvPr>
              <p:cNvSpPr/>
              <p:nvPr/>
            </p:nvSpPr>
            <p:spPr>
              <a:xfrm>
                <a:off x="10133361" y="4349792"/>
                <a:ext cx="1752600" cy="3048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EA</m:t>
                      </m:r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F303C39-6BCF-472C-A3C0-3DCA72A0AD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3361" y="4349792"/>
                <a:ext cx="1752600" cy="304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3347703-1BB9-4450-BC18-6411B62D2298}"/>
              </a:ext>
            </a:extLst>
          </p:cNvPr>
          <p:cNvSpPr txBox="1"/>
          <p:nvPr/>
        </p:nvSpPr>
        <p:spPr>
          <a:xfrm>
            <a:off x="9582089" y="3511592"/>
            <a:ext cx="447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= 1</a:t>
            </a:r>
          </a:p>
        </p:txBody>
      </p:sp>
      <p:cxnSp>
        <p:nvCxnSpPr>
          <p:cNvPr id="31" name="Elbow Connector 12">
            <a:extLst>
              <a:ext uri="{FF2B5EF4-FFF2-40B4-BE49-F238E27FC236}">
                <a16:creationId xmlns:a16="http://schemas.microsoft.com/office/drawing/2014/main" id="{CCF7344B-3508-4D6F-B17E-B942E6E07843}"/>
              </a:ext>
            </a:extLst>
          </p:cNvPr>
          <p:cNvCxnSpPr>
            <a:stCxn id="26" idx="1"/>
            <a:endCxn id="32" idx="0"/>
          </p:cNvCxnSpPr>
          <p:nvPr/>
        </p:nvCxnSpPr>
        <p:spPr>
          <a:xfrm rot="10800000" flipV="1">
            <a:off x="8153655" y="3911140"/>
            <a:ext cx="419415" cy="666449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A07D875-DECF-4AB3-917A-DE2232E0A6DD}"/>
                  </a:ext>
                </a:extLst>
              </p:cNvPr>
              <p:cNvSpPr/>
              <p:nvPr/>
            </p:nvSpPr>
            <p:spPr>
              <a:xfrm>
                <a:off x="7429439" y="4577590"/>
                <a:ext cx="1448430" cy="458002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IN" sz="1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hr</m:t>
                      </m:r>
                      <m:r>
                        <a:rPr lang="en-IN" sz="1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EAQ</m:t>
                      </m:r>
                    </m:oMath>
                  </m:oMathPara>
                </a14:m>
                <a:endParaRPr lang="en-IN" sz="1600" b="0" i="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IN" sz="1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𝑆𝐶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−1</m:t>
                      </m:r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A07D875-DECF-4AB3-917A-DE2232E0A6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439" y="4577590"/>
                <a:ext cx="1448430" cy="458002"/>
              </a:xfrm>
              <a:prstGeom prst="rect">
                <a:avLst/>
              </a:prstGeom>
              <a:blipFill>
                <a:blip r:embed="rId5"/>
                <a:stretch>
                  <a:fillRect b="-64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7B0129E-FA58-4A0E-A04E-3761C552DB4A}"/>
              </a:ext>
            </a:extLst>
          </p:cNvPr>
          <p:cNvSpPr txBox="1"/>
          <p:nvPr/>
        </p:nvSpPr>
        <p:spPr>
          <a:xfrm>
            <a:off x="8070878" y="3511592"/>
            <a:ext cx="447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= 0</a:t>
            </a:r>
          </a:p>
        </p:txBody>
      </p:sp>
      <p:cxnSp>
        <p:nvCxnSpPr>
          <p:cNvPr id="34" name="Elbow Connector 15">
            <a:extLst>
              <a:ext uri="{FF2B5EF4-FFF2-40B4-BE49-F238E27FC236}">
                <a16:creationId xmlns:a16="http://schemas.microsoft.com/office/drawing/2014/main" id="{FE437AEF-D8F1-4588-A844-FB1486F46130}"/>
              </a:ext>
            </a:extLst>
          </p:cNvPr>
          <p:cNvCxnSpPr>
            <a:stCxn id="29" idx="2"/>
            <a:endCxn id="32" idx="3"/>
          </p:cNvCxnSpPr>
          <p:nvPr/>
        </p:nvCxnSpPr>
        <p:spPr>
          <a:xfrm rot="5400000">
            <a:off x="9867766" y="3664695"/>
            <a:ext cx="151999" cy="2131792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iamond 34">
            <a:extLst>
              <a:ext uri="{FF2B5EF4-FFF2-40B4-BE49-F238E27FC236}">
                <a16:creationId xmlns:a16="http://schemas.microsoft.com/office/drawing/2014/main" id="{38F622B6-09B3-4030-81FD-2466A9ECF378}"/>
              </a:ext>
            </a:extLst>
          </p:cNvPr>
          <p:cNvSpPr/>
          <p:nvPr/>
        </p:nvSpPr>
        <p:spPr>
          <a:xfrm>
            <a:off x="7698380" y="5264192"/>
            <a:ext cx="913141" cy="473142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SC</a:t>
            </a:r>
          </a:p>
        </p:txBody>
      </p:sp>
      <p:cxnSp>
        <p:nvCxnSpPr>
          <p:cNvPr id="36" name="Elbow Connector 17">
            <a:extLst>
              <a:ext uri="{FF2B5EF4-FFF2-40B4-BE49-F238E27FC236}">
                <a16:creationId xmlns:a16="http://schemas.microsoft.com/office/drawing/2014/main" id="{17392499-0D44-4919-A2B2-03D672B8C3BE}"/>
              </a:ext>
            </a:extLst>
          </p:cNvPr>
          <p:cNvCxnSpPr>
            <a:stCxn id="35" idx="3"/>
            <a:endCxn id="40" idx="0"/>
          </p:cNvCxnSpPr>
          <p:nvPr/>
        </p:nvCxnSpPr>
        <p:spPr>
          <a:xfrm>
            <a:off x="8611521" y="5500763"/>
            <a:ext cx="681355" cy="375929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56A2EBF-2F97-4D0A-891E-1045436EE9BD}"/>
              </a:ext>
            </a:extLst>
          </p:cNvPr>
          <p:cNvSpPr txBox="1"/>
          <p:nvPr/>
        </p:nvSpPr>
        <p:spPr>
          <a:xfrm>
            <a:off x="8581960" y="5180897"/>
            <a:ext cx="447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= 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ECA7EA-22CB-4C47-9292-58DA6C565792}"/>
              </a:ext>
            </a:extLst>
          </p:cNvPr>
          <p:cNvSpPr txBox="1"/>
          <p:nvPr/>
        </p:nvSpPr>
        <p:spPr>
          <a:xfrm>
            <a:off x="7205594" y="5162209"/>
            <a:ext cx="489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 ≠ 0</a:t>
            </a:r>
          </a:p>
        </p:txBody>
      </p:sp>
      <p:sp>
        <p:nvSpPr>
          <p:cNvPr id="39" name="Flowchart: Terminator 38">
            <a:extLst>
              <a:ext uri="{FF2B5EF4-FFF2-40B4-BE49-F238E27FC236}">
                <a16:creationId xmlns:a16="http://schemas.microsoft.com/office/drawing/2014/main" id="{E92401EE-025B-4378-946F-5103500874F2}"/>
              </a:ext>
            </a:extLst>
          </p:cNvPr>
          <p:cNvSpPr/>
          <p:nvPr/>
        </p:nvSpPr>
        <p:spPr>
          <a:xfrm>
            <a:off x="7932425" y="1396846"/>
            <a:ext cx="2183624" cy="590746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Multiplicand in B          Multiplier in Q</a:t>
            </a:r>
          </a:p>
        </p:txBody>
      </p:sp>
      <p:sp>
        <p:nvSpPr>
          <p:cNvPr id="40" name="Flowchart: Terminator 39">
            <a:extLst>
              <a:ext uri="{FF2B5EF4-FFF2-40B4-BE49-F238E27FC236}">
                <a16:creationId xmlns:a16="http://schemas.microsoft.com/office/drawing/2014/main" id="{88DDFA84-BAC1-402C-8A40-D7D5FD231D47}"/>
              </a:ext>
            </a:extLst>
          </p:cNvPr>
          <p:cNvSpPr/>
          <p:nvPr/>
        </p:nvSpPr>
        <p:spPr>
          <a:xfrm>
            <a:off x="8184512" y="5876692"/>
            <a:ext cx="2216727" cy="505238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END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(PRODUCT is in AQ)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4708EA2-0B88-4E57-9010-D091C0973964}"/>
              </a:ext>
            </a:extLst>
          </p:cNvPr>
          <p:cNvCxnSpPr>
            <a:stCxn id="32" idx="2"/>
            <a:endCxn id="35" idx="0"/>
          </p:cNvCxnSpPr>
          <p:nvPr/>
        </p:nvCxnSpPr>
        <p:spPr>
          <a:xfrm>
            <a:off x="8153654" y="5035592"/>
            <a:ext cx="1297" cy="228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4AEBB32-9216-43A9-AD8B-FA9E9D8B3513}"/>
              </a:ext>
            </a:extLst>
          </p:cNvPr>
          <p:cNvGrpSpPr/>
          <p:nvPr/>
        </p:nvGrpSpPr>
        <p:grpSpPr>
          <a:xfrm>
            <a:off x="6777478" y="3473492"/>
            <a:ext cx="2246759" cy="2037904"/>
            <a:chOff x="2359117" y="3543300"/>
            <a:chExt cx="2246759" cy="2037904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01568C8-148C-4BAF-BA19-1F6A680F94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9117" y="5581204"/>
              <a:ext cx="936000" cy="0"/>
            </a:xfrm>
            <a:prstGeom prst="straightConnector1">
              <a:avLst/>
            </a:prstGeom>
            <a:ln w="2540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E5F8F56-3AA5-45D3-894E-11812A68F17D}"/>
                </a:ext>
              </a:extLst>
            </p:cNvPr>
            <p:cNvCxnSpPr/>
            <p:nvPr/>
          </p:nvCxnSpPr>
          <p:spPr>
            <a:xfrm>
              <a:off x="2360224" y="3543300"/>
              <a:ext cx="1977" cy="2027271"/>
            </a:xfrm>
            <a:prstGeom prst="straightConnector1">
              <a:avLst/>
            </a:prstGeom>
            <a:ln w="2540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6FB866D-F63A-4115-816D-F7E510890E20}"/>
                </a:ext>
              </a:extLst>
            </p:cNvPr>
            <p:cNvCxnSpPr/>
            <p:nvPr/>
          </p:nvCxnSpPr>
          <p:spPr>
            <a:xfrm flipH="1">
              <a:off x="2359119" y="3551271"/>
              <a:ext cx="2246757" cy="0"/>
            </a:xfrm>
            <a:prstGeom prst="straightConnector1">
              <a:avLst/>
            </a:prstGeom>
            <a:ln w="25400"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761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4" grpId="0" animBg="1"/>
      <p:bldP spid="26" grpId="0" animBg="1"/>
      <p:bldP spid="29" grpId="0" animBg="1"/>
      <p:bldP spid="30" grpId="0"/>
      <p:bldP spid="32" grpId="0" animBg="1"/>
      <p:bldP spid="33" grpId="0"/>
      <p:bldP spid="35" grpId="0" animBg="1"/>
      <p:bldP spid="37" grpId="0"/>
      <p:bldP spid="38" grpId="0"/>
      <p:bldP spid="39" grpId="0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E5C1E2-52D8-425F-B352-549D96E8F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 23 x 19</a:t>
            </a:r>
            <a:endParaRPr lang="en-IN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3D7B74B-7892-4B7C-967B-4897006319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705474"/>
              </p:ext>
            </p:extLst>
          </p:nvPr>
        </p:nvGraphicFramePr>
        <p:xfrm>
          <a:off x="796556" y="905539"/>
          <a:ext cx="8763000" cy="5461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ysClr val="windowText" lastClr="000000"/>
                          </a:solidFill>
                        </a:rPr>
                        <a:t>Multiplicand</a:t>
                      </a:r>
                      <a:r>
                        <a:rPr lang="en-US" sz="1800" baseline="0" dirty="0">
                          <a:solidFill>
                            <a:sysClr val="windowText" lastClr="000000"/>
                          </a:solidFill>
                        </a:rPr>
                        <a:t> B = 10111</a:t>
                      </a:r>
                      <a:endParaRPr 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</a:rPr>
                        <a:t>E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</a:rPr>
                        <a:t>SC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Multiplier in Q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Q</a:t>
                      </a:r>
                      <a:r>
                        <a:rPr lang="en-US" sz="1800" baseline="-25000" dirty="0" err="1"/>
                        <a:t>n</a:t>
                      </a:r>
                      <a:r>
                        <a:rPr lang="en-US" sz="1800" dirty="0"/>
                        <a:t> = 1; add 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10111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First partial product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10111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Shift</a:t>
                      </a:r>
                      <a:r>
                        <a:rPr lang="en-US" sz="1800" baseline="0" dirty="0"/>
                        <a:t> right EAQ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01011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11001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Q</a:t>
                      </a:r>
                      <a:r>
                        <a:rPr lang="en-US" sz="1800" baseline="-25000" dirty="0" err="1"/>
                        <a:t>n</a:t>
                      </a:r>
                      <a:r>
                        <a:rPr lang="en-US" sz="1800" dirty="0"/>
                        <a:t> = 1; add 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10111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Second partial product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Shift</a:t>
                      </a:r>
                      <a:r>
                        <a:rPr lang="en-US" sz="1800" baseline="0" dirty="0"/>
                        <a:t> right EAQ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10001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01100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Q</a:t>
                      </a:r>
                      <a:r>
                        <a:rPr lang="en-US" sz="1800" baseline="-25000" dirty="0" err="1"/>
                        <a:t>n</a:t>
                      </a:r>
                      <a:r>
                        <a:rPr lang="en-US" sz="1800" dirty="0"/>
                        <a:t> = 0; shift</a:t>
                      </a:r>
                      <a:r>
                        <a:rPr lang="en-US" sz="1800" baseline="0" dirty="0"/>
                        <a:t> right EAQ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10110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Q</a:t>
                      </a:r>
                      <a:r>
                        <a:rPr lang="en-US" sz="1800" baseline="-25000" dirty="0" err="1"/>
                        <a:t>n</a:t>
                      </a:r>
                      <a:r>
                        <a:rPr lang="en-US" sz="1800" dirty="0"/>
                        <a:t> = 0; shift</a:t>
                      </a:r>
                      <a:r>
                        <a:rPr lang="en-US" sz="1800" baseline="0" dirty="0"/>
                        <a:t> right EAQ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00100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01011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Q</a:t>
                      </a:r>
                      <a:r>
                        <a:rPr lang="en-US" sz="1800" baseline="-25000" dirty="0" err="1"/>
                        <a:t>n</a:t>
                      </a:r>
                      <a:r>
                        <a:rPr lang="en-US" sz="1800" dirty="0"/>
                        <a:t> = 1; add 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10111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Fifth</a:t>
                      </a:r>
                      <a:r>
                        <a:rPr lang="en-US" sz="1800" baseline="0" dirty="0"/>
                        <a:t> partial product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11011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Shift</a:t>
                      </a:r>
                      <a:r>
                        <a:rPr lang="en-US" sz="1800" baseline="0" dirty="0"/>
                        <a:t> right EAQ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01101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10101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Final product</a:t>
                      </a:r>
                      <a:r>
                        <a:rPr lang="en-US" sz="1800" baseline="0" dirty="0"/>
                        <a:t> in AQ = 0110110101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73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19CE-EF1D-4F4E-BAE0-07A5D0FC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Multiply (-9) x (-13) using Booth Algorithm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4">
                <a:extLst>
                  <a:ext uri="{FF2B5EF4-FFF2-40B4-BE49-F238E27FC236}">
                    <a16:creationId xmlns:a16="http://schemas.microsoft.com/office/drawing/2014/main" id="{8A49A898-915C-43B6-9B02-2C403D03C09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95893281"/>
                  </p:ext>
                </p:extLst>
              </p:nvPr>
            </p:nvGraphicFramePr>
            <p:xfrm>
              <a:off x="892249" y="868680"/>
              <a:ext cx="8762999" cy="5120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01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593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5185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5185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25185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800" b="1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1" i="1" dirty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IN" sz="1800" b="1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800" b="1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1" i="1" dirty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IN" sz="1800" b="1" i="1" dirty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IN" sz="1800" b="1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1800" b="1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𝑩𝑹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ysClr val="windowText" lastClr="000000"/>
                              </a:solidFill>
                            </a:rPr>
                            <a:t> = 10111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IN" sz="1800" b="1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sz="1800" b="1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𝑩𝑹</m:t>
                                  </m:r>
                                </m:e>
                              </m:bar>
                              <m:r>
                                <a:rPr lang="en-IN" sz="1800" b="1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1800" b="1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ysClr val="windowText" lastClr="000000"/>
                              </a:solidFill>
                            </a:rPr>
                            <a:t> = 01001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1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𝑨𝑪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𝑸𝑹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800" b="1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1" i="1" dirty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IN" sz="1800" b="1" i="1" dirty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IN" sz="1800" b="1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1800" b="1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/>
                            <a:t>Initial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/>
                            <a:t>Subtract</a:t>
                          </a:r>
                          <a:r>
                            <a:rPr lang="en-US" baseline="0" dirty="0"/>
                            <a:t> BR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 err="1"/>
                            <a:t>ashr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00100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 err="1"/>
                            <a:t>ashr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01100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/>
                            <a:t>Add BR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 err="1"/>
                            <a:t>ashr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11100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 err="1"/>
                            <a:t>ashr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11110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01011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/>
                            <a:t>Subtract</a:t>
                          </a:r>
                          <a:r>
                            <a:rPr lang="en-US" baseline="0" dirty="0"/>
                            <a:t> BR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00111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 err="1"/>
                            <a:t>ashr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4">
                <a:extLst>
                  <a:ext uri="{FF2B5EF4-FFF2-40B4-BE49-F238E27FC236}">
                    <a16:creationId xmlns:a16="http://schemas.microsoft.com/office/drawing/2014/main" id="{8A49A898-915C-43B6-9B02-2C403D03C09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95893281"/>
                  </p:ext>
                </p:extLst>
              </p:nvPr>
            </p:nvGraphicFramePr>
            <p:xfrm>
              <a:off x="892249" y="868680"/>
              <a:ext cx="8762999" cy="5120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01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593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5185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5185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25185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70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3" t="-3636" r="-999237" b="-67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5652" t="-3636" r="-848551" b="-67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4586" t="-3636" r="-223481" b="-67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0890" t="-3636" r="-323560" b="-67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463" t="-3636" r="-201463" b="-67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9029" t="-3636" r="-100485" b="-67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951" t="-3636" r="-976" b="-67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/>
                            <a:t>Initial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/>
                            <a:t>Subtract</a:t>
                          </a:r>
                          <a:r>
                            <a:rPr lang="en-US" baseline="0" dirty="0"/>
                            <a:t> BR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 err="1"/>
                            <a:t>ashr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00100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 err="1"/>
                            <a:t>ashr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01100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/>
                            <a:t>Add BR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 err="1"/>
                            <a:t>ashr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11100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 err="1"/>
                            <a:t>ashr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11110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01011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/>
                            <a:t>Subtract</a:t>
                          </a:r>
                          <a:r>
                            <a:rPr lang="en-US" baseline="0" dirty="0"/>
                            <a:t> BR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01001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00111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dirty="0" err="1"/>
                            <a:t>ashr</a:t>
                          </a:r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10101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1344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EA93C-CBC1-421E-B295-22108890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Booth Multiplication Algorithm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D3406-3E6F-4D77-AB60-F974692F5117}"/>
              </a:ext>
            </a:extLst>
          </p:cNvPr>
          <p:cNvSpPr txBox="1"/>
          <p:nvPr/>
        </p:nvSpPr>
        <p:spPr>
          <a:xfrm>
            <a:off x="5173032" y="920538"/>
            <a:ext cx="2133600" cy="254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Multiply operation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A7A7BB-2C0A-4452-8017-077E21CD2385}"/>
              </a:ext>
            </a:extLst>
          </p:cNvPr>
          <p:cNvCxnSpPr>
            <a:stCxn id="4" idx="2"/>
            <a:endCxn id="20" idx="0"/>
          </p:cNvCxnSpPr>
          <p:nvPr/>
        </p:nvCxnSpPr>
        <p:spPr>
          <a:xfrm flipH="1">
            <a:off x="6234430" y="1174898"/>
            <a:ext cx="5402" cy="213701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5289F32-E54D-4D45-A41F-EF43B92C8F92}"/>
                  </a:ext>
                </a:extLst>
              </p:cNvPr>
              <p:cNvSpPr/>
              <p:nvPr/>
            </p:nvSpPr>
            <p:spPr>
              <a:xfrm>
                <a:off x="5422587" y="2165498"/>
                <a:ext cx="1634491" cy="7471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AC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←0</m:t>
                      </m:r>
                    </m:oMath>
                  </m:oMathPara>
                </a14:m>
                <a:endParaRPr lang="en-IN" sz="16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IN" sz="1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5289F32-E54D-4D45-A41F-EF43B92C8F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587" y="2165498"/>
                <a:ext cx="1634491" cy="747100"/>
              </a:xfrm>
              <a:prstGeom prst="rect">
                <a:avLst/>
              </a:prstGeom>
              <a:blipFill>
                <a:blip r:embed="rId2"/>
                <a:stretch>
                  <a:fillRect b="-8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6F2D7B-7615-471D-9ADE-23D01DA6FD9A}"/>
              </a:ext>
            </a:extLst>
          </p:cNvPr>
          <p:cNvCxnSpPr>
            <a:stCxn id="20" idx="2"/>
            <a:endCxn id="6" idx="0"/>
          </p:cNvCxnSpPr>
          <p:nvPr/>
        </p:nvCxnSpPr>
        <p:spPr>
          <a:xfrm>
            <a:off x="6234430" y="1936898"/>
            <a:ext cx="5403" cy="228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Diamond 7">
                <a:extLst>
                  <a:ext uri="{FF2B5EF4-FFF2-40B4-BE49-F238E27FC236}">
                    <a16:creationId xmlns:a16="http://schemas.microsoft.com/office/drawing/2014/main" id="{B3939902-B67F-4C9C-ACFD-812A07B04A8A}"/>
                  </a:ext>
                </a:extLst>
              </p:cNvPr>
              <p:cNvSpPr/>
              <p:nvPr/>
            </p:nvSpPr>
            <p:spPr>
              <a:xfrm>
                <a:off x="5737605" y="3327047"/>
                <a:ext cx="1004455" cy="572502"/>
              </a:xfrm>
              <a:prstGeom prst="diamond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Diamond 7">
                <a:extLst>
                  <a:ext uri="{FF2B5EF4-FFF2-40B4-BE49-F238E27FC236}">
                    <a16:creationId xmlns:a16="http://schemas.microsoft.com/office/drawing/2014/main" id="{B3939902-B67F-4C9C-ACFD-812A07B04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605" y="3327047"/>
                <a:ext cx="1004455" cy="572502"/>
              </a:xfrm>
              <a:prstGeom prst="diamond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C33529-1C9E-48D3-8DB2-717E7C83340E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6239833" y="2912598"/>
            <a:ext cx="0" cy="41444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629920E6-3603-4396-B882-1F4C7F39A3AB}"/>
              </a:ext>
            </a:extLst>
          </p:cNvPr>
          <p:cNvCxnSpPr>
            <a:stCxn id="8" idx="3"/>
            <a:endCxn id="11" idx="0"/>
          </p:cNvCxnSpPr>
          <p:nvPr/>
        </p:nvCxnSpPr>
        <p:spPr>
          <a:xfrm>
            <a:off x="6742060" y="3613298"/>
            <a:ext cx="1477794" cy="533400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0F6C8E8-F94A-4867-99B2-C979EB9D3121}"/>
                  </a:ext>
                </a:extLst>
              </p:cNvPr>
              <p:cNvSpPr/>
              <p:nvPr/>
            </p:nvSpPr>
            <p:spPr>
              <a:xfrm>
                <a:off x="7343554" y="4146698"/>
                <a:ext cx="1752600" cy="3048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IN" sz="1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𝐴𝐶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𝐵𝑅</m:t>
                      </m:r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0F6C8E8-F94A-4867-99B2-C979EB9D3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554" y="4146698"/>
                <a:ext cx="1752600" cy="304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C835505-919A-4EC6-8093-640F6ABC879E}"/>
              </a:ext>
            </a:extLst>
          </p:cNvPr>
          <p:cNvSpPr txBox="1"/>
          <p:nvPr/>
        </p:nvSpPr>
        <p:spPr>
          <a:xfrm>
            <a:off x="6778835" y="3308498"/>
            <a:ext cx="62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= 01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B43EAAF3-E6E4-47B3-A33B-E409794612F4}"/>
              </a:ext>
            </a:extLst>
          </p:cNvPr>
          <p:cNvCxnSpPr>
            <a:stCxn id="8" idx="2"/>
            <a:endCxn id="14" idx="0"/>
          </p:cNvCxnSpPr>
          <p:nvPr/>
        </p:nvCxnSpPr>
        <p:spPr>
          <a:xfrm rot="5400000">
            <a:off x="5848970" y="4289234"/>
            <a:ext cx="780549" cy="1179"/>
          </a:xfrm>
          <a:prstGeom prst="bentConnector3">
            <a:avLst>
              <a:gd name="adj1" fmla="val 5000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3540D2-8197-46CB-88ED-7041C29D8389}"/>
                  </a:ext>
                </a:extLst>
              </p:cNvPr>
              <p:cNvSpPr/>
              <p:nvPr/>
            </p:nvSpPr>
            <p:spPr>
              <a:xfrm>
                <a:off x="5362354" y="4680098"/>
                <a:ext cx="1752600" cy="6096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6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16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16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hr</m:t>
                    </m:r>
                    <m:r>
                      <a:rPr lang="en-IN" sz="16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 </m:t>
                    </m:r>
                    <m:r>
                      <m:rPr>
                        <m:sty m:val="p"/>
                      </m:rPr>
                      <a:rPr lang="en-IN" sz="16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AC</m:t>
                    </m:r>
                    <m:r>
                      <a:rPr lang="en-IN" sz="16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&amp;</m:t>
                    </m:r>
                    <m:r>
                      <a:rPr lang="en-IN" sz="16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6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QR</m:t>
                    </m:r>
                    <m:r>
                      <a:rPr lang="en-IN" sz="16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1600" b="0" i="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IN" sz="1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𝑆𝐶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−1</m:t>
                      </m:r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3540D2-8197-46CB-88ED-7041C29D83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354" y="4680098"/>
                <a:ext cx="1752600" cy="609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A900613-49FE-4AA5-A792-73E311C33755}"/>
              </a:ext>
            </a:extLst>
          </p:cNvPr>
          <p:cNvSpPr txBox="1"/>
          <p:nvPr/>
        </p:nvSpPr>
        <p:spPr>
          <a:xfrm>
            <a:off x="5196508" y="3308498"/>
            <a:ext cx="572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= 10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32BF5F9F-AB6C-47E9-A759-30E5B6CDA684}"/>
              </a:ext>
            </a:extLst>
          </p:cNvPr>
          <p:cNvSpPr/>
          <p:nvPr/>
        </p:nvSpPr>
        <p:spPr>
          <a:xfrm>
            <a:off x="5819554" y="5594498"/>
            <a:ext cx="830128" cy="520456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SC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AFEDE8BC-C985-4DC8-9FDC-82A99EE4FA58}"/>
              </a:ext>
            </a:extLst>
          </p:cNvPr>
          <p:cNvCxnSpPr>
            <a:stCxn id="16" idx="3"/>
            <a:endCxn id="21" idx="0"/>
          </p:cNvCxnSpPr>
          <p:nvPr/>
        </p:nvCxnSpPr>
        <p:spPr>
          <a:xfrm>
            <a:off x="6649682" y="5854726"/>
            <a:ext cx="1037754" cy="182856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454C794-AC93-4C0E-A169-042E6011FF95}"/>
              </a:ext>
            </a:extLst>
          </p:cNvPr>
          <p:cNvSpPr txBox="1"/>
          <p:nvPr/>
        </p:nvSpPr>
        <p:spPr>
          <a:xfrm>
            <a:off x="6620511" y="5518298"/>
            <a:ext cx="447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=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1F71F2-7BD2-4435-808A-51FD23B0D12C}"/>
              </a:ext>
            </a:extLst>
          </p:cNvPr>
          <p:cNvSpPr txBox="1"/>
          <p:nvPr/>
        </p:nvSpPr>
        <p:spPr>
          <a:xfrm>
            <a:off x="5292840" y="5529751"/>
            <a:ext cx="489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 ≠ 0</a:t>
            </a:r>
          </a:p>
        </p:txBody>
      </p:sp>
      <p:sp>
        <p:nvSpPr>
          <p:cNvPr id="20" name="Flowchart: Terminator 19">
            <a:extLst>
              <a:ext uri="{FF2B5EF4-FFF2-40B4-BE49-F238E27FC236}">
                <a16:creationId xmlns:a16="http://schemas.microsoft.com/office/drawing/2014/main" id="{DFBDF16E-8148-46AC-AFD1-2C69F8717E49}"/>
              </a:ext>
            </a:extLst>
          </p:cNvPr>
          <p:cNvSpPr/>
          <p:nvPr/>
        </p:nvSpPr>
        <p:spPr>
          <a:xfrm>
            <a:off x="5142618" y="1388599"/>
            <a:ext cx="2183624" cy="548299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Multiplicand in BR          Multiplier in QR</a:t>
            </a:r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10703FF4-3737-441D-BE64-E7CFF655968A}"/>
              </a:ext>
            </a:extLst>
          </p:cNvPr>
          <p:cNvSpPr/>
          <p:nvPr/>
        </p:nvSpPr>
        <p:spPr>
          <a:xfrm>
            <a:off x="7106018" y="6037582"/>
            <a:ext cx="1162836" cy="39985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END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C464E7F1-1C69-4C35-8425-8E55887C6606}"/>
              </a:ext>
            </a:extLst>
          </p:cNvPr>
          <p:cNvCxnSpPr>
            <a:stCxn id="8" idx="1"/>
            <a:endCxn id="23" idx="0"/>
          </p:cNvCxnSpPr>
          <p:nvPr/>
        </p:nvCxnSpPr>
        <p:spPr>
          <a:xfrm rot="10800000" flipV="1">
            <a:off x="4172025" y="3613298"/>
            <a:ext cx="1565581" cy="533400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7F6DD0-4A12-40CC-ACED-27555112409A}"/>
                  </a:ext>
                </a:extLst>
              </p:cNvPr>
              <p:cNvSpPr/>
              <p:nvPr/>
            </p:nvSpPr>
            <p:spPr>
              <a:xfrm>
                <a:off x="3210293" y="4146698"/>
                <a:ext cx="1923461" cy="3048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IN" sz="1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en-IN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𝐴𝐶</m:t>
                      </m: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IN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𝐵𝑅</m:t>
                          </m:r>
                        </m:e>
                      </m:bar>
                      <m:r>
                        <a:rPr lang="en-IN" sz="1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IN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7F6DD0-4A12-40CC-ACED-275551124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293" y="4146698"/>
                <a:ext cx="1923461" cy="304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433B0741-C903-467E-9C3C-8D64B18DA04C}"/>
              </a:ext>
            </a:extLst>
          </p:cNvPr>
          <p:cNvCxnSpPr>
            <a:stCxn id="23" idx="2"/>
            <a:endCxn id="14" idx="1"/>
          </p:cNvCxnSpPr>
          <p:nvPr/>
        </p:nvCxnSpPr>
        <p:spPr>
          <a:xfrm rot="16200000" flipH="1">
            <a:off x="4500489" y="4123033"/>
            <a:ext cx="533400" cy="1190330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CF2AC66D-9DAC-4CD9-A6B3-422E0F10D28C}"/>
              </a:ext>
            </a:extLst>
          </p:cNvPr>
          <p:cNvCxnSpPr>
            <a:stCxn id="11" idx="2"/>
            <a:endCxn id="14" idx="3"/>
          </p:cNvCxnSpPr>
          <p:nvPr/>
        </p:nvCxnSpPr>
        <p:spPr>
          <a:xfrm rot="5400000">
            <a:off x="7400704" y="4165748"/>
            <a:ext cx="533400" cy="1104900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0FA0252-3FDA-47AB-8364-0039225380DF}"/>
              </a:ext>
            </a:extLst>
          </p:cNvPr>
          <p:cNvSpPr txBox="1"/>
          <p:nvPr/>
        </p:nvSpPr>
        <p:spPr>
          <a:xfrm>
            <a:off x="6239438" y="3994298"/>
            <a:ext cx="572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= 00</a:t>
            </a:r>
          </a:p>
          <a:p>
            <a:r>
              <a:rPr lang="en-IN" sz="1600" dirty="0"/>
              <a:t>= 11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EA372EBB-31D1-45DB-AC13-8F89AE62840C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rot="5400000">
            <a:off x="6084236" y="5440080"/>
            <a:ext cx="304800" cy="4036"/>
          </a:xfrm>
          <a:prstGeom prst="bentConnector3">
            <a:avLst>
              <a:gd name="adj1" fmla="val 5000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FDFA283-F7C0-490D-A9F9-D88EEBEB66FC}"/>
              </a:ext>
            </a:extLst>
          </p:cNvPr>
          <p:cNvGrpSpPr/>
          <p:nvPr/>
        </p:nvGrpSpPr>
        <p:grpSpPr>
          <a:xfrm>
            <a:off x="2542954" y="3075411"/>
            <a:ext cx="3705441" cy="2779315"/>
            <a:chOff x="900436" y="3543300"/>
            <a:chExt cx="3705441" cy="2779315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B843FBD-C69F-40E0-B344-ADE7C1BDA84A}"/>
                </a:ext>
              </a:extLst>
            </p:cNvPr>
            <p:cNvCxnSpPr/>
            <p:nvPr/>
          </p:nvCxnSpPr>
          <p:spPr>
            <a:xfrm flipH="1">
              <a:off x="900436" y="6322615"/>
              <a:ext cx="3276600" cy="0"/>
            </a:xfrm>
            <a:prstGeom prst="straightConnector1">
              <a:avLst/>
            </a:prstGeom>
            <a:ln w="2540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00526ED-8630-49DB-AFA7-47F8DA8F4FB2}"/>
                </a:ext>
              </a:extLst>
            </p:cNvPr>
            <p:cNvCxnSpPr/>
            <p:nvPr/>
          </p:nvCxnSpPr>
          <p:spPr>
            <a:xfrm>
              <a:off x="900436" y="3543300"/>
              <a:ext cx="0" cy="2779315"/>
            </a:xfrm>
            <a:prstGeom prst="straightConnector1">
              <a:avLst/>
            </a:prstGeom>
            <a:ln w="2540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117EDB7-E2E2-486C-93D8-C7060C7001C5}"/>
                </a:ext>
              </a:extLst>
            </p:cNvPr>
            <p:cNvCxnSpPr/>
            <p:nvPr/>
          </p:nvCxnSpPr>
          <p:spPr>
            <a:xfrm flipH="1" flipV="1">
              <a:off x="900436" y="3543300"/>
              <a:ext cx="3705441" cy="7971"/>
            </a:xfrm>
            <a:prstGeom prst="straightConnector1">
              <a:avLst/>
            </a:prstGeom>
            <a:ln w="25400"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608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 animBg="1"/>
      <p:bldP spid="11" grpId="0" animBg="1"/>
      <p:bldP spid="12" grpId="0"/>
      <p:bldP spid="14" grpId="0" animBg="1"/>
      <p:bldP spid="15" grpId="0"/>
      <p:bldP spid="16" grpId="0" animBg="1"/>
      <p:bldP spid="18" grpId="0"/>
      <p:bldP spid="19" grpId="0"/>
      <p:bldP spid="20" grpId="0" animBg="1"/>
      <p:bldP spid="21" grpId="0" animBg="1"/>
      <p:bldP spid="23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Decimal Arithmetic Unit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496525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17D3-7E54-465C-ACEA-9233DED06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BCD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F370A-7B71-4D9E-99FC-18E34AEBA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63444"/>
            <a:ext cx="5964821" cy="5590565"/>
          </a:xfrm>
        </p:spPr>
        <p:txBody>
          <a:bodyPr/>
          <a:lstStyle/>
          <a:p>
            <a:r>
              <a:rPr lang="en-IN" dirty="0"/>
              <a:t>Two BCD digits are applied to 4-bit binary adder which produce result ranging from 0 to 19 i.e. 9 + 9 + 1 = 19</a:t>
            </a:r>
          </a:p>
          <a:p>
            <a:r>
              <a:rPr lang="en-IN" dirty="0"/>
              <a:t>Output sum of two decimal numbers must be represented in BCD.</a:t>
            </a:r>
          </a:p>
          <a:p>
            <a:r>
              <a:rPr lang="en-IN" dirty="0"/>
              <a:t>Problem is to find rule by which binary number is to be converted to correct BCD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399F2-CF81-4CC0-AB54-0035B2CE8BC1}"/>
              </a:ext>
            </a:extLst>
          </p:cNvPr>
          <p:cNvSpPr txBox="1"/>
          <p:nvPr/>
        </p:nvSpPr>
        <p:spPr>
          <a:xfrm>
            <a:off x="1342320" y="1441237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98427-7830-491B-B2CC-D60B102D894E}"/>
              </a:ext>
            </a:extLst>
          </p:cNvPr>
          <p:cNvSpPr txBox="1"/>
          <p:nvPr/>
        </p:nvSpPr>
        <p:spPr>
          <a:xfrm>
            <a:off x="2090298" y="1441236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0111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78E4A-CC4D-42B9-AE08-B6529B0A2D82}"/>
              </a:ext>
            </a:extLst>
          </p:cNvPr>
          <p:cNvSpPr txBox="1"/>
          <p:nvPr/>
        </p:nvSpPr>
        <p:spPr>
          <a:xfrm>
            <a:off x="1010371" y="178449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E2F66-B00B-4A3E-85FD-16F99934B563}"/>
              </a:ext>
            </a:extLst>
          </p:cNvPr>
          <p:cNvSpPr txBox="1"/>
          <p:nvPr/>
        </p:nvSpPr>
        <p:spPr>
          <a:xfrm>
            <a:off x="312484" y="1440872"/>
            <a:ext cx="437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97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0DB5F-F32E-4244-AD80-F4F6BC31EF54}"/>
              </a:ext>
            </a:extLst>
          </p:cNvPr>
          <p:cNvSpPr txBox="1"/>
          <p:nvPr/>
        </p:nvSpPr>
        <p:spPr>
          <a:xfrm>
            <a:off x="312484" y="1791745"/>
            <a:ext cx="437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99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872EC-02C9-46DA-AFE6-B1546C8CBB57}"/>
              </a:ext>
            </a:extLst>
          </p:cNvPr>
          <p:cNvSpPr txBox="1"/>
          <p:nvPr/>
        </p:nvSpPr>
        <p:spPr>
          <a:xfrm>
            <a:off x="51475" y="1791744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1B137E-5FFF-457B-8C23-12A3DA13CBEB}"/>
              </a:ext>
            </a:extLst>
          </p:cNvPr>
          <p:cNvCxnSpPr/>
          <p:nvPr/>
        </p:nvCxnSpPr>
        <p:spPr>
          <a:xfrm>
            <a:off x="92726" y="2160349"/>
            <a:ext cx="66653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B1791D-F4B2-4C4E-ACAC-A79E1A34BD73}"/>
              </a:ext>
            </a:extLst>
          </p:cNvPr>
          <p:cNvSpPr txBox="1"/>
          <p:nvPr/>
        </p:nvSpPr>
        <p:spPr>
          <a:xfrm>
            <a:off x="192582" y="2153274"/>
            <a:ext cx="564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196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FE82A1-6AAC-41A2-908C-C80F348FCAE5}"/>
              </a:ext>
            </a:extLst>
          </p:cNvPr>
          <p:cNvSpPr/>
          <p:nvPr/>
        </p:nvSpPr>
        <p:spPr>
          <a:xfrm>
            <a:off x="2835439" y="2153840"/>
            <a:ext cx="2664000" cy="311367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2"/>
                </a:solidFill>
              </a:rPr>
              <a:t>Both groups generate carry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18713E-868D-4A95-95C1-22292827F507}"/>
              </a:ext>
            </a:extLst>
          </p:cNvPr>
          <p:cNvSpPr txBox="1"/>
          <p:nvPr/>
        </p:nvSpPr>
        <p:spPr>
          <a:xfrm>
            <a:off x="1342320" y="1784491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5803E-6E41-4136-828B-867955CB4778}"/>
              </a:ext>
            </a:extLst>
          </p:cNvPr>
          <p:cNvSpPr txBox="1"/>
          <p:nvPr/>
        </p:nvSpPr>
        <p:spPr>
          <a:xfrm>
            <a:off x="2090298" y="1784490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1001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074A44-5AF8-4768-A52A-697DFBCDFC1F}"/>
              </a:ext>
            </a:extLst>
          </p:cNvPr>
          <p:cNvCxnSpPr/>
          <p:nvPr/>
        </p:nvCxnSpPr>
        <p:spPr>
          <a:xfrm>
            <a:off x="1091916" y="2183384"/>
            <a:ext cx="164686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9E9B74-2DEA-4ED5-82AD-0A1B5D2C116D}"/>
              </a:ext>
            </a:extLst>
          </p:cNvPr>
          <p:cNvSpPr txBox="1"/>
          <p:nvPr/>
        </p:nvSpPr>
        <p:spPr>
          <a:xfrm>
            <a:off x="1346678" y="2151329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0011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A3DCD2-EC7B-4A5D-966C-0E07655D589A}"/>
              </a:ext>
            </a:extLst>
          </p:cNvPr>
          <p:cNvSpPr txBox="1"/>
          <p:nvPr/>
        </p:nvSpPr>
        <p:spPr>
          <a:xfrm>
            <a:off x="2079665" y="2151328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C056E3-173A-4310-A59B-8F273A654811}"/>
              </a:ext>
            </a:extLst>
          </p:cNvPr>
          <p:cNvSpPr txBox="1"/>
          <p:nvPr/>
        </p:nvSpPr>
        <p:spPr>
          <a:xfrm>
            <a:off x="1220136" y="2457897"/>
            <a:ext cx="817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+0110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8DC210-C1DC-4745-8BEA-0F509BA6B6C2}"/>
              </a:ext>
            </a:extLst>
          </p:cNvPr>
          <p:cNvSpPr txBox="1"/>
          <p:nvPr/>
        </p:nvSpPr>
        <p:spPr>
          <a:xfrm>
            <a:off x="1965181" y="2457896"/>
            <a:ext cx="817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+0110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83CF6E-AB9C-4657-B5E3-255334F63C46}"/>
              </a:ext>
            </a:extLst>
          </p:cNvPr>
          <p:cNvCxnSpPr/>
          <p:nvPr/>
        </p:nvCxnSpPr>
        <p:spPr>
          <a:xfrm>
            <a:off x="1091904" y="2841508"/>
            <a:ext cx="165098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148A441-8215-4FC6-8E1F-23BDB120FC13}"/>
              </a:ext>
            </a:extLst>
          </p:cNvPr>
          <p:cNvSpPr txBox="1"/>
          <p:nvPr/>
        </p:nvSpPr>
        <p:spPr>
          <a:xfrm>
            <a:off x="1326217" y="2841509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6BB9C6-28A5-4F9A-AA7E-9B1453264E4D}"/>
              </a:ext>
            </a:extLst>
          </p:cNvPr>
          <p:cNvSpPr txBox="1"/>
          <p:nvPr/>
        </p:nvSpPr>
        <p:spPr>
          <a:xfrm>
            <a:off x="2079665" y="2841508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0110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A9FA33-8652-4D9E-BB62-34AF5E480B8A}"/>
              </a:ext>
            </a:extLst>
          </p:cNvPr>
          <p:cNvSpPr/>
          <p:nvPr/>
        </p:nvSpPr>
        <p:spPr>
          <a:xfrm>
            <a:off x="2835439" y="2524024"/>
            <a:ext cx="1800000" cy="322844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2"/>
                </a:solidFill>
              </a:rPr>
              <a:t>Add 0110 to each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4BAD45-D170-4F8E-BCDE-DC68B8814F27}"/>
              </a:ext>
            </a:extLst>
          </p:cNvPr>
          <p:cNvSpPr txBox="1"/>
          <p:nvPr/>
        </p:nvSpPr>
        <p:spPr>
          <a:xfrm>
            <a:off x="1721948" y="1034923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019C14-3BF6-4C96-8C77-62E3A76893F3}"/>
              </a:ext>
            </a:extLst>
          </p:cNvPr>
          <p:cNvSpPr txBox="1"/>
          <p:nvPr/>
        </p:nvSpPr>
        <p:spPr>
          <a:xfrm>
            <a:off x="1011032" y="21433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03F277-9EBC-4879-AE09-6E176933A250}"/>
              </a:ext>
            </a:extLst>
          </p:cNvPr>
          <p:cNvSpPr txBox="1"/>
          <p:nvPr/>
        </p:nvSpPr>
        <p:spPr>
          <a:xfrm>
            <a:off x="1022467" y="2841508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2F3AD3-2B9D-414C-AE6E-C71896BD6D7F}"/>
              </a:ext>
            </a:extLst>
          </p:cNvPr>
          <p:cNvSpPr/>
          <p:nvPr/>
        </p:nvSpPr>
        <p:spPr>
          <a:xfrm>
            <a:off x="131179" y="3695892"/>
            <a:ext cx="5493444" cy="116956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2"/>
                </a:solidFill>
              </a:rPr>
              <a:t>If codes are illegal or carry is generated in the group then we add 0110 to that particular group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F4BE40B-C7B3-4296-8C4A-DDA853AD1360}"/>
              </a:ext>
            </a:extLst>
          </p:cNvPr>
          <p:cNvSpPr/>
          <p:nvPr/>
        </p:nvSpPr>
        <p:spPr>
          <a:xfrm>
            <a:off x="1692818" y="1050030"/>
            <a:ext cx="360000" cy="3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0E6C6CE-754E-4E9B-A91E-4B63B0AE9BDB}"/>
              </a:ext>
            </a:extLst>
          </p:cNvPr>
          <p:cNvSpPr/>
          <p:nvPr/>
        </p:nvSpPr>
        <p:spPr>
          <a:xfrm>
            <a:off x="965416" y="2173982"/>
            <a:ext cx="360000" cy="3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262620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 animBg="1"/>
      <p:bldP spid="13" grpId="0"/>
      <p:bldP spid="14" grpId="0"/>
      <p:bldP spid="16" grpId="0"/>
      <p:bldP spid="17" grpId="0"/>
      <p:bldP spid="18" grpId="0"/>
      <p:bldP spid="19" grpId="0"/>
      <p:bldP spid="21" grpId="0"/>
      <p:bldP spid="22" grpId="0"/>
      <p:bldP spid="23" grpId="0" animBg="1"/>
      <p:bldP spid="24" grpId="0"/>
      <p:bldP spid="25" grpId="0"/>
      <p:bldP spid="26" grpId="0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EEED-6053-4D04-A8BE-295A9BBA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BCD Adder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C78A41D-5CD9-4077-A54D-2250F9946E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7863118"/>
              </p:ext>
            </p:extLst>
          </p:nvPr>
        </p:nvGraphicFramePr>
        <p:xfrm>
          <a:off x="169235" y="1424765"/>
          <a:ext cx="5760000" cy="4551816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9318">
                <a:tc gridSpan="5"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ysClr val="windowText" lastClr="000000"/>
                          </a:solidFill>
                        </a:rPr>
                        <a:t>Binary Sum</a:t>
                      </a:r>
                      <a:endParaRPr lang="en-IN" sz="1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</a:rPr>
                        <a:t>BCD Sum</a:t>
                      </a:r>
                      <a:endParaRPr lang="en-US" sz="1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ysClr val="windowText" lastClr="000000"/>
                          </a:solidFill>
                        </a:rPr>
                        <a:t>K</a:t>
                      </a:r>
                      <a:endParaRPr lang="en-IN" sz="18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Z</a:t>
                      </a:r>
                      <a:r>
                        <a:rPr lang="en-US" sz="1800" b="0" baseline="-2500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Z</a:t>
                      </a:r>
                      <a:r>
                        <a:rPr lang="en-US" sz="1800" b="0" baseline="-2500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Z</a:t>
                      </a:r>
                      <a:r>
                        <a:rPr lang="en-US" sz="1800" b="0" baseline="-250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Z</a:t>
                      </a:r>
                      <a:r>
                        <a:rPr lang="en-US" sz="1800" b="0" baseline="-25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b="0" kern="12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1800" b="0" kern="1200" baseline="-2500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en-US" sz="1800" b="0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b="0" kern="12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1800" b="0" kern="1200" baseline="-2500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sz="1800" b="0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b="0" kern="12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1800" b="0" kern="1200" baseline="-250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sz="1800" b="0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b="0" kern="12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1800" b="0" kern="1200" baseline="-25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US" sz="1800" b="0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b="0" kern="1200" dirty="0">
                          <a:solidFill>
                            <a:sysClr val="windowText" lastClr="000000"/>
                          </a:solidFill>
                        </a:rPr>
                        <a:t>Decimal</a:t>
                      </a:r>
                      <a:endParaRPr lang="en-US" sz="18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D8813AA3-A95E-48C4-8B1D-EAAAEBDB0D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026635"/>
              </p:ext>
            </p:extLst>
          </p:nvPr>
        </p:nvGraphicFramePr>
        <p:xfrm>
          <a:off x="6284031" y="1424765"/>
          <a:ext cx="5760000" cy="4551816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9318">
                <a:tc gridSpan="5"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ysClr val="windowText" lastClr="000000"/>
                          </a:solidFill>
                        </a:rPr>
                        <a:t>Binary Sum</a:t>
                      </a:r>
                      <a:endParaRPr lang="en-IN" sz="1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</a:rPr>
                        <a:t>BCD Sum</a:t>
                      </a:r>
                      <a:endParaRPr lang="en-US" sz="1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ysClr val="windowText" lastClr="000000"/>
                          </a:solidFill>
                        </a:rPr>
                        <a:t>K</a:t>
                      </a:r>
                      <a:endParaRPr lang="en-IN" sz="18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Z</a:t>
                      </a:r>
                      <a:r>
                        <a:rPr lang="en-US" sz="1800" b="0" baseline="-2500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Z</a:t>
                      </a:r>
                      <a:r>
                        <a:rPr lang="en-US" sz="1800" b="0" baseline="-2500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Z</a:t>
                      </a:r>
                      <a:r>
                        <a:rPr lang="en-US" sz="1800" b="0" baseline="-250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Z</a:t>
                      </a:r>
                      <a:r>
                        <a:rPr lang="en-US" sz="1800" b="0" baseline="-25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b="0" kern="12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1800" b="0" kern="1200" baseline="-2500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en-US" sz="1800" b="0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b="0" kern="12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1800" b="0" kern="1200" baseline="-2500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sz="1800" b="0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b="0" kern="12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1800" b="0" kern="1200" baseline="-250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sz="1800" b="0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b="0" kern="120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1800" b="0" kern="1200" baseline="-25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US" sz="1800" b="0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b="0" kern="1200" dirty="0">
                          <a:solidFill>
                            <a:sysClr val="windowText" lastClr="000000"/>
                          </a:solidFill>
                        </a:rPr>
                        <a:t>Decimal</a:t>
                      </a:r>
                      <a:endParaRPr lang="en-US" sz="18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  <a:endParaRPr lang="en-US" sz="1800" b="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17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  <a:endParaRPr lang="en-US" sz="1800" b="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3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  <a:endParaRPr lang="en-US" sz="1800" b="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19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18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7FBC4-1867-43FC-821C-5BBB649F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BCD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7CB01-02B2-4E17-ABB0-EE99D808D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978034" cy="5635677"/>
          </a:xfrm>
        </p:spPr>
        <p:txBody>
          <a:bodyPr/>
          <a:lstStyle/>
          <a:p>
            <a:r>
              <a:rPr lang="en-IN" dirty="0"/>
              <a:t>Correction from binary to BCD is needed in following conditions</a:t>
            </a:r>
          </a:p>
          <a:p>
            <a:pPr lvl="1"/>
            <a:r>
              <a:rPr lang="en-IN" dirty="0"/>
              <a:t>K = 1</a:t>
            </a:r>
          </a:p>
          <a:p>
            <a:pPr lvl="1"/>
            <a:r>
              <a:rPr lang="en-IN" dirty="0"/>
              <a:t>Z</a:t>
            </a:r>
            <a:r>
              <a:rPr lang="en-IN" baseline="-25000" dirty="0"/>
              <a:t>8</a:t>
            </a:r>
            <a:r>
              <a:rPr lang="en-IN" dirty="0"/>
              <a:t> and Z</a:t>
            </a:r>
            <a:r>
              <a:rPr lang="en-IN" baseline="-25000" dirty="0"/>
              <a:t>4</a:t>
            </a:r>
            <a:r>
              <a:rPr lang="en-IN" dirty="0"/>
              <a:t> or Z</a:t>
            </a:r>
            <a:r>
              <a:rPr lang="en-IN" baseline="-25000" dirty="0"/>
              <a:t>8</a:t>
            </a:r>
            <a:r>
              <a:rPr lang="en-IN" dirty="0"/>
              <a:t> and Z</a:t>
            </a:r>
            <a:r>
              <a:rPr lang="en-IN" baseline="-25000" dirty="0"/>
              <a:t>2</a:t>
            </a:r>
            <a:r>
              <a:rPr lang="en-IN" dirty="0"/>
              <a:t> must have 1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83C04E-50E4-4B38-B124-89F5727FB928}"/>
                  </a:ext>
                </a:extLst>
              </p:cNvPr>
              <p:cNvSpPr/>
              <p:nvPr/>
            </p:nvSpPr>
            <p:spPr>
              <a:xfrm>
                <a:off x="35370" y="3138542"/>
                <a:ext cx="3437416" cy="513282"/>
              </a:xfrm>
              <a:prstGeom prst="rect">
                <a:avLst/>
              </a:prstGeom>
              <a:ln>
                <a:solidFill>
                  <a:srgbClr val="385D8A"/>
                </a:solidFill>
              </a:ln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IN" sz="2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2800" i="1" baseline="-2500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2800" i="1" baseline="-2500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2800" i="1" baseline="-2500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28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baseline="-25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83C04E-50E4-4B38-B124-89F5727FB9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0" y="3138542"/>
                <a:ext cx="3437416" cy="5132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385D8A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306F41C-6E16-4ED3-997B-76E1C832BF88}"/>
              </a:ext>
            </a:extLst>
          </p:cNvPr>
          <p:cNvGrpSpPr/>
          <p:nvPr/>
        </p:nvGrpSpPr>
        <p:grpSpPr>
          <a:xfrm>
            <a:off x="7414440" y="1792387"/>
            <a:ext cx="3276600" cy="1066996"/>
            <a:chOff x="3505200" y="1219200"/>
            <a:chExt cx="3276600" cy="13716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9910015-DF94-4340-8BD4-B50FF36D8D5A}"/>
                </a:ext>
              </a:extLst>
            </p:cNvPr>
            <p:cNvGrpSpPr/>
            <p:nvPr/>
          </p:nvGrpSpPr>
          <p:grpSpPr>
            <a:xfrm>
              <a:off x="3505200" y="1219200"/>
              <a:ext cx="3276600" cy="1371600"/>
              <a:chOff x="990600" y="2502499"/>
              <a:chExt cx="2667000" cy="85030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B188E7-6C20-4849-AABE-C79CE955F529}"/>
                  </a:ext>
                </a:extLst>
              </p:cNvPr>
              <p:cNvSpPr/>
              <p:nvPr/>
            </p:nvSpPr>
            <p:spPr>
              <a:xfrm>
                <a:off x="990600" y="2514600"/>
                <a:ext cx="2667000" cy="838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0A52C3-8380-470C-B911-042F8061468C}"/>
                  </a:ext>
                </a:extLst>
              </p:cNvPr>
              <p:cNvSpPr txBox="1"/>
              <p:nvPr/>
            </p:nvSpPr>
            <p:spPr>
              <a:xfrm>
                <a:off x="990600" y="2502499"/>
                <a:ext cx="2667000" cy="228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4-bit binary adder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60F456-1012-416E-8060-F29F0F476688}"/>
                </a:ext>
              </a:extLst>
            </p:cNvPr>
            <p:cNvSpPr txBox="1"/>
            <p:nvPr/>
          </p:nvSpPr>
          <p:spPr>
            <a:xfrm>
              <a:off x="3810000" y="2118067"/>
              <a:ext cx="2667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Z</a:t>
              </a:r>
              <a:r>
                <a:rPr lang="en-US" sz="2000" baseline="-25000" dirty="0">
                  <a:solidFill>
                    <a:schemeClr val="bg1"/>
                  </a:solidFill>
                </a:rPr>
                <a:t>8</a:t>
              </a:r>
              <a:r>
                <a:rPr lang="en-US" sz="2000" dirty="0">
                  <a:solidFill>
                    <a:schemeClr val="bg1"/>
                  </a:solidFill>
                </a:rPr>
                <a:t>    Z</a:t>
              </a:r>
              <a:r>
                <a:rPr lang="en-US" sz="2000" baseline="-25000" dirty="0">
                  <a:solidFill>
                    <a:schemeClr val="bg1"/>
                  </a:solidFill>
                </a:rPr>
                <a:t>4</a:t>
              </a:r>
              <a:r>
                <a:rPr lang="en-US" sz="2000" dirty="0">
                  <a:solidFill>
                    <a:schemeClr val="bg1"/>
                  </a:solidFill>
                </a:rPr>
                <a:t>    Z</a:t>
              </a:r>
              <a:r>
                <a:rPr lang="en-US" sz="2000" baseline="-25000" dirty="0">
                  <a:solidFill>
                    <a:schemeClr val="bg1"/>
                  </a:solidFill>
                </a:rPr>
                <a:t>2</a:t>
              </a:r>
              <a:r>
                <a:rPr lang="en-US" sz="2000" dirty="0">
                  <a:solidFill>
                    <a:schemeClr val="bg1"/>
                  </a:solidFill>
                </a:rPr>
                <a:t>    Z</a:t>
              </a:r>
              <a:r>
                <a:rPr lang="en-US" sz="2000" baseline="-250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563C2D-A825-4F20-9E95-E7644231D65D}"/>
                </a:ext>
              </a:extLst>
            </p:cNvPr>
            <p:cNvSpPr txBox="1"/>
            <p:nvPr/>
          </p:nvSpPr>
          <p:spPr>
            <a:xfrm>
              <a:off x="3505200" y="1733490"/>
              <a:ext cx="3989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K</a:t>
              </a:r>
              <a:endParaRPr lang="en-US" sz="2000" baseline="-25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64ADFD-8B60-4D4A-A72E-A644ED861461}"/>
              </a:ext>
            </a:extLst>
          </p:cNvPr>
          <p:cNvGrpSpPr/>
          <p:nvPr/>
        </p:nvGrpSpPr>
        <p:grpSpPr>
          <a:xfrm>
            <a:off x="7414440" y="4774435"/>
            <a:ext cx="3276600" cy="973249"/>
            <a:chOff x="990600" y="2514600"/>
            <a:chExt cx="2667000" cy="838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0380BE-9F8D-41EA-B17C-C98ED7622038}"/>
                </a:ext>
              </a:extLst>
            </p:cNvPr>
            <p:cNvSpPr/>
            <p:nvPr/>
          </p:nvSpPr>
          <p:spPr>
            <a:xfrm>
              <a:off x="990600" y="2514600"/>
              <a:ext cx="26670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1D4ED7-48AA-4B77-A5E1-E2F3EFC2B4CD}"/>
                </a:ext>
              </a:extLst>
            </p:cNvPr>
            <p:cNvSpPr txBox="1"/>
            <p:nvPr/>
          </p:nvSpPr>
          <p:spPr>
            <a:xfrm>
              <a:off x="990600" y="2819219"/>
              <a:ext cx="2667000" cy="228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4-bit binary adder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2039F7-B8F9-42CB-91BC-2CCA2EE83118}"/>
              </a:ext>
            </a:extLst>
          </p:cNvPr>
          <p:cNvGrpSpPr/>
          <p:nvPr/>
        </p:nvGrpSpPr>
        <p:grpSpPr>
          <a:xfrm rot="10800000">
            <a:off x="4303234" y="3037937"/>
            <a:ext cx="2790413" cy="720873"/>
            <a:chOff x="2782947" y="3048854"/>
            <a:chExt cx="2800890" cy="72358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9F0049F-0DA0-47AF-9E3E-3C0276BF34F3}"/>
                </a:ext>
              </a:extLst>
            </p:cNvPr>
            <p:cNvCxnSpPr/>
            <p:nvPr/>
          </p:nvCxnSpPr>
          <p:spPr>
            <a:xfrm rot="10800000" flipH="1">
              <a:off x="2782947" y="3135183"/>
              <a:ext cx="1255255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71866FD-4994-4C18-A8F8-416F30A06797}"/>
                </a:ext>
              </a:extLst>
            </p:cNvPr>
            <p:cNvCxnSpPr/>
            <p:nvPr/>
          </p:nvCxnSpPr>
          <p:spPr>
            <a:xfrm rot="10800000" flipH="1">
              <a:off x="5010436" y="3413846"/>
              <a:ext cx="573401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D8EDF87-7A9D-496A-ADB9-B078B8832C4A}"/>
                </a:ext>
              </a:extLst>
            </p:cNvPr>
            <p:cNvGrpSpPr/>
            <p:nvPr/>
          </p:nvGrpSpPr>
          <p:grpSpPr>
            <a:xfrm>
              <a:off x="3958304" y="3048854"/>
              <a:ext cx="1048957" cy="723580"/>
              <a:chOff x="3958304" y="3048854"/>
              <a:chExt cx="1048957" cy="723580"/>
            </a:xfrm>
          </p:grpSpPr>
          <p:sp>
            <p:nvSpPr>
              <p:cNvPr id="18" name="Stored Data 71">
                <a:extLst>
                  <a:ext uri="{FF2B5EF4-FFF2-40B4-BE49-F238E27FC236}">
                    <a16:creationId xmlns:a16="http://schemas.microsoft.com/office/drawing/2014/main" id="{0D25902A-3629-4C75-8132-95BB819B1814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Stored Data 71">
                <a:extLst>
                  <a:ext uri="{FF2B5EF4-FFF2-40B4-BE49-F238E27FC236}">
                    <a16:creationId xmlns:a16="http://schemas.microsoft.com/office/drawing/2014/main" id="{9934CD73-EBBA-4B66-AF40-FE22073739E8}"/>
                  </a:ext>
                </a:extLst>
              </p:cNvPr>
              <p:cNvSpPr/>
              <p:nvPr/>
            </p:nvSpPr>
            <p:spPr>
              <a:xfrm rot="10800000">
                <a:off x="3958304" y="3048854"/>
                <a:ext cx="15972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D1F178-AC44-475E-AF10-45A101B62A46}"/>
              </a:ext>
            </a:extLst>
          </p:cNvPr>
          <p:cNvGrpSpPr/>
          <p:nvPr/>
        </p:nvGrpSpPr>
        <p:grpSpPr>
          <a:xfrm rot="10800000">
            <a:off x="7087831" y="3037937"/>
            <a:ext cx="1751997" cy="418343"/>
            <a:chOff x="2939921" y="1715660"/>
            <a:chExt cx="2821609" cy="741118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505B5EE-BF36-45A6-9028-5C522B3C0F2D}"/>
                </a:ext>
              </a:extLst>
            </p:cNvPr>
            <p:cNvCxnSpPr/>
            <p:nvPr/>
          </p:nvCxnSpPr>
          <p:spPr>
            <a:xfrm flipV="1">
              <a:off x="3711334" y="2266407"/>
              <a:ext cx="735388" cy="2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B4EA6D-9B3D-4E96-814E-C26BB13D36E1}"/>
                </a:ext>
              </a:extLst>
            </p:cNvPr>
            <p:cNvCxnSpPr/>
            <p:nvPr/>
          </p:nvCxnSpPr>
          <p:spPr>
            <a:xfrm rot="10800000" flipH="1">
              <a:off x="2939921" y="1903059"/>
              <a:ext cx="1487800" cy="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C599A8B-CF3A-44F2-BC09-D1FFCAE992C7}"/>
                </a:ext>
              </a:extLst>
            </p:cNvPr>
            <p:cNvCxnSpPr/>
            <p:nvPr/>
          </p:nvCxnSpPr>
          <p:spPr>
            <a:xfrm rot="10800000" flipH="1">
              <a:off x="5338610" y="2086966"/>
              <a:ext cx="42292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Delay 68">
              <a:extLst>
                <a:ext uri="{FF2B5EF4-FFF2-40B4-BE49-F238E27FC236}">
                  <a16:creationId xmlns:a16="http://schemas.microsoft.com/office/drawing/2014/main" id="{7F2D4D20-69F8-4BAB-9EB7-0B8E0AFCBA8E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8C0209-DD00-4DC6-B6B0-DDE2132B8D7B}"/>
              </a:ext>
            </a:extLst>
          </p:cNvPr>
          <p:cNvCxnSpPr/>
          <p:nvPr/>
        </p:nvCxnSpPr>
        <p:spPr>
          <a:xfrm>
            <a:off x="8396075" y="2857417"/>
            <a:ext cx="0" cy="191701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DDF50F5-6AC6-4202-966F-1F0D3FFAC7E9}"/>
              </a:ext>
            </a:extLst>
          </p:cNvPr>
          <p:cNvCxnSpPr/>
          <p:nvPr/>
        </p:nvCxnSpPr>
        <p:spPr>
          <a:xfrm>
            <a:off x="8839828" y="2859187"/>
            <a:ext cx="0" cy="191524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281C110-94E4-4712-9312-B3EB0BA2118E}"/>
              </a:ext>
            </a:extLst>
          </p:cNvPr>
          <p:cNvCxnSpPr/>
          <p:nvPr/>
        </p:nvCxnSpPr>
        <p:spPr>
          <a:xfrm>
            <a:off x="9279099" y="2845670"/>
            <a:ext cx="0" cy="192876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3718FE-7249-46B8-885C-E1C4EEA3DAE7}"/>
              </a:ext>
            </a:extLst>
          </p:cNvPr>
          <p:cNvCxnSpPr/>
          <p:nvPr/>
        </p:nvCxnSpPr>
        <p:spPr>
          <a:xfrm>
            <a:off x="9700440" y="2845670"/>
            <a:ext cx="0" cy="192876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BAB558-2E32-4EDD-AEB4-C507EED10793}"/>
              </a:ext>
            </a:extLst>
          </p:cNvPr>
          <p:cNvGrpSpPr/>
          <p:nvPr/>
        </p:nvGrpSpPr>
        <p:grpSpPr>
          <a:xfrm rot="10800000">
            <a:off x="7096796" y="3607737"/>
            <a:ext cx="2182303" cy="418343"/>
            <a:chOff x="2261349" y="1715660"/>
            <a:chExt cx="3514621" cy="741118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A96C68-91A4-4A7A-A458-8CED8DA62C71}"/>
                </a:ext>
              </a:extLst>
            </p:cNvPr>
            <p:cNvCxnSpPr/>
            <p:nvPr/>
          </p:nvCxnSpPr>
          <p:spPr>
            <a:xfrm flipV="1">
              <a:off x="3711334" y="2266407"/>
              <a:ext cx="735388" cy="2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79C995C-947B-47BF-9F60-43D4BF5B5520}"/>
                </a:ext>
              </a:extLst>
            </p:cNvPr>
            <p:cNvCxnSpPr/>
            <p:nvPr/>
          </p:nvCxnSpPr>
          <p:spPr>
            <a:xfrm rot="10800000" flipH="1">
              <a:off x="2261349" y="1903059"/>
              <a:ext cx="2166371" cy="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44EE50C-C24B-4173-8427-FE00E70605D2}"/>
                </a:ext>
              </a:extLst>
            </p:cNvPr>
            <p:cNvCxnSpPr/>
            <p:nvPr/>
          </p:nvCxnSpPr>
          <p:spPr>
            <a:xfrm rot="10800000" flipH="1">
              <a:off x="5338610" y="2086966"/>
              <a:ext cx="43736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Delay 68">
              <a:extLst>
                <a:ext uri="{FF2B5EF4-FFF2-40B4-BE49-F238E27FC236}">
                  <a16:creationId xmlns:a16="http://schemas.microsoft.com/office/drawing/2014/main" id="{23C9C64A-0DC1-41FF-8724-4573B2E4D727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34" name="Elbow Connector 38">
            <a:extLst>
              <a:ext uri="{FF2B5EF4-FFF2-40B4-BE49-F238E27FC236}">
                <a16:creationId xmlns:a16="http://schemas.microsoft.com/office/drawing/2014/main" id="{5E03E6F4-E9D3-42D3-AEF7-E8B00E34D457}"/>
              </a:ext>
            </a:extLst>
          </p:cNvPr>
          <p:cNvCxnSpPr>
            <a:stCxn id="8" idx="1"/>
          </p:cNvCxnSpPr>
          <p:nvPr/>
        </p:nvCxnSpPr>
        <p:spPr>
          <a:xfrm rot="10800000" flipV="1">
            <a:off x="5783484" y="2348090"/>
            <a:ext cx="1630957" cy="862199"/>
          </a:xfrm>
          <a:prstGeom prst="bent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1C7778-E6EE-4632-A0AD-06E4962E1D5C}"/>
              </a:ext>
            </a:extLst>
          </p:cNvPr>
          <p:cNvCxnSpPr/>
          <p:nvPr/>
        </p:nvCxnSpPr>
        <p:spPr>
          <a:xfrm>
            <a:off x="7096796" y="3246687"/>
            <a:ext cx="0" cy="16732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297465B-C79D-4A1C-B765-050FA12D10D7}"/>
              </a:ext>
            </a:extLst>
          </p:cNvPr>
          <p:cNvCxnSpPr/>
          <p:nvPr/>
        </p:nvCxnSpPr>
        <p:spPr>
          <a:xfrm>
            <a:off x="7096796" y="3672803"/>
            <a:ext cx="0" cy="13919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CBCFDD-2F26-4354-BD2D-D0BFEE877D36}"/>
              </a:ext>
            </a:extLst>
          </p:cNvPr>
          <p:cNvCxnSpPr/>
          <p:nvPr/>
        </p:nvCxnSpPr>
        <p:spPr>
          <a:xfrm flipH="1">
            <a:off x="5783483" y="3428446"/>
            <a:ext cx="131331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CBDA4B-A3AD-4779-9C50-55E7EEC0980B}"/>
              </a:ext>
            </a:extLst>
          </p:cNvPr>
          <p:cNvCxnSpPr/>
          <p:nvPr/>
        </p:nvCxnSpPr>
        <p:spPr>
          <a:xfrm>
            <a:off x="7710275" y="1342949"/>
            <a:ext cx="0" cy="4476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80E42B4-60C1-4DD9-A092-7E2D28F96B39}"/>
              </a:ext>
            </a:extLst>
          </p:cNvPr>
          <p:cNvCxnSpPr/>
          <p:nvPr/>
        </p:nvCxnSpPr>
        <p:spPr>
          <a:xfrm>
            <a:off x="7947840" y="1344719"/>
            <a:ext cx="0" cy="4476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56EEF49-6EB9-4D5A-89DC-72CBF093BB67}"/>
              </a:ext>
            </a:extLst>
          </p:cNvPr>
          <p:cNvCxnSpPr/>
          <p:nvPr/>
        </p:nvCxnSpPr>
        <p:spPr>
          <a:xfrm>
            <a:off x="8176440" y="1331202"/>
            <a:ext cx="0" cy="4476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CE3D1DA-7E8D-495F-934F-006EE7F192ED}"/>
              </a:ext>
            </a:extLst>
          </p:cNvPr>
          <p:cNvCxnSpPr/>
          <p:nvPr/>
        </p:nvCxnSpPr>
        <p:spPr>
          <a:xfrm>
            <a:off x="8405040" y="1331202"/>
            <a:ext cx="0" cy="4476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C823654-F3D8-4C07-83C0-A4C6AD1816E8}"/>
              </a:ext>
            </a:extLst>
          </p:cNvPr>
          <p:cNvSpPr txBox="1"/>
          <p:nvPr/>
        </p:nvSpPr>
        <p:spPr>
          <a:xfrm>
            <a:off x="7532126" y="935932"/>
            <a:ext cx="94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Addend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3C65B49-70CA-4DE3-BCD3-E6636DA86330}"/>
              </a:ext>
            </a:extLst>
          </p:cNvPr>
          <p:cNvCxnSpPr/>
          <p:nvPr/>
        </p:nvCxnSpPr>
        <p:spPr>
          <a:xfrm>
            <a:off x="9457248" y="1345573"/>
            <a:ext cx="0" cy="4476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88BD3E-3C4E-4070-A049-E3ACA288D5CC}"/>
              </a:ext>
            </a:extLst>
          </p:cNvPr>
          <p:cNvCxnSpPr/>
          <p:nvPr/>
        </p:nvCxnSpPr>
        <p:spPr>
          <a:xfrm>
            <a:off x="9694813" y="1347343"/>
            <a:ext cx="0" cy="4476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E892A21-7DEF-467F-959F-F0DDAFC63824}"/>
              </a:ext>
            </a:extLst>
          </p:cNvPr>
          <p:cNvCxnSpPr/>
          <p:nvPr/>
        </p:nvCxnSpPr>
        <p:spPr>
          <a:xfrm>
            <a:off x="9923413" y="1333826"/>
            <a:ext cx="0" cy="4476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826BB31-FBEC-41B5-B945-EC605B14DBCD}"/>
              </a:ext>
            </a:extLst>
          </p:cNvPr>
          <p:cNvCxnSpPr/>
          <p:nvPr/>
        </p:nvCxnSpPr>
        <p:spPr>
          <a:xfrm>
            <a:off x="10152013" y="1333826"/>
            <a:ext cx="0" cy="4476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135F7CE-725B-4C15-A8EE-C65E47D1D753}"/>
              </a:ext>
            </a:extLst>
          </p:cNvPr>
          <p:cNvSpPr txBox="1"/>
          <p:nvPr/>
        </p:nvSpPr>
        <p:spPr>
          <a:xfrm>
            <a:off x="9279099" y="938556"/>
            <a:ext cx="94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Augend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E2D7C9E-768C-4893-A29B-FD812A7F808B}"/>
              </a:ext>
            </a:extLst>
          </p:cNvPr>
          <p:cNvCxnSpPr/>
          <p:nvPr/>
        </p:nvCxnSpPr>
        <p:spPr>
          <a:xfrm>
            <a:off x="7484206" y="4508215"/>
            <a:ext cx="0" cy="277967"/>
          </a:xfrm>
          <a:prstGeom prst="straightConnector1">
            <a:avLst/>
          </a:prstGeom>
          <a:ln w="25400">
            <a:headEnd type="oval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392BB05-BDA2-4490-9F8E-ACB918E0E5F5}"/>
              </a:ext>
            </a:extLst>
          </p:cNvPr>
          <p:cNvCxnSpPr/>
          <p:nvPr/>
        </p:nvCxnSpPr>
        <p:spPr>
          <a:xfrm>
            <a:off x="7721771" y="4154587"/>
            <a:ext cx="0" cy="633365"/>
          </a:xfrm>
          <a:prstGeom prst="straightConnector1">
            <a:avLst/>
          </a:prstGeom>
          <a:ln w="25400">
            <a:headEnd type="oval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FF2EE34-91CD-4429-AFA0-6A947D7914A9}"/>
              </a:ext>
            </a:extLst>
          </p:cNvPr>
          <p:cNvCxnSpPr/>
          <p:nvPr/>
        </p:nvCxnSpPr>
        <p:spPr>
          <a:xfrm>
            <a:off x="7950371" y="4154587"/>
            <a:ext cx="0" cy="61984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0EC4CE6-FC1E-4A25-A64D-6DA56E30C756}"/>
              </a:ext>
            </a:extLst>
          </p:cNvPr>
          <p:cNvCxnSpPr/>
          <p:nvPr/>
        </p:nvCxnSpPr>
        <p:spPr>
          <a:xfrm>
            <a:off x="8178971" y="4496468"/>
            <a:ext cx="0" cy="27796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38BC328-7D3B-4520-9202-FDFB23281630}"/>
              </a:ext>
            </a:extLst>
          </p:cNvPr>
          <p:cNvCxnSpPr/>
          <p:nvPr/>
        </p:nvCxnSpPr>
        <p:spPr>
          <a:xfrm>
            <a:off x="4588862" y="3395183"/>
            <a:ext cx="0" cy="759404"/>
          </a:xfrm>
          <a:prstGeom prst="line">
            <a:avLst/>
          </a:prstGeom>
          <a:ln w="2540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FD14AD3-42AD-419D-9F74-E9D3EC713B26}"/>
              </a:ext>
            </a:extLst>
          </p:cNvPr>
          <p:cNvCxnSpPr/>
          <p:nvPr/>
        </p:nvCxnSpPr>
        <p:spPr>
          <a:xfrm>
            <a:off x="4588862" y="4154587"/>
            <a:ext cx="337242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155E60B-5116-45A9-837C-EDE871A8FE74}"/>
              </a:ext>
            </a:extLst>
          </p:cNvPr>
          <p:cNvCxnSpPr/>
          <p:nvPr/>
        </p:nvCxnSpPr>
        <p:spPr>
          <a:xfrm>
            <a:off x="6598962" y="4508215"/>
            <a:ext cx="157747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4B92601-CC73-46C6-A81E-AF0521A1A42F}"/>
              </a:ext>
            </a:extLst>
          </p:cNvPr>
          <p:cNvSpPr txBox="1"/>
          <p:nvPr/>
        </p:nvSpPr>
        <p:spPr>
          <a:xfrm>
            <a:off x="6273824" y="4333547"/>
            <a:ext cx="302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72440-7222-446A-B247-747DCA19B5C2}"/>
              </a:ext>
            </a:extLst>
          </p:cNvPr>
          <p:cNvSpPr txBox="1"/>
          <p:nvPr/>
        </p:nvSpPr>
        <p:spPr>
          <a:xfrm>
            <a:off x="5939356" y="2097187"/>
            <a:ext cx="71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Carry out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9A188F-C3FD-4FBB-B327-94689D3D6039}"/>
              </a:ext>
            </a:extLst>
          </p:cNvPr>
          <p:cNvSpPr txBox="1"/>
          <p:nvPr/>
        </p:nvSpPr>
        <p:spPr>
          <a:xfrm>
            <a:off x="3503609" y="3066740"/>
            <a:ext cx="862831" cy="630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 carry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1D4CF93-D9AE-4F05-9000-693B9B180EA9}"/>
              </a:ext>
            </a:extLst>
          </p:cNvPr>
          <p:cNvCxnSpPr/>
          <p:nvPr/>
        </p:nvCxnSpPr>
        <p:spPr>
          <a:xfrm>
            <a:off x="8405040" y="5715463"/>
            <a:ext cx="0" cy="37927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E0E0CEC-B44A-4E1A-9E70-76B1DD80D24B}"/>
              </a:ext>
            </a:extLst>
          </p:cNvPr>
          <p:cNvCxnSpPr/>
          <p:nvPr/>
        </p:nvCxnSpPr>
        <p:spPr>
          <a:xfrm>
            <a:off x="8848793" y="5716524"/>
            <a:ext cx="0" cy="37892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13A22F-465E-4755-97EB-728CC019B4A3}"/>
              </a:ext>
            </a:extLst>
          </p:cNvPr>
          <p:cNvCxnSpPr/>
          <p:nvPr/>
        </p:nvCxnSpPr>
        <p:spPr>
          <a:xfrm>
            <a:off x="9288064" y="5708428"/>
            <a:ext cx="0" cy="38159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E98B0F2-63AD-44EF-88E1-37DBA39D7978}"/>
              </a:ext>
            </a:extLst>
          </p:cNvPr>
          <p:cNvCxnSpPr/>
          <p:nvPr/>
        </p:nvCxnSpPr>
        <p:spPr>
          <a:xfrm>
            <a:off x="9709405" y="5708428"/>
            <a:ext cx="0" cy="38159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07C259B-8C2D-414F-8857-226AFCFA5FC3}"/>
              </a:ext>
            </a:extLst>
          </p:cNvPr>
          <p:cNvSpPr txBox="1"/>
          <p:nvPr/>
        </p:nvSpPr>
        <p:spPr>
          <a:xfrm>
            <a:off x="7719240" y="6059863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  S</a:t>
            </a:r>
            <a:r>
              <a:rPr lang="en-US" sz="2000" baseline="-25000" dirty="0"/>
              <a:t>8</a:t>
            </a:r>
            <a:r>
              <a:rPr lang="en-US" sz="2000" dirty="0"/>
              <a:t>    S</a:t>
            </a:r>
            <a:r>
              <a:rPr lang="en-US" sz="2000" baseline="-25000" dirty="0"/>
              <a:t>4</a:t>
            </a:r>
            <a:r>
              <a:rPr lang="en-US" sz="2000" dirty="0"/>
              <a:t>    S</a:t>
            </a:r>
            <a:r>
              <a:rPr lang="en-US" sz="2000" baseline="-25000" dirty="0"/>
              <a:t>2</a:t>
            </a:r>
            <a:r>
              <a:rPr lang="en-US" sz="2000" dirty="0"/>
              <a:t>    S</a:t>
            </a:r>
            <a:r>
              <a:rPr lang="en-US" sz="2000" baseline="-25000" dirty="0"/>
              <a:t>1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29355A0-D148-42CA-AA06-B1A8AACEF76C}"/>
              </a:ext>
            </a:extLst>
          </p:cNvPr>
          <p:cNvCxnSpPr>
            <a:endCxn id="9" idx="3"/>
          </p:cNvCxnSpPr>
          <p:nvPr/>
        </p:nvCxnSpPr>
        <p:spPr>
          <a:xfrm flipH="1">
            <a:off x="10691040" y="2333478"/>
            <a:ext cx="5334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D922867-EBCD-415C-B881-2E03BEE83592}"/>
              </a:ext>
            </a:extLst>
          </p:cNvPr>
          <p:cNvSpPr txBox="1"/>
          <p:nvPr/>
        </p:nvSpPr>
        <p:spPr>
          <a:xfrm>
            <a:off x="11156108" y="2122302"/>
            <a:ext cx="94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Carry in</a:t>
            </a:r>
          </a:p>
        </p:txBody>
      </p:sp>
    </p:spTree>
    <p:extLst>
      <p:ext uri="{BB962C8B-B14F-4D97-AF65-F5344CB8AC3E}">
        <p14:creationId xmlns:p14="http://schemas.microsoft.com/office/powerpoint/2010/main" val="217906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42" grpId="0"/>
      <p:bldP spid="47" grpId="0"/>
      <p:bldP spid="55" grpId="0"/>
      <p:bldP spid="56" grpId="0"/>
      <p:bldP spid="57" grpId="0"/>
      <p:bldP spid="62" grpId="0"/>
      <p:bldP spid="64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5366</TotalTime>
  <Words>1081</Words>
  <Application>Microsoft Office PowerPoint</Application>
  <PresentationFormat>Widescreen</PresentationFormat>
  <Paragraphs>534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Trebuchet MS</vt:lpstr>
      <vt:lpstr>Calibri</vt:lpstr>
      <vt:lpstr>Wingdings 2</vt:lpstr>
      <vt:lpstr>Arial</vt:lpstr>
      <vt:lpstr>Cambria Math</vt:lpstr>
      <vt:lpstr>Wingdings</vt:lpstr>
      <vt:lpstr>Roboto Condensed Light</vt:lpstr>
      <vt:lpstr>Wingdings 3</vt:lpstr>
      <vt:lpstr>Facet</vt:lpstr>
      <vt:lpstr>Unit-7  Computer Arithmetic</vt:lpstr>
      <vt:lpstr>PowerPoint Presentation</vt:lpstr>
      <vt:lpstr>Addition and Subtraction</vt:lpstr>
      <vt:lpstr>Addition and Subtraction</vt:lpstr>
      <vt:lpstr>Flowchart for Addition &amp; Subtraction</vt:lpstr>
      <vt:lpstr>Multiplication Algorithms (Booth Multiplication Algorithm)</vt:lpstr>
      <vt:lpstr>Multiplication</vt:lpstr>
      <vt:lpstr>Perform 23 x 19</vt:lpstr>
      <vt:lpstr>Multiply (-9) x (-13) using Booth Algorithm</vt:lpstr>
      <vt:lpstr>Booth Multiplication Algorithm</vt:lpstr>
      <vt:lpstr>Decimal Arithmetic Unit</vt:lpstr>
      <vt:lpstr>BCD Adder</vt:lpstr>
      <vt:lpstr>BCD Adder</vt:lpstr>
      <vt:lpstr>BCD Adder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448</cp:revision>
  <dcterms:created xsi:type="dcterms:W3CDTF">2020-05-01T05:09:15Z</dcterms:created>
  <dcterms:modified xsi:type="dcterms:W3CDTF">2025-08-19T10:18:45Z</dcterms:modified>
</cp:coreProperties>
</file>