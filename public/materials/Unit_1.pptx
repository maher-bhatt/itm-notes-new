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170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71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</p:sldIdLst>
  <p:sldSz cy="5143500" cx="9144000"/>
  <p:notesSz cx="6858000" cy="9144000"/>
  <p:embeddedFontLst>
    <p:embeddedFont>
      <p:font typeface="Inter SemiBold"/>
      <p:regular r:id="rId179"/>
      <p:bold r:id="rId180"/>
      <p:italic r:id="rId181"/>
      <p:boldItalic r:id="rId182"/>
    </p:embeddedFont>
    <p:embeddedFont>
      <p:font typeface="Inter"/>
      <p:bold r:id="rId183"/>
      <p:boldItalic r:id="rId184"/>
    </p:embeddedFont>
    <p:embeddedFont>
      <p:font typeface="Inter ExtraBold"/>
      <p:bold r:id="rId185"/>
      <p:boldItalic r:id="rId186"/>
    </p:embeddedFont>
    <p:embeddedFont>
      <p:font typeface="Fira Code"/>
      <p:regular r:id="rId187"/>
      <p:bold r:id="rId188"/>
    </p:embeddedFont>
    <p:embeddedFont>
      <p:font typeface="Inter Medium"/>
      <p:regular r:id="rId189"/>
      <p:bold r:id="rId190"/>
      <p:italic r:id="rId191"/>
      <p:boldItalic r:id="rId192"/>
    </p:embeddedFont>
    <p:embeddedFont>
      <p:font typeface="Open Sans"/>
      <p:regular r:id="rId193"/>
      <p:bold r:id="rId194"/>
      <p:italic r:id="rId195"/>
      <p:boldItalic r:id="rId196"/>
    </p:embeddedFont>
    <p:embeddedFont>
      <p:font typeface="Inter Black"/>
      <p:bold r:id="rId197"/>
      <p:boldItalic r:id="rId19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5DE77E-582F-48B9-99DE-893D65EC9C9C}">
  <a:tblStyle styleId="{C75DE77E-582F-48B9-99DE-893D65EC9C9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190" Type="http://schemas.openxmlformats.org/officeDocument/2006/relationships/font" Target="fonts/InterMedium-bold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194" Type="http://schemas.openxmlformats.org/officeDocument/2006/relationships/font" Target="fonts/OpenSans-bold.fntdata"/><Relationship Id="rId43" Type="http://schemas.openxmlformats.org/officeDocument/2006/relationships/slide" Target="slides/slide37.xml"/><Relationship Id="rId193" Type="http://schemas.openxmlformats.org/officeDocument/2006/relationships/font" Target="fonts/OpenSans-regular.fntdata"/><Relationship Id="rId46" Type="http://schemas.openxmlformats.org/officeDocument/2006/relationships/slide" Target="slides/slide40.xml"/><Relationship Id="rId192" Type="http://schemas.openxmlformats.org/officeDocument/2006/relationships/font" Target="fonts/InterMedium-boldItalic.fntdata"/><Relationship Id="rId45" Type="http://schemas.openxmlformats.org/officeDocument/2006/relationships/slide" Target="slides/slide39.xml"/><Relationship Id="rId191" Type="http://schemas.openxmlformats.org/officeDocument/2006/relationships/font" Target="fonts/InterMedium-italic.fntdata"/><Relationship Id="rId48" Type="http://schemas.openxmlformats.org/officeDocument/2006/relationships/slide" Target="slides/slide42.xml"/><Relationship Id="rId187" Type="http://schemas.openxmlformats.org/officeDocument/2006/relationships/font" Target="fonts/FiraCode-regular.fntdata"/><Relationship Id="rId47" Type="http://schemas.openxmlformats.org/officeDocument/2006/relationships/slide" Target="slides/slide41.xml"/><Relationship Id="rId186" Type="http://schemas.openxmlformats.org/officeDocument/2006/relationships/font" Target="fonts/InterExtraBold-boldItalic.fntdata"/><Relationship Id="rId185" Type="http://schemas.openxmlformats.org/officeDocument/2006/relationships/font" Target="fonts/InterExtraBold-bold.fntdata"/><Relationship Id="rId49" Type="http://schemas.openxmlformats.org/officeDocument/2006/relationships/slide" Target="slides/slide43.xml"/><Relationship Id="rId184" Type="http://schemas.openxmlformats.org/officeDocument/2006/relationships/font" Target="fonts/Inter-boldItalic.fntdata"/><Relationship Id="rId189" Type="http://schemas.openxmlformats.org/officeDocument/2006/relationships/font" Target="fonts/InterMedium-regular.fntdata"/><Relationship Id="rId188" Type="http://schemas.openxmlformats.org/officeDocument/2006/relationships/font" Target="fonts/FiraCode-bold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183" Type="http://schemas.openxmlformats.org/officeDocument/2006/relationships/font" Target="fonts/Inter-bold.fntdata"/><Relationship Id="rId32" Type="http://schemas.openxmlformats.org/officeDocument/2006/relationships/slide" Target="slides/slide26.xml"/><Relationship Id="rId182" Type="http://schemas.openxmlformats.org/officeDocument/2006/relationships/font" Target="fonts/InterSemiBold-boldItalic.fntdata"/><Relationship Id="rId35" Type="http://schemas.openxmlformats.org/officeDocument/2006/relationships/slide" Target="slides/slide29.xml"/><Relationship Id="rId181" Type="http://schemas.openxmlformats.org/officeDocument/2006/relationships/font" Target="fonts/InterSemiBold-italic.fntdata"/><Relationship Id="rId34" Type="http://schemas.openxmlformats.org/officeDocument/2006/relationships/slide" Target="slides/slide28.xml"/><Relationship Id="rId180" Type="http://schemas.openxmlformats.org/officeDocument/2006/relationships/font" Target="fonts/InterSemiBold-bold.fntdata"/><Relationship Id="rId37" Type="http://schemas.openxmlformats.org/officeDocument/2006/relationships/slide" Target="slides/slide31.xml"/><Relationship Id="rId176" Type="http://schemas.openxmlformats.org/officeDocument/2006/relationships/slide" Target="slides/slide170.xml"/><Relationship Id="rId36" Type="http://schemas.openxmlformats.org/officeDocument/2006/relationships/slide" Target="slides/slide30.xml"/><Relationship Id="rId175" Type="http://schemas.openxmlformats.org/officeDocument/2006/relationships/slide" Target="slides/slide169.xml"/><Relationship Id="rId39" Type="http://schemas.openxmlformats.org/officeDocument/2006/relationships/slide" Target="slides/slide33.xml"/><Relationship Id="rId174" Type="http://schemas.openxmlformats.org/officeDocument/2006/relationships/slide" Target="slides/slide168.xml"/><Relationship Id="rId38" Type="http://schemas.openxmlformats.org/officeDocument/2006/relationships/slide" Target="slides/slide32.xml"/><Relationship Id="rId173" Type="http://schemas.openxmlformats.org/officeDocument/2006/relationships/slide" Target="slides/slide167.xml"/><Relationship Id="rId179" Type="http://schemas.openxmlformats.org/officeDocument/2006/relationships/font" Target="fonts/InterSemiBold-regular.fntdata"/><Relationship Id="rId178" Type="http://schemas.openxmlformats.org/officeDocument/2006/relationships/slide" Target="slides/slide172.xml"/><Relationship Id="rId177" Type="http://schemas.openxmlformats.org/officeDocument/2006/relationships/slide" Target="slides/slide171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98" Type="http://schemas.openxmlformats.org/officeDocument/2006/relationships/font" Target="fonts/InterBlack-boldItalic.fntdata"/><Relationship Id="rId14" Type="http://schemas.openxmlformats.org/officeDocument/2006/relationships/slide" Target="slides/slide8.xml"/><Relationship Id="rId197" Type="http://schemas.openxmlformats.org/officeDocument/2006/relationships/font" Target="fonts/InterBlack-bold.fntdata"/><Relationship Id="rId17" Type="http://schemas.openxmlformats.org/officeDocument/2006/relationships/slide" Target="slides/slide11.xml"/><Relationship Id="rId196" Type="http://schemas.openxmlformats.org/officeDocument/2006/relationships/font" Target="fonts/OpenSans-boldItalic.fntdata"/><Relationship Id="rId16" Type="http://schemas.openxmlformats.org/officeDocument/2006/relationships/slide" Target="slides/slide10.xml"/><Relationship Id="rId195" Type="http://schemas.openxmlformats.org/officeDocument/2006/relationships/font" Target="fonts/OpenSans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150" Type="http://schemas.openxmlformats.org/officeDocument/2006/relationships/slide" Target="slides/slide144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3.xml"/><Relationship Id="rId4" Type="http://schemas.openxmlformats.org/officeDocument/2006/relationships/tableStyles" Target="tableStyles.xml"/><Relationship Id="rId148" Type="http://schemas.openxmlformats.org/officeDocument/2006/relationships/slide" Target="slides/slide142.xml"/><Relationship Id="rId9" Type="http://schemas.openxmlformats.org/officeDocument/2006/relationships/slide" Target="slides/slide3.xml"/><Relationship Id="rId143" Type="http://schemas.openxmlformats.org/officeDocument/2006/relationships/slide" Target="slides/slide137.xml"/><Relationship Id="rId142" Type="http://schemas.openxmlformats.org/officeDocument/2006/relationships/slide" Target="slides/slide136.xml"/><Relationship Id="rId141" Type="http://schemas.openxmlformats.org/officeDocument/2006/relationships/slide" Target="slides/slide135.xml"/><Relationship Id="rId140" Type="http://schemas.openxmlformats.org/officeDocument/2006/relationships/slide" Target="slides/slide134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1.xml"/><Relationship Id="rId6" Type="http://schemas.openxmlformats.org/officeDocument/2006/relationships/notesMaster" Target="notesMasters/notesMaster1.xml"/><Relationship Id="rId146" Type="http://schemas.openxmlformats.org/officeDocument/2006/relationships/slide" Target="slides/slide140.xml"/><Relationship Id="rId7" Type="http://schemas.openxmlformats.org/officeDocument/2006/relationships/slide" Target="slides/slide1.xml"/><Relationship Id="rId145" Type="http://schemas.openxmlformats.org/officeDocument/2006/relationships/slide" Target="slides/slide139.xml"/><Relationship Id="rId8" Type="http://schemas.openxmlformats.org/officeDocument/2006/relationships/slide" Target="slides/slide2.xml"/><Relationship Id="rId144" Type="http://schemas.openxmlformats.org/officeDocument/2006/relationships/slide" Target="slides/slide13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137" Type="http://schemas.openxmlformats.org/officeDocument/2006/relationships/slide" Target="slides/slide131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172" Type="http://schemas.openxmlformats.org/officeDocument/2006/relationships/slide" Target="slides/slide166.xml"/><Relationship Id="rId65" Type="http://schemas.openxmlformats.org/officeDocument/2006/relationships/slide" Target="slides/slide59.xml"/><Relationship Id="rId171" Type="http://schemas.openxmlformats.org/officeDocument/2006/relationships/slide" Target="slides/slide165.xml"/><Relationship Id="rId68" Type="http://schemas.openxmlformats.org/officeDocument/2006/relationships/slide" Target="slides/slide62.xml"/><Relationship Id="rId170" Type="http://schemas.openxmlformats.org/officeDocument/2006/relationships/slide" Target="slides/slide164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165" Type="http://schemas.openxmlformats.org/officeDocument/2006/relationships/slide" Target="slides/slide159.xml"/><Relationship Id="rId69" Type="http://schemas.openxmlformats.org/officeDocument/2006/relationships/slide" Target="slides/slide63.xml"/><Relationship Id="rId164" Type="http://schemas.openxmlformats.org/officeDocument/2006/relationships/slide" Target="slides/slide158.xml"/><Relationship Id="rId163" Type="http://schemas.openxmlformats.org/officeDocument/2006/relationships/slide" Target="slides/slide157.xml"/><Relationship Id="rId162" Type="http://schemas.openxmlformats.org/officeDocument/2006/relationships/slide" Target="slides/slide156.xml"/><Relationship Id="rId169" Type="http://schemas.openxmlformats.org/officeDocument/2006/relationships/slide" Target="slides/slide163.xml"/><Relationship Id="rId168" Type="http://schemas.openxmlformats.org/officeDocument/2006/relationships/slide" Target="slides/slide162.xml"/><Relationship Id="rId167" Type="http://schemas.openxmlformats.org/officeDocument/2006/relationships/slide" Target="slides/slide161.xml"/><Relationship Id="rId166" Type="http://schemas.openxmlformats.org/officeDocument/2006/relationships/slide" Target="slides/slide160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161" Type="http://schemas.openxmlformats.org/officeDocument/2006/relationships/slide" Target="slides/slide155.xml"/><Relationship Id="rId54" Type="http://schemas.openxmlformats.org/officeDocument/2006/relationships/slide" Target="slides/slide48.xml"/><Relationship Id="rId160" Type="http://schemas.openxmlformats.org/officeDocument/2006/relationships/slide" Target="slides/slide154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159" Type="http://schemas.openxmlformats.org/officeDocument/2006/relationships/slide" Target="slides/slide153.xml"/><Relationship Id="rId59" Type="http://schemas.openxmlformats.org/officeDocument/2006/relationships/slide" Target="slides/slide53.xml"/><Relationship Id="rId154" Type="http://schemas.openxmlformats.org/officeDocument/2006/relationships/slide" Target="slides/slide148.xml"/><Relationship Id="rId58" Type="http://schemas.openxmlformats.org/officeDocument/2006/relationships/slide" Target="slides/slide52.xml"/><Relationship Id="rId153" Type="http://schemas.openxmlformats.org/officeDocument/2006/relationships/slide" Target="slides/slide147.xml"/><Relationship Id="rId152" Type="http://schemas.openxmlformats.org/officeDocument/2006/relationships/slide" Target="slides/slide146.xml"/><Relationship Id="rId151" Type="http://schemas.openxmlformats.org/officeDocument/2006/relationships/slide" Target="slides/slide145.xml"/><Relationship Id="rId158" Type="http://schemas.openxmlformats.org/officeDocument/2006/relationships/slide" Target="slides/slide152.xml"/><Relationship Id="rId157" Type="http://schemas.openxmlformats.org/officeDocument/2006/relationships/slide" Target="slides/slide151.xml"/><Relationship Id="rId156" Type="http://schemas.openxmlformats.org/officeDocument/2006/relationships/slide" Target="slides/slide150.xml"/><Relationship Id="rId155" Type="http://schemas.openxmlformats.org/officeDocument/2006/relationships/slide" Target="slides/slide14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121" Type="http://schemas.openxmlformats.org/officeDocument/2006/relationships/slide" Target="slides/slide115.xml"/><Relationship Id="rId120" Type="http://schemas.openxmlformats.org/officeDocument/2006/relationships/slide" Target="slides/slide114.xml"/><Relationship Id="rId125" Type="http://schemas.openxmlformats.org/officeDocument/2006/relationships/slide" Target="slides/slide119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99" Type="http://schemas.openxmlformats.org/officeDocument/2006/relationships/slide" Target="slides/slide93.xml"/><Relationship Id="rId98" Type="http://schemas.openxmlformats.org/officeDocument/2006/relationships/slide" Target="slides/slide92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10" Type="http://schemas.openxmlformats.org/officeDocument/2006/relationships/slide" Target="slides/slide104.xml"/><Relationship Id="rId114" Type="http://schemas.openxmlformats.org/officeDocument/2006/relationships/slide" Target="slides/slide108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9407e2b3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9407e2b3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9407e2b3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9407e2b3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9407e2b3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9407e2b3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9407e2b3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9407e2b3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9407e2b3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9407e2b3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9407e2b31_0_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9407e2b31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9407e2b31_0_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9407e2b31_0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9407e2b31_0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9407e2b31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9407e2b31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9407e2b31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947eca48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947eca48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947eca48e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947eca48e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947eca48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f947eca48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9606a0bc7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9606a0bc7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9606a0bc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9606a0bc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9606a0bc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9606a0bc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9606a0bc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f9606a0bc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9606a0bc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f9606a0bc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9606a0bc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f9606a0bc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9606a0bc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f9606a0bc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9606a0bc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f9606a0bc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9606a0bc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f9606a0bc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9606a0bc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f9606a0bc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9606a0bc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f9606a0bc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9606a0bc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f9606a0bc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f9606a0bc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f9606a0bc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9606a0bc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f9606a0bc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Bytecode: </a:t>
            </a:r>
            <a:r>
              <a:rPr lang="en" sz="15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Computer object code that an interpreter converts into binary machine code so it can be read by a computer’s hardware processors.</a:t>
            </a:r>
            <a:endParaRPr sz="15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f9606a0bc7_0_2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f9606a0bc7_0_2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Counter (PC) Register - </a:t>
            </a:r>
            <a:r>
              <a:rPr lang="en">
                <a:solidFill>
                  <a:schemeClr val="dk1"/>
                </a:solidFill>
              </a:rPr>
              <a:t>a small, dedicated runtime memory area within the </a:t>
            </a:r>
            <a:r>
              <a:rPr b="1" lang="en" sz="1200">
                <a:solidFill>
                  <a:schemeClr val="dk1"/>
                </a:solidFill>
              </a:rPr>
              <a:t>Java Virtual Machine (JVM)</a:t>
            </a:r>
            <a:r>
              <a:rPr lang="en">
                <a:solidFill>
                  <a:schemeClr val="dk1"/>
                </a:solidFill>
              </a:rPr>
              <a:t> that stores the memory address of the bytecode instruction currently being executed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9606a0bc7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f9606a0bc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9606a0bc7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f9606a0bc7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f9606a0bc7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f9606a0bc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f9606a0bc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f9606a0bc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f9606a0bc7_0_2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f9606a0bc7_0_2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f9606a0bc7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f9606a0bc7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f9606a0bc7_0_2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f9606a0bc7_0_2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f9606a0bc7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f9606a0bc7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f9606a0bc7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f9606a0bc7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f9606a0bc7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f9606a0bc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f9606a0bc7_0_3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f9606a0bc7_0_3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f9606a0bc7_0_3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f9606a0bc7_0_3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f9606a0bc7_0_3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f9606a0bc7_0_3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f9606a0bc7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3f9606a0bc7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f9606a0bc7_0_3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f9606a0bc7_0_3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f69c86f133_0_1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f69c86f133_0_1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f9606a0bc7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f9606a0bc7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f9606a0bc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3f9606a0bc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f9606a0bc7_0_4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f9606a0bc7_0_4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f9606a0bc7_0_4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3f9606a0bc7_0_4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f69c86f133_0_1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3f69c86f133_0_1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f9606a0bc7_0_4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3f9606a0bc7_0_4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f9606a0bc7_0_4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f9606a0bc7_0_4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f9606a0bc7_0_4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3f9606a0bc7_0_4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f9606a0bc7_0_5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3f9606a0bc7_0_5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f9606a0bc7_0_5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3f9606a0bc7_0_5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f9606a0bc7_0_5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3f9606a0bc7_0_5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f688f52e4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f688f52e4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f688f52e44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f688f52e44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f69c86f13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3f69c86f13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3f69c86f133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3f69c86f133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3f69c86f133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3f69c86f133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f69c86f133_0_1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3f69c86f133_0_1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f69c86f133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3f69c86f133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f69c86f133_0_1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3f69c86f133_0_1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3f69c86f133_0_17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3f69c86f133_0_1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f69c86f133_0_1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3f69c86f133_0_1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f69c86f133_0_2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3f69c86f133_0_2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3f69c86f133_0_2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3f69c86f133_0_2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3f9606a0bc7_0_4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3f9606a0bc7_0_4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3f6b3864f8d_28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3f6b3864f8d_28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3f6b3864f8d_28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3f6b3864f8d_28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3f9606a0bc7_0_4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3f9606a0bc7_0_4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3f6b3864f8d_28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3f6b3864f8d_28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3f6b3864f8d_28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3f6b3864f8d_28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3f6b3864f8d_28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3f6b3864f8d_28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f6b3864f8d_28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3f6b3864f8d_28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3f6b3864f8d_28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3f6b3864f8d_28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3f6b3864f8d_28_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3f6b3864f8d_28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3f6b3864f8d_28_1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3f6b3864f8d_28_1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3f6b3864f8d_28_1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3f6b3864f8d_28_1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3f6b3864f8d_28_1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3f6b3864f8d_28_1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3f6b3864f8d_28_1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" name="Google Shape;1427;g3f6b3864f8d_28_1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3f6b3864f8d_28_1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3f6b3864f8d_28_1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3f6b3864f8d_28_1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3f6b3864f8d_28_1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3f6b3864f8d_28_2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3f6b3864f8d_28_2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3f6b3864f8d_28_2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3f6b3864f8d_28_2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3f6b3864f8d_28_2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3f6b3864f8d_28_2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3f6b3864f8d_28_2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3f6b3864f8d_28_2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g3f6b3864f8d_28_2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1" name="Google Shape;1601;g3f6b3864f8d_28_2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3f6b3864f8d_28_2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" name="Google Shape;1617;g3f6b3864f8d_28_2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3f6b3864f8d_28_2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3f6b3864f8d_28_2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g3f6b3864f8d_28_2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9" name="Google Shape;1649;g3f6b3864f8d_28_2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g3f6b3864f8d_28_2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5" name="Google Shape;1665;g3f6b3864f8d_28_2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3f6b3864f8d_28_3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g3f6b3864f8d_28_3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g3f6b3864f8d_28_3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3" name="Google Shape;1693;g3f6b3864f8d_28_3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g3f6b3864f8d_28_3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6" name="Google Shape;1706;g3f6b3864f8d_28_3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3f6e00bd3af_14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3f6e00bd3af_14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g3f6e00bd3af_14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3" name="Google Shape;1733;g3f6e00bd3af_14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3f6e00bd3af_14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3f6e00bd3af_14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3f6e00bd3af_14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6" name="Google Shape;1756;g3f6e00bd3af_14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g3f6e00bd3af_14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9" name="Google Shape;1769;g3f6e00bd3af_14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g3f6e00bd3af_14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4" name="Google Shape;1784;g3f6e00bd3af_14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3f6e00bd3af_14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3f6e00bd3af_14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3f6e00bd3af_14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5" name="Google Shape;1805;g3f6e00bd3af_14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3f6e00bd3af_14_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3f6e00bd3af_14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g3f6e00bd3af_14_1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8" name="Google Shape;1828;g3f6e00bd3af_14_1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g3f6e00bd3af_14_1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7" name="Google Shape;1837;g3f6e00bd3af_14_1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g3f6e00bd3af_14_1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4" name="Google Shape;1854;g3f6e00bd3af_14_1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g3f6e00bd3af_14_1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9" name="Google Shape;1869;g3f6e00bd3af_14_1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3f6e00bd3af_14_1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6" name="Google Shape;1886;g3f6e00bd3af_14_1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g3f6e00bd3af_14_1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1" name="Google Shape;1901;g3f6e00bd3af_14_1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g3f6e00bd3af_14_1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0" name="Google Shape;1920;g3f6e00bd3af_14_1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g3f6e00bd3af_14_1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5" name="Google Shape;1935;g3f6e00bd3af_14_1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g3f6e00bd3af_14_2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5" name="Google Shape;1955;g3f6e00bd3af_14_2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g3f6e00bd3af_14_2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9" name="Google Shape;1979;g3f6e00bd3af_14_2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g3f6e00bd3af_14_2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9" name="Google Shape;1999;g3f6e00bd3af_14_2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g3f6e00bd3af_14_2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1" name="Google Shape;2011;g3f6e00bd3af_14_2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g3f6e00bd3af_19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4" name="Google Shape;2024;g3f6e00bd3af_19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g3f6e00bd3af_191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3" name="Google Shape;2043;g3f6e00bd3af_19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g3f6e00bd3af_191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9" name="Google Shape;2059;g3f6e00bd3af_191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3f6e00bd3af_191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3f6e00bd3af_191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g3f6e00bd3af_191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6" name="Google Shape;2106;g3f6e00bd3af_191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g3f6e00bd3af_191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4" name="Google Shape;2124;g3f6e00bd3af_191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g3f6e00bd3af_191_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6" name="Google Shape;2146;g3f6e00bd3af_191_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g3f6e00bd3af_191_9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7" name="Google Shape;2167;g3f6e00bd3af_191_9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3f6f5644e9e_3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3f6f5644e9e_3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9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g3f6f5644e9e_3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1" name="Google Shape;2201;g3f6f5644e9e_3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7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g3f6f5644e9e_3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9" name="Google Shape;2219;g3f6f5644e9e_3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g3f6f5644e9e_3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2" name="Google Shape;2232;g3f6f5644e9e_3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7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g3f6f5644e9e_3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9" name="Google Shape;2249;g3f6f5644e9e_3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0" name="Shape 2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1" name="Google Shape;2261;g3f69c86f133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2" name="Google Shape;2262;g3f69c86f133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7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g3f6f5644e9e_3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9" name="Google Shape;2279;g3f6f5644e9e_3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0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3f6f5644e9e_3_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3f6f5644e9e_3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3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3f6f5644e9e_3_1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5" name="Google Shape;2305;g3f6f5644e9e_3_1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g3f6f5644e9e_3_1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8" name="Google Shape;2318;g3f6f5644e9e_3_1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7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8" name="Google Shape;2328;g3f6f5644e9e_3_1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9" name="Google Shape;2329;g3f6f5644e9e_3_1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g3f6f5644e9e_3_1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2" name="Google Shape;2342;g3f6f5644e9e_3_1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7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g3f6f5644e9e_3_1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9" name="Google Shape;2359;g3f6f5644e9e_3_1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g3f6f5644e9e_3_1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5" name="Google Shape;2375;g3f6f5644e9e_3_1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7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388;g3f6f5644e9e_3_1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9" name="Google Shape;2389;g3f6f5644e9e_3_1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5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g3f6f5644e9e_3_1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7" name="Google Shape;2427;g3f6f5644e9e_3_1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6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g3f6f5644e9e_3_1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8" name="Google Shape;2438;g3f6f5644e9e_3_1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" name="Google Shape;2450;g3f6f5644e9e_3_2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1" name="Google Shape;2451;g3f6f5644e9e_3_2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2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g3f6f5644e9e_3_2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4" name="Google Shape;2464;g3f6f5644e9e_3_2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1" name="Shape 2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2" name="Google Shape;2482;g3f6f5644e9e_3_2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3" name="Google Shape;2483;g3f6f5644e9e_3_2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6" name="Shape 2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7" name="Google Shape;2497;g3f6f5644e9e_3_2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8" name="Google Shape;2498;g3f6f5644e9e_3_2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2" name="Google Shape;2512;g3f6f5644e9e_3_2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3" name="Google Shape;2513;g3f6f5644e9e_3_2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4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g3f6f5644e9e_3_2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6" name="Google Shape;2526;g3f6f5644e9e_3_2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6" name="Shape 2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Google Shape;2547;g3f6f5644e9e_3_2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8" name="Google Shape;2548;g3f6f5644e9e_3_2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3" name="Shape 2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" name="Google Shape;2564;g3f6f5644e9e_3_3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5" name="Google Shape;2565;g3f6f5644e9e_3_3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4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3f6f5644e9e_3_3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3f6f5644e9e_3_3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1" name="Shape 2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2" name="Google Shape;2592;g3f6f5644e9e_3_3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3" name="Google Shape;2593;g3f6f5644e9e_3_3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6" name="Shape 2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607;g3f6f5644e9e_3_3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8" name="Google Shape;2608;g3f6f5644e9e_3_3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9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0" name="Google Shape;2620;g3f6f5644e9e_3_3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1" name="Google Shape;2621;g3f6f5644e9e_3_3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8" name="Shape 2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9" name="Google Shape;2639;g3f6f5644e9e_3_3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0" name="Google Shape;2640;g3f6f5644e9e_3_3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5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6" name="Google Shape;2656;g3f6f5644e9e_3_3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7" name="Google Shape;2657;g3f6f5644e9e_3_3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6" name="Shape 2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Google Shape;2667;g3f6f5644e9e_3_3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8" name="Google Shape;2668;g3f6f5644e9e_3_3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5" name="Shape 2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6" name="Google Shape;2676;g3f834bb8838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7" name="Google Shape;2677;g3f834bb8838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6" name="Shape 2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Google Shape;2687;g3f834bb8838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8" name="Google Shape;2688;g3f834bb8838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7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Google Shape;2698;g3f834bb8838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9" name="Google Shape;2699;g3f834bb8838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2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g3f834bb8838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4" name="Google Shape;2714;g3f834bb8838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1" name="Shape 2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2" name="Google Shape;2722;g3f834bb8838_0_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3" name="Google Shape;2723;g3f834bb8838_0_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6" name="Shape 2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7" name="Google Shape;2737;g3f834bb8838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8" name="Google Shape;2738;g3f834bb8838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5" name="Shape 2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6" name="Google Shape;2746;g3f834bb8838_0_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7" name="Google Shape;2747;g3f834bb8838_0_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4" name="Shape 2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5" name="Google Shape;2755;g3f834bb8838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6" name="Google Shape;2756;g3f834bb8838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8" name="Shape 2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Google Shape;2769;g3f834bb8838_0_1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0" name="Google Shape;2770;g3f834bb8838_0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2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g3f834bb8838_0_1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4" name="Google Shape;2784;g3f834bb8838_0_1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3" name="Shape 2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4" name="Google Shape;2794;g3f834bb883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5" name="Google Shape;2795;g3f834bb883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9" name="Shape 2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0" name="Google Shape;2810;g3f834bb8838_0_1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1" name="Google Shape;2811;g3f834bb8838_0_1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4" name="Shape 2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g3f834bb8838_0_1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6" name="Google Shape;2826;g3f834bb8838_0_1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7" name="Shape 2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8" name="Google Shape;2838;g3f834bb8838_0_1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9" name="Google Shape;2839;g3f834bb8838_0_1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2" name="Shape 2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3" name="Google Shape;2863;g3f834bb8838_0_1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4" name="Google Shape;2864;g3f834bb8838_0_1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2" name="Google Shape;2882;g3f834bb8838_0_20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3" name="Google Shape;2883;g3f834bb8838_0_20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7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0.png"/><Relationship Id="rId4" Type="http://schemas.openxmlformats.org/officeDocument/2006/relationships/image" Target="../media/image6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png"/><Relationship Id="rId4" Type="http://schemas.openxmlformats.org/officeDocument/2006/relationships/image" Target="../media/image5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8.png"/><Relationship Id="rId4" Type="http://schemas.openxmlformats.org/officeDocument/2006/relationships/image" Target="../media/image6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png"/><Relationship Id="rId4" Type="http://schemas.openxmlformats.org/officeDocument/2006/relationships/image" Target="../media/image76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png"/><Relationship Id="rId4" Type="http://schemas.openxmlformats.org/officeDocument/2006/relationships/image" Target="../media/image104.png"/><Relationship Id="rId5" Type="http://schemas.openxmlformats.org/officeDocument/2006/relationships/image" Target="../media/image94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.png"/><Relationship Id="rId4" Type="http://schemas.openxmlformats.org/officeDocument/2006/relationships/image" Target="../media/image118.png"/><Relationship Id="rId5" Type="http://schemas.openxmlformats.org/officeDocument/2006/relationships/image" Target="../media/image129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.png"/><Relationship Id="rId4" Type="http://schemas.openxmlformats.org/officeDocument/2006/relationships/image" Target="../media/image107.png"/><Relationship Id="rId5" Type="http://schemas.openxmlformats.org/officeDocument/2006/relationships/image" Target="../media/image114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.png"/><Relationship Id="rId4" Type="http://schemas.openxmlformats.org/officeDocument/2006/relationships/image" Target="../media/image109.png"/><Relationship Id="rId5" Type="http://schemas.openxmlformats.org/officeDocument/2006/relationships/image" Target="../media/image120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.png"/><Relationship Id="rId4" Type="http://schemas.openxmlformats.org/officeDocument/2006/relationships/image" Target="../media/image125.png"/><Relationship Id="rId5" Type="http://schemas.openxmlformats.org/officeDocument/2006/relationships/image" Target="../media/image123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.png"/><Relationship Id="rId4" Type="http://schemas.openxmlformats.org/officeDocument/2006/relationships/image" Target="../media/image117.png"/><Relationship Id="rId5" Type="http://schemas.openxmlformats.org/officeDocument/2006/relationships/image" Target="../media/image116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1.png"/><Relationship Id="rId4" Type="http://schemas.openxmlformats.org/officeDocument/2006/relationships/image" Target="../media/image137.png"/><Relationship Id="rId5" Type="http://schemas.openxmlformats.org/officeDocument/2006/relationships/image" Target="../media/image131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1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3.png"/><Relationship Id="rId4" Type="http://schemas.openxmlformats.org/officeDocument/2006/relationships/image" Target="../media/image136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147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124.png"/><Relationship Id="rId4" Type="http://schemas.openxmlformats.org/officeDocument/2006/relationships/image" Target="../media/image150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135.png"/><Relationship Id="rId4" Type="http://schemas.openxmlformats.org/officeDocument/2006/relationships/image" Target="../media/image150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126.png"/><Relationship Id="rId4" Type="http://schemas.openxmlformats.org/officeDocument/2006/relationships/image" Target="../media/image156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151.png"/><Relationship Id="rId4" Type="http://schemas.openxmlformats.org/officeDocument/2006/relationships/image" Target="../media/image167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3.png"/><Relationship Id="rId4" Type="http://schemas.openxmlformats.org/officeDocument/2006/relationships/image" Target="../media/image165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3.png"/><Relationship Id="rId4" Type="http://schemas.openxmlformats.org/officeDocument/2006/relationships/image" Target="../media/image143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132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3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3.pn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3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3.png"/><Relationship Id="rId4" Type="http://schemas.openxmlformats.org/officeDocument/2006/relationships/image" Target="../media/image168.pn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3.png"/><Relationship Id="rId4" Type="http://schemas.openxmlformats.org/officeDocument/2006/relationships/image" Target="../media/image146.pn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1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1.pn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1.pn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1.pn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1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1.png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1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1.pn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1.pn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1.png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1.pn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1.png"/><Relationship Id="rId4" Type="http://schemas.openxmlformats.org/officeDocument/2006/relationships/image" Target="../media/image189.png"/><Relationship Id="rId5" Type="http://schemas.openxmlformats.org/officeDocument/2006/relationships/image" Target="../media/image158.png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1.png"/><Relationship Id="rId4" Type="http://schemas.openxmlformats.org/officeDocument/2006/relationships/image" Target="../media/image186.png"/><Relationship Id="rId5" Type="http://schemas.openxmlformats.org/officeDocument/2006/relationships/image" Target="../media/image166.png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1.png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1.png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1.png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1.pn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1.png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1.png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1.png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1.png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1.png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1.png"/><Relationship Id="rId4" Type="http://schemas.openxmlformats.org/officeDocument/2006/relationships/image" Target="../media/image187.png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5.xml"/><Relationship Id="rId3" Type="http://schemas.openxmlformats.org/officeDocument/2006/relationships/image" Target="../media/image1.png"/><Relationship Id="rId4" Type="http://schemas.openxmlformats.org/officeDocument/2006/relationships/image" Target="../media/image190.png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1.png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1.png"/><Relationship Id="rId4" Type="http://schemas.openxmlformats.org/officeDocument/2006/relationships/image" Target="../media/image192.png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1.png"/><Relationship Id="rId4" Type="http://schemas.openxmlformats.org/officeDocument/2006/relationships/image" Target="../media/image182.png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1.png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1.png"/><Relationship Id="rId4" Type="http://schemas.openxmlformats.org/officeDocument/2006/relationships/image" Target="../media/image191.png"/><Relationship Id="rId5" Type="http://schemas.openxmlformats.org/officeDocument/2006/relationships/image" Target="../media/image183.png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1.png"/><Relationship Id="rId4" Type="http://schemas.openxmlformats.org/officeDocument/2006/relationships/image" Target="../media/image185.png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1.png"/><Relationship Id="rId4" Type="http://schemas.openxmlformats.org/officeDocument/2006/relationships/image" Target="../media/image19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62000" y="1047750"/>
            <a:ext cx="40005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UNIT 01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3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Basics of Java </a:t>
            </a:r>
            <a:r>
              <a:rPr b="0" lang="en" sz="38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&amp;</a:t>
            </a:r>
            <a:r>
              <a:rPr b="0" lang="en" sz="3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Array </a:t>
            </a:r>
            <a:r>
              <a:rPr b="0" lang="en" sz="38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&amp;</a:t>
            </a:r>
            <a:r>
              <a:rPr b="0" lang="en" sz="3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String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 introduction to fundamental programming structures, memory manipulation, and standard class APIs in Java.</a:t>
            </a:r>
            <a:endParaRPr b="0"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Prepared By:</a:t>
            </a: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Asst. Prof. Jeeten Dave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10287000" y="2095500"/>
            <a:ext cx="3429000" cy="3048000"/>
            <a:chOff x="5143500" y="1047750"/>
            <a:chExt cx="3429000" cy="3048000"/>
          </a:xfrm>
        </p:grpSpPr>
        <p:sp>
          <p:nvSpPr>
            <p:cNvPr id="56" name="Google Shape;56;p13"/>
            <p:cNvSpPr/>
            <p:nvPr/>
          </p:nvSpPr>
          <p:spPr>
            <a:xfrm>
              <a:off x="5143500" y="1047750"/>
              <a:ext cx="34290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143500" y="1047750"/>
              <a:ext cx="3429000" cy="381000"/>
            </a:xfrm>
            <a:prstGeom prst="roundRect">
              <a:avLst>
                <a:gd fmla="val 40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276850" y="118110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48300" y="118110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5619750" y="118110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 txBox="1"/>
            <p:nvPr/>
          </p:nvSpPr>
          <p:spPr>
            <a:xfrm>
              <a:off x="5143500" y="1428750"/>
              <a:ext cx="34290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D73A49"/>
                  </a:solidFill>
                  <a:latin typeface="Fira Code"/>
                  <a:ea typeface="Fira Code"/>
                  <a:cs typeface="Fira Code"/>
                  <a:sym typeface="Fira Code"/>
                </a:rPr>
                <a:t>class </a:t>
              </a:r>
              <a:r>
                <a:rPr b="0" lang="en" sz="1200">
                  <a:solidFill>
                    <a:srgbClr val="6F42C1"/>
                  </a:solidFill>
                  <a:latin typeface="Fira Code"/>
                  <a:ea typeface="Fira Code"/>
                  <a:cs typeface="Fira Code"/>
                  <a:sym typeface="Fira Code"/>
                </a:rPr>
                <a:t>JavaBasics</a:t>
              </a:r>
              <a:r>
                <a:rPr b="0" lang="en" sz="1200">
                  <a:solidFill>
                    <a:srgbClr val="24292E"/>
                  </a:solidFill>
                  <a:latin typeface="Fira Code"/>
                  <a:ea typeface="Fira Code"/>
                  <a:cs typeface="Fira Code"/>
                  <a:sym typeface="Fira Code"/>
                </a:rPr>
                <a:t> {</a:t>
              </a:r>
              <a:endParaRPr b="0" sz="1200">
                <a:solidFill>
                  <a:srgbClr val="24292E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D73A49"/>
                  </a:solidFill>
                  <a:latin typeface="Fira Code"/>
                  <a:ea typeface="Fira Code"/>
                  <a:cs typeface="Fira Code"/>
                  <a:sym typeface="Fira Code"/>
                </a:rPr>
                <a:t>public static void </a:t>
              </a:r>
              <a:r>
                <a:rPr b="0" lang="en" sz="1200">
                  <a:solidFill>
                    <a:srgbClr val="6F42C1"/>
                  </a:solidFill>
                  <a:latin typeface="Fira Code"/>
                  <a:ea typeface="Fira Code"/>
                  <a:cs typeface="Fira Code"/>
                  <a:sym typeface="Fira Code"/>
                </a:rPr>
                <a:t>main</a:t>
              </a:r>
              <a:r>
                <a:rPr b="0" lang="en" sz="1200">
                  <a:solidFill>
                    <a:srgbClr val="24292E"/>
                  </a:solidFill>
                  <a:latin typeface="Fira Code"/>
                  <a:ea typeface="Fira Code"/>
                  <a:cs typeface="Fira Code"/>
                  <a:sym typeface="Fira Code"/>
                </a:rPr>
                <a:t>(String[] args) {</a:t>
              </a:r>
              <a:endParaRPr b="0" sz="1200">
                <a:solidFill>
                  <a:srgbClr val="24292E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381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6A737D"/>
                  </a:solidFill>
                  <a:latin typeface="Fira Code"/>
                  <a:ea typeface="Fira Code"/>
                  <a:cs typeface="Fira Code"/>
                  <a:sym typeface="Fira Code"/>
                </a:rPr>
                <a:t>// Fundamental building blocks</a:t>
              </a:r>
              <a:endParaRPr b="0" sz="1200">
                <a:solidFill>
                  <a:srgbClr val="24292E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381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D73A49"/>
                  </a:solidFill>
                  <a:latin typeface="Fira Code"/>
                  <a:ea typeface="Fira Code"/>
                  <a:cs typeface="Fira Code"/>
                  <a:sym typeface="Fira Code"/>
                </a:rPr>
                <a:t>String </a:t>
              </a:r>
              <a:r>
                <a:rPr b="0" lang="en" sz="1200">
                  <a:solidFill>
                    <a:srgbClr val="24292E"/>
                  </a:solidFill>
                  <a:latin typeface="Fira Code"/>
                  <a:ea typeface="Fira Code"/>
                  <a:cs typeface="Fira Code"/>
                  <a:sym typeface="Fira Code"/>
                </a:rPr>
                <a:t>unit</a:t>
              </a:r>
              <a:r>
                <a:rPr b="0" lang="en" sz="1200">
                  <a:solidFill>
                    <a:srgbClr val="D73A49"/>
                  </a:solidFill>
                  <a:latin typeface="Fira Code"/>
                  <a:ea typeface="Fira Code"/>
                  <a:cs typeface="Fira Code"/>
                  <a:sym typeface="Fira Code"/>
                </a:rPr>
                <a:t> = </a:t>
              </a:r>
              <a:r>
                <a:rPr b="0" lang="en" sz="1200">
                  <a:solidFill>
                    <a:srgbClr val="032F62"/>
                  </a:solidFill>
                  <a:latin typeface="Fira Code"/>
                  <a:ea typeface="Fira Code"/>
                  <a:cs typeface="Fira Code"/>
                  <a:sym typeface="Fira Code"/>
                </a:rPr>
                <a:t>"Basics of Java"</a:t>
              </a:r>
              <a:r>
                <a:rPr b="0" lang="en" sz="1200">
                  <a:solidFill>
                    <a:srgbClr val="24292E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sz="1200">
                <a:solidFill>
                  <a:srgbClr val="24292E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381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D73A49"/>
                  </a:solidFill>
                  <a:latin typeface="Fira Code"/>
                  <a:ea typeface="Fira Code"/>
                  <a:cs typeface="Fira Code"/>
                  <a:sym typeface="Fira Code"/>
                </a:rPr>
                <a:t>String[] </a:t>
              </a:r>
              <a:r>
                <a:rPr b="0" lang="en" sz="1200">
                  <a:solidFill>
                    <a:srgbClr val="24292E"/>
                  </a:solidFill>
                  <a:latin typeface="Fira Code"/>
                  <a:ea typeface="Fira Code"/>
                  <a:cs typeface="Fira Code"/>
                  <a:sym typeface="Fira Code"/>
                </a:rPr>
                <a:t>topics</a:t>
              </a:r>
              <a:r>
                <a:rPr b="0" lang="en" sz="1200">
                  <a:solidFill>
                    <a:srgbClr val="D73A49"/>
                  </a:solidFill>
                  <a:latin typeface="Fira Code"/>
                  <a:ea typeface="Fira Code"/>
                  <a:cs typeface="Fira Code"/>
                  <a:sym typeface="Fira Code"/>
                </a:rPr>
                <a:t> = </a:t>
              </a:r>
              <a:r>
                <a:rPr b="0" lang="en" sz="1200">
                  <a:solidFill>
                    <a:srgbClr val="24292E"/>
                  </a:solidFill>
                  <a:latin typeface="Fira Code"/>
                  <a:ea typeface="Fira Code"/>
                  <a:cs typeface="Fira Code"/>
                  <a:sym typeface="Fira Code"/>
                </a:rPr>
                <a:t>{</a:t>
              </a:r>
              <a:r>
                <a:rPr b="0" lang="en" sz="1200">
                  <a:solidFill>
                    <a:srgbClr val="032F62"/>
                  </a:solidFill>
                  <a:latin typeface="Fira Code"/>
                  <a:ea typeface="Fira Code"/>
                  <a:cs typeface="Fira Code"/>
                  <a:sym typeface="Fira Code"/>
                </a:rPr>
                <a:t>"Array"</a:t>
              </a:r>
              <a:r>
                <a:rPr b="0" lang="en" sz="1200">
                  <a:solidFill>
                    <a:srgbClr val="24292E"/>
                  </a:solidFill>
                  <a:latin typeface="Fira Code"/>
                  <a:ea typeface="Fira Code"/>
                  <a:cs typeface="Fira Code"/>
                  <a:sym typeface="Fira Code"/>
                </a:rPr>
                <a:t>, </a:t>
              </a:r>
              <a:r>
                <a:rPr b="0" lang="en" sz="1200">
                  <a:solidFill>
                    <a:srgbClr val="032F62"/>
                  </a:solidFill>
                  <a:latin typeface="Fira Code"/>
                  <a:ea typeface="Fira Code"/>
                  <a:cs typeface="Fira Code"/>
                  <a:sym typeface="Fira Code"/>
                </a:rPr>
                <a:t>"String"</a:t>
              </a:r>
              <a:r>
                <a:rPr b="0" lang="en" sz="1200">
                  <a:solidFill>
                    <a:srgbClr val="24292E"/>
                  </a:solidFill>
                  <a:latin typeface="Fira Code"/>
                  <a:ea typeface="Fira Code"/>
                  <a:cs typeface="Fira Code"/>
                  <a:sym typeface="Fira Code"/>
                </a:rPr>
                <a:t>};</a:t>
              </a:r>
              <a:endParaRPr b="0" sz="1200">
                <a:solidFill>
                  <a:srgbClr val="24292E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381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05CC5"/>
                  </a:solidFill>
                  <a:latin typeface="Fira Code"/>
                  <a:ea typeface="Fira Code"/>
                  <a:cs typeface="Fira Code"/>
                  <a:sym typeface="Fira Code"/>
                </a:rPr>
                <a:t>System</a:t>
              </a:r>
              <a:r>
                <a:rPr b="0" lang="en" sz="1200">
                  <a:solidFill>
                    <a:srgbClr val="24292E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lang="en" sz="1200">
                  <a:solidFill>
                    <a:srgbClr val="005CC5"/>
                  </a:solidFill>
                  <a:latin typeface="Fira Code"/>
                  <a:ea typeface="Fira Code"/>
                  <a:cs typeface="Fira Code"/>
                  <a:sym typeface="Fira Code"/>
                </a:rPr>
                <a:t>out</a:t>
              </a:r>
              <a:r>
                <a:rPr b="0" lang="en" sz="1200">
                  <a:solidFill>
                    <a:srgbClr val="24292E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lang="en" sz="1200">
                  <a:solidFill>
                    <a:srgbClr val="6F42C1"/>
                  </a:solidFill>
                  <a:latin typeface="Fira Code"/>
                  <a:ea typeface="Fira Code"/>
                  <a:cs typeface="Fira Code"/>
                  <a:sym typeface="Fira Code"/>
                </a:rPr>
                <a:t>println</a:t>
              </a:r>
              <a:r>
                <a:rPr b="0" lang="en" sz="1200">
                  <a:solidFill>
                    <a:srgbClr val="24292E"/>
                  </a:solidFill>
                  <a:latin typeface="Fira Code"/>
                  <a:ea typeface="Fira Code"/>
                  <a:cs typeface="Fira Code"/>
                  <a:sym typeface="Fira Code"/>
                </a:rPr>
                <a:t>(unit);</a:t>
              </a:r>
              <a:endParaRPr b="0" sz="1200">
                <a:solidFill>
                  <a:srgbClr val="24292E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4292E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b="0" sz="1200">
                <a:solidFill>
                  <a:srgbClr val="24292E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4292E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b="0" sz="1200">
                <a:solidFill>
                  <a:srgbClr val="24292E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571500" y="42862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Topics in this Unit</a:t>
            </a:r>
            <a:endParaRPr b="0" sz="2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67" name="Google Shape;67;p14"/>
          <p:cNvGrpSpPr/>
          <p:nvPr/>
        </p:nvGrpSpPr>
        <p:grpSpPr>
          <a:xfrm>
            <a:off x="571500" y="1238250"/>
            <a:ext cx="3810000" cy="3333900"/>
            <a:chOff x="0" y="0"/>
            <a:chExt cx="3810000" cy="3333900"/>
          </a:xfrm>
        </p:grpSpPr>
        <p:sp>
          <p:nvSpPr>
            <p:cNvPr id="68" name="Google Shape;68;p14"/>
            <p:cNvSpPr/>
            <p:nvPr/>
          </p:nvSpPr>
          <p:spPr>
            <a:xfrm>
              <a:off x="0" y="0"/>
              <a:ext cx="3810000" cy="3333900"/>
            </a:xfrm>
            <a:prstGeom prst="roundRect">
              <a:avLst>
                <a:gd fmla="val 4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0" y="0"/>
              <a:ext cx="3810000" cy="476400"/>
            </a:xfrm>
            <a:custGeom>
              <a:rect b="b" l="l" r="r" t="t"/>
              <a:pathLst>
                <a:path extrusionOk="0" h="120000" w="120000">
                  <a:moveTo>
                    <a:pt x="0" y="38400"/>
                  </a:moveTo>
                  <a:cubicBezTo>
                    <a:pt x="0" y="17192"/>
                    <a:pt x="2149" y="0"/>
                    <a:pt x="4800" y="0"/>
                  </a:cubicBezTo>
                  <a:lnTo>
                    <a:pt x="115200" y="0"/>
                  </a:lnTo>
                  <a:cubicBezTo>
                    <a:pt x="117851" y="0"/>
                    <a:pt x="120000" y="17192"/>
                    <a:pt x="120000" y="384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142875" y="1905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295275" y="19050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447675" y="19050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228600" y="666750"/>
              <a:ext cx="33528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Basics of Java</a:t>
              </a:r>
              <a:endParaRPr b="1" sz="15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Features of Java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Byte Code and Java Virtual Machine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Java Development Kit (JDK)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Data Types &amp; Operators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Control Statements</a:t>
              </a: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(if-else, switch, loops, break, continue)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" name="Google Shape;74;p14"/>
          <p:cNvGrpSpPr/>
          <p:nvPr/>
        </p:nvGrpSpPr>
        <p:grpSpPr>
          <a:xfrm>
            <a:off x="4762500" y="1238250"/>
            <a:ext cx="3810000" cy="3333900"/>
            <a:chOff x="0" y="0"/>
            <a:chExt cx="3810000" cy="3333900"/>
          </a:xfrm>
        </p:grpSpPr>
        <p:sp>
          <p:nvSpPr>
            <p:cNvPr id="75" name="Google Shape;75;p14"/>
            <p:cNvSpPr/>
            <p:nvPr/>
          </p:nvSpPr>
          <p:spPr>
            <a:xfrm>
              <a:off x="0" y="0"/>
              <a:ext cx="3810000" cy="3333900"/>
            </a:xfrm>
            <a:prstGeom prst="roundRect">
              <a:avLst>
                <a:gd fmla="val 4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0" y="0"/>
              <a:ext cx="3810000" cy="476400"/>
            </a:xfrm>
            <a:custGeom>
              <a:rect b="b" l="l" r="r" t="t"/>
              <a:pathLst>
                <a:path extrusionOk="0" h="120000" w="120000">
                  <a:moveTo>
                    <a:pt x="0" y="38400"/>
                  </a:moveTo>
                  <a:cubicBezTo>
                    <a:pt x="0" y="17192"/>
                    <a:pt x="2149" y="0"/>
                    <a:pt x="4800" y="0"/>
                  </a:cubicBezTo>
                  <a:lnTo>
                    <a:pt x="115200" y="0"/>
                  </a:lnTo>
                  <a:cubicBezTo>
                    <a:pt x="117851" y="0"/>
                    <a:pt x="120000" y="17192"/>
                    <a:pt x="120000" y="384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142875" y="1905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295275" y="19050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447675" y="19050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 txBox="1"/>
            <p:nvPr/>
          </p:nvSpPr>
          <p:spPr>
            <a:xfrm>
              <a:off x="228600" y="666750"/>
              <a:ext cx="33528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Array &amp; String</a:t>
              </a:r>
              <a:endParaRPr b="1" sz="15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Single &amp; Multidimensional Arrays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String &amp; String Buffer Classes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Operations on Strings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Command Line Arguments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Use of Wrapper Classes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/>
        </p:nvSpPr>
        <p:spPr>
          <a:xfrm>
            <a:off x="762000" y="1047750"/>
            <a:ext cx="40005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UNIT 01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0" lang="en" sz="3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History </a:t>
            </a:r>
            <a:r>
              <a:rPr b="0" lang="en" sz="38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&amp;</a:t>
            </a:r>
            <a:r>
              <a:rPr b="0" lang="en" sz="3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Evolution of </a:t>
            </a:r>
            <a:r>
              <a:rPr b="0" lang="en" sz="38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Java</a:t>
            </a:r>
            <a:endParaRPr b="0" sz="3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journey through the architectural shifts, language lineage, and core design principles that shaped the world's most robust programming language.</a:t>
            </a:r>
            <a:endParaRPr b="0"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6" name="Google Shape;86;p15"/>
          <p:cNvGrpSpPr/>
          <p:nvPr/>
        </p:nvGrpSpPr>
        <p:grpSpPr>
          <a:xfrm>
            <a:off x="5143500" y="1047750"/>
            <a:ext cx="3429000" cy="3048000"/>
            <a:chOff x="0" y="0"/>
            <a:chExt cx="3429000" cy="3048000"/>
          </a:xfrm>
        </p:grpSpPr>
        <p:sp>
          <p:nvSpPr>
            <p:cNvPr id="87" name="Google Shape;87;p15"/>
            <p:cNvSpPr/>
            <p:nvPr/>
          </p:nvSpPr>
          <p:spPr>
            <a:xfrm>
              <a:off x="0" y="0"/>
              <a:ext cx="34290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0" y="0"/>
              <a:ext cx="34290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480"/>
                    <a:pt x="2387" y="0"/>
                    <a:pt x="5333" y="0"/>
                  </a:cubicBezTo>
                  <a:lnTo>
                    <a:pt x="114667" y="0"/>
                  </a:lnTo>
                  <a:cubicBezTo>
                    <a:pt x="117613" y="0"/>
                    <a:pt x="120000" y="2148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9525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26670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43815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0" y="381000"/>
              <a:ext cx="3429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C</a:t>
              </a:r>
              <a:endParaRPr sz="1295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1972 Efficiency</a:t>
              </a:r>
              <a:endParaRPr b="1" sz="1203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Direct hardware manipulation and modular programming.</a:t>
              </a:r>
              <a:endParaRPr sz="1018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C+</a:t>
              </a:r>
              <a:endParaRPr sz="1295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1983 Object Orientation</a:t>
              </a:r>
              <a:endParaRPr b="1" sz="1203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Introduced classes, encapsulation, and abstractions.</a:t>
              </a:r>
              <a:endParaRPr sz="1018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J</a:t>
              </a:r>
              <a:endParaRPr sz="1295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1995 Platform Independence</a:t>
              </a:r>
              <a:endParaRPr b="1" sz="1203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"Write Once, Run Anywhere" via the JVM.</a:t>
              </a:r>
              <a:endParaRPr sz="1018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6"/>
          <p:cNvGrpSpPr/>
          <p:nvPr/>
        </p:nvGrpSpPr>
        <p:grpSpPr>
          <a:xfrm>
            <a:off x="762000" y="1047750"/>
            <a:ext cx="3429000" cy="3048000"/>
            <a:chOff x="0" y="0"/>
            <a:chExt cx="3429000" cy="30480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0"/>
              <a:ext cx="3429000" cy="304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6"/>
            <p:cNvSpPr txBox="1"/>
            <p:nvPr/>
          </p:nvSpPr>
          <p:spPr>
            <a:xfrm>
              <a:off x="0" y="0"/>
              <a:ext cx="3429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Introduction to Java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3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More than a </a:t>
              </a:r>
              <a:r>
                <a:rPr b="0" lang="en" sz="38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Coffee Bean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While the name literally translates to a coffee bean, Java is a powerful, robust programming language. Its creation was fueled by two fundamental drivers of technological innovation.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0" name="Google Shape;100;p16"/>
          <p:cNvGrpSpPr/>
          <p:nvPr/>
        </p:nvGrpSpPr>
        <p:grpSpPr>
          <a:xfrm>
            <a:off x="4572000" y="1047750"/>
            <a:ext cx="3810000" cy="3048000"/>
            <a:chOff x="0" y="0"/>
            <a:chExt cx="3810000" cy="3048000"/>
          </a:xfrm>
        </p:grpSpPr>
        <p:sp>
          <p:nvSpPr>
            <p:cNvPr id="101" name="Google Shape;101;p16"/>
            <p:cNvSpPr/>
            <p:nvPr/>
          </p:nvSpPr>
          <p:spPr>
            <a:xfrm>
              <a:off x="0" y="0"/>
              <a:ext cx="38100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0" y="0"/>
              <a:ext cx="38100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480"/>
                    <a:pt x="2148" y="0"/>
                    <a:pt x="4800" y="0"/>
                  </a:cubicBezTo>
                  <a:lnTo>
                    <a:pt x="115200" y="0"/>
                  </a:lnTo>
                  <a:cubicBezTo>
                    <a:pt x="117852" y="0"/>
                    <a:pt x="120000" y="2148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1524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3238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4953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" name="Google Shape;106;p16"/>
            <p:cNvGrpSpPr/>
            <p:nvPr/>
          </p:nvGrpSpPr>
          <p:grpSpPr>
            <a:xfrm>
              <a:off x="0" y="381000"/>
              <a:ext cx="3810000" cy="2667000"/>
              <a:chOff x="0" y="0"/>
              <a:chExt cx="3810000" cy="2667000"/>
            </a:xfrm>
          </p:grpSpPr>
          <p:sp>
            <p:nvSpPr>
              <p:cNvPr id="107" name="Google Shape;107;p16"/>
              <p:cNvSpPr/>
              <p:nvPr/>
            </p:nvSpPr>
            <p:spPr>
              <a:xfrm>
                <a:off x="0" y="0"/>
                <a:ext cx="3810000" cy="2667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6"/>
              <p:cNvSpPr txBox="1"/>
              <p:nvPr/>
            </p:nvSpPr>
            <p:spPr>
              <a:xfrm>
                <a:off x="0" y="0"/>
                <a:ext cx="3810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28600" lIns="228600" spcFirstLastPara="1" rIns="228600" wrap="square" tIns="2286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Language Evolution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Why Computer Languages Evolve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01. Environmental Adaptation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To adopt to changing environments and uses.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4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02. Architectural Refinement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To implement refinements and improvements in the art of programming.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/>
        </p:nvSpPr>
        <p:spPr>
          <a:xfrm>
            <a:off x="762000" y="1047750"/>
            <a:ext cx="36195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LINEAGE &amp; INFLUENCE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" sz="3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Java’s </a:t>
            </a:r>
            <a:r>
              <a:rPr b="0" lang="en" sz="38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Lineage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creation of Java was rooted in the continuous process of refinement and adaptation, inheriting its core character from its predecessors.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4" name="Google Shape;114;p17"/>
          <p:cNvGrpSpPr/>
          <p:nvPr/>
        </p:nvGrpSpPr>
        <p:grpSpPr>
          <a:xfrm>
            <a:off x="4762500" y="1047750"/>
            <a:ext cx="3619500" cy="3048000"/>
            <a:chOff x="0" y="0"/>
            <a:chExt cx="3619500" cy="3048000"/>
          </a:xfrm>
        </p:grpSpPr>
        <p:sp>
          <p:nvSpPr>
            <p:cNvPr id="115" name="Google Shape;115;p17"/>
            <p:cNvSpPr/>
            <p:nvPr/>
          </p:nvSpPr>
          <p:spPr>
            <a:xfrm>
              <a:off x="0" y="0"/>
              <a:ext cx="36195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480"/>
                    <a:pt x="2261" y="0"/>
                    <a:pt x="5053" y="0"/>
                  </a:cubicBezTo>
                  <a:lnTo>
                    <a:pt x="114947" y="0"/>
                  </a:lnTo>
                  <a:cubicBezTo>
                    <a:pt x="117739" y="0"/>
                    <a:pt x="120000" y="2148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1524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3238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4953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 txBox="1"/>
            <p:nvPr/>
          </p:nvSpPr>
          <p:spPr>
            <a:xfrm>
              <a:off x="0" y="381000"/>
              <a:ext cx="36195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01. Direct Descent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Java is closely related to C++, which is a direct descendant of the C language.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02. Character Inheritance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It inherits much of its fundamental character and syntax from C and C++.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03. Object-Oriented Influence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Java's robust Object-Oriented features were heavily shaped as responses to C++.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8"/>
          <p:cNvGrpSpPr/>
          <p:nvPr/>
        </p:nvGrpSpPr>
        <p:grpSpPr>
          <a:xfrm>
            <a:off x="762000" y="1047750"/>
            <a:ext cx="3619500" cy="3048000"/>
            <a:chOff x="0" y="0"/>
            <a:chExt cx="3619500" cy="3048000"/>
          </a:xfrm>
        </p:grpSpPr>
        <p:sp>
          <p:nvSpPr>
            <p:cNvPr id="126" name="Google Shape;126;p18"/>
            <p:cNvSpPr/>
            <p:nvPr/>
          </p:nvSpPr>
          <p:spPr>
            <a:xfrm>
              <a:off x="0" y="0"/>
              <a:ext cx="3619500" cy="304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8"/>
            <p:cNvSpPr txBox="1"/>
            <p:nvPr/>
          </p:nvSpPr>
          <p:spPr>
            <a:xfrm>
              <a:off x="0" y="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THE FOUNDATION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3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Birth of </a:t>
              </a:r>
              <a:r>
                <a:rPr b="0" lang="en" sz="38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</a:t>
              </a:r>
              <a:endParaRPr b="0" sz="3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 fundamentally changed how programming was approached. It emerged from the critical need for a structured, efficient, and high-level language to replace assembly when creating system programs.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8" name="Google Shape;128;p18"/>
          <p:cNvGrpSpPr/>
          <p:nvPr/>
        </p:nvGrpSpPr>
        <p:grpSpPr>
          <a:xfrm>
            <a:off x="4762500" y="952500"/>
            <a:ext cx="3619500" cy="3333900"/>
            <a:chOff x="0" y="0"/>
            <a:chExt cx="3619500" cy="3333900"/>
          </a:xfrm>
        </p:grpSpPr>
        <p:sp>
          <p:nvSpPr>
            <p:cNvPr id="129" name="Google Shape;129;p18"/>
            <p:cNvSpPr/>
            <p:nvPr/>
          </p:nvSpPr>
          <p:spPr>
            <a:xfrm>
              <a:off x="0" y="0"/>
              <a:ext cx="3619500" cy="3333900"/>
            </a:xfrm>
            <a:prstGeom prst="roundRect">
              <a:avLst>
                <a:gd fmla="val 4571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480"/>
                    <a:pt x="2261" y="0"/>
                    <a:pt x="5053" y="0"/>
                  </a:cubicBezTo>
                  <a:lnTo>
                    <a:pt x="114947" y="0"/>
                  </a:lnTo>
                  <a:cubicBezTo>
                    <a:pt x="117739" y="0"/>
                    <a:pt x="120000" y="2148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95250" y="7620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266700" y="7620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438150" y="7620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4" name="Google Shape;134;p18"/>
            <p:cNvGrpSpPr/>
            <p:nvPr/>
          </p:nvGrpSpPr>
          <p:grpSpPr>
            <a:xfrm>
              <a:off x="0" y="381000"/>
              <a:ext cx="3619500" cy="2952900"/>
              <a:chOff x="0" y="0"/>
              <a:chExt cx="3619500" cy="2952900"/>
            </a:xfrm>
          </p:grpSpPr>
          <p:sp>
            <p:nvSpPr>
              <p:cNvPr id="135" name="Google Shape;135;p18"/>
              <p:cNvSpPr/>
              <p:nvPr/>
            </p:nvSpPr>
            <p:spPr>
              <a:xfrm>
                <a:off x="0" y="0"/>
                <a:ext cx="3619500" cy="295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8"/>
              <p:cNvSpPr txBox="1"/>
              <p:nvPr/>
            </p:nvSpPr>
            <p:spPr>
              <a:xfrm>
                <a:off x="0" y="0"/>
                <a:ext cx="3619500" cy="295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228600" spcFirstLastPara="1" rIns="22860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ASSEMBLY VS. C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Bridging the Hardware Gap</a:t>
                </a:r>
                <a:endParaRPr b="1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Assembly language communicates directly with computer hardware. C replaces complex low-level statements with cleaner, structured equivalents.</a:t>
                </a:r>
                <a:endParaRPr b="0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40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64748B"/>
                    </a:solidFill>
                    <a:highlight>
                      <a:srgbClr val="F8FAF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ASSEMBLY CODE</a:t>
                </a:r>
                <a:endParaRPr b="1" sz="850">
                  <a:solidFill>
                    <a:srgbClr val="64748B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F172A"/>
                    </a:solidFill>
                    <a:highlight>
                      <a:srgbClr val="F8FAF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add a, b, c</a:t>
                </a:r>
                <a:endParaRPr b="0" sz="11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2563EB"/>
                    </a:solidFill>
                    <a:highlight>
                      <a:srgbClr val="EEF2F6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C LANGUAGE Equivalent</a:t>
                </a:r>
                <a:endParaRPr b="1" sz="850">
                  <a:solidFill>
                    <a:srgbClr val="2563EB"/>
                  </a:solidFill>
                  <a:highlight>
                    <a:srgbClr val="EEF2F6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F172A"/>
                    </a:solidFill>
                    <a:highlight>
                      <a:srgbClr val="EEF2F6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a = b + c;</a:t>
                </a:r>
                <a:endParaRPr b="0" sz="1100">
                  <a:solidFill>
                    <a:srgbClr val="0F172A"/>
                  </a:solidFill>
                  <a:highlight>
                    <a:srgbClr val="EEF2F6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/>
        </p:nvSpPr>
        <p:spPr>
          <a:xfrm>
            <a:off x="762000" y="952500"/>
            <a:ext cx="36195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Language Design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" sz="3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Trade-offs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Prior to C, programmers had to choose between languages that optimized one set of traits over another, forcing critical compromises.</a:t>
            </a:r>
            <a:endParaRPr b="0"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➔</a:t>
            </a:r>
            <a:r>
              <a:rPr b="0" lang="en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Ease-of-use vs. Power</a:t>
            </a:r>
            <a:endParaRPr b="0" sz="11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➔</a:t>
            </a:r>
            <a:r>
              <a:rPr b="0" lang="en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Safety vs. Efficiency</a:t>
            </a:r>
            <a:endParaRPr b="0" sz="11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➔</a:t>
            </a:r>
            <a:r>
              <a:rPr b="0" lang="en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Rigidity vs. Extensibility</a:t>
            </a:r>
            <a:endParaRPr b="0" sz="11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42" name="Google Shape;142;p19"/>
          <p:cNvGrpSpPr/>
          <p:nvPr/>
        </p:nvGrpSpPr>
        <p:grpSpPr>
          <a:xfrm>
            <a:off x="4762500" y="952500"/>
            <a:ext cx="3619500" cy="3333900"/>
            <a:chOff x="0" y="0"/>
            <a:chExt cx="3619500" cy="3333900"/>
          </a:xfrm>
        </p:grpSpPr>
        <p:sp>
          <p:nvSpPr>
            <p:cNvPr id="143" name="Google Shape;143;p19"/>
            <p:cNvSpPr/>
            <p:nvPr/>
          </p:nvSpPr>
          <p:spPr>
            <a:xfrm>
              <a:off x="0" y="0"/>
              <a:ext cx="3619500" cy="3333900"/>
            </a:xfrm>
            <a:prstGeom prst="roundRect">
              <a:avLst>
                <a:gd fmla="val 4571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480"/>
                    <a:pt x="2261" y="0"/>
                    <a:pt x="5053" y="0"/>
                  </a:cubicBezTo>
                  <a:lnTo>
                    <a:pt x="114947" y="0"/>
                  </a:lnTo>
                  <a:cubicBezTo>
                    <a:pt x="117739" y="0"/>
                    <a:pt x="120000" y="2148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9"/>
            <p:cNvSpPr/>
            <p:nvPr/>
          </p:nvSpPr>
          <p:spPr>
            <a:xfrm>
              <a:off x="9525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9"/>
            <p:cNvSpPr/>
            <p:nvPr/>
          </p:nvSpPr>
          <p:spPr>
            <a:xfrm>
              <a:off x="26670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43815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9"/>
            <p:cNvSpPr txBox="1"/>
            <p:nvPr/>
          </p:nvSpPr>
          <p:spPr>
            <a:xfrm>
              <a:off x="0" y="381000"/>
              <a:ext cx="3619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28600" spcFirstLastPara="1" rIns="2286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Historical Limitations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FORTRAN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Efficient for scientific applications, but unsuitable for system-level code.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BASIC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Easy to learn, but lacks power and structured programming models.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Assembly Language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Highly efficient, but extremely difficult to learn, write, and debug.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/>
        </p:nvSpPr>
        <p:spPr>
          <a:xfrm>
            <a:off x="762000" y="952500"/>
            <a:ext cx="36195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Historical Challenges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" sz="3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Spaghetti Code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Early computer languages like BASIC, COBOL, and FORTRAN were not designed around structured principles, creating immense maintenance hurdles.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➔</a:t>
            </a:r>
            <a:r>
              <a:rPr b="0" lang="en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GOTO Reliance:</a:t>
            </a:r>
            <a:r>
              <a:rPr b="1"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Relied upon GOTO as a primary means of program control.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➔</a:t>
            </a:r>
            <a:r>
              <a:rPr b="0" lang="en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Tangled Logic:</a:t>
            </a:r>
            <a:r>
              <a:rPr b="1"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Produced tangled jumps that made code virtually impossible to understand.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4" name="Google Shape;154;p20"/>
          <p:cNvGrpSpPr/>
          <p:nvPr/>
        </p:nvGrpSpPr>
        <p:grpSpPr>
          <a:xfrm>
            <a:off x="4762500" y="952500"/>
            <a:ext cx="3619500" cy="3333900"/>
            <a:chOff x="0" y="0"/>
            <a:chExt cx="3619500" cy="3333900"/>
          </a:xfrm>
        </p:grpSpPr>
        <p:sp>
          <p:nvSpPr>
            <p:cNvPr id="155" name="Google Shape;155;p20"/>
            <p:cNvSpPr/>
            <p:nvPr/>
          </p:nvSpPr>
          <p:spPr>
            <a:xfrm>
              <a:off x="0" y="0"/>
              <a:ext cx="3619500" cy="3333900"/>
            </a:xfrm>
            <a:prstGeom prst="roundRect">
              <a:avLst>
                <a:gd fmla="val 4571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0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480"/>
                    <a:pt x="2261" y="0"/>
                    <a:pt x="5053" y="0"/>
                  </a:cubicBezTo>
                  <a:lnTo>
                    <a:pt x="114947" y="0"/>
                  </a:lnTo>
                  <a:cubicBezTo>
                    <a:pt x="117739" y="0"/>
                    <a:pt x="120000" y="2148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0"/>
            <p:cNvSpPr/>
            <p:nvPr/>
          </p:nvSpPr>
          <p:spPr>
            <a:xfrm>
              <a:off x="9525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0"/>
            <p:cNvSpPr/>
            <p:nvPr/>
          </p:nvSpPr>
          <p:spPr>
            <a:xfrm>
              <a:off x="26670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0"/>
            <p:cNvSpPr/>
            <p:nvPr/>
          </p:nvSpPr>
          <p:spPr>
            <a:xfrm>
              <a:off x="43815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0"/>
            <p:cNvSpPr txBox="1"/>
            <p:nvPr/>
          </p:nvSpPr>
          <p:spPr>
            <a:xfrm>
              <a:off x="0" y="381000"/>
              <a:ext cx="3619500" cy="295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228600" spcFirstLastPara="1" rIns="2286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The Pascal Limitation</a:t>
              </a:r>
              <a:endParaRPr b="1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Structured but Inefficient</a:t>
              </a:r>
              <a:endParaRPr b="1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While Pascal adopted structured programming models, it was severely limited by performance constraints and lack of language features.</a:t>
              </a:r>
              <a:endParaRPr b="1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Efficiency Issues</a:t>
              </a:r>
              <a:endParaRPr b="1" sz="8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Failed to include crucial features necessary to make it applicable to a wide range of programs.</a:t>
              </a:r>
              <a:endParaRPr b="1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System-Level Barrier</a:t>
              </a:r>
              <a:endParaRPr b="1" sz="8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Given standard dialects at the time, it was impractical to use Pascal for writing operating systems or system-level code.</a:t>
              </a:r>
              <a:endParaRPr b="1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21"/>
          <p:cNvGrpSpPr/>
          <p:nvPr/>
        </p:nvGrpSpPr>
        <p:grpSpPr>
          <a:xfrm>
            <a:off x="762000" y="952500"/>
            <a:ext cx="3619500" cy="3238500"/>
            <a:chOff x="0" y="0"/>
            <a:chExt cx="3619500" cy="3238500"/>
          </a:xfrm>
        </p:grpSpPr>
        <p:sp>
          <p:nvSpPr>
            <p:cNvPr id="166" name="Google Shape;166;p21"/>
            <p:cNvSpPr/>
            <p:nvPr/>
          </p:nvSpPr>
          <p:spPr>
            <a:xfrm>
              <a:off x="0" y="0"/>
              <a:ext cx="36195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1"/>
            <p:cNvSpPr txBox="1"/>
            <p:nvPr/>
          </p:nvSpPr>
          <p:spPr>
            <a:xfrm>
              <a:off x="0" y="0"/>
              <a:ext cx="3619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Historical Context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3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 Pressing Need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By the 1970s, the computer revolution was at its peak. Software demand rapidly outpaced programmers' ability to produce it.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80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Unreconciled Traits:</a:t>
              </a: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No single language had successfully combined efficiency, power, and structure.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8" name="Google Shape;168;p21"/>
          <p:cNvGrpSpPr/>
          <p:nvPr/>
        </p:nvGrpSpPr>
        <p:grpSpPr>
          <a:xfrm>
            <a:off x="4762500" y="952500"/>
            <a:ext cx="3619500" cy="3333900"/>
            <a:chOff x="0" y="0"/>
            <a:chExt cx="3619500" cy="3333900"/>
          </a:xfrm>
        </p:grpSpPr>
        <p:sp>
          <p:nvSpPr>
            <p:cNvPr id="169" name="Google Shape;169;p21"/>
            <p:cNvSpPr/>
            <p:nvPr/>
          </p:nvSpPr>
          <p:spPr>
            <a:xfrm>
              <a:off x="0" y="0"/>
              <a:ext cx="3619500" cy="3333900"/>
            </a:xfrm>
            <a:prstGeom prst="roundRect">
              <a:avLst>
                <a:gd fmla="val 457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1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480"/>
                    <a:pt x="2261" y="0"/>
                    <a:pt x="5053" y="0"/>
                  </a:cubicBezTo>
                  <a:lnTo>
                    <a:pt x="114947" y="0"/>
                  </a:lnTo>
                  <a:cubicBezTo>
                    <a:pt x="117739" y="0"/>
                    <a:pt x="120000" y="2148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1"/>
            <p:cNvSpPr/>
            <p:nvPr/>
          </p:nvSpPr>
          <p:spPr>
            <a:xfrm>
              <a:off x="9525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1"/>
            <p:cNvSpPr/>
            <p:nvPr/>
          </p:nvSpPr>
          <p:spPr>
            <a:xfrm>
              <a:off x="26670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1"/>
            <p:cNvSpPr/>
            <p:nvPr/>
          </p:nvSpPr>
          <p:spPr>
            <a:xfrm>
              <a:off x="43815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4" name="Google Shape;174;p21"/>
            <p:cNvGrpSpPr/>
            <p:nvPr/>
          </p:nvGrpSpPr>
          <p:grpSpPr>
            <a:xfrm>
              <a:off x="0" y="381000"/>
              <a:ext cx="3619500" cy="2952900"/>
              <a:chOff x="0" y="0"/>
              <a:chExt cx="3619500" cy="2952900"/>
            </a:xfrm>
          </p:grpSpPr>
          <p:sp>
            <p:nvSpPr>
              <p:cNvPr id="175" name="Google Shape;175;p21"/>
              <p:cNvSpPr/>
              <p:nvPr/>
            </p:nvSpPr>
            <p:spPr>
              <a:xfrm>
                <a:off x="0" y="0"/>
                <a:ext cx="3619500" cy="295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21"/>
              <p:cNvSpPr txBox="1"/>
              <p:nvPr/>
            </p:nvSpPr>
            <p:spPr>
              <a:xfrm>
                <a:off x="0" y="0"/>
                <a:ext cx="3619500" cy="295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228600" spcFirstLastPara="1" rIns="22860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Language Evolution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The Lineage of C</a:t>
                </a:r>
                <a:endParaRPr b="1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4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BCPL Language</a:t>
                </a:r>
                <a:endParaRPr b="1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Created by Martin Richards, starting the development process of system languages.</a:t>
                </a:r>
                <a:endParaRPr b="1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B Language</a:t>
                </a:r>
                <a:endParaRPr b="1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Invented by Ken Thompson, directly influenced by BCPL and leading to C in the 1970s.</a:t>
                </a:r>
                <a:endParaRPr b="1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C Language &amp; Unix</a:t>
                </a:r>
                <a:endParaRPr b="1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First implemented by </a:t>
                </a:r>
                <a:r>
                  <a:rPr b="1" lang="en" sz="10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Dennis Ritchie</a:t>
                </a: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on Unix, combining efficiency with high-level power.</a:t>
                </a:r>
                <a:endParaRPr b="1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22"/>
          <p:cNvGrpSpPr/>
          <p:nvPr/>
        </p:nvGrpSpPr>
        <p:grpSpPr>
          <a:xfrm>
            <a:off x="762000" y="952500"/>
            <a:ext cx="3619500" cy="3238500"/>
            <a:chOff x="0" y="0"/>
            <a:chExt cx="3619500" cy="3238500"/>
          </a:xfrm>
        </p:grpSpPr>
        <p:sp>
          <p:nvSpPr>
            <p:cNvPr id="182" name="Google Shape;182;p22"/>
            <p:cNvSpPr/>
            <p:nvPr/>
          </p:nvSpPr>
          <p:spPr>
            <a:xfrm>
              <a:off x="0" y="0"/>
              <a:ext cx="36195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2"/>
            <p:cNvSpPr txBox="1"/>
            <p:nvPr/>
          </p:nvSpPr>
          <p:spPr>
            <a:xfrm>
              <a:off x="0" y="0"/>
              <a:ext cx="3619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Language Philosophy</a:t>
              </a:r>
              <a:endParaRPr b="1" i="0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i="0" lang="en" sz="3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 Programmer's Language</a:t>
              </a:r>
              <a:endParaRPr b="1" i="0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i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 marked the beginning of the modern age of computer languages, successfully synthesizing conflicting attributes into a powerful, efficient, and structured tool.</a:t>
              </a:r>
              <a:endParaRPr b="1" i="0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i="0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UNIX Standard:</a:t>
              </a:r>
              <a:r>
                <a:rPr b="1" i="0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For years, the de facto standard was UNIX-supplied.</a:t>
              </a:r>
              <a:endParaRPr b="1" i="0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b="0" i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i="0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ANSI Adoption:</a:t>
              </a:r>
              <a:r>
                <a:rPr b="1" i="0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Formally standardized in December 1989.</a:t>
              </a:r>
              <a:endParaRPr b="1" i="0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4" name="Google Shape;184;p22"/>
          <p:cNvGrpSpPr/>
          <p:nvPr/>
        </p:nvGrpSpPr>
        <p:grpSpPr>
          <a:xfrm>
            <a:off x="4762500" y="952500"/>
            <a:ext cx="3619500" cy="3333900"/>
            <a:chOff x="0" y="0"/>
            <a:chExt cx="3619500" cy="3333900"/>
          </a:xfrm>
        </p:grpSpPr>
        <p:sp>
          <p:nvSpPr>
            <p:cNvPr id="185" name="Google Shape;185;p22"/>
            <p:cNvSpPr/>
            <p:nvPr/>
          </p:nvSpPr>
          <p:spPr>
            <a:xfrm>
              <a:off x="0" y="0"/>
              <a:ext cx="3619500" cy="3333900"/>
            </a:xfrm>
            <a:prstGeom prst="roundRect">
              <a:avLst>
                <a:gd fmla="val 4569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2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480"/>
                    <a:pt x="2261" y="0"/>
                    <a:pt x="5053" y="0"/>
                  </a:cubicBezTo>
                  <a:lnTo>
                    <a:pt x="114947" y="0"/>
                  </a:lnTo>
                  <a:cubicBezTo>
                    <a:pt x="117739" y="0"/>
                    <a:pt x="120000" y="2148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2"/>
            <p:cNvSpPr/>
            <p:nvPr/>
          </p:nvSpPr>
          <p:spPr>
            <a:xfrm>
              <a:off x="9525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26670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2"/>
            <p:cNvSpPr/>
            <p:nvPr/>
          </p:nvSpPr>
          <p:spPr>
            <a:xfrm>
              <a:off x="43815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0" name="Google Shape;190;p22"/>
            <p:cNvGrpSpPr/>
            <p:nvPr/>
          </p:nvGrpSpPr>
          <p:grpSpPr>
            <a:xfrm>
              <a:off x="0" y="381000"/>
              <a:ext cx="3619500" cy="2952900"/>
              <a:chOff x="0" y="0"/>
              <a:chExt cx="3619500" cy="2952900"/>
            </a:xfrm>
          </p:grpSpPr>
          <p:sp>
            <p:nvSpPr>
              <p:cNvPr id="191" name="Google Shape;191;p22"/>
              <p:cNvSpPr/>
              <p:nvPr/>
            </p:nvSpPr>
            <p:spPr>
              <a:xfrm>
                <a:off x="0" y="0"/>
                <a:ext cx="3619500" cy="295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22"/>
              <p:cNvSpPr txBox="1"/>
              <p:nvPr/>
            </p:nvSpPr>
            <p:spPr>
              <a:xfrm>
                <a:off x="0" y="0"/>
                <a:ext cx="3619500" cy="295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228600" spcFirstLastPara="1" rIns="22860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9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The Design Legacy</a:t>
                </a:r>
                <a:endParaRPr b="1" i="0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i="0" lang="en" sz="14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Built for Working Developers</a:t>
                </a:r>
                <a:endParaRPr b="1" i="0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i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Unlike earlier languages designed as academic exercises or by bureaucratic committees, C was built, implemented, and developed by real, working programmers.</a:t>
                </a:r>
                <a:endParaRPr b="1" i="0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Honed by Real Use</a:t>
                </a:r>
                <a:endParaRPr b="1" i="0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i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Its features were honed, tested, and constantly rethought by the actual people who used the language to solve real-world problems.</a:t>
                </a:r>
                <a:endParaRPr b="1" i="0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Java's Heritage</a:t>
                </a:r>
                <a:endParaRPr b="1" i="0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i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 is truly a language designed by and for programmers. Java directly inherited this legacy.</a:t>
                </a:r>
                <a:endParaRPr b="1" i="0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23"/>
          <p:cNvGrpSpPr/>
          <p:nvPr/>
        </p:nvGrpSpPr>
        <p:grpSpPr>
          <a:xfrm>
            <a:off x="762000" y="952500"/>
            <a:ext cx="3619500" cy="3238500"/>
            <a:chOff x="0" y="0"/>
            <a:chExt cx="3619500" cy="3238500"/>
          </a:xfrm>
        </p:grpSpPr>
        <p:sp>
          <p:nvSpPr>
            <p:cNvPr id="198" name="Google Shape;198;p23"/>
            <p:cNvSpPr/>
            <p:nvPr/>
          </p:nvSpPr>
          <p:spPr>
            <a:xfrm>
              <a:off x="0" y="0"/>
              <a:ext cx="36195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3"/>
            <p:cNvSpPr txBox="1"/>
            <p:nvPr/>
          </p:nvSpPr>
          <p:spPr>
            <a:xfrm>
              <a:off x="0" y="0"/>
              <a:ext cx="3619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Language Evolution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3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C++: The Next Step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Throughout computing history, rising program complexity has driven the need for better management. C++ emerged as a direct response to this challenge.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Structured Roots:</a:t>
              </a: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Building on C's 1960s legacy to push past the limits of structured programming.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0" name="Google Shape;200;p23"/>
          <p:cNvGrpSpPr/>
          <p:nvPr/>
        </p:nvGrpSpPr>
        <p:grpSpPr>
          <a:xfrm>
            <a:off x="4762500" y="904875"/>
            <a:ext cx="3619500" cy="3429000"/>
            <a:chOff x="0" y="0"/>
            <a:chExt cx="3619500" cy="3429000"/>
          </a:xfrm>
        </p:grpSpPr>
        <p:sp>
          <p:nvSpPr>
            <p:cNvPr id="201" name="Google Shape;201;p23"/>
            <p:cNvSpPr/>
            <p:nvPr/>
          </p:nvSpPr>
          <p:spPr>
            <a:xfrm>
              <a:off x="0" y="0"/>
              <a:ext cx="36195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3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480"/>
                    <a:pt x="2261" y="0"/>
                    <a:pt x="5053" y="0"/>
                  </a:cubicBezTo>
                  <a:lnTo>
                    <a:pt x="114947" y="0"/>
                  </a:lnTo>
                  <a:cubicBezTo>
                    <a:pt x="117739" y="0"/>
                    <a:pt x="120000" y="2148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3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3"/>
            <p:cNvSpPr/>
            <p:nvPr/>
          </p:nvSpPr>
          <p:spPr>
            <a:xfrm>
              <a:off x="30480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3"/>
            <p:cNvSpPr/>
            <p:nvPr/>
          </p:nvSpPr>
          <p:spPr>
            <a:xfrm>
              <a:off x="47625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3"/>
            <p:cNvSpPr txBox="1"/>
            <p:nvPr/>
          </p:nvSpPr>
          <p:spPr>
            <a:xfrm>
              <a:off x="228600" y="533400"/>
              <a:ext cx="3162300" cy="27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Milestones</a:t>
              </a:r>
              <a:endParaRPr b="1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Handling Complexity</a:t>
              </a:r>
              <a:endParaRPr b="1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 Binary Toggling</a:t>
              </a:r>
              <a:endParaRPr b="1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Manual input of binary machine instructions. Only viable for very small programs.</a:t>
              </a:r>
              <a:endParaRPr b="1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2. Assembly Language</a:t>
              </a:r>
              <a:endParaRPr b="1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Introduced symbolic representations, helping programmers manage growing applications.</a:t>
              </a:r>
              <a:endParaRPr b="1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3. High-Level Structured Code</a:t>
              </a:r>
              <a:endParaRPr b="1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FORTRAN and C introduced advanced tools and structured paradigms to handle complex logic.</a:t>
              </a:r>
              <a:endParaRPr b="1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24"/>
          <p:cNvGrpSpPr/>
          <p:nvPr/>
        </p:nvGrpSpPr>
        <p:grpSpPr>
          <a:xfrm>
            <a:off x="762000" y="952500"/>
            <a:ext cx="3619500" cy="3238500"/>
            <a:chOff x="0" y="0"/>
            <a:chExt cx="3619500" cy="3238500"/>
          </a:xfrm>
        </p:grpSpPr>
        <p:sp>
          <p:nvSpPr>
            <p:cNvPr id="212" name="Google Shape;212;p24"/>
            <p:cNvSpPr/>
            <p:nvPr/>
          </p:nvSpPr>
          <p:spPr>
            <a:xfrm>
              <a:off x="0" y="0"/>
              <a:ext cx="36195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4"/>
            <p:cNvSpPr txBox="1"/>
            <p:nvPr/>
          </p:nvSpPr>
          <p:spPr>
            <a:xfrm>
              <a:off x="0" y="0"/>
              <a:ext cx="3619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Language Evolution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3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Breaking Limits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C++ added features that enabled the complexity threshold to be broken, allowing programmers to comprehend and manage much larger systems.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 Foundation:</a:t>
              </a: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Built on C, retaining all of its original features, attributes, and structural benefits.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An Enhancement:</a:t>
              </a: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Not an attempt to create a completely new language, but to enhance a highly successful one.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4" name="Google Shape;214;p24"/>
          <p:cNvGrpSpPr/>
          <p:nvPr/>
        </p:nvGrpSpPr>
        <p:grpSpPr>
          <a:xfrm>
            <a:off x="4762500" y="904875"/>
            <a:ext cx="3619500" cy="3429000"/>
            <a:chOff x="0" y="0"/>
            <a:chExt cx="3619500" cy="3429000"/>
          </a:xfrm>
        </p:grpSpPr>
        <p:sp>
          <p:nvSpPr>
            <p:cNvPr id="215" name="Google Shape;215;p24"/>
            <p:cNvSpPr/>
            <p:nvPr/>
          </p:nvSpPr>
          <p:spPr>
            <a:xfrm>
              <a:off x="0" y="0"/>
              <a:ext cx="36195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4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480"/>
                    <a:pt x="2261" y="0"/>
                    <a:pt x="5053" y="0"/>
                  </a:cubicBezTo>
                  <a:lnTo>
                    <a:pt x="114947" y="0"/>
                  </a:lnTo>
                  <a:cubicBezTo>
                    <a:pt x="117739" y="0"/>
                    <a:pt x="120000" y="2148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4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>
              <a:off x="30480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47625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0" name="Google Shape;220;p24"/>
            <p:cNvGrpSpPr/>
            <p:nvPr/>
          </p:nvGrpSpPr>
          <p:grpSpPr>
            <a:xfrm>
              <a:off x="228600" y="533400"/>
              <a:ext cx="3162300" cy="2743200"/>
              <a:chOff x="0" y="0"/>
              <a:chExt cx="3162300" cy="2743200"/>
            </a:xfrm>
          </p:grpSpPr>
          <p:sp>
            <p:nvSpPr>
              <p:cNvPr id="221" name="Google Shape;221;p24"/>
              <p:cNvSpPr/>
              <p:nvPr/>
            </p:nvSpPr>
            <p:spPr>
              <a:xfrm>
                <a:off x="0" y="0"/>
                <a:ext cx="3162300" cy="2743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24"/>
              <p:cNvSpPr txBox="1"/>
              <p:nvPr/>
            </p:nvSpPr>
            <p:spPr>
              <a:xfrm>
                <a:off x="0" y="0"/>
                <a:ext cx="3162300" cy="274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Milestones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The Birth of C++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1. Bjarne Stroustrup (1979)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Invented while working at Bell Laboratories in Murray Hill, New Jersey.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2. "C with Classes"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The original name given to the language during its early development stage.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3. Official Shift (1983)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The name was formally changed to C++, bringing object-oriented programming to the main stage.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5"/>
          <p:cNvGrpSpPr/>
          <p:nvPr/>
        </p:nvGrpSpPr>
        <p:grpSpPr>
          <a:xfrm>
            <a:off x="762000" y="952500"/>
            <a:ext cx="3619500" cy="3238500"/>
            <a:chOff x="0" y="0"/>
            <a:chExt cx="3619500" cy="3238500"/>
          </a:xfrm>
        </p:grpSpPr>
        <p:sp>
          <p:nvSpPr>
            <p:cNvPr id="228" name="Google Shape;228;p25"/>
            <p:cNvSpPr/>
            <p:nvPr/>
          </p:nvSpPr>
          <p:spPr>
            <a:xfrm>
              <a:off x="0" y="0"/>
              <a:ext cx="36195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5"/>
            <p:cNvSpPr txBox="1"/>
            <p:nvPr/>
          </p:nvSpPr>
          <p:spPr>
            <a:xfrm>
              <a:off x="0" y="0"/>
              <a:ext cx="3619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Language Evolution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3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Limits of Complexity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While structured languages enabled programmers to write moderately complex programs, software eventually reaches a threshold where its size exceeds what can be managed.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OOP Solution:</a:t>
              </a: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new programming methodology invented in the early 1980s to organize complex code.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0" name="Google Shape;230;p25"/>
          <p:cNvGrpSpPr/>
          <p:nvPr/>
        </p:nvGrpSpPr>
        <p:grpSpPr>
          <a:xfrm>
            <a:off x="4762500" y="904875"/>
            <a:ext cx="3619500" cy="3429000"/>
            <a:chOff x="0" y="0"/>
            <a:chExt cx="3619500" cy="3429000"/>
          </a:xfrm>
        </p:grpSpPr>
        <p:sp>
          <p:nvSpPr>
            <p:cNvPr id="231" name="Google Shape;231;p25"/>
            <p:cNvSpPr/>
            <p:nvPr/>
          </p:nvSpPr>
          <p:spPr>
            <a:xfrm>
              <a:off x="0" y="0"/>
              <a:ext cx="36195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5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480"/>
                    <a:pt x="2261" y="0"/>
                    <a:pt x="5053" y="0"/>
                  </a:cubicBezTo>
                  <a:lnTo>
                    <a:pt x="114947" y="0"/>
                  </a:lnTo>
                  <a:cubicBezTo>
                    <a:pt x="117739" y="0"/>
                    <a:pt x="120000" y="2148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6" name="Google Shape;236;p25"/>
            <p:cNvGrpSpPr/>
            <p:nvPr/>
          </p:nvGrpSpPr>
          <p:grpSpPr>
            <a:xfrm>
              <a:off x="228600" y="533400"/>
              <a:ext cx="3162300" cy="2743200"/>
              <a:chOff x="0" y="0"/>
              <a:chExt cx="3162300" cy="2743200"/>
            </a:xfrm>
          </p:grpSpPr>
          <p:sp>
            <p:nvSpPr>
              <p:cNvPr id="237" name="Google Shape;237;p25"/>
              <p:cNvSpPr/>
              <p:nvPr/>
            </p:nvSpPr>
            <p:spPr>
              <a:xfrm>
                <a:off x="0" y="0"/>
                <a:ext cx="3162300" cy="2743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25"/>
              <p:cNvSpPr txBox="1"/>
              <p:nvPr/>
            </p:nvSpPr>
            <p:spPr>
              <a:xfrm>
                <a:off x="0" y="0"/>
                <a:ext cx="3162300" cy="274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Milestones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Organizing Complex Programs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1. Inheritance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Allows code reuse and hierarchical classification, streamlining system development.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2. Encapsulation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Binds code and data together to keep them safe from outside interference.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3. Polymorphism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Enables a single interface to control access to a general class of actions.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26"/>
          <p:cNvGrpSpPr/>
          <p:nvPr/>
        </p:nvGrpSpPr>
        <p:grpSpPr>
          <a:xfrm>
            <a:off x="762000" y="857250"/>
            <a:ext cx="3619500" cy="3429000"/>
            <a:chOff x="0" y="0"/>
            <a:chExt cx="3619500" cy="3429000"/>
          </a:xfrm>
        </p:grpSpPr>
        <p:sp>
          <p:nvSpPr>
            <p:cNvPr id="244" name="Google Shape;244;p26"/>
            <p:cNvSpPr/>
            <p:nvPr/>
          </p:nvSpPr>
          <p:spPr>
            <a:xfrm>
              <a:off x="0" y="0"/>
              <a:ext cx="36195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6"/>
            <p:cNvSpPr txBox="1"/>
            <p:nvPr/>
          </p:nvSpPr>
          <p:spPr>
            <a:xfrm>
              <a:off x="0" y="0"/>
              <a:ext cx="3619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Language Origin</a:t>
              </a:r>
              <a:endParaRPr b="1" i="0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" sz="3145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Genesis of Java</a:t>
              </a:r>
              <a:endParaRPr b="1" i="0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i="0" lang="en" sz="120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Conceived in 1991 at Sun Microsystems, Java arose not from the Internet, but from a need for architecture-neutral software for consumer devices.</a:t>
              </a:r>
              <a:endParaRPr b="1" i="0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i="0" lang="en" sz="1018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i="0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" sz="101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Core Problem:</a:t>
              </a:r>
              <a:r>
                <a:rPr b="1" i="0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C/C++ programs require expensive, time-consuming compiler targets for every specific CPU.</a:t>
              </a:r>
              <a:endParaRPr b="1" i="0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i="0" lang="en" sz="1018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i="0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" sz="101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Platform-Independent:</a:t>
              </a:r>
              <a:r>
                <a:rPr b="1" i="0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An easier, cost-efficient solution was needed to support diverse embedded electronic systems.</a:t>
              </a:r>
              <a:endParaRPr b="1" i="0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4762500" y="857250"/>
            <a:ext cx="3619500" cy="3524400"/>
            <a:chOff x="0" y="0"/>
            <a:chExt cx="3619500" cy="3524400"/>
          </a:xfrm>
        </p:grpSpPr>
        <p:sp>
          <p:nvSpPr>
            <p:cNvPr id="247" name="Google Shape;247;p26"/>
            <p:cNvSpPr/>
            <p:nvPr/>
          </p:nvSpPr>
          <p:spPr>
            <a:xfrm>
              <a:off x="0" y="0"/>
              <a:ext cx="3619500" cy="35244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480"/>
                    <a:pt x="2261" y="0"/>
                    <a:pt x="5053" y="0"/>
                  </a:cubicBezTo>
                  <a:lnTo>
                    <a:pt x="114947" y="0"/>
                  </a:lnTo>
                  <a:cubicBezTo>
                    <a:pt x="117739" y="0"/>
                    <a:pt x="120000" y="2148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30480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47625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2" name="Google Shape;252;p26"/>
            <p:cNvGrpSpPr/>
            <p:nvPr/>
          </p:nvGrpSpPr>
          <p:grpSpPr>
            <a:xfrm>
              <a:off x="228600" y="533400"/>
              <a:ext cx="3162300" cy="2838600"/>
              <a:chOff x="0" y="0"/>
              <a:chExt cx="3162300" cy="2838600"/>
            </a:xfrm>
          </p:grpSpPr>
          <p:sp>
            <p:nvSpPr>
              <p:cNvPr id="253" name="Google Shape;253;p26"/>
              <p:cNvSpPr/>
              <p:nvPr/>
            </p:nvSpPr>
            <p:spPr>
              <a:xfrm>
                <a:off x="0" y="0"/>
                <a:ext cx="3162300" cy="283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26"/>
              <p:cNvSpPr txBox="1"/>
              <p:nvPr/>
            </p:nvSpPr>
            <p:spPr>
              <a:xfrm>
                <a:off x="0" y="0"/>
                <a:ext cx="3162300" cy="283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95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Milestones</a:t>
                </a:r>
                <a:endParaRPr b="1" i="0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i="0" lang="en" sz="14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Evolutionary Timeline</a:t>
                </a:r>
                <a:endParaRPr b="1" i="0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1. Conception (1991)</a:t>
                </a:r>
                <a:endParaRPr b="1" i="0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i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Conceived by James Gosling and team at Sun Microsystems. Development took 18 months.</a:t>
                </a:r>
                <a:endParaRPr b="1" i="0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2. Initially "Oak"</a:t>
                </a:r>
                <a:endParaRPr b="1" i="0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i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The language was originally named Oak, but later renamed to Java in 1995.</a:t>
                </a:r>
                <a:endParaRPr b="1" i="0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3. Consumer Devices &amp; Beyond</a:t>
                </a:r>
                <a:endParaRPr b="1" i="0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i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Initially designed to run embedded software within target electronic systems like microwave ovens.</a:t>
                </a:r>
                <a:endParaRPr b="1" i="0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27"/>
          <p:cNvGrpSpPr/>
          <p:nvPr/>
        </p:nvGrpSpPr>
        <p:grpSpPr>
          <a:xfrm>
            <a:off x="762000" y="857250"/>
            <a:ext cx="3619500" cy="3429000"/>
            <a:chOff x="0" y="0"/>
            <a:chExt cx="3619500" cy="3429000"/>
          </a:xfrm>
        </p:grpSpPr>
        <p:sp>
          <p:nvSpPr>
            <p:cNvPr id="260" name="Google Shape;260;p27"/>
            <p:cNvSpPr/>
            <p:nvPr/>
          </p:nvSpPr>
          <p:spPr>
            <a:xfrm>
              <a:off x="0" y="0"/>
              <a:ext cx="36195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7"/>
            <p:cNvSpPr txBox="1"/>
            <p:nvPr/>
          </p:nvSpPr>
          <p:spPr>
            <a:xfrm>
              <a:off x="0" y="0"/>
              <a:ext cx="36195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Language Catalyst</a:t>
              </a:r>
              <a:endParaRPr b="1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3145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Web Synergy</a:t>
              </a:r>
              <a:endParaRPr b="1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James Gosling and his team designed a portable, platform-independent language to run code across differing environments.</a:t>
              </a:r>
              <a:endParaRPr b="1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01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Consumer Phase:</a:t>
              </a:r>
              <a:r>
                <a:rPr b="1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Without the Web, Java may have remained an obscure consumer electronics language.</a:t>
              </a:r>
              <a:endParaRPr b="1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450"/>
                </a:spcAft>
                <a:buNone/>
              </a:pPr>
              <a:r>
                <a:rPr b="0" lang="en" sz="1018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01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Internet Boom:</a:t>
              </a:r>
              <a:r>
                <a:rPr b="1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rapid rise of the World Wide Web perfectly matched Java's unique portable nature.</a:t>
              </a:r>
              <a:endParaRPr b="1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2" name="Google Shape;262;p27"/>
          <p:cNvGrpSpPr/>
          <p:nvPr/>
        </p:nvGrpSpPr>
        <p:grpSpPr>
          <a:xfrm>
            <a:off x="4762500" y="857250"/>
            <a:ext cx="3619500" cy="3524400"/>
            <a:chOff x="0" y="0"/>
            <a:chExt cx="3619500" cy="3524400"/>
          </a:xfrm>
        </p:grpSpPr>
        <p:sp>
          <p:nvSpPr>
            <p:cNvPr id="263" name="Google Shape;263;p27"/>
            <p:cNvSpPr/>
            <p:nvPr/>
          </p:nvSpPr>
          <p:spPr>
            <a:xfrm>
              <a:off x="0" y="0"/>
              <a:ext cx="3619500" cy="35244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480"/>
                    <a:pt x="2261" y="0"/>
                    <a:pt x="5053" y="0"/>
                  </a:cubicBezTo>
                  <a:lnTo>
                    <a:pt x="114947" y="0"/>
                  </a:lnTo>
                  <a:cubicBezTo>
                    <a:pt x="117739" y="0"/>
                    <a:pt x="120000" y="2148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7"/>
            <p:cNvSpPr/>
            <p:nvPr/>
          </p:nvSpPr>
          <p:spPr>
            <a:xfrm>
              <a:off x="30480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7"/>
            <p:cNvSpPr/>
            <p:nvPr/>
          </p:nvSpPr>
          <p:spPr>
            <a:xfrm>
              <a:off x="47625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8" name="Google Shape;268;p27"/>
            <p:cNvGrpSpPr/>
            <p:nvPr/>
          </p:nvGrpSpPr>
          <p:grpSpPr>
            <a:xfrm>
              <a:off x="228600" y="533400"/>
              <a:ext cx="3162300" cy="2838600"/>
              <a:chOff x="0" y="0"/>
              <a:chExt cx="3162300" cy="2838600"/>
            </a:xfrm>
          </p:grpSpPr>
          <p:sp>
            <p:nvSpPr>
              <p:cNvPr id="269" name="Google Shape;269;p27"/>
              <p:cNvSpPr/>
              <p:nvPr/>
            </p:nvSpPr>
            <p:spPr>
              <a:xfrm>
                <a:off x="0" y="0"/>
                <a:ext cx="3162300" cy="283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7"/>
              <p:cNvSpPr txBox="1"/>
              <p:nvPr/>
            </p:nvSpPr>
            <p:spPr>
              <a:xfrm>
                <a:off x="0" y="0"/>
                <a:ext cx="3162300" cy="283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Milestones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Propelled to the Forefront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1. Portable Foundations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13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Engineered to yield platform-independent code capable of running across highly diverse CPU architectures.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75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2. The Web Emerges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13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The World Wide Web took shape simultaneously as the language was being actively implemented by its creators.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75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3. Forefront of Design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13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The massive digital push for portable applications propelled Java straight into internet programming dominance.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28"/>
          <p:cNvGrpSpPr/>
          <p:nvPr/>
        </p:nvGrpSpPr>
        <p:grpSpPr>
          <a:xfrm>
            <a:off x="762000" y="857250"/>
            <a:ext cx="3619500" cy="3429000"/>
            <a:chOff x="0" y="0"/>
            <a:chExt cx="3619500" cy="3429000"/>
          </a:xfrm>
        </p:grpSpPr>
        <p:sp>
          <p:nvSpPr>
            <p:cNvPr id="276" name="Google Shape;276;p28"/>
            <p:cNvSpPr/>
            <p:nvPr/>
          </p:nvSpPr>
          <p:spPr>
            <a:xfrm>
              <a:off x="0" y="0"/>
              <a:ext cx="36195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8"/>
            <p:cNvSpPr txBox="1"/>
            <p:nvPr/>
          </p:nvSpPr>
          <p:spPr>
            <a:xfrm>
              <a:off x="0" y="0"/>
              <a:ext cx="36195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Language Pivot</a:t>
              </a:r>
              <a:endParaRPr b="1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3145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Internet Shift</a:t>
              </a:r>
              <a:endParaRPr b="1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By 1993, the Java team realized that the same portability challenges faced in embedded controllers were exactly what the emerging Internet needed to solve.</a:t>
              </a:r>
              <a:endParaRPr b="1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01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Embedded Link:</a:t>
              </a:r>
              <a:r>
                <a:rPr b="1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Portability issues in controller code mirrored the programming demands of the early Web.</a:t>
              </a:r>
              <a:endParaRPr b="1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1018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01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Great Pivot:</a:t>
              </a:r>
              <a:r>
                <a:rPr b="1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This profound realization shifted Java's focus entirely from consumer devices to Internet programming.</a:t>
              </a:r>
              <a:endParaRPr b="1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8" name="Google Shape;278;p28"/>
          <p:cNvGrpSpPr/>
          <p:nvPr/>
        </p:nvGrpSpPr>
        <p:grpSpPr>
          <a:xfrm>
            <a:off x="4762500" y="857250"/>
            <a:ext cx="3619500" cy="3524400"/>
            <a:chOff x="0" y="0"/>
            <a:chExt cx="3619500" cy="3524400"/>
          </a:xfrm>
        </p:grpSpPr>
        <p:sp>
          <p:nvSpPr>
            <p:cNvPr id="279" name="Google Shape;279;p28"/>
            <p:cNvSpPr/>
            <p:nvPr/>
          </p:nvSpPr>
          <p:spPr>
            <a:xfrm>
              <a:off x="0" y="0"/>
              <a:ext cx="3619500" cy="35244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8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480"/>
                    <a:pt x="2261" y="0"/>
                    <a:pt x="5053" y="0"/>
                  </a:cubicBezTo>
                  <a:lnTo>
                    <a:pt x="114947" y="0"/>
                  </a:lnTo>
                  <a:cubicBezTo>
                    <a:pt x="117739" y="0"/>
                    <a:pt x="120000" y="2148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8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30480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8"/>
            <p:cNvSpPr/>
            <p:nvPr/>
          </p:nvSpPr>
          <p:spPr>
            <a:xfrm>
              <a:off x="47625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4" name="Google Shape;284;p28"/>
            <p:cNvGrpSpPr/>
            <p:nvPr/>
          </p:nvGrpSpPr>
          <p:grpSpPr>
            <a:xfrm>
              <a:off x="228600" y="533400"/>
              <a:ext cx="3162300" cy="2838600"/>
              <a:chOff x="0" y="0"/>
              <a:chExt cx="3162300" cy="2838600"/>
            </a:xfrm>
          </p:grpSpPr>
          <p:sp>
            <p:nvSpPr>
              <p:cNvPr id="285" name="Google Shape;285;p28"/>
              <p:cNvSpPr/>
              <p:nvPr/>
            </p:nvSpPr>
            <p:spPr>
              <a:xfrm>
                <a:off x="0" y="0"/>
                <a:ext cx="3162300" cy="283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28"/>
              <p:cNvSpPr txBox="1"/>
              <p:nvPr/>
            </p:nvSpPr>
            <p:spPr>
              <a:xfrm>
                <a:off x="0" y="0"/>
                <a:ext cx="3162300" cy="283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Milestones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Propelled to Success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1. The Portability Spark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13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The urgent desire for an architecture-neutral programming language provided the initial development spark.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75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2. Internet Expansion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13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 problem originally addressed on a small scale was seamlessly scaled up to meet massive web demands.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75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3. Massive Adoption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13"/>
                  </a:spcBef>
                  <a:spcAft>
                    <a:spcPts val="225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Aligning Java with the growth of the Internet ultimately transformed it and secured its monumental, large-scale success.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29"/>
          <p:cNvGrpSpPr/>
          <p:nvPr/>
        </p:nvGrpSpPr>
        <p:grpSpPr>
          <a:xfrm>
            <a:off x="762000" y="857250"/>
            <a:ext cx="3619500" cy="3429000"/>
            <a:chOff x="0" y="0"/>
            <a:chExt cx="3619500" cy="3429000"/>
          </a:xfrm>
        </p:grpSpPr>
        <p:sp>
          <p:nvSpPr>
            <p:cNvPr id="292" name="Google Shape;292;p29"/>
            <p:cNvSpPr/>
            <p:nvPr/>
          </p:nvSpPr>
          <p:spPr>
            <a:xfrm>
              <a:off x="0" y="0"/>
              <a:ext cx="36195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9"/>
            <p:cNvSpPr txBox="1"/>
            <p:nvPr/>
          </p:nvSpPr>
          <p:spPr>
            <a:xfrm>
              <a:off x="0" y="0"/>
              <a:ext cx="3619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Language Heritage</a:t>
              </a:r>
              <a:endParaRPr b="1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3145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C/C++ Foundation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Java intentionally derives much of its character from C and C++ to ensure instant appeal to experienced developers.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lang="en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01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Familiar Syntax:</a:t>
              </a:r>
              <a:r>
                <a:rPr b="1" lang="en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Designed to echo C/C++ features to appeal to legions of programmers.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lang="en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01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Shared Success:</a:t>
              </a:r>
              <a:r>
                <a:rPr b="1" lang="en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Incorporates the same fundamental attributes of its predecessors.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4" name="Google Shape;294;p29"/>
          <p:cNvGrpSpPr/>
          <p:nvPr/>
        </p:nvGrpSpPr>
        <p:grpSpPr>
          <a:xfrm>
            <a:off x="4762500" y="857250"/>
            <a:ext cx="3619500" cy="3524400"/>
            <a:chOff x="0" y="0"/>
            <a:chExt cx="3619500" cy="3524400"/>
          </a:xfrm>
        </p:grpSpPr>
        <p:sp>
          <p:nvSpPr>
            <p:cNvPr id="295" name="Google Shape;295;p29"/>
            <p:cNvSpPr/>
            <p:nvPr/>
          </p:nvSpPr>
          <p:spPr>
            <a:xfrm>
              <a:off x="0" y="0"/>
              <a:ext cx="3619500" cy="35244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9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480"/>
                    <a:pt x="2261" y="0"/>
                    <a:pt x="5053" y="0"/>
                  </a:cubicBezTo>
                  <a:lnTo>
                    <a:pt x="114947" y="0"/>
                  </a:lnTo>
                  <a:cubicBezTo>
                    <a:pt x="117739" y="0"/>
                    <a:pt x="120000" y="2148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9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9"/>
            <p:cNvSpPr/>
            <p:nvPr/>
          </p:nvSpPr>
          <p:spPr>
            <a:xfrm>
              <a:off x="30480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9"/>
            <p:cNvSpPr/>
            <p:nvPr/>
          </p:nvSpPr>
          <p:spPr>
            <a:xfrm>
              <a:off x="47625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0" name="Google Shape;300;p29"/>
            <p:cNvGrpSpPr/>
            <p:nvPr/>
          </p:nvGrpSpPr>
          <p:grpSpPr>
            <a:xfrm>
              <a:off x="228600" y="533400"/>
              <a:ext cx="3162300" cy="2838600"/>
              <a:chOff x="0" y="0"/>
              <a:chExt cx="3162300" cy="2838600"/>
            </a:xfrm>
          </p:grpSpPr>
          <p:sp>
            <p:nvSpPr>
              <p:cNvPr id="301" name="Google Shape;301;p29"/>
              <p:cNvSpPr/>
              <p:nvPr/>
            </p:nvSpPr>
            <p:spPr>
              <a:xfrm>
                <a:off x="0" y="0"/>
                <a:ext cx="3162300" cy="283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29"/>
              <p:cNvSpPr txBox="1"/>
              <p:nvPr/>
            </p:nvSpPr>
            <p:spPr>
              <a:xfrm>
                <a:off x="0" y="0"/>
                <a:ext cx="3162300" cy="283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Milestones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A Programmer's Language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1. Real-World Refinement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13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Grounded in the core needs, challenges, and practical experiences of real, working programmers.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75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2. Cohesive &amp; Logical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13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Provides complete logical consistency and full structural control directly to the developer.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75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3. No Training Wheels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13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An uncompromising environment engineered specifically for professional application design.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30"/>
          <p:cNvGrpSpPr/>
          <p:nvPr/>
        </p:nvGrpSpPr>
        <p:grpSpPr>
          <a:xfrm>
            <a:off x="762000" y="857250"/>
            <a:ext cx="3619500" cy="3429000"/>
            <a:chOff x="0" y="0"/>
            <a:chExt cx="3619500" cy="3429000"/>
          </a:xfrm>
        </p:grpSpPr>
        <p:sp>
          <p:nvSpPr>
            <p:cNvPr id="308" name="Google Shape;308;p30"/>
            <p:cNvSpPr/>
            <p:nvPr/>
          </p:nvSpPr>
          <p:spPr>
            <a:xfrm>
              <a:off x="0" y="0"/>
              <a:ext cx="36195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0"/>
            <p:cNvSpPr txBox="1"/>
            <p:nvPr/>
          </p:nvSpPr>
          <p:spPr>
            <a:xfrm>
              <a:off x="0" y="0"/>
              <a:ext cx="3619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Language Relationship</a:t>
              </a:r>
              <a:endParaRPr b="1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3145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Not a Upgrade</a:t>
              </a:r>
              <a:endParaRPr b="1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While Java shares significant syntax with C++, it is not an enhanced version or a direct replacement. They operate in parallel.</a:t>
              </a:r>
              <a:endParaRPr b="1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01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Incompatible:</a:t>
              </a:r>
              <a:r>
                <a:rPr b="1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Java is neither upwardly nor downwardly compatible with C++.</a:t>
              </a:r>
              <a:endParaRPr b="1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450"/>
                </a:spcAft>
                <a:buNone/>
              </a:pPr>
              <a:r>
                <a:rPr b="0" lang="en" sz="1018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01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Familiarity:</a:t>
              </a:r>
              <a:r>
                <a:rPr b="1" lang="en" sz="101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C++ programmers will feel right at home due to strong similarities.</a:t>
              </a:r>
              <a:endParaRPr b="1" sz="101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0" name="Google Shape;310;p30"/>
          <p:cNvGrpSpPr/>
          <p:nvPr/>
        </p:nvGrpSpPr>
        <p:grpSpPr>
          <a:xfrm>
            <a:off x="4762500" y="857250"/>
            <a:ext cx="3619500" cy="3524400"/>
            <a:chOff x="0" y="0"/>
            <a:chExt cx="3619500" cy="3524400"/>
          </a:xfrm>
        </p:grpSpPr>
        <p:sp>
          <p:nvSpPr>
            <p:cNvPr id="311" name="Google Shape;311;p30"/>
            <p:cNvSpPr/>
            <p:nvPr/>
          </p:nvSpPr>
          <p:spPr>
            <a:xfrm>
              <a:off x="0" y="0"/>
              <a:ext cx="3619500" cy="35244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480"/>
                    <a:pt x="2261" y="0"/>
                    <a:pt x="5053" y="0"/>
                  </a:cubicBezTo>
                  <a:lnTo>
                    <a:pt x="114947" y="0"/>
                  </a:lnTo>
                  <a:cubicBezTo>
                    <a:pt x="117739" y="0"/>
                    <a:pt x="120000" y="2148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30480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47625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6" name="Google Shape;316;p30"/>
            <p:cNvGrpSpPr/>
            <p:nvPr/>
          </p:nvGrpSpPr>
          <p:grpSpPr>
            <a:xfrm>
              <a:off x="228600" y="533400"/>
              <a:ext cx="3162300" cy="2838600"/>
              <a:chOff x="0" y="0"/>
              <a:chExt cx="3162300" cy="2838600"/>
            </a:xfrm>
          </p:grpSpPr>
          <p:sp>
            <p:nvSpPr>
              <p:cNvPr id="317" name="Google Shape;317;p30"/>
              <p:cNvSpPr/>
              <p:nvPr/>
            </p:nvSpPr>
            <p:spPr>
              <a:xfrm>
                <a:off x="0" y="0"/>
                <a:ext cx="3162300" cy="283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30"/>
              <p:cNvSpPr txBox="1"/>
              <p:nvPr/>
            </p:nvSpPr>
            <p:spPr>
              <a:xfrm>
                <a:off x="0" y="0"/>
                <a:ext cx="3162300" cy="283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Coexistence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Different Problem Spaces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1. Java's Design Domain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13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Java was specifically designed from the ground up to solve a unique set of network and portability problems.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75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2. C++'s Design Domain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13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C++ was built to tackle a completely different set of engineering challenges, primarily focusing on system-level control.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75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3. Shared Future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13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Neither language replaces the other; both are destined to coexist productively for many years to come.</a:t>
                </a:r>
                <a:endParaRPr b="1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31"/>
          <p:cNvGrpSpPr/>
          <p:nvPr/>
        </p:nvGrpSpPr>
        <p:grpSpPr>
          <a:xfrm>
            <a:off x="762000" y="762000"/>
            <a:ext cx="3619500" cy="3619500"/>
            <a:chOff x="0" y="0"/>
            <a:chExt cx="3619500" cy="3619500"/>
          </a:xfrm>
        </p:grpSpPr>
        <p:sp>
          <p:nvSpPr>
            <p:cNvPr id="324" name="Google Shape;324;p31"/>
            <p:cNvSpPr/>
            <p:nvPr/>
          </p:nvSpPr>
          <p:spPr>
            <a:xfrm>
              <a:off x="0" y="0"/>
              <a:ext cx="36195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1"/>
            <p:cNvSpPr txBox="1"/>
            <p:nvPr/>
          </p:nvSpPr>
          <p:spPr>
            <a:xfrm>
              <a:off x="0" y="0"/>
              <a:ext cx="36195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The Catalyst</a:t>
              </a:r>
              <a:endParaRPr b="1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Internet &amp;</a:t>
              </a:r>
              <a:br>
                <a:rPr b="0" lang="en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</a:br>
              <a:r>
                <a:rPr b="0" lang="en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Evolution</a:t>
              </a:r>
              <a:endParaRPr b="1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environmental change that prompted Java was the need for platform-independent programs destined for distribution on the Internet.</a:t>
              </a:r>
              <a:endParaRPr b="1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Shift in Paradigm:</a:t>
              </a: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Java embodies fundamental changes in the way programmers approach writing software.</a:t>
              </a:r>
              <a:endParaRPr b="1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 Global Force:</a:t>
              </a: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Java became to Internet programming what C was to system programming: a force that changed the world.</a:t>
              </a:r>
              <a:endParaRPr b="1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6" name="Google Shape;326;p31"/>
          <p:cNvGrpSpPr/>
          <p:nvPr/>
        </p:nvGrpSpPr>
        <p:grpSpPr>
          <a:xfrm>
            <a:off x="4762500" y="762000"/>
            <a:ext cx="3619500" cy="3619500"/>
            <a:chOff x="0" y="0"/>
            <a:chExt cx="3619500" cy="3619500"/>
          </a:xfrm>
        </p:grpSpPr>
        <p:sp>
          <p:nvSpPr>
            <p:cNvPr id="327" name="Google Shape;327;p31"/>
            <p:cNvSpPr/>
            <p:nvPr/>
          </p:nvSpPr>
          <p:spPr>
            <a:xfrm>
              <a:off x="0" y="0"/>
              <a:ext cx="3619500" cy="36195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1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480"/>
                    <a:pt x="2261" y="0"/>
                    <a:pt x="5053" y="0"/>
                  </a:cubicBezTo>
                  <a:lnTo>
                    <a:pt x="114947" y="0"/>
                  </a:lnTo>
                  <a:cubicBezTo>
                    <a:pt x="117739" y="0"/>
                    <a:pt x="120000" y="2148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1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1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1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2" name="Google Shape;332;p31"/>
            <p:cNvGrpSpPr/>
            <p:nvPr/>
          </p:nvGrpSpPr>
          <p:grpSpPr>
            <a:xfrm>
              <a:off x="228600" y="533400"/>
              <a:ext cx="3162300" cy="2857500"/>
              <a:chOff x="0" y="0"/>
              <a:chExt cx="3162300" cy="2857500"/>
            </a:xfrm>
          </p:grpSpPr>
          <p:sp>
            <p:nvSpPr>
              <p:cNvPr id="333" name="Google Shape;333;p31"/>
              <p:cNvSpPr/>
              <p:nvPr/>
            </p:nvSpPr>
            <p:spPr>
              <a:xfrm>
                <a:off x="0" y="0"/>
                <a:ext cx="3162300" cy="2857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31"/>
              <p:cNvSpPr txBox="1"/>
              <p:nvPr/>
            </p:nvSpPr>
            <p:spPr>
              <a:xfrm>
                <a:off x="0" y="0"/>
                <a:ext cx="31623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47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Core Advancements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Key Feature Innovations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1. Refined OOP Paradigm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Java enhanced and polished the object-oriented structure originally inherited from C++.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2. Built-in Multithreading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Integrated, native support for multithreaded execution to handle concurrent processing easily.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3. Simplified Networking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Provided an extensive, robust standard library designed specifically to streamline global Internet access.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32"/>
          <p:cNvGrpSpPr/>
          <p:nvPr/>
        </p:nvGrpSpPr>
        <p:grpSpPr>
          <a:xfrm>
            <a:off x="762000" y="762000"/>
            <a:ext cx="3619500" cy="3619500"/>
            <a:chOff x="0" y="0"/>
            <a:chExt cx="3619500" cy="3619500"/>
          </a:xfrm>
        </p:grpSpPr>
        <p:sp>
          <p:nvSpPr>
            <p:cNvPr id="340" name="Google Shape;340;p32"/>
            <p:cNvSpPr/>
            <p:nvPr/>
          </p:nvSpPr>
          <p:spPr>
            <a:xfrm>
              <a:off x="0" y="0"/>
              <a:ext cx="36195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2"/>
            <p:cNvSpPr txBox="1"/>
            <p:nvPr/>
          </p:nvSpPr>
          <p:spPr>
            <a:xfrm>
              <a:off x="0" y="0"/>
              <a:ext cx="36195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Versatility &amp; Power</a:t>
              </a:r>
              <a:endParaRPr b="1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Uses of Java</a:t>
              </a:r>
              <a:endParaRPr b="1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From mobile devices to enterprise servers, Java provides the robust foundation for modern digital ecosystems.</a:t>
              </a:r>
              <a:endParaRPr b="1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Ubiquitous:</a:t>
              </a: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Powering billions of active devices worldwide.</a:t>
              </a:r>
              <a:endParaRPr b="1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</a:t>
              </a: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Scalable:</a:t>
              </a: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trusted choice for enterprise-level server environments.</a:t>
              </a:r>
              <a:endParaRPr b="1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2" name="Google Shape;342;p32"/>
          <p:cNvGrpSpPr/>
          <p:nvPr/>
        </p:nvGrpSpPr>
        <p:grpSpPr>
          <a:xfrm>
            <a:off x="4762500" y="762000"/>
            <a:ext cx="3619500" cy="3619500"/>
            <a:chOff x="0" y="0"/>
            <a:chExt cx="3619500" cy="3619500"/>
          </a:xfrm>
        </p:grpSpPr>
        <p:sp>
          <p:nvSpPr>
            <p:cNvPr id="343" name="Google Shape;343;p32"/>
            <p:cNvSpPr/>
            <p:nvPr/>
          </p:nvSpPr>
          <p:spPr>
            <a:xfrm>
              <a:off x="0" y="0"/>
              <a:ext cx="3619500" cy="36195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2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600"/>
                    <a:pt x="2274" y="0"/>
                    <a:pt x="5053" y="0"/>
                  </a:cubicBezTo>
                  <a:lnTo>
                    <a:pt x="114947" y="0"/>
                  </a:lnTo>
                  <a:cubicBezTo>
                    <a:pt x="117726" y="0"/>
                    <a:pt x="120000" y="2160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2"/>
            <p:cNvSpPr/>
            <p:nvPr/>
          </p:nvSpPr>
          <p:spPr>
            <a:xfrm>
              <a:off x="7620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2"/>
            <p:cNvSpPr/>
            <p:nvPr/>
          </p:nvSpPr>
          <p:spPr>
            <a:xfrm>
              <a:off x="2476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2"/>
            <p:cNvSpPr/>
            <p:nvPr/>
          </p:nvSpPr>
          <p:spPr>
            <a:xfrm>
              <a:off x="41910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8" name="Google Shape;348;p32"/>
            <p:cNvGrpSpPr/>
            <p:nvPr/>
          </p:nvGrpSpPr>
          <p:grpSpPr>
            <a:xfrm>
              <a:off x="228600" y="533400"/>
              <a:ext cx="3162300" cy="2857500"/>
              <a:chOff x="0" y="0"/>
              <a:chExt cx="3162300" cy="2857500"/>
            </a:xfrm>
          </p:grpSpPr>
          <p:sp>
            <p:nvSpPr>
              <p:cNvPr id="349" name="Google Shape;349;p32"/>
              <p:cNvSpPr/>
              <p:nvPr/>
            </p:nvSpPr>
            <p:spPr>
              <a:xfrm>
                <a:off x="0" y="0"/>
                <a:ext cx="3162300" cy="2857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32"/>
              <p:cNvSpPr txBox="1"/>
              <p:nvPr/>
            </p:nvSpPr>
            <p:spPr>
              <a:xfrm>
                <a:off x="0" y="0"/>
                <a:ext cx="31623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47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Application Domains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Where Java Thrives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1. Mobile &amp; Android Apps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Used for developing Android Apps and a wide range of mobile Java applications.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2. Enterprise &amp; Server-Side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Helps create Enterprise Software and powers Server-Side Technologies like Apache, JBoss, and GlassFish.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3. Science, Big Data &amp; Hardware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Utilized in Scientific Computing, Big Data Analytics, and hardware device programming.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 txBox="1"/>
          <p:nvPr/>
        </p:nvSpPr>
        <p:spPr>
          <a:xfrm>
            <a:off x="762000" y="428625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OOP v/s POP </a:t>
            </a:r>
            <a:r>
              <a:rPr b="0" lang="en" sz="16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Paradigm Comparison</a:t>
            </a:r>
            <a:endParaRPr b="0" sz="24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356" name="Google Shape;356;p33"/>
          <p:cNvGrpSpPr/>
          <p:nvPr/>
        </p:nvGrpSpPr>
        <p:grpSpPr>
          <a:xfrm>
            <a:off x="762000" y="1095375"/>
            <a:ext cx="3619500" cy="3667200"/>
            <a:chOff x="0" y="0"/>
            <a:chExt cx="3619500" cy="3667200"/>
          </a:xfrm>
        </p:grpSpPr>
        <p:sp>
          <p:nvSpPr>
            <p:cNvPr id="357" name="Google Shape;357;p33"/>
            <p:cNvSpPr/>
            <p:nvPr/>
          </p:nvSpPr>
          <p:spPr>
            <a:xfrm>
              <a:off x="0" y="0"/>
              <a:ext cx="3619500" cy="36672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3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600"/>
                    <a:pt x="2274" y="0"/>
                    <a:pt x="5053" y="0"/>
                  </a:cubicBezTo>
                  <a:lnTo>
                    <a:pt x="114947" y="0"/>
                  </a:lnTo>
                  <a:cubicBezTo>
                    <a:pt x="117726" y="0"/>
                    <a:pt x="120000" y="2160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3"/>
            <p:cNvSpPr/>
            <p:nvPr/>
          </p:nvSpPr>
          <p:spPr>
            <a:xfrm>
              <a:off x="85725" y="142875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3"/>
            <p:cNvSpPr/>
            <p:nvPr/>
          </p:nvSpPr>
          <p:spPr>
            <a:xfrm>
              <a:off x="238125" y="142875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3"/>
            <p:cNvSpPr/>
            <p:nvPr/>
          </p:nvSpPr>
          <p:spPr>
            <a:xfrm>
              <a:off x="390525" y="142875"/>
              <a:ext cx="95400" cy="954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3"/>
            <p:cNvSpPr txBox="1"/>
            <p:nvPr/>
          </p:nvSpPr>
          <p:spPr>
            <a:xfrm>
              <a:off x="619125" y="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Procedural Oriented (POP)</a:t>
              </a:r>
              <a:endParaRPr b="1" sz="1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3" name="Google Shape;363;p33"/>
            <p:cNvSpPr txBox="1"/>
            <p:nvPr/>
          </p:nvSpPr>
          <p:spPr>
            <a:xfrm>
              <a:off x="228600" y="523875"/>
              <a:ext cx="31623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EF6C00"/>
                  </a:solidFill>
                  <a:latin typeface="Inter"/>
                  <a:ea typeface="Inter"/>
                  <a:cs typeface="Inter"/>
                  <a:sym typeface="Inter"/>
                </a:rPr>
                <a:t>1. Program Division:</a:t>
              </a:r>
              <a:b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Programs are divided into small, sequential parts called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functions</a:t>
              </a: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EF6C00"/>
                  </a:solidFill>
                  <a:latin typeface="Inter"/>
                  <a:ea typeface="Inter"/>
                  <a:cs typeface="Inter"/>
                  <a:sym typeface="Inter"/>
                </a:rPr>
                <a:t>2. Core Focus:</a:t>
              </a:r>
              <a:b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Importance is given to the sequence of actions and procedures rather than data.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EF6C00"/>
                  </a:solidFill>
                  <a:latin typeface="Inter"/>
                  <a:ea typeface="Inter"/>
                  <a:cs typeface="Inter"/>
                  <a:sym typeface="Inter"/>
                </a:rPr>
                <a:t>3. Structural Flow:</a:t>
              </a:r>
              <a:b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Follows a strict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Top-Down approach</a:t>
              </a: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for program execution.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EF6C00"/>
                  </a:solidFill>
                  <a:latin typeface="Inter"/>
                  <a:ea typeface="Inter"/>
                  <a:cs typeface="Inter"/>
                  <a:sym typeface="Inter"/>
                </a:rPr>
                <a:t>4. Security &amp; Access:</a:t>
              </a:r>
              <a:b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Does not have any access specifiers or built-in data hiding.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EF6C00"/>
                  </a:solidFill>
                  <a:latin typeface="Inter"/>
                  <a:ea typeface="Inter"/>
                  <a:cs typeface="Inter"/>
                  <a:sym typeface="Inter"/>
                </a:rPr>
                <a:t>5. Data Movement:</a:t>
              </a:r>
              <a:b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Data can move freely from function to function across the system.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4" name="Google Shape;364;p33"/>
          <p:cNvGrpSpPr/>
          <p:nvPr/>
        </p:nvGrpSpPr>
        <p:grpSpPr>
          <a:xfrm>
            <a:off x="4762500" y="1095375"/>
            <a:ext cx="3619500" cy="3667200"/>
            <a:chOff x="0" y="0"/>
            <a:chExt cx="3619500" cy="3667200"/>
          </a:xfrm>
        </p:grpSpPr>
        <p:sp>
          <p:nvSpPr>
            <p:cNvPr id="365" name="Google Shape;365;p33"/>
            <p:cNvSpPr/>
            <p:nvPr/>
          </p:nvSpPr>
          <p:spPr>
            <a:xfrm>
              <a:off x="0" y="0"/>
              <a:ext cx="3619500" cy="36672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3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600"/>
                    <a:pt x="2274" y="0"/>
                    <a:pt x="5053" y="0"/>
                  </a:cubicBezTo>
                  <a:lnTo>
                    <a:pt x="114947" y="0"/>
                  </a:lnTo>
                  <a:cubicBezTo>
                    <a:pt x="117726" y="0"/>
                    <a:pt x="120000" y="2160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3"/>
            <p:cNvSpPr/>
            <p:nvPr/>
          </p:nvSpPr>
          <p:spPr>
            <a:xfrm>
              <a:off x="85725" y="142875"/>
              <a:ext cx="95400" cy="95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3"/>
            <p:cNvSpPr/>
            <p:nvPr/>
          </p:nvSpPr>
          <p:spPr>
            <a:xfrm>
              <a:off x="238125" y="142875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3"/>
            <p:cNvSpPr/>
            <p:nvPr/>
          </p:nvSpPr>
          <p:spPr>
            <a:xfrm>
              <a:off x="390525" y="142875"/>
              <a:ext cx="95400" cy="954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3"/>
            <p:cNvSpPr txBox="1"/>
            <p:nvPr/>
          </p:nvSpPr>
          <p:spPr>
            <a:xfrm>
              <a:off x="619125" y="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Object Oriented (OOP)</a:t>
              </a:r>
              <a:endParaRPr b="1" sz="1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1" name="Google Shape;371;p33"/>
            <p:cNvSpPr txBox="1"/>
            <p:nvPr/>
          </p:nvSpPr>
          <p:spPr>
            <a:xfrm>
              <a:off x="228600" y="523875"/>
              <a:ext cx="31623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1. Program Division:</a:t>
              </a:r>
              <a:b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Programs are structured into autonomous, reusable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objects</a:t>
              </a: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2. Core Focus:</a:t>
              </a:r>
              <a:b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Primary importance is given to data protection and modeling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real-world</a:t>
              </a: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logic.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3. Structural Flow:</a:t>
              </a:r>
              <a:b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Employs a highly modular, scalable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Bottom-Up approach</a:t>
              </a: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4. Security &amp; Access:</a:t>
              </a:r>
              <a:b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Secures data using specifiers named </a:t>
              </a: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Public, Private, &amp; Protected</a:t>
              </a: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5. Data Movement:</a:t>
              </a:r>
              <a:b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Objects securely communicate with each other through member functions.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Google Shape;376;p34"/>
          <p:cNvGrpSpPr/>
          <p:nvPr/>
        </p:nvGrpSpPr>
        <p:grpSpPr>
          <a:xfrm>
            <a:off x="762000" y="428625"/>
            <a:ext cx="7620000" cy="476400"/>
            <a:chOff x="0" y="0"/>
            <a:chExt cx="7620000" cy="476400"/>
          </a:xfrm>
        </p:grpSpPr>
        <p:sp>
          <p:nvSpPr>
            <p:cNvPr id="377" name="Google Shape;377;p34"/>
            <p:cNvSpPr/>
            <p:nvPr/>
          </p:nvSpPr>
          <p:spPr>
            <a:xfrm>
              <a:off x="0" y="0"/>
              <a:ext cx="7620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4"/>
            <p:cNvSpPr txBox="1"/>
            <p:nvPr/>
          </p:nvSpPr>
          <p:spPr>
            <a:xfrm>
              <a:off x="0" y="0"/>
              <a:ext cx="762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OOP v/s POP (Contd.) </a:t>
              </a:r>
              <a:r>
                <a:rPr b="0" lang="en" sz="16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Paradigm Comparison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379" name="Google Shape;379;p34"/>
          <p:cNvGrpSpPr/>
          <p:nvPr/>
        </p:nvGrpSpPr>
        <p:grpSpPr>
          <a:xfrm>
            <a:off x="762000" y="1095375"/>
            <a:ext cx="3619500" cy="3667200"/>
            <a:chOff x="0" y="0"/>
            <a:chExt cx="3619500" cy="3667200"/>
          </a:xfrm>
        </p:grpSpPr>
        <p:sp>
          <p:nvSpPr>
            <p:cNvPr id="380" name="Google Shape;380;p34"/>
            <p:cNvSpPr/>
            <p:nvPr/>
          </p:nvSpPr>
          <p:spPr>
            <a:xfrm>
              <a:off x="0" y="0"/>
              <a:ext cx="3619500" cy="36672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600"/>
                    <a:pt x="2274" y="0"/>
                    <a:pt x="5053" y="0"/>
                  </a:cubicBezTo>
                  <a:lnTo>
                    <a:pt x="114947" y="0"/>
                  </a:lnTo>
                  <a:cubicBezTo>
                    <a:pt x="117726" y="0"/>
                    <a:pt x="120000" y="2160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85725" y="142875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238125" y="142875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390525" y="142875"/>
              <a:ext cx="95400" cy="954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5" name="Google Shape;385;p34"/>
            <p:cNvGrpSpPr/>
            <p:nvPr/>
          </p:nvGrpSpPr>
          <p:grpSpPr>
            <a:xfrm>
              <a:off x="619125" y="0"/>
              <a:ext cx="2857500" cy="381000"/>
              <a:chOff x="0" y="0"/>
              <a:chExt cx="2857500" cy="381000"/>
            </a:xfrm>
          </p:grpSpPr>
          <p:sp>
            <p:nvSpPr>
              <p:cNvPr id="386" name="Google Shape;386;p34"/>
              <p:cNvSpPr/>
              <p:nvPr/>
            </p:nvSpPr>
            <p:spPr>
              <a:xfrm>
                <a:off x="0" y="0"/>
                <a:ext cx="2857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34"/>
              <p:cNvSpPr txBox="1"/>
              <p:nvPr/>
            </p:nvSpPr>
            <p:spPr>
              <a:xfrm>
                <a:off x="0" y="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Procedural Oriented (POP)</a:t>
                </a:r>
                <a:endParaRPr b="1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88" name="Google Shape;388;p34"/>
            <p:cNvGrpSpPr/>
            <p:nvPr/>
          </p:nvGrpSpPr>
          <p:grpSpPr>
            <a:xfrm>
              <a:off x="228600" y="523875"/>
              <a:ext cx="3162300" cy="3000300"/>
              <a:chOff x="0" y="0"/>
              <a:chExt cx="3162300" cy="3000300"/>
            </a:xfrm>
          </p:grpSpPr>
          <p:sp>
            <p:nvSpPr>
              <p:cNvPr id="389" name="Google Shape;389;p34"/>
              <p:cNvSpPr/>
              <p:nvPr/>
            </p:nvSpPr>
            <p:spPr>
              <a:xfrm>
                <a:off x="0" y="0"/>
                <a:ext cx="3162300" cy="3000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34"/>
              <p:cNvSpPr txBox="1"/>
              <p:nvPr/>
            </p:nvSpPr>
            <p:spPr>
              <a:xfrm>
                <a:off x="0" y="0"/>
                <a:ext cx="3162300" cy="30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47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EF6C00"/>
                    </a:solidFill>
                    <a:latin typeface="Inter"/>
                    <a:ea typeface="Inter"/>
                    <a:cs typeface="Inter"/>
                    <a:sym typeface="Inter"/>
                  </a:rPr>
                  <a:t>1. Extension: </a:t>
                </a:r>
                <a:r>
                  <a:rPr b="0" lang="en" sz="1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Adding new data and functions is not easy.</a:t>
                </a:r>
                <a:endParaRPr b="1" sz="1000">
                  <a:solidFill>
                    <a:srgbClr val="EF6C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EF6C00"/>
                    </a:solidFill>
                    <a:latin typeface="Inter"/>
                    <a:ea typeface="Inter"/>
                    <a:cs typeface="Inter"/>
                    <a:sym typeface="Inter"/>
                  </a:rPr>
                  <a:t>2. Data Access: </a:t>
                </a:r>
                <a:r>
                  <a:rPr b="0" lang="en" sz="1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Most functions share global data, which can be accessed freely across the system.</a:t>
                </a:r>
                <a:endParaRPr b="1" sz="1000">
                  <a:solidFill>
                    <a:srgbClr val="EF6C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EF6C00"/>
                    </a:solidFill>
                    <a:latin typeface="Inter"/>
                    <a:ea typeface="Inter"/>
                    <a:cs typeface="Inter"/>
                    <a:sym typeface="Inter"/>
                  </a:rPr>
                  <a:t>3. Security: </a:t>
                </a:r>
                <a:r>
                  <a:rPr b="0" lang="en" sz="1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No proper way of hiding data, making it less secure.</a:t>
                </a:r>
                <a:endParaRPr b="1" sz="1000">
                  <a:solidFill>
                    <a:srgbClr val="EF6C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EF6C00"/>
                    </a:solidFill>
                    <a:latin typeface="Inter"/>
                    <a:ea typeface="Inter"/>
                    <a:cs typeface="Inter"/>
                    <a:sym typeface="Inter"/>
                  </a:rPr>
                  <a:t>4. Overloading: </a:t>
                </a:r>
                <a:r>
                  <a:rPr b="0" lang="en" sz="1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Feature overloading is not possible in POP systems.</a:t>
                </a:r>
                <a:endParaRPr b="1" sz="1000">
                  <a:solidFill>
                    <a:srgbClr val="EF6C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750"/>
                  </a:spcAft>
                  <a:buNone/>
                </a:pPr>
                <a:r>
                  <a:rPr b="1" lang="en" sz="1000">
                    <a:solidFill>
                      <a:srgbClr val="EF6C00"/>
                    </a:solidFill>
                    <a:latin typeface="Inter"/>
                    <a:ea typeface="Inter"/>
                    <a:cs typeface="Inter"/>
                    <a:sym typeface="Inter"/>
                  </a:rPr>
                  <a:t>5. Key Examples: </a:t>
                </a:r>
                <a:br>
                  <a:rPr b="1" lang="en" sz="1000">
                    <a:solidFill>
                      <a:srgbClr val="EF6C00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r>
                  <a:rPr b="1" lang="en" sz="10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C, VB, FORTRAN, Pascal</a:t>
                </a:r>
                <a:endParaRPr b="1" sz="1000">
                  <a:solidFill>
                    <a:srgbClr val="EF6C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91" name="Google Shape;391;p34"/>
          <p:cNvGrpSpPr/>
          <p:nvPr/>
        </p:nvGrpSpPr>
        <p:grpSpPr>
          <a:xfrm>
            <a:off x="4762500" y="1095375"/>
            <a:ext cx="3619500" cy="3667200"/>
            <a:chOff x="0" y="0"/>
            <a:chExt cx="3619500" cy="3667200"/>
          </a:xfrm>
        </p:grpSpPr>
        <p:sp>
          <p:nvSpPr>
            <p:cNvPr id="392" name="Google Shape;392;p34"/>
            <p:cNvSpPr/>
            <p:nvPr/>
          </p:nvSpPr>
          <p:spPr>
            <a:xfrm>
              <a:off x="0" y="0"/>
              <a:ext cx="3619500" cy="36672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0" y="0"/>
              <a:ext cx="3619500" cy="381000"/>
            </a:xfrm>
            <a:custGeom>
              <a:rect b="b" l="l" r="r" t="t"/>
              <a:pathLst>
                <a:path extrusionOk="0" h="120000" w="120000">
                  <a:moveTo>
                    <a:pt x="0" y="48000"/>
                  </a:moveTo>
                  <a:cubicBezTo>
                    <a:pt x="0" y="21600"/>
                    <a:pt x="2274" y="0"/>
                    <a:pt x="5053" y="0"/>
                  </a:cubicBezTo>
                  <a:lnTo>
                    <a:pt x="114947" y="0"/>
                  </a:lnTo>
                  <a:cubicBezTo>
                    <a:pt x="117726" y="0"/>
                    <a:pt x="120000" y="21600"/>
                    <a:pt x="120000" y="4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85725" y="142875"/>
              <a:ext cx="95400" cy="95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8125" y="142875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390525" y="142875"/>
              <a:ext cx="95400" cy="954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7" name="Google Shape;397;p34"/>
            <p:cNvGrpSpPr/>
            <p:nvPr/>
          </p:nvGrpSpPr>
          <p:grpSpPr>
            <a:xfrm>
              <a:off x="619125" y="0"/>
              <a:ext cx="2857500" cy="381000"/>
              <a:chOff x="0" y="0"/>
              <a:chExt cx="2857500" cy="381000"/>
            </a:xfrm>
          </p:grpSpPr>
          <p:sp>
            <p:nvSpPr>
              <p:cNvPr id="398" name="Google Shape;398;p34"/>
              <p:cNvSpPr/>
              <p:nvPr/>
            </p:nvSpPr>
            <p:spPr>
              <a:xfrm>
                <a:off x="0" y="0"/>
                <a:ext cx="2857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34"/>
              <p:cNvSpPr txBox="1"/>
              <p:nvPr/>
            </p:nvSpPr>
            <p:spPr>
              <a:xfrm>
                <a:off x="0" y="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Object Oriented (OOP)</a:t>
                </a:r>
                <a:endParaRPr b="1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00" name="Google Shape;400;p34"/>
            <p:cNvGrpSpPr/>
            <p:nvPr/>
          </p:nvGrpSpPr>
          <p:grpSpPr>
            <a:xfrm>
              <a:off x="228600" y="523875"/>
              <a:ext cx="3162300" cy="3000300"/>
              <a:chOff x="0" y="0"/>
              <a:chExt cx="3162300" cy="3000300"/>
            </a:xfrm>
          </p:grpSpPr>
          <p:sp>
            <p:nvSpPr>
              <p:cNvPr id="401" name="Google Shape;401;p34"/>
              <p:cNvSpPr/>
              <p:nvPr/>
            </p:nvSpPr>
            <p:spPr>
              <a:xfrm>
                <a:off x="0" y="0"/>
                <a:ext cx="3162300" cy="3000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34"/>
              <p:cNvSpPr txBox="1"/>
              <p:nvPr/>
            </p:nvSpPr>
            <p:spPr>
              <a:xfrm>
                <a:off x="0" y="0"/>
                <a:ext cx="3162300" cy="30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47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1. Extension: </a:t>
                </a:r>
                <a:r>
                  <a:rPr b="0" lang="en" sz="1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Provides an easy way to add new data and functions.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2. Data Access: </a:t>
                </a:r>
                <a:r>
                  <a:rPr b="0" lang="en" sz="1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Data can be public or private to control access, preventing free movement.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3. Security: </a:t>
                </a:r>
                <a:r>
                  <a:rPr b="0" lang="en" sz="1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Provides strong Data Hiding for enhanced and robust security.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4. Overloading: </a:t>
                </a:r>
                <a:r>
                  <a:rPr b="0" lang="en" sz="1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Supports both Function Overloading and Operator Overloading.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750"/>
                  </a:spcAft>
                  <a:buNone/>
                </a:pPr>
                <a:r>
                  <a:rPr b="1" lang="en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5. Key Examples: </a:t>
                </a:r>
                <a:br>
                  <a:rPr b="1" lang="en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r>
                  <a:rPr b="1" lang="en" sz="10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C++, JAVA, VB.NET, C#.NET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5"/>
          <p:cNvSpPr txBox="1"/>
          <p:nvPr/>
        </p:nvSpPr>
        <p:spPr>
          <a:xfrm>
            <a:off x="571500" y="428625"/>
            <a:ext cx="8001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5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Components of Java Programming</a:t>
            </a:r>
            <a:endParaRPr b="0" sz="2405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203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To convert source code to machine-executable code, Java utilizes three interconnected core components:</a:t>
            </a:r>
            <a:endParaRPr b="0" sz="1203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408" name="Google Shape;408;p35"/>
          <p:cNvGrpSpPr/>
          <p:nvPr/>
        </p:nvGrpSpPr>
        <p:grpSpPr>
          <a:xfrm>
            <a:off x="571500" y="1524000"/>
            <a:ext cx="2476500" cy="3048000"/>
            <a:chOff x="0" y="0"/>
            <a:chExt cx="2476500" cy="3048000"/>
          </a:xfrm>
        </p:grpSpPr>
        <p:sp>
          <p:nvSpPr>
            <p:cNvPr id="409" name="Google Shape;409;p35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5"/>
            <p:cNvSpPr txBox="1"/>
            <p:nvPr/>
          </p:nvSpPr>
          <p:spPr>
            <a:xfrm>
              <a:off x="190500" y="228600"/>
              <a:ext cx="2095500" cy="25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chemeClr val="dk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r>
                <a:rPr b="0" lang="en" sz="2000">
                  <a:solidFill>
                    <a:schemeClr val="dk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JDK</a:t>
              </a:r>
              <a:endPara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Java Development Kit</a:t>
              </a:r>
              <a:endPara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2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• Used to write, compile, and build Java applications and applets.</a:t>
              </a:r>
              <a:endParaRPr sz="12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2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• Contains the complete JRE alongside essential development tools.</a:t>
              </a:r>
              <a:endParaRPr sz="12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2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• Includes the compiler (javac), debugger, and documentation generators.</a:t>
              </a:r>
              <a:endParaRPr sz="12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1" name="Google Shape;411;p35"/>
          <p:cNvGrpSpPr/>
          <p:nvPr/>
        </p:nvGrpSpPr>
        <p:grpSpPr>
          <a:xfrm>
            <a:off x="3333750" y="1524000"/>
            <a:ext cx="2476500" cy="3048000"/>
            <a:chOff x="0" y="0"/>
            <a:chExt cx="2476500" cy="3048000"/>
          </a:xfrm>
        </p:grpSpPr>
        <p:sp>
          <p:nvSpPr>
            <p:cNvPr id="412" name="Google Shape;412;p35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5"/>
            <p:cNvSpPr txBox="1"/>
            <p:nvPr/>
          </p:nvSpPr>
          <p:spPr>
            <a:xfrm>
              <a:off x="190500" y="228600"/>
              <a:ext cx="2095500" cy="25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chemeClr val="dk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r>
                <a:rPr b="0" lang="en" sz="2000">
                  <a:solidFill>
                    <a:schemeClr val="dk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JRE</a:t>
              </a:r>
              <a:endPara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Java Runtime Environment</a:t>
              </a:r>
              <a:endPara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2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• Provides the execution environment to run compiled Java applications.</a:t>
              </a:r>
              <a:endParaRPr sz="12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2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• Packages class libraries, class loaders, and the virtual machine (JVM).</a:t>
              </a:r>
              <a:endParaRPr sz="12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2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• Required by end-users who only need to execute Java programs.</a:t>
              </a:r>
              <a:endParaRPr sz="12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4" name="Google Shape;414;p35"/>
          <p:cNvGrpSpPr/>
          <p:nvPr/>
        </p:nvGrpSpPr>
        <p:grpSpPr>
          <a:xfrm>
            <a:off x="6096000" y="1524000"/>
            <a:ext cx="2476500" cy="3048000"/>
            <a:chOff x="0" y="0"/>
            <a:chExt cx="2476500" cy="3048000"/>
          </a:xfrm>
        </p:grpSpPr>
        <p:sp>
          <p:nvSpPr>
            <p:cNvPr id="415" name="Google Shape;415;p35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5"/>
            <p:cNvSpPr txBox="1"/>
            <p:nvPr/>
          </p:nvSpPr>
          <p:spPr>
            <a:xfrm>
              <a:off x="190500" y="228600"/>
              <a:ext cx="2095500" cy="25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chemeClr val="dk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r>
                <a:rPr b="0" lang="en" sz="2000">
                  <a:solidFill>
                    <a:schemeClr val="dk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JVM</a:t>
              </a:r>
              <a:endPara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Java Virtual Machine</a:t>
              </a:r>
              <a:endParaRPr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2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• An abstract computing machine that runs the compiled Java bytecode.</a:t>
              </a:r>
              <a:endParaRPr sz="12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2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• Converts bytecode into platform-specific machine language instructions.</a:t>
              </a:r>
              <a:endParaRPr sz="12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2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• Achieves platform independence ("Write Once, Run Anywhere").</a:t>
              </a:r>
              <a:endParaRPr sz="12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6"/>
          <p:cNvSpPr txBox="1"/>
          <p:nvPr/>
        </p:nvSpPr>
        <p:spPr>
          <a:xfrm>
            <a:off x="571500" y="3810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Java Development Kit (JDK)</a:t>
            </a:r>
            <a:endParaRPr b="0" sz="2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comprehensive software development environment used for building Java applications and applets.</a:t>
            </a:r>
            <a:endParaRPr b="0" sz="12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Contains essential tools required to write Java programs and the JRE to execute them. Multiple JDK versions can coexist on the same system.</a:t>
            </a:r>
            <a:endParaRPr b="0" sz="11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22" name="Google Shape;422;p36"/>
          <p:cNvGrpSpPr/>
          <p:nvPr/>
        </p:nvGrpSpPr>
        <p:grpSpPr>
          <a:xfrm>
            <a:off x="571500" y="1762125"/>
            <a:ext cx="2476500" cy="2047800"/>
            <a:chOff x="0" y="0"/>
            <a:chExt cx="2476500" cy="2047800"/>
          </a:xfrm>
        </p:grpSpPr>
        <p:sp>
          <p:nvSpPr>
            <p:cNvPr id="423" name="Google Shape;423;p36"/>
            <p:cNvSpPr/>
            <p:nvPr/>
          </p:nvSpPr>
          <p:spPr>
            <a:xfrm>
              <a:off x="0" y="0"/>
              <a:ext cx="2476500" cy="2047800"/>
            </a:xfrm>
            <a:prstGeom prst="roundRect">
              <a:avLst>
                <a:gd fmla="val 558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6"/>
            <p:cNvSpPr txBox="1"/>
            <p:nvPr/>
          </p:nvSpPr>
          <p:spPr>
            <a:xfrm>
              <a:off x="190500" y="190500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A580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PROCESSOR</a:t>
              </a:r>
              <a:endParaRPr b="0" sz="100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Compiler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Translates human-readable Java source code (</a:t>
              </a:r>
              <a:r>
                <a:rPr b="0" lang="en" sz="1100">
                  <a:solidFill>
                    <a:srgbClr val="EA580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.java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files) into platform-independent bytecode (</a:t>
              </a:r>
              <a:r>
                <a:rPr b="0" lang="en" sz="1100">
                  <a:solidFill>
                    <a:srgbClr val="EA580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.class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files).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5" name="Google Shape;425;p36"/>
          <p:cNvGrpSpPr/>
          <p:nvPr/>
        </p:nvGrpSpPr>
        <p:grpSpPr>
          <a:xfrm>
            <a:off x="3333750" y="1762125"/>
            <a:ext cx="2476500" cy="2047800"/>
            <a:chOff x="0" y="0"/>
            <a:chExt cx="2476500" cy="2047800"/>
          </a:xfrm>
        </p:grpSpPr>
        <p:sp>
          <p:nvSpPr>
            <p:cNvPr id="426" name="Google Shape;426;p36"/>
            <p:cNvSpPr/>
            <p:nvPr/>
          </p:nvSpPr>
          <p:spPr>
            <a:xfrm>
              <a:off x="0" y="0"/>
              <a:ext cx="2476500" cy="2047800"/>
            </a:xfrm>
            <a:prstGeom prst="roundRect">
              <a:avLst>
                <a:gd fmla="val 558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6"/>
            <p:cNvSpPr txBox="1"/>
            <p:nvPr/>
          </p:nvSpPr>
          <p:spPr>
            <a:xfrm>
              <a:off x="190500" y="190500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ENVIRONMENT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Runtime (JRE)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Provides the necessary libraries, class loaders, and the </a:t>
              </a: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Java Virtual Machine (JVM)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to execute compiled applications.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8" name="Google Shape;428;p36"/>
          <p:cNvGrpSpPr/>
          <p:nvPr/>
        </p:nvGrpSpPr>
        <p:grpSpPr>
          <a:xfrm>
            <a:off x="6096000" y="1762125"/>
            <a:ext cx="2476500" cy="2047800"/>
            <a:chOff x="0" y="0"/>
            <a:chExt cx="2476500" cy="2047800"/>
          </a:xfrm>
        </p:grpSpPr>
        <p:sp>
          <p:nvSpPr>
            <p:cNvPr id="429" name="Google Shape;429;p36"/>
            <p:cNvSpPr/>
            <p:nvPr/>
          </p:nvSpPr>
          <p:spPr>
            <a:xfrm>
              <a:off x="0" y="0"/>
              <a:ext cx="2476500" cy="2047800"/>
            </a:xfrm>
            <a:prstGeom prst="roundRect">
              <a:avLst>
                <a:gd fmla="val 558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6"/>
            <p:cNvSpPr txBox="1"/>
            <p:nvPr/>
          </p:nvSpPr>
          <p:spPr>
            <a:xfrm>
              <a:off x="190500" y="190500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UTILITIES</a:t>
              </a:r>
              <a:endParaRPr b="0" sz="10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Dev Tools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Includes highly essential debugging packages, build automation utilities, and documentation generators (</a:t>
              </a:r>
              <a:r>
                <a:rPr b="0" lang="en" sz="11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javadoc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571500" y="4048125"/>
            <a:ext cx="8001000" cy="714300"/>
            <a:chOff x="0" y="0"/>
            <a:chExt cx="8001000" cy="714300"/>
          </a:xfrm>
        </p:grpSpPr>
        <p:sp>
          <p:nvSpPr>
            <p:cNvPr id="432" name="Google Shape;432;p36"/>
            <p:cNvSpPr/>
            <p:nvPr/>
          </p:nvSpPr>
          <p:spPr>
            <a:xfrm>
              <a:off x="0" y="0"/>
              <a:ext cx="8001000" cy="714300"/>
            </a:xfrm>
            <a:prstGeom prst="roundRect">
              <a:avLst>
                <a:gd fmla="val 10666" name="adj"/>
              </a:avLst>
            </a:prstGeom>
            <a:solidFill>
              <a:srgbClr val="EFF6FF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6"/>
            <p:cNvSpPr/>
            <p:nvPr/>
          </p:nvSpPr>
          <p:spPr>
            <a:xfrm>
              <a:off x="0" y="0"/>
              <a:ext cx="57300" cy="714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6"/>
            <p:cNvSpPr txBox="1"/>
            <p:nvPr/>
          </p:nvSpPr>
          <p:spPr>
            <a:xfrm>
              <a:off x="228600" y="114300"/>
              <a:ext cx="7543800" cy="4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D4ED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EXECUTION FLOW:</a:t>
              </a:r>
              <a:r>
                <a:rPr b="0" lang="en" sz="105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The Compiler converts source code into bytecode. Subsequently, the Application Launcher initializes the JRE, loads the required classes, and executes the application's main method.</a:t>
              </a:r>
              <a:endParaRPr b="0" sz="105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9" name="Google Shape;439;p37"/>
          <p:cNvGrpSpPr/>
          <p:nvPr/>
        </p:nvGrpSpPr>
        <p:grpSpPr>
          <a:xfrm>
            <a:off x="571500" y="381000"/>
            <a:ext cx="8001000" cy="904800"/>
            <a:chOff x="0" y="0"/>
            <a:chExt cx="8001000" cy="904800"/>
          </a:xfrm>
        </p:grpSpPr>
        <p:sp>
          <p:nvSpPr>
            <p:cNvPr id="440" name="Google Shape;440;p37"/>
            <p:cNvSpPr/>
            <p:nvPr/>
          </p:nvSpPr>
          <p:spPr>
            <a:xfrm>
              <a:off x="0" y="0"/>
              <a:ext cx="8001000" cy="9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7"/>
            <p:cNvSpPr txBox="1"/>
            <p:nvPr/>
          </p:nvSpPr>
          <p:spPr>
            <a:xfrm>
              <a:off x="0" y="0"/>
              <a:ext cx="80010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Java Runtime Environment (JRE)</a:t>
              </a:r>
              <a:endParaRPr b="0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software layer designed to execute Java applications by providing class libraries and the virtual machine.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2" name="Google Shape;442;p37"/>
          <p:cNvGrpSpPr/>
          <p:nvPr/>
        </p:nvGrpSpPr>
        <p:grpSpPr>
          <a:xfrm>
            <a:off x="571500" y="1524000"/>
            <a:ext cx="2476500" cy="2238300"/>
            <a:chOff x="0" y="0"/>
            <a:chExt cx="2476500" cy="2238300"/>
          </a:xfrm>
        </p:grpSpPr>
        <p:sp>
          <p:nvSpPr>
            <p:cNvPr id="443" name="Google Shape;443;p37"/>
            <p:cNvSpPr/>
            <p:nvPr/>
          </p:nvSpPr>
          <p:spPr>
            <a:xfrm>
              <a:off x="0" y="0"/>
              <a:ext cx="2476500" cy="2238300"/>
            </a:xfrm>
            <a:prstGeom prst="roundRect">
              <a:avLst>
                <a:gd fmla="val 510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7"/>
            <p:cNvSpPr txBox="1"/>
            <p:nvPr/>
          </p:nvSpPr>
          <p:spPr>
            <a:xfrm>
              <a:off x="190500" y="190500"/>
              <a:ext cx="20955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ENVIRONMENT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Execution Purpose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Designed strictly to run other software. It packages essential class libraries, loader classes, and the JVM required for execution.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5" name="Google Shape;445;p37"/>
          <p:cNvGrpSpPr/>
          <p:nvPr/>
        </p:nvGrpSpPr>
        <p:grpSpPr>
          <a:xfrm>
            <a:off x="3333750" y="1524000"/>
            <a:ext cx="2476500" cy="2238300"/>
            <a:chOff x="0" y="0"/>
            <a:chExt cx="2476500" cy="2238300"/>
          </a:xfrm>
        </p:grpSpPr>
        <p:sp>
          <p:nvSpPr>
            <p:cNvPr id="446" name="Google Shape;446;p37"/>
            <p:cNvSpPr/>
            <p:nvPr/>
          </p:nvSpPr>
          <p:spPr>
            <a:xfrm>
              <a:off x="0" y="0"/>
              <a:ext cx="2476500" cy="2238300"/>
            </a:xfrm>
            <a:prstGeom prst="roundRect">
              <a:avLst>
                <a:gd fmla="val 510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7"/>
            <p:cNvSpPr txBox="1"/>
            <p:nvPr/>
          </p:nvSpPr>
          <p:spPr>
            <a:xfrm>
              <a:off x="190500" y="190500"/>
              <a:ext cx="20955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LIBRARIES</a:t>
              </a:r>
              <a:endParaRPr b="0" sz="10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Package Support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Does not include dev tools like compilers or debuggers. Uses standard packages like math, swing, util, lang, and awt.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8" name="Google Shape;448;p37"/>
          <p:cNvGrpSpPr/>
          <p:nvPr/>
        </p:nvGrpSpPr>
        <p:grpSpPr>
          <a:xfrm>
            <a:off x="6096000" y="1524000"/>
            <a:ext cx="2476500" cy="2238300"/>
            <a:chOff x="0" y="0"/>
            <a:chExt cx="2476500" cy="2238300"/>
          </a:xfrm>
        </p:grpSpPr>
        <p:sp>
          <p:nvSpPr>
            <p:cNvPr id="449" name="Google Shape;449;p37"/>
            <p:cNvSpPr/>
            <p:nvPr/>
          </p:nvSpPr>
          <p:spPr>
            <a:xfrm>
              <a:off x="0" y="0"/>
              <a:ext cx="2476500" cy="2238300"/>
            </a:xfrm>
            <a:prstGeom prst="roundRect">
              <a:avLst>
                <a:gd fmla="val 510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7"/>
            <p:cNvSpPr txBox="1"/>
            <p:nvPr/>
          </p:nvSpPr>
          <p:spPr>
            <a:xfrm>
              <a:off x="190500" y="190500"/>
              <a:ext cx="20955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A580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COMPONENTS</a:t>
              </a:r>
              <a:endParaRPr b="0" sz="100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Core Architecture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Class Library: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Core API packages to run Java apps.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JVM: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Converts bytecode to machine-specific code.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1" name="Google Shape;451;p37"/>
          <p:cNvGrpSpPr/>
          <p:nvPr/>
        </p:nvGrpSpPr>
        <p:grpSpPr>
          <a:xfrm>
            <a:off x="571500" y="4000500"/>
            <a:ext cx="8001000" cy="714300"/>
            <a:chOff x="0" y="0"/>
            <a:chExt cx="8001000" cy="714300"/>
          </a:xfrm>
        </p:grpSpPr>
        <p:sp>
          <p:nvSpPr>
            <p:cNvPr id="452" name="Google Shape;452;p37"/>
            <p:cNvSpPr/>
            <p:nvPr/>
          </p:nvSpPr>
          <p:spPr>
            <a:xfrm>
              <a:off x="0" y="0"/>
              <a:ext cx="8001000" cy="714300"/>
            </a:xfrm>
            <a:prstGeom prst="roundRect">
              <a:avLst>
                <a:gd fmla="val 10666" name="adj"/>
              </a:avLst>
            </a:prstGeom>
            <a:solidFill>
              <a:srgbClr val="EFF6FF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7"/>
            <p:cNvSpPr/>
            <p:nvPr/>
          </p:nvSpPr>
          <p:spPr>
            <a:xfrm>
              <a:off x="0" y="0"/>
              <a:ext cx="57300" cy="714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7"/>
            <p:cNvSpPr txBox="1"/>
            <p:nvPr/>
          </p:nvSpPr>
          <p:spPr>
            <a:xfrm>
              <a:off x="228600" y="114300"/>
              <a:ext cx="7543800" cy="4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D4ED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DEVELOPMENT VS RUNTIME:</a:t>
              </a:r>
              <a:r>
                <a:rPr b="0" lang="en" sz="110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For developing Java programs, you need the JDK. However, to run compiled Java programs, only the JRE is required.</a:t>
              </a:r>
              <a:endParaRPr b="0" sz="1100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38"/>
          <p:cNvGrpSpPr/>
          <p:nvPr/>
        </p:nvGrpSpPr>
        <p:grpSpPr>
          <a:xfrm>
            <a:off x="571500" y="381000"/>
            <a:ext cx="8001000" cy="904800"/>
            <a:chOff x="0" y="0"/>
            <a:chExt cx="8001000" cy="904800"/>
          </a:xfrm>
        </p:grpSpPr>
        <p:sp>
          <p:nvSpPr>
            <p:cNvPr id="460" name="Google Shape;460;p38"/>
            <p:cNvSpPr/>
            <p:nvPr/>
          </p:nvSpPr>
          <p:spPr>
            <a:xfrm>
              <a:off x="0" y="0"/>
              <a:ext cx="8001000" cy="9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8"/>
            <p:cNvSpPr txBox="1"/>
            <p:nvPr/>
          </p:nvSpPr>
          <p:spPr>
            <a:xfrm>
              <a:off x="0" y="0"/>
              <a:ext cx="80010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Working of JRE</a:t>
              </a:r>
              <a:endParaRPr b="0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step-by-step mechanism of how JRE execution enables write-once, run-anywhere capability.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2" name="Google Shape;462;p38"/>
          <p:cNvGrpSpPr/>
          <p:nvPr/>
        </p:nvGrpSpPr>
        <p:grpSpPr>
          <a:xfrm>
            <a:off x="571500" y="1524000"/>
            <a:ext cx="2476500" cy="2238300"/>
            <a:chOff x="0" y="0"/>
            <a:chExt cx="2476500" cy="2238300"/>
          </a:xfrm>
        </p:grpSpPr>
        <p:sp>
          <p:nvSpPr>
            <p:cNvPr id="463" name="Google Shape;463;p38"/>
            <p:cNvSpPr/>
            <p:nvPr/>
          </p:nvSpPr>
          <p:spPr>
            <a:xfrm>
              <a:off x="0" y="0"/>
              <a:ext cx="2476500" cy="2238300"/>
            </a:xfrm>
            <a:prstGeom prst="roundRect">
              <a:avLst>
                <a:gd fmla="val 510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4" name="Google Shape;464;p38"/>
            <p:cNvGrpSpPr/>
            <p:nvPr/>
          </p:nvGrpSpPr>
          <p:grpSpPr>
            <a:xfrm>
              <a:off x="190500" y="190500"/>
              <a:ext cx="2095500" cy="1857300"/>
              <a:chOff x="0" y="0"/>
              <a:chExt cx="2095500" cy="1857300"/>
            </a:xfrm>
          </p:grpSpPr>
          <p:sp>
            <p:nvSpPr>
              <p:cNvPr id="465" name="Google Shape;465;p38"/>
              <p:cNvSpPr/>
              <p:nvPr/>
            </p:nvSpPr>
            <p:spPr>
              <a:xfrm>
                <a:off x="0" y="0"/>
                <a:ext cx="2095500" cy="1857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38"/>
              <p:cNvSpPr txBox="1"/>
              <p:nvPr/>
            </p:nvSpPr>
            <p:spPr>
              <a:xfrm>
                <a:off x="0" y="0"/>
                <a:ext cx="2095500" cy="18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2563EB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01 / INTEGRATION</a:t>
                </a:r>
                <a:endParaRPr b="0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Code &amp; Libraries</a:t>
                </a:r>
                <a:endParaRPr b="0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Combines your custom Java code (compiled via JDK) with built-in system libraries to prepare for execution.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67" name="Google Shape;467;p38"/>
          <p:cNvGrpSpPr/>
          <p:nvPr/>
        </p:nvGrpSpPr>
        <p:grpSpPr>
          <a:xfrm>
            <a:off x="3333750" y="1524000"/>
            <a:ext cx="2476500" cy="2238300"/>
            <a:chOff x="0" y="0"/>
            <a:chExt cx="2476500" cy="2238300"/>
          </a:xfrm>
        </p:grpSpPr>
        <p:sp>
          <p:nvSpPr>
            <p:cNvPr id="468" name="Google Shape;468;p38"/>
            <p:cNvSpPr/>
            <p:nvPr/>
          </p:nvSpPr>
          <p:spPr>
            <a:xfrm>
              <a:off x="0" y="0"/>
              <a:ext cx="2476500" cy="2238300"/>
            </a:xfrm>
            <a:prstGeom prst="roundRect">
              <a:avLst>
                <a:gd fmla="val 510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9" name="Google Shape;469;p38"/>
            <p:cNvGrpSpPr/>
            <p:nvPr/>
          </p:nvGrpSpPr>
          <p:grpSpPr>
            <a:xfrm>
              <a:off x="190500" y="190500"/>
              <a:ext cx="2095500" cy="1857300"/>
              <a:chOff x="0" y="0"/>
              <a:chExt cx="2095500" cy="1857300"/>
            </a:xfrm>
          </p:grpSpPr>
          <p:sp>
            <p:nvSpPr>
              <p:cNvPr id="470" name="Google Shape;470;p38"/>
              <p:cNvSpPr/>
              <p:nvPr/>
            </p:nvSpPr>
            <p:spPr>
              <a:xfrm>
                <a:off x="0" y="0"/>
                <a:ext cx="2095500" cy="1857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38"/>
              <p:cNvSpPr txBox="1"/>
              <p:nvPr/>
            </p:nvSpPr>
            <p:spPr>
              <a:xfrm>
                <a:off x="0" y="0"/>
                <a:ext cx="2095500" cy="18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59669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02 / INSTANTIATION</a:t>
                </a:r>
                <a:endParaRPr b="0" sz="10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JVM Creation</a:t>
                </a:r>
                <a:endParaRPr b="0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Creates a local JVM instance (or active copy) that dynamically loads, verifies, and runs the Java application.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72" name="Google Shape;472;p38"/>
          <p:cNvGrpSpPr/>
          <p:nvPr/>
        </p:nvGrpSpPr>
        <p:grpSpPr>
          <a:xfrm>
            <a:off x="6096000" y="1524000"/>
            <a:ext cx="2476500" cy="2238300"/>
            <a:chOff x="0" y="0"/>
            <a:chExt cx="2476500" cy="2238300"/>
          </a:xfrm>
        </p:grpSpPr>
        <p:sp>
          <p:nvSpPr>
            <p:cNvPr id="473" name="Google Shape;473;p38"/>
            <p:cNvSpPr/>
            <p:nvPr/>
          </p:nvSpPr>
          <p:spPr>
            <a:xfrm>
              <a:off x="0" y="0"/>
              <a:ext cx="2476500" cy="2238300"/>
            </a:xfrm>
            <a:prstGeom prst="roundRect">
              <a:avLst>
                <a:gd fmla="val 510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4" name="Google Shape;474;p38"/>
            <p:cNvGrpSpPr/>
            <p:nvPr/>
          </p:nvGrpSpPr>
          <p:grpSpPr>
            <a:xfrm>
              <a:off x="190500" y="190500"/>
              <a:ext cx="2095500" cy="1857300"/>
              <a:chOff x="0" y="0"/>
              <a:chExt cx="2095500" cy="1857300"/>
            </a:xfrm>
          </p:grpSpPr>
          <p:sp>
            <p:nvSpPr>
              <p:cNvPr id="475" name="Google Shape;475;p38"/>
              <p:cNvSpPr/>
              <p:nvPr/>
            </p:nvSpPr>
            <p:spPr>
              <a:xfrm>
                <a:off x="0" y="0"/>
                <a:ext cx="2095500" cy="1857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38"/>
              <p:cNvSpPr txBox="1"/>
              <p:nvPr/>
            </p:nvSpPr>
            <p:spPr>
              <a:xfrm>
                <a:off x="0" y="0"/>
                <a:ext cx="2095500" cy="18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EA580C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03 / UNIVERSAL RUN</a:t>
                </a:r>
                <a:endParaRPr b="0" sz="1000">
                  <a:solidFill>
                    <a:srgbClr val="EA580C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Multi-OS Support</a:t>
                </a:r>
                <a:endParaRPr b="0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Runs a single compiled copy of your Java code across diverse, platform-specific JVMs built for different OS.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77" name="Google Shape;477;p38"/>
          <p:cNvGrpSpPr/>
          <p:nvPr/>
        </p:nvGrpSpPr>
        <p:grpSpPr>
          <a:xfrm>
            <a:off x="571500" y="4000500"/>
            <a:ext cx="8001000" cy="714300"/>
            <a:chOff x="0" y="0"/>
            <a:chExt cx="8001000" cy="714300"/>
          </a:xfrm>
        </p:grpSpPr>
        <p:sp>
          <p:nvSpPr>
            <p:cNvPr id="478" name="Google Shape;478;p38"/>
            <p:cNvSpPr/>
            <p:nvPr/>
          </p:nvSpPr>
          <p:spPr>
            <a:xfrm>
              <a:off x="0" y="0"/>
              <a:ext cx="8001000" cy="714300"/>
            </a:xfrm>
            <a:prstGeom prst="roundRect">
              <a:avLst>
                <a:gd fmla="val 10666" name="adj"/>
              </a:avLst>
            </a:prstGeom>
            <a:solidFill>
              <a:srgbClr val="EFF6FF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8"/>
            <p:cNvSpPr/>
            <p:nvPr/>
          </p:nvSpPr>
          <p:spPr>
            <a:xfrm>
              <a:off x="0" y="0"/>
              <a:ext cx="57300" cy="714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0" name="Google Shape;480;p38"/>
            <p:cNvGrpSpPr/>
            <p:nvPr/>
          </p:nvGrpSpPr>
          <p:grpSpPr>
            <a:xfrm>
              <a:off x="228600" y="114300"/>
              <a:ext cx="7543800" cy="485700"/>
              <a:chOff x="0" y="0"/>
              <a:chExt cx="7543800" cy="485700"/>
            </a:xfrm>
          </p:grpSpPr>
          <p:sp>
            <p:nvSpPr>
              <p:cNvPr id="481" name="Google Shape;481;p38"/>
              <p:cNvSpPr/>
              <p:nvPr/>
            </p:nvSpPr>
            <p:spPr>
              <a:xfrm>
                <a:off x="0" y="0"/>
                <a:ext cx="7543800" cy="485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38"/>
              <p:cNvSpPr txBox="1"/>
              <p:nvPr/>
            </p:nvSpPr>
            <p:spPr>
              <a:xfrm>
                <a:off x="0" y="0"/>
                <a:ext cx="7543800" cy="48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D4ED8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PLATFORM INDEPENDENCE: </a:t>
                </a:r>
                <a:r>
                  <a:rPr b="0" lang="en" sz="1100">
                    <a:solidFill>
                      <a:srgbClr val="1E40AF"/>
                    </a:solidFill>
                    <a:latin typeface="Inter"/>
                    <a:ea typeface="Inter"/>
                    <a:cs typeface="Inter"/>
                    <a:sym typeface="Inter"/>
                  </a:rPr>
                  <a:t>In this way, the JRE facilitates absolute platform independence for Java applications. You can write your code once and run it anywhere.</a:t>
                </a:r>
                <a:endParaRPr b="0" sz="1100">
                  <a:solidFill>
                    <a:srgbClr val="1D4ED8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p39"/>
          <p:cNvGrpSpPr/>
          <p:nvPr/>
        </p:nvGrpSpPr>
        <p:grpSpPr>
          <a:xfrm>
            <a:off x="571500" y="381000"/>
            <a:ext cx="8001000" cy="904800"/>
            <a:chOff x="0" y="0"/>
            <a:chExt cx="8001000" cy="904800"/>
          </a:xfrm>
        </p:grpSpPr>
        <p:sp>
          <p:nvSpPr>
            <p:cNvPr id="488" name="Google Shape;488;p39"/>
            <p:cNvSpPr/>
            <p:nvPr/>
          </p:nvSpPr>
          <p:spPr>
            <a:xfrm>
              <a:off x="0" y="0"/>
              <a:ext cx="8001000" cy="9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9"/>
            <p:cNvSpPr txBox="1"/>
            <p:nvPr/>
          </p:nvSpPr>
          <p:spPr>
            <a:xfrm>
              <a:off x="0" y="0"/>
              <a:ext cx="80010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Java Virtual Machine (JVM)</a:t>
              </a:r>
              <a:endParaRPr b="0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An engine within the JRE that provides a runtime environment to drive and execute Java applications.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90" name="Google Shape;490;p39"/>
          <p:cNvGrpSpPr/>
          <p:nvPr/>
        </p:nvGrpSpPr>
        <p:grpSpPr>
          <a:xfrm>
            <a:off x="571500" y="1524000"/>
            <a:ext cx="2476500" cy="2238300"/>
            <a:chOff x="0" y="0"/>
            <a:chExt cx="2476500" cy="2238300"/>
          </a:xfrm>
        </p:grpSpPr>
        <p:sp>
          <p:nvSpPr>
            <p:cNvPr id="491" name="Google Shape;491;p39"/>
            <p:cNvSpPr/>
            <p:nvPr/>
          </p:nvSpPr>
          <p:spPr>
            <a:xfrm>
              <a:off x="0" y="0"/>
              <a:ext cx="2476500" cy="2238300"/>
            </a:xfrm>
            <a:prstGeom prst="roundRect">
              <a:avLst>
                <a:gd fmla="val 510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9"/>
            <p:cNvSpPr txBox="1"/>
            <p:nvPr/>
          </p:nvSpPr>
          <p:spPr>
            <a:xfrm>
              <a:off x="190500" y="190500"/>
              <a:ext cx="20955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RUNTIME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Execution Engine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Serves as the core engine providing a virtual environment to load, verify, and run Java code.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333750" y="1524000"/>
            <a:ext cx="2476500" cy="2238300"/>
            <a:chOff x="0" y="0"/>
            <a:chExt cx="2476500" cy="2238300"/>
          </a:xfrm>
        </p:grpSpPr>
        <p:sp>
          <p:nvSpPr>
            <p:cNvPr id="494" name="Google Shape;494;p39"/>
            <p:cNvSpPr/>
            <p:nvPr/>
          </p:nvSpPr>
          <p:spPr>
            <a:xfrm>
              <a:off x="0" y="0"/>
              <a:ext cx="2476500" cy="2238300"/>
            </a:xfrm>
            <a:prstGeom prst="roundRect">
              <a:avLst>
                <a:gd fmla="val 510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9"/>
            <p:cNvSpPr txBox="1"/>
            <p:nvPr/>
          </p:nvSpPr>
          <p:spPr>
            <a:xfrm>
              <a:off x="190500" y="190500"/>
              <a:ext cx="20955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BYTECODE</a:t>
              </a:r>
              <a:endParaRPr b="0" sz="10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Binary Translation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Converts intermediate bytecode into hardware-readable binary machine code for execution on host systems.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6096000" y="1524000"/>
            <a:ext cx="2476500" cy="2238300"/>
            <a:chOff x="0" y="0"/>
            <a:chExt cx="2476500" cy="2238300"/>
          </a:xfrm>
        </p:grpSpPr>
        <p:sp>
          <p:nvSpPr>
            <p:cNvPr id="497" name="Google Shape;497;p39"/>
            <p:cNvSpPr/>
            <p:nvPr/>
          </p:nvSpPr>
          <p:spPr>
            <a:xfrm>
              <a:off x="0" y="0"/>
              <a:ext cx="2476500" cy="2238300"/>
            </a:xfrm>
            <a:prstGeom prst="roundRect">
              <a:avLst>
                <a:gd fmla="val 510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9"/>
            <p:cNvSpPr txBox="1"/>
            <p:nvPr/>
          </p:nvSpPr>
          <p:spPr>
            <a:xfrm>
              <a:off x="190500" y="190500"/>
              <a:ext cx="20955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A580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OPTIMIZATION</a:t>
              </a:r>
              <a:endParaRPr b="0" sz="100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JIT Compilation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Utilizes JIT (Just-In-Time) compilers to translate bytecode into highly optimized low-level machine language.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571500" y="4000500"/>
            <a:ext cx="8001000" cy="714300"/>
            <a:chOff x="0" y="0"/>
            <a:chExt cx="8001000" cy="714300"/>
          </a:xfrm>
        </p:grpSpPr>
        <p:sp>
          <p:nvSpPr>
            <p:cNvPr id="500" name="Google Shape;500;p39"/>
            <p:cNvSpPr/>
            <p:nvPr/>
          </p:nvSpPr>
          <p:spPr>
            <a:xfrm>
              <a:off x="0" y="0"/>
              <a:ext cx="8001000" cy="714300"/>
            </a:xfrm>
            <a:prstGeom prst="roundRect">
              <a:avLst>
                <a:gd fmla="val 10666" name="adj"/>
              </a:avLst>
            </a:prstGeom>
            <a:solidFill>
              <a:srgbClr val="EFF6FF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9"/>
            <p:cNvSpPr/>
            <p:nvPr/>
          </p:nvSpPr>
          <p:spPr>
            <a:xfrm>
              <a:off x="0" y="0"/>
              <a:ext cx="57300" cy="714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9"/>
            <p:cNvSpPr txBox="1"/>
            <p:nvPr/>
          </p:nvSpPr>
          <p:spPr>
            <a:xfrm>
              <a:off x="228600" y="114300"/>
              <a:ext cx="7543800" cy="4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D4ED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NOTE ON DEPENDENCY: </a:t>
              </a:r>
              <a:r>
                <a:rPr b="0" lang="en" sz="110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Although JVM enables platform-independent execution of Java source code, the JVM software itself is platform-dependent and handles memory allocation.</a:t>
              </a:r>
              <a:endParaRPr b="0" sz="1100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40"/>
          <p:cNvGrpSpPr/>
          <p:nvPr/>
        </p:nvGrpSpPr>
        <p:grpSpPr>
          <a:xfrm>
            <a:off x="571500" y="381000"/>
            <a:ext cx="8001000" cy="904800"/>
            <a:chOff x="0" y="0"/>
            <a:chExt cx="8001000" cy="904800"/>
          </a:xfrm>
        </p:grpSpPr>
        <p:sp>
          <p:nvSpPr>
            <p:cNvPr id="508" name="Google Shape;508;p40"/>
            <p:cNvSpPr/>
            <p:nvPr/>
          </p:nvSpPr>
          <p:spPr>
            <a:xfrm>
              <a:off x="0" y="0"/>
              <a:ext cx="8001000" cy="9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0"/>
            <p:cNvSpPr txBox="1"/>
            <p:nvPr/>
          </p:nvSpPr>
          <p:spPr>
            <a:xfrm>
              <a:off x="0" y="0"/>
              <a:ext cx="80010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Java Virtual Machine (JVM) Architecture</a:t>
              </a:r>
              <a:endParaRPr b="0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complete blueprint of loading, memory allocation, and execution subsystems.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0" name="Google Shape;510;p40"/>
          <p:cNvGrpSpPr/>
          <p:nvPr/>
        </p:nvGrpSpPr>
        <p:grpSpPr>
          <a:xfrm>
            <a:off x="571500" y="1476375"/>
            <a:ext cx="3905400" cy="3095700"/>
            <a:chOff x="0" y="0"/>
            <a:chExt cx="3905400" cy="3095700"/>
          </a:xfrm>
        </p:grpSpPr>
        <p:sp>
          <p:nvSpPr>
            <p:cNvPr id="511" name="Google Shape;511;p40"/>
            <p:cNvSpPr/>
            <p:nvPr/>
          </p:nvSpPr>
          <p:spPr>
            <a:xfrm>
              <a:off x="0" y="0"/>
              <a:ext cx="3905400" cy="3095700"/>
            </a:xfrm>
            <a:prstGeom prst="roundRect">
              <a:avLst>
                <a:gd fmla="val 369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40"/>
            <p:cNvSpPr txBox="1"/>
            <p:nvPr/>
          </p:nvSpPr>
          <p:spPr>
            <a:xfrm>
              <a:off x="190500" y="190500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SUBSYSTEM DIAGRAM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Architecture Flow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513" name="Google Shape;513;p40"/>
          <p:cNvGrpSpPr/>
          <p:nvPr/>
        </p:nvGrpSpPr>
        <p:grpSpPr>
          <a:xfrm>
            <a:off x="4667250" y="1476375"/>
            <a:ext cx="3905400" cy="904800"/>
            <a:chOff x="0" y="0"/>
            <a:chExt cx="3905400" cy="904800"/>
          </a:xfrm>
        </p:grpSpPr>
        <p:sp>
          <p:nvSpPr>
            <p:cNvPr id="514" name="Google Shape;514;p40"/>
            <p:cNvSpPr/>
            <p:nvPr/>
          </p:nvSpPr>
          <p:spPr>
            <a:xfrm>
              <a:off x="0" y="0"/>
              <a:ext cx="3905400" cy="904800"/>
            </a:xfrm>
            <a:prstGeom prst="roundRect">
              <a:avLst>
                <a:gd fmla="val 1263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40"/>
            <p:cNvSpPr txBox="1"/>
            <p:nvPr/>
          </p:nvSpPr>
          <p:spPr>
            <a:xfrm>
              <a:off x="190500" y="142875"/>
              <a:ext cx="35244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8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CLASS LOADER</a:t>
              </a:r>
              <a:endParaRPr b="0" sz="68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Loading, Linking &amp; Initialization</a:t>
              </a:r>
              <a:endParaRPr b="0" sz="102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Dynamically loads class files into the JVM memory and handles security checks and linking.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4667250" y="2571750"/>
            <a:ext cx="3905400" cy="904800"/>
            <a:chOff x="0" y="0"/>
            <a:chExt cx="3905400" cy="904800"/>
          </a:xfrm>
        </p:grpSpPr>
        <p:sp>
          <p:nvSpPr>
            <p:cNvPr id="517" name="Google Shape;517;p40"/>
            <p:cNvSpPr/>
            <p:nvPr/>
          </p:nvSpPr>
          <p:spPr>
            <a:xfrm>
              <a:off x="0" y="0"/>
              <a:ext cx="3905400" cy="904800"/>
            </a:xfrm>
            <a:prstGeom prst="roundRect">
              <a:avLst>
                <a:gd fmla="val 1263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0"/>
            <p:cNvSpPr txBox="1"/>
            <p:nvPr/>
          </p:nvSpPr>
          <p:spPr>
            <a:xfrm>
              <a:off x="190500" y="142875"/>
              <a:ext cx="35244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80">
                  <a:solidFill>
                    <a:srgbClr val="EA580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RUNTIME DATA AREAS</a:t>
              </a:r>
              <a:endParaRPr b="0" sz="68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JVM Memory Allocation</a:t>
              </a:r>
              <a:endParaRPr b="0" sz="102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Allocates distinct memory regions for Method Area, Heap, JVM Stacks, and PC Registers.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4667250" y="3667125"/>
            <a:ext cx="3905400" cy="904800"/>
            <a:chOff x="0" y="0"/>
            <a:chExt cx="3905400" cy="904800"/>
          </a:xfrm>
        </p:grpSpPr>
        <p:sp>
          <p:nvSpPr>
            <p:cNvPr id="520" name="Google Shape;520;p40"/>
            <p:cNvSpPr/>
            <p:nvPr/>
          </p:nvSpPr>
          <p:spPr>
            <a:xfrm>
              <a:off x="0" y="0"/>
              <a:ext cx="3905400" cy="904800"/>
            </a:xfrm>
            <a:prstGeom prst="roundRect">
              <a:avLst>
                <a:gd fmla="val 1263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40"/>
            <p:cNvSpPr txBox="1"/>
            <p:nvPr/>
          </p:nvSpPr>
          <p:spPr>
            <a:xfrm>
              <a:off x="190500" y="142875"/>
              <a:ext cx="35244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8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 / EXECUTION ENGINE</a:t>
              </a:r>
              <a:endParaRPr b="0" sz="68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Execution &amp; Native Interfaces</a:t>
              </a:r>
              <a:endParaRPr b="0" sz="102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Translates intermediate bytecode to native instructions using JIT compilers and interpreters.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522" name="Google Shape;52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040" y="2096605"/>
            <a:ext cx="3800326" cy="226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7" name="Google Shape;527;p41"/>
          <p:cNvGrpSpPr/>
          <p:nvPr/>
        </p:nvGrpSpPr>
        <p:grpSpPr>
          <a:xfrm>
            <a:off x="571500" y="381000"/>
            <a:ext cx="8001000" cy="762000"/>
            <a:chOff x="0" y="0"/>
            <a:chExt cx="8001000" cy="762000"/>
          </a:xfrm>
        </p:grpSpPr>
        <p:sp>
          <p:nvSpPr>
            <p:cNvPr id="528" name="Google Shape;528;p41"/>
            <p:cNvSpPr/>
            <p:nvPr/>
          </p:nvSpPr>
          <p:spPr>
            <a:xfrm>
              <a:off x="0" y="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1"/>
            <p:cNvSpPr txBox="1"/>
            <p:nvPr/>
          </p:nvSpPr>
          <p:spPr>
            <a:xfrm>
              <a:off x="0" y="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JVM Architecture (Contd.)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deep dive into class loading, memory layout, registers, and execution sub-systems.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0" name="Google Shape;530;p41"/>
          <p:cNvGrpSpPr/>
          <p:nvPr/>
        </p:nvGrpSpPr>
        <p:grpSpPr>
          <a:xfrm>
            <a:off x="571500" y="1238250"/>
            <a:ext cx="3905400" cy="1095300"/>
            <a:chOff x="0" y="0"/>
            <a:chExt cx="3905400" cy="1095300"/>
          </a:xfrm>
        </p:grpSpPr>
        <p:sp>
          <p:nvSpPr>
            <p:cNvPr id="531" name="Google Shape;531;p41"/>
            <p:cNvSpPr/>
            <p:nvPr/>
          </p:nvSpPr>
          <p:spPr>
            <a:xfrm>
              <a:off x="0" y="0"/>
              <a:ext cx="3905400" cy="1095300"/>
            </a:xfrm>
            <a:prstGeom prst="roundRect">
              <a:avLst>
                <a:gd fmla="val 869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1"/>
            <p:cNvSpPr txBox="1"/>
            <p:nvPr/>
          </p:nvSpPr>
          <p:spPr>
            <a:xfrm>
              <a:off x="142875" y="114300"/>
              <a:ext cx="3619500" cy="8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SUBSYSTEM</a:t>
              </a:r>
              <a:endParaRPr b="0" sz="8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Class Loader</a:t>
              </a:r>
              <a:endParaRPr b="0" sz="1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class loader is a subsystem used for loading class files. It performs three major functions viz. Loading, Linking, and Initialization.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3" name="Google Shape;533;p41"/>
          <p:cNvGrpSpPr/>
          <p:nvPr/>
        </p:nvGrpSpPr>
        <p:grpSpPr>
          <a:xfrm>
            <a:off x="571500" y="2428875"/>
            <a:ext cx="3905400" cy="1095300"/>
            <a:chOff x="0" y="0"/>
            <a:chExt cx="3905400" cy="1095300"/>
          </a:xfrm>
        </p:grpSpPr>
        <p:sp>
          <p:nvSpPr>
            <p:cNvPr id="534" name="Google Shape;534;p41"/>
            <p:cNvSpPr/>
            <p:nvPr/>
          </p:nvSpPr>
          <p:spPr>
            <a:xfrm>
              <a:off x="0" y="0"/>
              <a:ext cx="3905400" cy="1095300"/>
            </a:xfrm>
            <a:prstGeom prst="roundRect">
              <a:avLst>
                <a:gd fmla="val 869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1"/>
            <p:cNvSpPr txBox="1"/>
            <p:nvPr/>
          </p:nvSpPr>
          <p:spPr>
            <a:xfrm>
              <a:off x="142875" y="114300"/>
              <a:ext cx="3619500" cy="8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EA580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MEMORY AREA</a:t>
              </a:r>
              <a:endParaRPr b="0" sz="80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Method Area</a:t>
              </a:r>
              <a:endParaRPr b="0" sz="1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JVM Method Area stores class structures like metadata, the constant runtime pool, and the code for methods.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6" name="Google Shape;536;p41"/>
          <p:cNvGrpSpPr/>
          <p:nvPr/>
        </p:nvGrpSpPr>
        <p:grpSpPr>
          <a:xfrm>
            <a:off x="571500" y="3619500"/>
            <a:ext cx="3905400" cy="1095300"/>
            <a:chOff x="0" y="0"/>
            <a:chExt cx="3905400" cy="1095300"/>
          </a:xfrm>
        </p:grpSpPr>
        <p:sp>
          <p:nvSpPr>
            <p:cNvPr id="537" name="Google Shape;537;p41"/>
            <p:cNvSpPr/>
            <p:nvPr/>
          </p:nvSpPr>
          <p:spPr>
            <a:xfrm>
              <a:off x="0" y="0"/>
              <a:ext cx="3905400" cy="1095300"/>
            </a:xfrm>
            <a:prstGeom prst="roundRect">
              <a:avLst>
                <a:gd fmla="val 869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41"/>
            <p:cNvSpPr txBox="1"/>
            <p:nvPr/>
          </p:nvSpPr>
          <p:spPr>
            <a:xfrm>
              <a:off x="142875" y="114300"/>
              <a:ext cx="3619500" cy="8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SHARED MEMORY</a:t>
              </a:r>
              <a:endParaRPr b="0" sz="8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Heap</a:t>
              </a:r>
              <a:endParaRPr b="0" sz="1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All the Objects, their related instance variables, and arrays are stored in the heap. This memory is common and shared across multiple threads.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4667250" y="1238250"/>
            <a:ext cx="3905400" cy="1095300"/>
            <a:chOff x="0" y="0"/>
            <a:chExt cx="3905400" cy="1095300"/>
          </a:xfrm>
        </p:grpSpPr>
        <p:sp>
          <p:nvSpPr>
            <p:cNvPr id="540" name="Google Shape;540;p41"/>
            <p:cNvSpPr/>
            <p:nvPr/>
          </p:nvSpPr>
          <p:spPr>
            <a:xfrm>
              <a:off x="0" y="0"/>
              <a:ext cx="3905400" cy="1095300"/>
            </a:xfrm>
            <a:prstGeom prst="roundRect">
              <a:avLst>
                <a:gd fmla="val 869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41"/>
            <p:cNvSpPr txBox="1"/>
            <p:nvPr/>
          </p:nvSpPr>
          <p:spPr>
            <a:xfrm>
              <a:off x="142875" y="114300"/>
              <a:ext cx="3619500" cy="8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F46E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 / THREAD MEMORY</a:t>
              </a:r>
              <a:endParaRPr b="0" sz="800">
                <a:solidFill>
                  <a:srgbClr val="4F46E5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JVM Language Stack</a:t>
              </a:r>
              <a:endParaRPr b="0" sz="1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Stores local variables and partial results. A thread has its own JVM stack, creating frames on invocation and deleting them on completion.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4667250" y="2428875"/>
            <a:ext cx="3905400" cy="1095300"/>
            <a:chOff x="0" y="0"/>
            <a:chExt cx="3905400" cy="1095300"/>
          </a:xfrm>
        </p:grpSpPr>
        <p:sp>
          <p:nvSpPr>
            <p:cNvPr id="543" name="Google Shape;543;p41"/>
            <p:cNvSpPr/>
            <p:nvPr/>
          </p:nvSpPr>
          <p:spPr>
            <a:xfrm>
              <a:off x="0" y="0"/>
              <a:ext cx="3905400" cy="1095300"/>
            </a:xfrm>
            <a:prstGeom prst="roundRect">
              <a:avLst>
                <a:gd fmla="val 869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1"/>
            <p:cNvSpPr txBox="1"/>
            <p:nvPr/>
          </p:nvSpPr>
          <p:spPr>
            <a:xfrm>
              <a:off x="142875" y="114300"/>
              <a:ext cx="3619500" cy="8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06B6D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05 / EXECUTION STATE</a:t>
              </a:r>
              <a:endParaRPr b="0" sz="800">
                <a:solidFill>
                  <a:srgbClr val="06B6D4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Program Counter (PC) Registers</a:t>
              </a:r>
              <a:endParaRPr b="0" sz="1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PC registers store the address of the executing JVM instruction. In Java, every active thread maintains its own independent, separate PC register.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4667250" y="3619500"/>
            <a:ext cx="3905400" cy="1095300"/>
            <a:chOff x="0" y="0"/>
            <a:chExt cx="3905400" cy="1095300"/>
          </a:xfrm>
        </p:grpSpPr>
        <p:sp>
          <p:nvSpPr>
            <p:cNvPr id="546" name="Google Shape;546;p41"/>
            <p:cNvSpPr/>
            <p:nvPr/>
          </p:nvSpPr>
          <p:spPr>
            <a:xfrm>
              <a:off x="0" y="0"/>
              <a:ext cx="3905400" cy="1095300"/>
            </a:xfrm>
            <a:prstGeom prst="roundRect">
              <a:avLst>
                <a:gd fmla="val 869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41"/>
            <p:cNvSpPr txBox="1"/>
            <p:nvPr/>
          </p:nvSpPr>
          <p:spPr>
            <a:xfrm>
              <a:off x="142875" y="114300"/>
              <a:ext cx="3619500" cy="8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9333E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06 / EXECUTION</a:t>
              </a:r>
              <a:endParaRPr b="0" sz="800">
                <a:solidFill>
                  <a:srgbClr val="9333E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Execution Engine</a:t>
              </a:r>
              <a:endParaRPr b="0" sz="1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Native method stacks hold instructions of native code which depend on native libraries, and are typically written in languages other than Java.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42"/>
          <p:cNvGrpSpPr/>
          <p:nvPr/>
        </p:nvGrpSpPr>
        <p:grpSpPr>
          <a:xfrm>
            <a:off x="571500" y="381000"/>
            <a:ext cx="8001000" cy="762000"/>
            <a:chOff x="0" y="0"/>
            <a:chExt cx="8001000" cy="762000"/>
          </a:xfrm>
        </p:grpSpPr>
        <p:sp>
          <p:nvSpPr>
            <p:cNvPr id="553" name="Google Shape;553;p42"/>
            <p:cNvSpPr/>
            <p:nvPr/>
          </p:nvSpPr>
          <p:spPr>
            <a:xfrm>
              <a:off x="0" y="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42"/>
            <p:cNvSpPr txBox="1"/>
            <p:nvPr/>
          </p:nvSpPr>
          <p:spPr>
            <a:xfrm>
              <a:off x="0" y="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JVM Architecture (Contd.)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deep dive into execution subsystems, native interfaces, and library integrations.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5" name="Google Shape;555;p42"/>
          <p:cNvGrpSpPr/>
          <p:nvPr/>
        </p:nvGrpSpPr>
        <p:grpSpPr>
          <a:xfrm>
            <a:off x="571500" y="1381125"/>
            <a:ext cx="2476500" cy="3048000"/>
            <a:chOff x="0" y="0"/>
            <a:chExt cx="2476500" cy="3048000"/>
          </a:xfrm>
        </p:grpSpPr>
        <p:sp>
          <p:nvSpPr>
            <p:cNvPr id="556" name="Google Shape;556;p42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42"/>
            <p:cNvSpPr txBox="1"/>
            <p:nvPr/>
          </p:nvSpPr>
          <p:spPr>
            <a:xfrm>
              <a:off x="171450" y="171450"/>
              <a:ext cx="2133600" cy="27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9333E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07 / SUBSYSTEM</a:t>
              </a:r>
              <a:endParaRPr b="0" sz="800">
                <a:solidFill>
                  <a:srgbClr val="9333E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Execution Engine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It is a type of software used to test hardware, software, or complete systems. The test execution engine never carries any information about the tested product.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8" name="Google Shape;558;p42"/>
          <p:cNvGrpSpPr/>
          <p:nvPr/>
        </p:nvGrpSpPr>
        <p:grpSpPr>
          <a:xfrm>
            <a:off x="3333750" y="1381125"/>
            <a:ext cx="2476500" cy="3048000"/>
            <a:chOff x="0" y="0"/>
            <a:chExt cx="2476500" cy="3048000"/>
          </a:xfrm>
        </p:grpSpPr>
        <p:sp>
          <p:nvSpPr>
            <p:cNvPr id="559" name="Google Shape;559;p42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2"/>
            <p:cNvSpPr txBox="1"/>
            <p:nvPr/>
          </p:nvSpPr>
          <p:spPr>
            <a:xfrm>
              <a:off x="171450" y="171450"/>
              <a:ext cx="2133600" cy="27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EA580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08 / INTERFACE</a:t>
              </a:r>
              <a:endParaRPr b="0" sz="80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Native Method Interface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Native Method Interface is a programming framework. It allows Java code which is running in a JVM to call by libraries and native applications.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6096000" y="1381125"/>
            <a:ext cx="2476500" cy="3048000"/>
            <a:chOff x="0" y="0"/>
            <a:chExt cx="2476500" cy="3048000"/>
          </a:xfrm>
        </p:grpSpPr>
        <p:sp>
          <p:nvSpPr>
            <p:cNvPr id="562" name="Google Shape;562;p42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2"/>
            <p:cNvSpPr txBox="1"/>
            <p:nvPr/>
          </p:nvSpPr>
          <p:spPr>
            <a:xfrm>
              <a:off x="171450" y="171450"/>
              <a:ext cx="2133600" cy="27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LIBRARIES</a:t>
              </a:r>
              <a:endParaRPr b="0" sz="8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Native Method Libraries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Native Libraries is a collection of the Native Libraries(C, C++) which are needed by the Execution Engine.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8" name="Google Shape;568;p43"/>
          <p:cNvGrpSpPr/>
          <p:nvPr/>
        </p:nvGrpSpPr>
        <p:grpSpPr>
          <a:xfrm>
            <a:off x="571500" y="381000"/>
            <a:ext cx="8001000" cy="762000"/>
            <a:chOff x="0" y="0"/>
            <a:chExt cx="8001000" cy="762000"/>
          </a:xfrm>
        </p:grpSpPr>
        <p:sp>
          <p:nvSpPr>
            <p:cNvPr id="569" name="Google Shape;569;p43"/>
            <p:cNvSpPr/>
            <p:nvPr/>
          </p:nvSpPr>
          <p:spPr>
            <a:xfrm>
              <a:off x="0" y="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3"/>
            <p:cNvSpPr txBox="1"/>
            <p:nvPr/>
          </p:nvSpPr>
          <p:spPr>
            <a:xfrm>
              <a:off x="0" y="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JVM Memory Management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An overview of how Java handles object allocation, self-maintenance, and reclamation.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1" name="Google Shape;571;p43"/>
          <p:cNvGrpSpPr/>
          <p:nvPr/>
        </p:nvGrpSpPr>
        <p:grpSpPr>
          <a:xfrm>
            <a:off x="571500" y="1381125"/>
            <a:ext cx="2476500" cy="3048000"/>
            <a:chOff x="0" y="0"/>
            <a:chExt cx="2476500" cy="3048000"/>
          </a:xfrm>
        </p:grpSpPr>
        <p:sp>
          <p:nvSpPr>
            <p:cNvPr id="572" name="Google Shape;572;p43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3"/>
            <p:cNvSpPr txBox="1"/>
            <p:nvPr/>
          </p:nvSpPr>
          <p:spPr>
            <a:xfrm>
              <a:off x="171450" y="171450"/>
              <a:ext cx="2133600" cy="27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PROCESS</a:t>
              </a:r>
              <a:endParaRPr b="0" sz="80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Memory Allocation</a:t>
              </a:r>
              <a:endParaRPr b="0" sz="80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process of allocating space for new objects and removing unused objects to make room for subsequent allocations.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4" name="Google Shape;574;p43"/>
          <p:cNvGrpSpPr/>
          <p:nvPr/>
        </p:nvGrpSpPr>
        <p:grpSpPr>
          <a:xfrm>
            <a:off x="3333750" y="1381125"/>
            <a:ext cx="2476500" cy="3048000"/>
            <a:chOff x="0" y="0"/>
            <a:chExt cx="2476500" cy="3048000"/>
          </a:xfrm>
        </p:grpSpPr>
        <p:sp>
          <p:nvSpPr>
            <p:cNvPr id="575" name="Google Shape;575;p43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3"/>
            <p:cNvSpPr txBox="1"/>
            <p:nvPr/>
          </p:nvSpPr>
          <p:spPr>
            <a:xfrm>
              <a:off x="171450" y="171450"/>
              <a:ext cx="2133600" cy="27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AUTOMATION</a:t>
              </a:r>
              <a:endParaRPr b="0" sz="8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Self-Maintenance</a:t>
              </a:r>
              <a:endParaRPr b="0" sz="8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Java automatically manages memory in the background, requiring no explicit assistance or manual tracking from the programmer.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7" name="Google Shape;577;p43"/>
          <p:cNvGrpSpPr/>
          <p:nvPr/>
        </p:nvGrpSpPr>
        <p:grpSpPr>
          <a:xfrm>
            <a:off x="6096000" y="1381125"/>
            <a:ext cx="2476500" cy="3048000"/>
            <a:chOff x="0" y="0"/>
            <a:chExt cx="2476500" cy="3048000"/>
          </a:xfrm>
        </p:grpSpPr>
        <p:sp>
          <p:nvSpPr>
            <p:cNvPr id="578" name="Google Shape;578;p43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3"/>
            <p:cNvSpPr txBox="1"/>
            <p:nvPr/>
          </p:nvSpPr>
          <p:spPr>
            <a:xfrm>
              <a:off x="171450" y="171450"/>
              <a:ext cx="2133600" cy="27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EF444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RECLAMATION</a:t>
              </a:r>
              <a:endParaRPr b="0" sz="800">
                <a:solidFill>
                  <a:srgbClr val="EF4444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Garbage Collection</a:t>
              </a:r>
              <a:endParaRPr b="0" sz="800">
                <a:solidFill>
                  <a:srgbClr val="EF4444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Guarantees that memory is automatically released when no longer needed, ensuring that unused space is cleanly recycled.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JDK vs. JRE vs. JVM</a:t>
            </a:r>
            <a:endParaRPr sz="24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95652"/>
              <a:buFont typeface="Arial"/>
              <a:buNone/>
            </a:pPr>
            <a:r>
              <a:rPr lang="en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Understanding the core components, runtime relationships, and development tools in the Java ecosystem.</a:t>
            </a:r>
            <a:endParaRPr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5" name="Google Shape;58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1625" y="1152475"/>
            <a:ext cx="3309924" cy="335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oogle Shape;590;p45"/>
          <p:cNvGrpSpPr/>
          <p:nvPr/>
        </p:nvGrpSpPr>
        <p:grpSpPr>
          <a:xfrm>
            <a:off x="571500" y="381000"/>
            <a:ext cx="8001000" cy="762000"/>
            <a:chOff x="0" y="0"/>
            <a:chExt cx="8001000" cy="762000"/>
          </a:xfrm>
        </p:grpSpPr>
        <p:sp>
          <p:nvSpPr>
            <p:cNvPr id="591" name="Google Shape;591;p45"/>
            <p:cNvSpPr/>
            <p:nvPr/>
          </p:nvSpPr>
          <p:spPr>
            <a:xfrm>
              <a:off x="0" y="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45"/>
            <p:cNvSpPr txBox="1"/>
            <p:nvPr/>
          </p:nvSpPr>
          <p:spPr>
            <a:xfrm>
              <a:off x="0" y="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JDK vs. JRE vs. JVM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Understanding the core components, runtime relationships, and development tools in the Java ecosystem.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93" name="Google Shape;593;p45"/>
          <p:cNvGrpSpPr/>
          <p:nvPr/>
        </p:nvGrpSpPr>
        <p:grpSpPr>
          <a:xfrm>
            <a:off x="571500" y="1381125"/>
            <a:ext cx="2476500" cy="3048000"/>
            <a:chOff x="0" y="0"/>
            <a:chExt cx="2476500" cy="3048000"/>
          </a:xfrm>
        </p:grpSpPr>
        <p:sp>
          <p:nvSpPr>
            <p:cNvPr id="594" name="Google Shape;594;p45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45"/>
            <p:cNvSpPr txBox="1"/>
            <p:nvPr/>
          </p:nvSpPr>
          <p:spPr>
            <a:xfrm>
              <a:off x="171450" y="171450"/>
              <a:ext cx="2133600" cy="27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RUNTIME ENGINE</a:t>
              </a:r>
              <a:endParaRPr b="0" sz="8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JVM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Java Virtual Machine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is the core execution engine that runs compiled Java bytecode on any device or OS.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Components:</a:t>
              </a:r>
              <a:endParaRPr b="0" sz="9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28892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Bytecode Interpreter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Classloader Subsystem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Garbage Collector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96" name="Google Shape;596;p45"/>
          <p:cNvGrpSpPr/>
          <p:nvPr/>
        </p:nvGrpSpPr>
        <p:grpSpPr>
          <a:xfrm>
            <a:off x="3333750" y="1381125"/>
            <a:ext cx="2476500" cy="3048000"/>
            <a:chOff x="0" y="0"/>
            <a:chExt cx="2476500" cy="3048000"/>
          </a:xfrm>
        </p:grpSpPr>
        <p:sp>
          <p:nvSpPr>
            <p:cNvPr id="597" name="Google Shape;597;p45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5"/>
            <p:cNvSpPr txBox="1"/>
            <p:nvPr/>
          </p:nvSpPr>
          <p:spPr>
            <a:xfrm>
              <a:off x="171450" y="171450"/>
              <a:ext cx="2133600" cy="27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EA580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ENVIRONMENT</a:t>
              </a:r>
              <a:endParaRPr b="0" sz="80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JRE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Java Runtime Environment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provides the minimum requirements to execute a Java application.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Components:</a:t>
              </a:r>
              <a:endParaRPr b="0" sz="9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28892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b="1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JVM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(Execution Engine)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Java Class Libraries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Support Files &amp; Resources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99" name="Google Shape;599;p45"/>
          <p:cNvGrpSpPr/>
          <p:nvPr/>
        </p:nvGrpSpPr>
        <p:grpSpPr>
          <a:xfrm>
            <a:off x="6096000" y="1381125"/>
            <a:ext cx="2476500" cy="3048000"/>
            <a:chOff x="0" y="0"/>
            <a:chExt cx="2476500" cy="3048000"/>
          </a:xfrm>
        </p:grpSpPr>
        <p:sp>
          <p:nvSpPr>
            <p:cNvPr id="600" name="Google Shape;600;p45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5"/>
            <p:cNvSpPr txBox="1"/>
            <p:nvPr/>
          </p:nvSpPr>
          <p:spPr>
            <a:xfrm>
              <a:off x="171450" y="171450"/>
              <a:ext cx="2133600" cy="27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DEVELOPMENT</a:t>
              </a:r>
              <a:endParaRPr b="0" sz="80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JDK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Java Development Kit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is a full software development environment used to build and compile Java programs.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Components:</a:t>
              </a:r>
              <a:endParaRPr b="0" sz="9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28892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b="1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JRE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(Runtime Environment)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Compiler (</a:t>
              </a:r>
              <a:r>
                <a:rPr b="0" lang="en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javac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Tools (</a:t>
              </a:r>
              <a:r>
                <a:rPr b="0" lang="en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javadoc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debugger)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6" name="Google Shape;606;p46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607" name="Google Shape;607;p46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46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Features of Java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Core design principles that make Java a versatile, powerful, and enduring programming language.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9" name="Google Shape;609;p46"/>
          <p:cNvGrpSpPr/>
          <p:nvPr/>
        </p:nvGrpSpPr>
        <p:grpSpPr>
          <a:xfrm>
            <a:off x="476250" y="1381125"/>
            <a:ext cx="1905000" cy="3048000"/>
            <a:chOff x="0" y="0"/>
            <a:chExt cx="1905000" cy="3048000"/>
          </a:xfrm>
        </p:grpSpPr>
        <p:sp>
          <p:nvSpPr>
            <p:cNvPr id="610" name="Google Shape;610;p46"/>
            <p:cNvSpPr/>
            <p:nvPr/>
          </p:nvSpPr>
          <p:spPr>
            <a:xfrm>
              <a:off x="0" y="0"/>
              <a:ext cx="19050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46"/>
            <p:cNvSpPr txBox="1"/>
            <p:nvPr/>
          </p:nvSpPr>
          <p:spPr>
            <a:xfrm>
              <a:off x="142875" y="142875"/>
              <a:ext cx="16191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ACCESSIBLE</a:t>
              </a:r>
              <a:endParaRPr b="0" sz="8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Simple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Learning &amp; practicing Java is easy because of its strong resemblance to C &amp; C++.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12" name="Google Shape;612;p46"/>
          <p:cNvGrpSpPr/>
          <p:nvPr/>
        </p:nvGrpSpPr>
        <p:grpSpPr>
          <a:xfrm>
            <a:off x="2571750" y="1381125"/>
            <a:ext cx="1905000" cy="3048000"/>
            <a:chOff x="0" y="0"/>
            <a:chExt cx="1905000" cy="3048000"/>
          </a:xfrm>
        </p:grpSpPr>
        <p:sp>
          <p:nvSpPr>
            <p:cNvPr id="613" name="Google Shape;613;p46"/>
            <p:cNvSpPr/>
            <p:nvPr/>
          </p:nvSpPr>
          <p:spPr>
            <a:xfrm>
              <a:off x="0" y="0"/>
              <a:ext cx="19050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46"/>
            <p:cNvSpPr txBox="1"/>
            <p:nvPr/>
          </p:nvSpPr>
          <p:spPr>
            <a:xfrm>
              <a:off x="142875" y="142875"/>
              <a:ext cx="16191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PARADIGM</a:t>
              </a:r>
              <a:endParaRPr b="0" sz="80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OOP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Java is designed as a purely object oriented programming language from the ground up.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15" name="Google Shape;615;p46"/>
          <p:cNvGrpSpPr/>
          <p:nvPr/>
        </p:nvGrpSpPr>
        <p:grpSpPr>
          <a:xfrm>
            <a:off x="4667250" y="1381125"/>
            <a:ext cx="1905000" cy="3048000"/>
            <a:chOff x="0" y="0"/>
            <a:chExt cx="1905000" cy="3048000"/>
          </a:xfrm>
        </p:grpSpPr>
        <p:sp>
          <p:nvSpPr>
            <p:cNvPr id="616" name="Google Shape;616;p46"/>
            <p:cNvSpPr/>
            <p:nvPr/>
          </p:nvSpPr>
          <p:spPr>
            <a:xfrm>
              <a:off x="0" y="0"/>
              <a:ext cx="19050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46"/>
            <p:cNvSpPr txBox="1"/>
            <p:nvPr/>
          </p:nvSpPr>
          <p:spPr>
            <a:xfrm>
              <a:off x="142875" y="142875"/>
              <a:ext cx="16191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EA580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NETWORKED</a:t>
              </a:r>
              <a:endParaRPr b="0" sz="80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Distributed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60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Designed for internet environments. Handles TCP/IP protocols and supports Remote Method Invocation (RMI).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18" name="Google Shape;618;p46"/>
          <p:cNvGrpSpPr/>
          <p:nvPr/>
        </p:nvGrpSpPr>
        <p:grpSpPr>
          <a:xfrm>
            <a:off x="6762750" y="1381125"/>
            <a:ext cx="1905000" cy="3048000"/>
            <a:chOff x="0" y="0"/>
            <a:chExt cx="1905000" cy="3048000"/>
          </a:xfrm>
        </p:grpSpPr>
        <p:sp>
          <p:nvSpPr>
            <p:cNvPr id="619" name="Google Shape;619;p46"/>
            <p:cNvSpPr/>
            <p:nvPr/>
          </p:nvSpPr>
          <p:spPr>
            <a:xfrm>
              <a:off x="0" y="0"/>
              <a:ext cx="19050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6"/>
            <p:cNvSpPr txBox="1"/>
            <p:nvPr/>
          </p:nvSpPr>
          <p:spPr>
            <a:xfrm>
              <a:off x="142875" y="142875"/>
              <a:ext cx="16191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B5C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 / STABLE</a:t>
              </a:r>
              <a:endParaRPr b="0" sz="800">
                <a:solidFill>
                  <a:srgbClr val="8B5C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Robust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Java programs prevent crashes through strict built-in exception handling &amp; active memory management.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625;p47"/>
          <p:cNvGrpSpPr/>
          <p:nvPr/>
        </p:nvGrpSpPr>
        <p:grpSpPr>
          <a:xfrm>
            <a:off x="571500" y="381000"/>
            <a:ext cx="8001000" cy="762000"/>
            <a:chOff x="0" y="0"/>
            <a:chExt cx="8001000" cy="762000"/>
          </a:xfrm>
        </p:grpSpPr>
        <p:sp>
          <p:nvSpPr>
            <p:cNvPr id="626" name="Google Shape;626;p47"/>
            <p:cNvSpPr/>
            <p:nvPr/>
          </p:nvSpPr>
          <p:spPr>
            <a:xfrm>
              <a:off x="0" y="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47"/>
            <p:cNvSpPr txBox="1"/>
            <p:nvPr/>
          </p:nvSpPr>
          <p:spPr>
            <a:xfrm>
              <a:off x="0" y="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Features of Java (Contd.)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Exploring portability, bytecode interpretation, and JIT-compiled execution performance.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28" name="Google Shape;628;p47"/>
          <p:cNvGrpSpPr/>
          <p:nvPr/>
        </p:nvGrpSpPr>
        <p:grpSpPr>
          <a:xfrm>
            <a:off x="571500" y="1381125"/>
            <a:ext cx="3810000" cy="3048000"/>
            <a:chOff x="0" y="0"/>
            <a:chExt cx="3810000" cy="3048000"/>
          </a:xfrm>
        </p:grpSpPr>
        <p:sp>
          <p:nvSpPr>
            <p:cNvPr id="629" name="Google Shape;629;p47"/>
            <p:cNvSpPr/>
            <p:nvPr/>
          </p:nvSpPr>
          <p:spPr>
            <a:xfrm>
              <a:off x="0" y="0"/>
              <a:ext cx="3810000" cy="3048000"/>
            </a:xfrm>
            <a:prstGeom prst="roundRect">
              <a:avLst>
                <a:gd fmla="val 312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47"/>
            <p:cNvSpPr txBox="1"/>
            <p:nvPr/>
          </p:nvSpPr>
          <p:spPr>
            <a:xfrm>
              <a:off x="228600" y="228600"/>
              <a:ext cx="3352800" cy="25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05 / INDEPENDENT</a:t>
              </a:r>
              <a:endParaRPr b="0" sz="8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Portable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Java does not have implementation dependent aspects and yet yields or gives the same result on any machine.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Platform Independent</a:t>
              </a:r>
              <a:endParaRPr b="1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Write Once, Run Anywhere (WORA) philosophy guarantees code runs identically across all supporting operating systems.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31" name="Google Shape;631;p47"/>
          <p:cNvGrpSpPr/>
          <p:nvPr/>
        </p:nvGrpSpPr>
        <p:grpSpPr>
          <a:xfrm>
            <a:off x="4762500" y="1381125"/>
            <a:ext cx="3810000" cy="3048000"/>
            <a:chOff x="0" y="0"/>
            <a:chExt cx="3810000" cy="3048000"/>
          </a:xfrm>
        </p:grpSpPr>
        <p:sp>
          <p:nvSpPr>
            <p:cNvPr id="632" name="Google Shape;632;p47"/>
            <p:cNvSpPr/>
            <p:nvPr/>
          </p:nvSpPr>
          <p:spPr>
            <a:xfrm>
              <a:off x="0" y="0"/>
              <a:ext cx="3810000" cy="3048000"/>
            </a:xfrm>
            <a:prstGeom prst="roundRect">
              <a:avLst>
                <a:gd fmla="val 312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7"/>
            <p:cNvSpPr txBox="1"/>
            <p:nvPr/>
          </p:nvSpPr>
          <p:spPr>
            <a:xfrm>
              <a:off x="228600" y="228600"/>
              <a:ext cx="3352800" cy="25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06 / EFFICIENT</a:t>
              </a:r>
              <a:endParaRPr b="0" sz="80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Interpreted &amp; High Performance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Java programs are compiled to intermediate bytecode, which is dynamically downloaded and interpreted by the JVM.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Execution Enhancements:</a:t>
              </a:r>
              <a:endParaRPr b="0" sz="9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28892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b="1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JIT Compiler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: Enhances speed by compiling hot code paths into native machine instructions.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JVM Interpreter: Direct execution of byte code via a highly optimized execution loop.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8" name="Google Shape;638;p48"/>
          <p:cNvGrpSpPr/>
          <p:nvPr/>
        </p:nvGrpSpPr>
        <p:grpSpPr>
          <a:xfrm>
            <a:off x="571500" y="381000"/>
            <a:ext cx="8001000" cy="762000"/>
            <a:chOff x="0" y="0"/>
            <a:chExt cx="8001000" cy="762000"/>
          </a:xfrm>
        </p:grpSpPr>
        <p:sp>
          <p:nvSpPr>
            <p:cNvPr id="639" name="Google Shape;639;p48"/>
            <p:cNvSpPr/>
            <p:nvPr/>
          </p:nvSpPr>
          <p:spPr>
            <a:xfrm>
              <a:off x="0" y="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48"/>
            <p:cNvSpPr txBox="1"/>
            <p:nvPr/>
          </p:nvSpPr>
          <p:spPr>
            <a:xfrm>
              <a:off x="0" y="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Features of Java (Contd.)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Understanding concurrency, network adaptability, and architectural independence.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41" name="Google Shape;641;p48"/>
          <p:cNvGrpSpPr/>
          <p:nvPr/>
        </p:nvGrpSpPr>
        <p:grpSpPr>
          <a:xfrm>
            <a:off x="571500" y="1381125"/>
            <a:ext cx="2476500" cy="3048000"/>
            <a:chOff x="0" y="0"/>
            <a:chExt cx="2476500" cy="3048000"/>
          </a:xfrm>
        </p:grpSpPr>
        <p:sp>
          <p:nvSpPr>
            <p:cNvPr id="642" name="Google Shape;642;p48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48"/>
            <p:cNvSpPr txBox="1"/>
            <p:nvPr/>
          </p:nvSpPr>
          <p:spPr>
            <a:xfrm>
              <a:off x="190500" y="190500"/>
              <a:ext cx="20955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EA580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07 / COMPATIBLE</a:t>
              </a:r>
              <a:endParaRPr b="0" sz="80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Architectural Neutral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Java byte code is not machine dependent. It can run on any machine with any processor and with any operating system.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44" name="Google Shape;644;p48"/>
          <p:cNvGrpSpPr/>
          <p:nvPr/>
        </p:nvGrpSpPr>
        <p:grpSpPr>
          <a:xfrm>
            <a:off x="3333750" y="1381125"/>
            <a:ext cx="2476500" cy="3048000"/>
            <a:chOff x="0" y="0"/>
            <a:chExt cx="2476500" cy="3048000"/>
          </a:xfrm>
        </p:grpSpPr>
        <p:sp>
          <p:nvSpPr>
            <p:cNvPr id="645" name="Google Shape;645;p48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8"/>
            <p:cNvSpPr txBox="1"/>
            <p:nvPr/>
          </p:nvSpPr>
          <p:spPr>
            <a:xfrm>
              <a:off x="190500" y="190500"/>
              <a:ext cx="20955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B5C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08 / CONCURRENT</a:t>
              </a:r>
              <a:endParaRPr b="0" sz="800">
                <a:solidFill>
                  <a:srgbClr val="8B5C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Multithreaded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Executing different parts of programs simultaneously. This is an essential feature to design robust server-side programs.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47" name="Google Shape;647;p48"/>
          <p:cNvGrpSpPr/>
          <p:nvPr/>
        </p:nvGrpSpPr>
        <p:grpSpPr>
          <a:xfrm>
            <a:off x="6096000" y="1381125"/>
            <a:ext cx="2476500" cy="3048000"/>
            <a:chOff x="0" y="0"/>
            <a:chExt cx="2476500" cy="3048000"/>
          </a:xfrm>
        </p:grpSpPr>
        <p:sp>
          <p:nvSpPr>
            <p:cNvPr id="648" name="Google Shape;648;p48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48"/>
            <p:cNvSpPr txBox="1"/>
            <p:nvPr/>
          </p:nvSpPr>
          <p:spPr>
            <a:xfrm>
              <a:off x="190500" y="190500"/>
              <a:ext cx="20955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ADAPTIVE</a:t>
              </a:r>
              <a:endParaRPr b="0" sz="8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Dynamic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Develop programs in Java which dynamically change on the Internet, such as Applet-based web execution environments.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9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Java Platforms</a:t>
            </a:r>
            <a:endParaRPr b="0" sz="24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Exploring the distinct runtime environments and frameworks of the Java ecosystem.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55" name="Google Shape;655;p49"/>
          <p:cNvGrpSpPr/>
          <p:nvPr/>
        </p:nvGrpSpPr>
        <p:grpSpPr>
          <a:xfrm>
            <a:off x="381000" y="1524000"/>
            <a:ext cx="1952700" cy="3048000"/>
            <a:chOff x="0" y="0"/>
            <a:chExt cx="1952700" cy="3048000"/>
          </a:xfrm>
        </p:grpSpPr>
        <p:sp>
          <p:nvSpPr>
            <p:cNvPr id="656" name="Google Shape;656;p49"/>
            <p:cNvSpPr/>
            <p:nvPr/>
          </p:nvSpPr>
          <p:spPr>
            <a:xfrm>
              <a:off x="0" y="0"/>
              <a:ext cx="1952700" cy="3048000"/>
            </a:xfrm>
            <a:prstGeom prst="roundRect">
              <a:avLst>
                <a:gd fmla="val 487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49"/>
            <p:cNvSpPr txBox="1"/>
            <p:nvPr/>
          </p:nvSpPr>
          <p:spPr>
            <a:xfrm>
              <a:off x="171450" y="190500"/>
              <a:ext cx="16098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F811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EMBEDDED</a:t>
              </a:r>
              <a:endParaRPr b="0" sz="800">
                <a:solidFill>
                  <a:srgbClr val="FF811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J2ME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Micro Edition</a:t>
              </a:r>
              <a:endParaRPr b="0" sz="10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Specifies libraries for devices with limited storage, display, and power capacities like mobile devices, PDAs, and embedded systems.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58" name="Google Shape;658;p49"/>
          <p:cNvGrpSpPr/>
          <p:nvPr/>
        </p:nvGrpSpPr>
        <p:grpSpPr>
          <a:xfrm>
            <a:off x="2524125" y="1524000"/>
            <a:ext cx="1952700" cy="3048000"/>
            <a:chOff x="0" y="0"/>
            <a:chExt cx="1952700" cy="3048000"/>
          </a:xfrm>
        </p:grpSpPr>
        <p:sp>
          <p:nvSpPr>
            <p:cNvPr id="659" name="Google Shape;659;p49"/>
            <p:cNvSpPr/>
            <p:nvPr/>
          </p:nvSpPr>
          <p:spPr>
            <a:xfrm>
              <a:off x="0" y="0"/>
              <a:ext cx="1952700" cy="3048000"/>
            </a:xfrm>
            <a:prstGeom prst="roundRect">
              <a:avLst>
                <a:gd fmla="val 487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9"/>
            <p:cNvSpPr txBox="1"/>
            <p:nvPr/>
          </p:nvSpPr>
          <p:spPr>
            <a:xfrm>
              <a:off x="171450" y="190500"/>
              <a:ext cx="16098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ENTERPRISE</a:t>
              </a:r>
              <a:endParaRPr b="0" sz="80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J2EE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Enterprise Edition</a:t>
              </a:r>
              <a:endParaRPr b="0" sz="10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Extends Java SE with various robust APIs designed useful for multi-tier client–server enterprise applications.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61" name="Google Shape;661;p49"/>
          <p:cNvGrpSpPr/>
          <p:nvPr/>
        </p:nvGrpSpPr>
        <p:grpSpPr>
          <a:xfrm>
            <a:off x="4667250" y="1524000"/>
            <a:ext cx="1952700" cy="3048000"/>
            <a:chOff x="0" y="0"/>
            <a:chExt cx="1952700" cy="3048000"/>
          </a:xfrm>
        </p:grpSpPr>
        <p:sp>
          <p:nvSpPr>
            <p:cNvPr id="662" name="Google Shape;662;p49"/>
            <p:cNvSpPr/>
            <p:nvPr/>
          </p:nvSpPr>
          <p:spPr>
            <a:xfrm>
              <a:off x="0" y="0"/>
              <a:ext cx="1952700" cy="3048000"/>
            </a:xfrm>
            <a:prstGeom prst="roundRect">
              <a:avLst>
                <a:gd fmla="val 487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49"/>
            <p:cNvSpPr txBox="1"/>
            <p:nvPr/>
          </p:nvSpPr>
          <p:spPr>
            <a:xfrm>
              <a:off x="171450" y="190500"/>
              <a:ext cx="16098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CORE</a:t>
              </a:r>
              <a:endParaRPr b="0" sz="8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J2SE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Standard Edition</a:t>
              </a:r>
              <a:endParaRPr b="0" sz="10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foundational framework for general-purpose use on desktop PCs, servers, and similar computing hardware environments.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64" name="Google Shape;664;p49"/>
          <p:cNvGrpSpPr/>
          <p:nvPr/>
        </p:nvGrpSpPr>
        <p:grpSpPr>
          <a:xfrm>
            <a:off x="6810375" y="1524000"/>
            <a:ext cx="1952700" cy="3048000"/>
            <a:chOff x="0" y="0"/>
            <a:chExt cx="1952700" cy="3048000"/>
          </a:xfrm>
        </p:grpSpPr>
        <p:sp>
          <p:nvSpPr>
            <p:cNvPr id="665" name="Google Shape;665;p49"/>
            <p:cNvSpPr/>
            <p:nvPr/>
          </p:nvSpPr>
          <p:spPr>
            <a:xfrm>
              <a:off x="0" y="0"/>
              <a:ext cx="1952700" cy="3048000"/>
            </a:xfrm>
            <a:prstGeom prst="roundRect">
              <a:avLst>
                <a:gd fmla="val 487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9"/>
            <p:cNvSpPr txBox="1"/>
            <p:nvPr/>
          </p:nvSpPr>
          <p:spPr>
            <a:xfrm>
              <a:off x="171450" y="190500"/>
              <a:ext cx="16098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B5C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 / GRAPHICS</a:t>
              </a:r>
              <a:endParaRPr b="0" sz="800">
                <a:solidFill>
                  <a:srgbClr val="8B5C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Java FX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Rich UI Platform</a:t>
              </a:r>
              <a:endParaRPr b="0" sz="10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lightweight user-interface platform for developing and deploying rich internet applications with high performance visual assets.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1" name="Google Shape;671;p50"/>
          <p:cNvGrpSpPr/>
          <p:nvPr/>
        </p:nvGrpSpPr>
        <p:grpSpPr>
          <a:xfrm>
            <a:off x="571500" y="381000"/>
            <a:ext cx="8001000" cy="762000"/>
            <a:chOff x="0" y="0"/>
            <a:chExt cx="8001000" cy="762000"/>
          </a:xfrm>
        </p:grpSpPr>
        <p:sp>
          <p:nvSpPr>
            <p:cNvPr id="672" name="Google Shape;672;p50"/>
            <p:cNvSpPr/>
            <p:nvPr/>
          </p:nvSpPr>
          <p:spPr>
            <a:xfrm>
              <a:off x="0" y="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50"/>
            <p:cNvSpPr txBox="1"/>
            <p:nvPr/>
          </p:nvSpPr>
          <p:spPr>
            <a:xfrm>
              <a:off x="0" y="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Basic Program Syntax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fundamental structural blueprint for writing executable Java applications.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74" name="Google Shape;674;p50"/>
          <p:cNvGrpSpPr/>
          <p:nvPr/>
        </p:nvGrpSpPr>
        <p:grpSpPr>
          <a:xfrm>
            <a:off x="1143000" y="1381125"/>
            <a:ext cx="6858000" cy="3048000"/>
            <a:chOff x="0" y="0"/>
            <a:chExt cx="6858000" cy="3048000"/>
          </a:xfrm>
        </p:grpSpPr>
        <p:sp>
          <p:nvSpPr>
            <p:cNvPr id="675" name="Google Shape;675;p50"/>
            <p:cNvSpPr/>
            <p:nvPr/>
          </p:nvSpPr>
          <p:spPr>
            <a:xfrm>
              <a:off x="0" y="0"/>
              <a:ext cx="6858000" cy="3048000"/>
            </a:xfrm>
            <a:prstGeom prst="roundRect">
              <a:avLst>
                <a:gd fmla="val 3750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50"/>
            <p:cNvSpPr/>
            <p:nvPr/>
          </p:nvSpPr>
          <p:spPr>
            <a:xfrm>
              <a:off x="171450" y="1714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50"/>
            <p:cNvSpPr/>
            <p:nvPr/>
          </p:nvSpPr>
          <p:spPr>
            <a:xfrm>
              <a:off x="361950" y="1714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50"/>
            <p:cNvSpPr/>
            <p:nvPr/>
          </p:nvSpPr>
          <p:spPr>
            <a:xfrm>
              <a:off x="552450" y="1714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50"/>
            <p:cNvSpPr txBox="1"/>
            <p:nvPr/>
          </p:nvSpPr>
          <p:spPr>
            <a:xfrm>
              <a:off x="228600" y="533400"/>
              <a:ext cx="64008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</a:t>
              </a:r>
              <a:r>
                <a:rPr lang="en" sz="16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6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Classname</a:t>
              </a:r>
              <a:r>
                <a:rPr lang="en" sz="16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{</a:t>
              </a:r>
              <a:endPara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810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static void</a:t>
              </a:r>
              <a:r>
                <a:rPr lang="en" sz="16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6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</a:t>
              </a:r>
              <a:r>
                <a:rPr lang="en" sz="16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" sz="1600">
                  <a:solidFill>
                    <a:srgbClr val="A78B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en" sz="16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args[]) {</a:t>
              </a:r>
              <a:endPara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7620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A78B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</a:t>
              </a:r>
              <a:r>
                <a:rPr lang="en" sz="16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.out.println();</a:t>
              </a:r>
              <a:endPara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810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" name="Google Shape;684;p51"/>
          <p:cNvGrpSpPr/>
          <p:nvPr/>
        </p:nvGrpSpPr>
        <p:grpSpPr>
          <a:xfrm>
            <a:off x="381000" y="381000"/>
            <a:ext cx="8382000" cy="762000"/>
            <a:chOff x="0" y="0"/>
            <a:chExt cx="8382000" cy="762000"/>
          </a:xfrm>
        </p:grpSpPr>
        <p:sp>
          <p:nvSpPr>
            <p:cNvPr id="685" name="Google Shape;685;p51"/>
            <p:cNvSpPr/>
            <p:nvPr/>
          </p:nvSpPr>
          <p:spPr>
            <a:xfrm>
              <a:off x="0" y="0"/>
              <a:ext cx="838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51"/>
            <p:cNvSpPr txBox="1"/>
            <p:nvPr/>
          </p:nvSpPr>
          <p:spPr>
            <a:xfrm>
              <a:off x="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main() Method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foundational entry point and execution mechanism in Java programming.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7" name="Google Shape;687;p51"/>
          <p:cNvGrpSpPr/>
          <p:nvPr/>
        </p:nvGrpSpPr>
        <p:grpSpPr>
          <a:xfrm>
            <a:off x="381000" y="1428750"/>
            <a:ext cx="2533800" cy="3143400"/>
            <a:chOff x="0" y="0"/>
            <a:chExt cx="2533800" cy="3143400"/>
          </a:xfrm>
        </p:grpSpPr>
        <p:sp>
          <p:nvSpPr>
            <p:cNvPr id="688" name="Google Shape;688;p51"/>
            <p:cNvSpPr/>
            <p:nvPr/>
          </p:nvSpPr>
          <p:spPr>
            <a:xfrm>
              <a:off x="0" y="0"/>
              <a:ext cx="2533800" cy="3143400"/>
            </a:xfrm>
            <a:prstGeom prst="roundRect">
              <a:avLst>
                <a:gd fmla="val 451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51"/>
            <p:cNvSpPr txBox="1"/>
            <p:nvPr/>
          </p:nvSpPr>
          <p:spPr>
            <a:xfrm>
              <a:off x="190500" y="228600"/>
              <a:ext cx="21528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EXECUTION</a:t>
              </a:r>
              <a:endParaRPr b="0" sz="8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Program Entry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JVM Entry Point</a:t>
              </a:r>
              <a:endParaRPr b="0" sz="10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Acts as the execution starting point. While not required for compilation, the JVM searches for this exact method to initiate execution.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0" name="Google Shape;690;p51"/>
          <p:cNvGrpSpPr/>
          <p:nvPr/>
        </p:nvGrpSpPr>
        <p:grpSpPr>
          <a:xfrm>
            <a:off x="3305175" y="1428750"/>
            <a:ext cx="2533800" cy="3143400"/>
            <a:chOff x="0" y="0"/>
            <a:chExt cx="2533800" cy="3143400"/>
          </a:xfrm>
        </p:grpSpPr>
        <p:sp>
          <p:nvSpPr>
            <p:cNvPr id="691" name="Google Shape;691;p51"/>
            <p:cNvSpPr/>
            <p:nvPr/>
          </p:nvSpPr>
          <p:spPr>
            <a:xfrm>
              <a:off x="0" y="0"/>
              <a:ext cx="2533800" cy="3143400"/>
            </a:xfrm>
            <a:prstGeom prst="roundRect">
              <a:avLst>
                <a:gd fmla="val 451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51"/>
            <p:cNvSpPr txBox="1"/>
            <p:nvPr/>
          </p:nvSpPr>
          <p:spPr>
            <a:xfrm>
              <a:off x="190500" y="228600"/>
              <a:ext cx="21528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KEY MODIFIERS</a:t>
              </a:r>
              <a:endParaRPr b="0" sz="80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Public &amp; Static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Access &amp; Lifecycle</a:t>
              </a:r>
              <a:endParaRPr b="0" sz="10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Must be </a:t>
              </a: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public</a:t>
              </a: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so the JRE can access it globally. Must be </a:t>
              </a: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static</a:t>
              </a: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so the JVM can invoke it without instantiating the class.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3" name="Google Shape;693;p51"/>
          <p:cNvGrpSpPr/>
          <p:nvPr/>
        </p:nvGrpSpPr>
        <p:grpSpPr>
          <a:xfrm>
            <a:off x="6229350" y="1428750"/>
            <a:ext cx="2533800" cy="3143400"/>
            <a:chOff x="0" y="0"/>
            <a:chExt cx="2533800" cy="3143400"/>
          </a:xfrm>
        </p:grpSpPr>
        <p:sp>
          <p:nvSpPr>
            <p:cNvPr id="694" name="Google Shape;694;p51"/>
            <p:cNvSpPr/>
            <p:nvPr/>
          </p:nvSpPr>
          <p:spPr>
            <a:xfrm>
              <a:off x="0" y="0"/>
              <a:ext cx="2533800" cy="3143400"/>
            </a:xfrm>
            <a:prstGeom prst="roundRect">
              <a:avLst>
                <a:gd fmla="val 451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51"/>
            <p:cNvSpPr txBox="1"/>
            <p:nvPr/>
          </p:nvSpPr>
          <p:spPr>
            <a:xfrm>
              <a:off x="190500" y="228600"/>
              <a:ext cx="21528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B5C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SIGNATURE</a:t>
              </a:r>
              <a:endParaRPr b="0" sz="800">
                <a:solidFill>
                  <a:srgbClr val="8B5C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Void &amp; Args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Return &amp; Input</a:t>
              </a:r>
              <a:endParaRPr b="0" sz="10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Does not return any value (</a:t>
              </a: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void</a:t>
              </a: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) and accepts a </a:t>
              </a: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String[]</a:t>
              </a: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array parameter to receive command-line arguments.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2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main() Method rules</a:t>
            </a:r>
            <a:endParaRPr b="0" sz="24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Key behaviors, compiler traits, and structural conventions of Java's entry point.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01" name="Google Shape;701;p52"/>
          <p:cNvGrpSpPr/>
          <p:nvPr/>
        </p:nvGrpSpPr>
        <p:grpSpPr>
          <a:xfrm>
            <a:off x="381000" y="1428750"/>
            <a:ext cx="1952700" cy="3143400"/>
            <a:chOff x="0" y="0"/>
            <a:chExt cx="1952700" cy="3143400"/>
          </a:xfrm>
        </p:grpSpPr>
        <p:sp>
          <p:nvSpPr>
            <p:cNvPr id="702" name="Google Shape;702;p52"/>
            <p:cNvSpPr/>
            <p:nvPr/>
          </p:nvSpPr>
          <p:spPr>
            <a:xfrm>
              <a:off x="0" y="0"/>
              <a:ext cx="1952700" cy="31434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52"/>
            <p:cNvSpPr txBox="1"/>
            <p:nvPr/>
          </p:nvSpPr>
          <p:spPr>
            <a:xfrm>
              <a:off x="190500" y="228600"/>
              <a:ext cx="15717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MODIFIERS</a:t>
              </a:r>
              <a:endParaRPr b="0" sz="8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Modifier Order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Syntax Convention</a:t>
              </a:r>
              <a:endParaRPr b="0" sz="10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modifiers </a:t>
              </a: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public</a:t>
              </a: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static</a:t>
              </a: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can be written in either order, but the standard convention is </a:t>
              </a: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public static</a:t>
              </a: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04" name="Google Shape;704;p52"/>
          <p:cNvGrpSpPr/>
          <p:nvPr/>
        </p:nvGrpSpPr>
        <p:grpSpPr>
          <a:xfrm>
            <a:off x="2524125" y="1428750"/>
            <a:ext cx="1952700" cy="3143400"/>
            <a:chOff x="0" y="0"/>
            <a:chExt cx="1952700" cy="3143400"/>
          </a:xfrm>
        </p:grpSpPr>
        <p:sp>
          <p:nvSpPr>
            <p:cNvPr id="705" name="Google Shape;705;p52"/>
            <p:cNvSpPr/>
            <p:nvPr/>
          </p:nvSpPr>
          <p:spPr>
            <a:xfrm>
              <a:off x="0" y="0"/>
              <a:ext cx="1952700" cy="31434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52"/>
            <p:cNvSpPr txBox="1"/>
            <p:nvPr/>
          </p:nvSpPr>
          <p:spPr>
            <a:xfrm>
              <a:off x="190500" y="228600"/>
              <a:ext cx="15717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JVM ENTRY</a:t>
              </a:r>
              <a:endParaRPr b="0" sz="80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Strict Rules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Execution Match</a:t>
              </a:r>
              <a:endParaRPr b="0" sz="10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Any access modifier is compiled, but the JRE requires the exact signature to serve as the active </a:t>
              </a: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entry-point</a:t>
              </a: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07" name="Google Shape;707;p52"/>
          <p:cNvGrpSpPr/>
          <p:nvPr/>
        </p:nvGrpSpPr>
        <p:grpSpPr>
          <a:xfrm>
            <a:off x="4667250" y="1428750"/>
            <a:ext cx="1952700" cy="3143400"/>
            <a:chOff x="0" y="0"/>
            <a:chExt cx="1952700" cy="3143400"/>
          </a:xfrm>
        </p:grpSpPr>
        <p:sp>
          <p:nvSpPr>
            <p:cNvPr id="708" name="Google Shape;708;p52"/>
            <p:cNvSpPr/>
            <p:nvPr/>
          </p:nvSpPr>
          <p:spPr>
            <a:xfrm>
              <a:off x="0" y="0"/>
              <a:ext cx="1952700" cy="31434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52"/>
            <p:cNvSpPr txBox="1"/>
            <p:nvPr/>
          </p:nvSpPr>
          <p:spPr>
            <a:xfrm>
              <a:off x="190500" y="228600"/>
              <a:ext cx="15717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B5C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PARAMETERS</a:t>
              </a:r>
              <a:endParaRPr b="0" sz="800">
                <a:solidFill>
                  <a:srgbClr val="8B5C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Args Naming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Array Argument</a:t>
              </a:r>
              <a:endParaRPr b="0" sz="10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You can name the array argument anything you want, but most Java developers choose </a:t>
              </a: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"args"</a:t>
              </a: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or </a:t>
              </a: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"argv"</a:t>
              </a: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10" name="Google Shape;710;p52"/>
          <p:cNvGrpSpPr/>
          <p:nvPr/>
        </p:nvGrpSpPr>
        <p:grpSpPr>
          <a:xfrm>
            <a:off x="6810375" y="1428750"/>
            <a:ext cx="1952700" cy="3143400"/>
            <a:chOff x="0" y="0"/>
            <a:chExt cx="1952700" cy="3143400"/>
          </a:xfrm>
        </p:grpSpPr>
        <p:sp>
          <p:nvSpPr>
            <p:cNvPr id="711" name="Google Shape;711;p52"/>
            <p:cNvSpPr/>
            <p:nvPr/>
          </p:nvSpPr>
          <p:spPr>
            <a:xfrm>
              <a:off x="0" y="0"/>
              <a:ext cx="1952700" cy="31434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52"/>
            <p:cNvSpPr txBox="1"/>
            <p:nvPr/>
          </p:nvSpPr>
          <p:spPr>
            <a:xfrm>
              <a:off x="190500" y="228600"/>
              <a:ext cx="15717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EF444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 / EXECUTION</a:t>
              </a:r>
              <a:endParaRPr b="0" sz="800">
                <a:solidFill>
                  <a:srgbClr val="EF4444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Runtime Error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No Compile Errors</a:t>
              </a:r>
              <a:endParaRPr b="0" sz="10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Programs compile cleanly without a main() method, but execution triggers a </a:t>
              </a: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"Main method not found"</a:t>
              </a: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runtime error.</a:t>
              </a:r>
              <a:endParaRPr b="0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" name="Google Shape;717;p53"/>
          <p:cNvGrpSpPr/>
          <p:nvPr/>
        </p:nvGrpSpPr>
        <p:grpSpPr>
          <a:xfrm>
            <a:off x="381000" y="381000"/>
            <a:ext cx="8382000" cy="762000"/>
            <a:chOff x="0" y="0"/>
            <a:chExt cx="8382000" cy="762000"/>
          </a:xfrm>
        </p:grpSpPr>
        <p:sp>
          <p:nvSpPr>
            <p:cNvPr id="718" name="Google Shape;718;p53"/>
            <p:cNvSpPr/>
            <p:nvPr/>
          </p:nvSpPr>
          <p:spPr>
            <a:xfrm>
              <a:off x="0" y="0"/>
              <a:ext cx="838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53"/>
            <p:cNvSpPr txBox="1"/>
            <p:nvPr/>
          </p:nvSpPr>
          <p:spPr>
            <a:xfrm>
              <a:off x="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main() Method Modifiers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Understanding how public accessibility and static lifecycle control Java's entry point.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20" name="Google Shape;720;p53"/>
          <p:cNvGrpSpPr/>
          <p:nvPr/>
        </p:nvGrpSpPr>
        <p:grpSpPr>
          <a:xfrm>
            <a:off x="381000" y="1428750"/>
            <a:ext cx="4000500" cy="3143400"/>
            <a:chOff x="0" y="0"/>
            <a:chExt cx="4000500" cy="3143400"/>
          </a:xfrm>
        </p:grpSpPr>
        <p:sp>
          <p:nvSpPr>
            <p:cNvPr id="721" name="Google Shape;721;p53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2" name="Google Shape;722;p53"/>
            <p:cNvGrpSpPr/>
            <p:nvPr/>
          </p:nvGrpSpPr>
          <p:grpSpPr>
            <a:xfrm>
              <a:off x="228600" y="266700"/>
              <a:ext cx="3543300" cy="2610000"/>
              <a:chOff x="0" y="0"/>
              <a:chExt cx="3543300" cy="2610000"/>
            </a:xfrm>
          </p:grpSpPr>
          <p:sp>
            <p:nvSpPr>
              <p:cNvPr id="723" name="Google Shape;723;p53"/>
              <p:cNvSpPr/>
              <p:nvPr/>
            </p:nvSpPr>
            <p:spPr>
              <a:xfrm>
                <a:off x="0" y="0"/>
                <a:ext cx="3543300" cy="2610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53"/>
              <p:cNvSpPr txBox="1"/>
              <p:nvPr/>
            </p:nvSpPr>
            <p:spPr>
              <a:xfrm>
                <a:off x="0" y="0"/>
                <a:ext cx="3543300" cy="26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3B82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01 / ACCESS SPECIFIER</a:t>
                </a:r>
                <a:endParaRPr b="0" sz="8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Public Access</a:t>
                </a:r>
                <a:endParaRPr b="0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64748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Global JRE Accessibility</a:t>
                </a:r>
                <a:endParaRPr b="0" sz="105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The main() method must have a </a:t>
                </a:r>
                <a:r>
                  <a:rPr b="1" lang="en" sz="15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public</a:t>
                </a:r>
                <a:r>
                  <a:rPr b="0" lang="en" sz="15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access specifier so that the Java Runtime Environment (JRE) can call it from outside of your class.</a:t>
                </a:r>
                <a:endParaRPr b="0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Without this public exposure, strict access restrictions will prevent the JVM from executing your program entirely.</a:t>
                </a:r>
                <a:endParaRPr b="0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25" name="Google Shape;725;p53"/>
          <p:cNvGrpSpPr/>
          <p:nvPr/>
        </p:nvGrpSpPr>
        <p:grpSpPr>
          <a:xfrm>
            <a:off x="4762500" y="1428750"/>
            <a:ext cx="4000500" cy="3143400"/>
            <a:chOff x="0" y="0"/>
            <a:chExt cx="4000500" cy="3143400"/>
          </a:xfrm>
        </p:grpSpPr>
        <p:sp>
          <p:nvSpPr>
            <p:cNvPr id="726" name="Google Shape;726;p53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7" name="Google Shape;727;p53"/>
            <p:cNvGrpSpPr/>
            <p:nvPr/>
          </p:nvGrpSpPr>
          <p:grpSpPr>
            <a:xfrm>
              <a:off x="228600" y="266700"/>
              <a:ext cx="3543300" cy="2610000"/>
              <a:chOff x="0" y="0"/>
              <a:chExt cx="3543300" cy="2610000"/>
            </a:xfrm>
          </p:grpSpPr>
          <p:sp>
            <p:nvSpPr>
              <p:cNvPr id="728" name="Google Shape;728;p53"/>
              <p:cNvSpPr/>
              <p:nvPr/>
            </p:nvSpPr>
            <p:spPr>
              <a:xfrm>
                <a:off x="0" y="0"/>
                <a:ext cx="3543300" cy="2610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53"/>
              <p:cNvSpPr txBox="1"/>
              <p:nvPr/>
            </p:nvSpPr>
            <p:spPr>
              <a:xfrm>
                <a:off x="0" y="0"/>
                <a:ext cx="3543300" cy="26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10B981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02 / LIFECYCLE</a:t>
                </a:r>
                <a:endParaRPr b="0" sz="8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Static Modifier</a:t>
                </a:r>
                <a:endParaRPr b="0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64748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Instance-Free Invocation</a:t>
                </a:r>
                <a:endParaRPr b="0" sz="105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Must be declared as </a:t>
                </a:r>
                <a:r>
                  <a:rPr b="1" lang="en" sz="15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static</a:t>
                </a:r>
                <a:r>
                  <a:rPr b="0" lang="en" sz="15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so that it can be invoked directly by the JVM without needing to instantiate the class first.</a:t>
                </a:r>
                <a:endParaRPr b="0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This provides a clean, predictable starting point for application execution before any objects actually exist in memory.</a:t>
                </a:r>
                <a:endParaRPr b="0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4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main() Method</a:t>
            </a:r>
            <a:endParaRPr b="0" sz="24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Understanding the void return type and the fixed method identifier.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35" name="Google Shape;735;p54"/>
          <p:cNvGrpSpPr/>
          <p:nvPr/>
        </p:nvGrpSpPr>
        <p:grpSpPr>
          <a:xfrm>
            <a:off x="381000" y="1428750"/>
            <a:ext cx="4000500" cy="3143400"/>
            <a:chOff x="0" y="0"/>
            <a:chExt cx="4000500" cy="3143400"/>
          </a:xfrm>
        </p:grpSpPr>
        <p:sp>
          <p:nvSpPr>
            <p:cNvPr id="736" name="Google Shape;736;p54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54"/>
            <p:cNvSpPr txBox="1"/>
            <p:nvPr/>
          </p:nvSpPr>
          <p:spPr>
            <a:xfrm>
              <a:off x="228600" y="266700"/>
              <a:ext cx="3543300" cy="261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RETURN TYPE</a:t>
              </a:r>
              <a:endParaRPr b="0" sz="8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Void Return Type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No Return Value Requirement</a:t>
              </a:r>
              <a:endParaRPr b="0" sz="10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main() method in Java is declared with a return type of </a:t>
              </a: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void</a:t>
              </a: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to indicate that it does not return any value.</a:t>
              </a:r>
              <a:endParaRPr b="0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Its purpose is simply to serve as the entry point for the Java program, invoked by the JVM to start execution.</a:t>
              </a:r>
              <a:endParaRPr b="0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38" name="Google Shape;738;p54"/>
          <p:cNvGrpSpPr/>
          <p:nvPr/>
        </p:nvGrpSpPr>
        <p:grpSpPr>
          <a:xfrm>
            <a:off x="4762500" y="1428750"/>
            <a:ext cx="4000500" cy="3143400"/>
            <a:chOff x="0" y="0"/>
            <a:chExt cx="4000500" cy="3143400"/>
          </a:xfrm>
        </p:grpSpPr>
        <p:sp>
          <p:nvSpPr>
            <p:cNvPr id="739" name="Google Shape;739;p54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54"/>
            <p:cNvSpPr txBox="1"/>
            <p:nvPr/>
          </p:nvSpPr>
          <p:spPr>
            <a:xfrm>
              <a:off x="228600" y="266700"/>
              <a:ext cx="3543300" cy="261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IDENTIFIER</a:t>
              </a:r>
              <a:endParaRPr b="0" sz="80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Main Method Name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Fixed Starting Signature</a:t>
              </a:r>
              <a:endParaRPr b="0" sz="10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It's just the name of the method. This name is </a:t>
              </a: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fixed</a:t>
              </a: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because it is called by the JVM as the entry point for an application.</a:t>
              </a:r>
              <a:endParaRPr b="0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Note that while the name is strictly required by the launcher, </a:t>
              </a: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main</a:t>
              </a: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is not a keyword in Java.</a:t>
              </a:r>
              <a:endParaRPr b="0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5"/>
          <p:cNvSpPr txBox="1"/>
          <p:nvPr/>
        </p:nvSpPr>
        <p:spPr>
          <a:xfrm>
            <a:off x="381000" y="381000"/>
            <a:ext cx="83820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Structure of System.out.println()</a:t>
            </a:r>
            <a:endParaRPr b="0" sz="24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System.out.println() is a core Java statement used to display messages, data, or strings on the screen as output.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46" name="Google Shape;746;p55"/>
          <p:cNvGrpSpPr/>
          <p:nvPr/>
        </p:nvGrpSpPr>
        <p:grpSpPr>
          <a:xfrm>
            <a:off x="381000" y="1381125"/>
            <a:ext cx="2600400" cy="2619300"/>
            <a:chOff x="0" y="0"/>
            <a:chExt cx="2600400" cy="2619300"/>
          </a:xfrm>
        </p:grpSpPr>
        <p:sp>
          <p:nvSpPr>
            <p:cNvPr id="747" name="Google Shape;747;p55"/>
            <p:cNvSpPr/>
            <p:nvPr/>
          </p:nvSpPr>
          <p:spPr>
            <a:xfrm>
              <a:off x="0" y="0"/>
              <a:ext cx="2600400" cy="26193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55"/>
            <p:cNvSpPr txBox="1"/>
            <p:nvPr/>
          </p:nvSpPr>
          <p:spPr>
            <a:xfrm>
              <a:off x="228600" y="228600"/>
              <a:ext cx="2143200" cy="21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CLASS</a:t>
              </a:r>
              <a:endParaRPr b="0" sz="8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System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Standard System Class</a:t>
              </a:r>
              <a:endParaRPr b="0" sz="10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This is the </a:t>
              </a: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final class</a:t>
              </a:r>
              <a:r>
                <a:rPr b="0" lang="en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defined in the </a:t>
              </a: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java.lang</a:t>
              </a:r>
              <a:r>
                <a:rPr b="0" lang="en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package, providing access to system resources.</a:t>
              </a:r>
              <a:endParaRPr b="0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9" name="Google Shape;749;p55"/>
          <p:cNvGrpSpPr/>
          <p:nvPr/>
        </p:nvGrpSpPr>
        <p:grpSpPr>
          <a:xfrm>
            <a:off x="3267075" y="1381125"/>
            <a:ext cx="2600400" cy="2619300"/>
            <a:chOff x="0" y="0"/>
            <a:chExt cx="2600400" cy="2619300"/>
          </a:xfrm>
        </p:grpSpPr>
        <p:sp>
          <p:nvSpPr>
            <p:cNvPr id="750" name="Google Shape;750;p55"/>
            <p:cNvSpPr/>
            <p:nvPr/>
          </p:nvSpPr>
          <p:spPr>
            <a:xfrm>
              <a:off x="0" y="0"/>
              <a:ext cx="2600400" cy="26193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55"/>
            <p:cNvSpPr txBox="1"/>
            <p:nvPr/>
          </p:nvSpPr>
          <p:spPr>
            <a:xfrm>
              <a:off x="228600" y="228600"/>
              <a:ext cx="2143200" cy="21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INSTANCE</a:t>
              </a:r>
              <a:endParaRPr b="0" sz="80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out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PrintStream Object</a:t>
              </a:r>
              <a:endParaRPr b="0" sz="10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An instance of the </a:t>
              </a:r>
              <a:r>
                <a:rPr b="1" lang="en" sz="17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PrintStream</a:t>
              </a:r>
              <a:r>
                <a:rPr b="0" lang="en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type. Its access specifiers are defined as both </a:t>
              </a:r>
              <a:r>
                <a:rPr b="1" lang="en" sz="17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final</a:t>
              </a:r>
              <a:r>
                <a:rPr b="0" lang="en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1" lang="en" sz="17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public</a:t>
              </a:r>
              <a:r>
                <a:rPr b="0" lang="en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7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52" name="Google Shape;752;p55"/>
          <p:cNvGrpSpPr/>
          <p:nvPr/>
        </p:nvGrpSpPr>
        <p:grpSpPr>
          <a:xfrm>
            <a:off x="6153150" y="1381125"/>
            <a:ext cx="2600400" cy="2619300"/>
            <a:chOff x="0" y="0"/>
            <a:chExt cx="2600400" cy="2619300"/>
          </a:xfrm>
        </p:grpSpPr>
        <p:sp>
          <p:nvSpPr>
            <p:cNvPr id="753" name="Google Shape;753;p55"/>
            <p:cNvSpPr/>
            <p:nvPr/>
          </p:nvSpPr>
          <p:spPr>
            <a:xfrm>
              <a:off x="0" y="0"/>
              <a:ext cx="2600400" cy="26193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55"/>
            <p:cNvSpPr txBox="1"/>
            <p:nvPr/>
          </p:nvSpPr>
          <p:spPr>
            <a:xfrm>
              <a:off x="228600" y="228600"/>
              <a:ext cx="2143200" cy="21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B5C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METHOD</a:t>
              </a:r>
              <a:endParaRPr b="0" sz="800">
                <a:solidFill>
                  <a:srgbClr val="8B5C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println()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Output Function</a:t>
              </a:r>
              <a:endParaRPr b="0" sz="10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public method in the </a:t>
              </a: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PrintStream</a:t>
              </a: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class used to output values followed by a clean newline.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55" name="Google Shape;755;p55"/>
          <p:cNvGrpSpPr/>
          <p:nvPr/>
        </p:nvGrpSpPr>
        <p:grpSpPr>
          <a:xfrm>
            <a:off x="381000" y="4238625"/>
            <a:ext cx="8382000" cy="476400"/>
            <a:chOff x="0" y="0"/>
            <a:chExt cx="8382000" cy="476400"/>
          </a:xfrm>
        </p:grpSpPr>
        <p:sp>
          <p:nvSpPr>
            <p:cNvPr id="756" name="Google Shape;756;p55"/>
            <p:cNvSpPr/>
            <p:nvPr/>
          </p:nvSpPr>
          <p:spPr>
            <a:xfrm>
              <a:off x="0" y="0"/>
              <a:ext cx="8382000" cy="476400"/>
            </a:xfrm>
            <a:prstGeom prst="roundRect">
              <a:avLst>
                <a:gd fmla="val 16000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55"/>
            <p:cNvSpPr txBox="1"/>
            <p:nvPr/>
          </p:nvSpPr>
          <p:spPr>
            <a:xfrm>
              <a:off x="152400" y="0"/>
              <a:ext cx="8077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Alternative:</a:t>
              </a:r>
              <a:r>
                <a:rPr b="0" lang="en" sz="1050">
                  <a:solidFill>
                    <a:srgbClr val="1E40A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You can also use the </a:t>
              </a:r>
              <a:r>
                <a:rPr b="1" lang="en" sz="105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print()</a:t>
              </a:r>
              <a:r>
                <a:rPr b="0" lang="en" sz="1050">
                  <a:solidFill>
                    <a:srgbClr val="1E40A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method to output arguments without adding a new line at the end.</a:t>
              </a:r>
              <a:endParaRPr b="0" sz="1050">
                <a:solidFill>
                  <a:srgbClr val="1E40A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2" name="Google Shape;762;p56"/>
          <p:cNvGrpSpPr/>
          <p:nvPr/>
        </p:nvGrpSpPr>
        <p:grpSpPr>
          <a:xfrm>
            <a:off x="381000" y="381000"/>
            <a:ext cx="8382000" cy="809700"/>
            <a:chOff x="0" y="0"/>
            <a:chExt cx="8382000" cy="809700"/>
          </a:xfrm>
        </p:grpSpPr>
        <p:sp>
          <p:nvSpPr>
            <p:cNvPr id="763" name="Google Shape;763;p56"/>
            <p:cNvSpPr/>
            <p:nvPr/>
          </p:nvSpPr>
          <p:spPr>
            <a:xfrm>
              <a:off x="0" y="0"/>
              <a:ext cx="8382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56"/>
            <p:cNvSpPr txBox="1"/>
            <p:nvPr/>
          </p:nvSpPr>
          <p:spPr>
            <a:xfrm>
              <a:off x="0" y="0"/>
              <a:ext cx="8382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Anatomy of System.out.println()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Visualizing how the System class, out instance, and println() method orchestrate console output.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65" name="Google Shape;765;p56"/>
          <p:cNvGrpSpPr/>
          <p:nvPr/>
        </p:nvGrpSpPr>
        <p:grpSpPr>
          <a:xfrm>
            <a:off x="381000" y="1428750"/>
            <a:ext cx="3429000" cy="1285800"/>
            <a:chOff x="0" y="0"/>
            <a:chExt cx="3429000" cy="1285800"/>
          </a:xfrm>
        </p:grpSpPr>
        <p:sp>
          <p:nvSpPr>
            <p:cNvPr id="766" name="Google Shape;766;p56"/>
            <p:cNvSpPr/>
            <p:nvPr/>
          </p:nvSpPr>
          <p:spPr>
            <a:xfrm>
              <a:off x="0" y="0"/>
              <a:ext cx="34290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56"/>
            <p:cNvSpPr txBox="1"/>
            <p:nvPr/>
          </p:nvSpPr>
          <p:spPr>
            <a:xfrm>
              <a:off x="228600" y="190500"/>
              <a:ext cx="29718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SYSTEM CLASS</a:t>
              </a:r>
              <a:endParaRPr b="0" sz="8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java.lang.System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final class providing standard resources. Contains the static member </a:t>
              </a:r>
              <a:r>
                <a:rPr b="1" lang="en" sz="1300">
                  <a:solidFill>
                    <a:srgbClr val="1E40AF"/>
                  </a:solidFill>
                  <a:highlight>
                    <a:srgbClr val="EFF6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out</a:t>
              </a: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68" name="Google Shape;768;p56"/>
          <p:cNvGrpSpPr/>
          <p:nvPr/>
        </p:nvGrpSpPr>
        <p:grpSpPr>
          <a:xfrm>
            <a:off x="381000" y="3000375"/>
            <a:ext cx="3429000" cy="1285800"/>
            <a:chOff x="0" y="0"/>
            <a:chExt cx="3429000" cy="1285800"/>
          </a:xfrm>
        </p:grpSpPr>
        <p:sp>
          <p:nvSpPr>
            <p:cNvPr id="769" name="Google Shape;769;p56"/>
            <p:cNvSpPr/>
            <p:nvPr/>
          </p:nvSpPr>
          <p:spPr>
            <a:xfrm>
              <a:off x="0" y="0"/>
              <a:ext cx="34290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56"/>
            <p:cNvSpPr txBox="1"/>
            <p:nvPr/>
          </p:nvSpPr>
          <p:spPr>
            <a:xfrm>
              <a:off x="228600" y="190500"/>
              <a:ext cx="29718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PRINTSTREAM CLASS</a:t>
              </a:r>
              <a:endParaRPr b="0" sz="80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java.io.PrintStream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class defining output features. Implements the </a:t>
              </a:r>
              <a:r>
                <a:rPr b="1" lang="en" sz="1300">
                  <a:solidFill>
                    <a:srgbClr val="065F46"/>
                  </a:solidFill>
                  <a:highlight>
                    <a:srgbClr val="ECFD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println()</a:t>
              </a: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method.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71" name="Google Shape;771;p56"/>
          <p:cNvGrpSpPr/>
          <p:nvPr/>
        </p:nvGrpSpPr>
        <p:grpSpPr>
          <a:xfrm>
            <a:off x="3810000" y="2057400"/>
            <a:ext cx="1266900" cy="1590788"/>
            <a:chOff x="3810000" y="2057400"/>
            <a:chExt cx="1266900" cy="1590788"/>
          </a:xfrm>
        </p:grpSpPr>
        <p:pic>
          <p:nvPicPr>
            <p:cNvPr id="772" name="Google Shape;772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0" y="2057400"/>
              <a:ext cx="1266900" cy="747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3" name="Google Shape;773;p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10000" y="2909888"/>
              <a:ext cx="1266900" cy="738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4" name="Google Shape;774;p56"/>
          <p:cNvGrpSpPr/>
          <p:nvPr/>
        </p:nvGrpSpPr>
        <p:grpSpPr>
          <a:xfrm>
            <a:off x="5143500" y="1762125"/>
            <a:ext cx="3619500" cy="2190900"/>
            <a:chOff x="0" y="0"/>
            <a:chExt cx="3619500" cy="2190900"/>
          </a:xfrm>
        </p:grpSpPr>
        <p:sp>
          <p:nvSpPr>
            <p:cNvPr id="775" name="Google Shape;775;p56"/>
            <p:cNvSpPr/>
            <p:nvPr/>
          </p:nvSpPr>
          <p:spPr>
            <a:xfrm>
              <a:off x="0" y="0"/>
              <a:ext cx="3619500" cy="2190900"/>
            </a:xfrm>
            <a:prstGeom prst="roundRect">
              <a:avLst>
                <a:gd fmla="val 6956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56"/>
            <p:cNvSpPr txBox="1"/>
            <p:nvPr/>
          </p:nvSpPr>
          <p:spPr>
            <a:xfrm>
              <a:off x="266700" y="266700"/>
              <a:ext cx="3086100" cy="16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94A3B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STATEMENT PIPELINE</a:t>
              </a:r>
              <a:endParaRPr b="0" sz="800">
                <a:solidFill>
                  <a:srgbClr val="94A3B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</a:t>
              </a:r>
              <a:r>
                <a:rPr b="1" lang="en" sz="200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1" lang="en" sz="20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out</a:t>
              </a:r>
              <a:r>
                <a:rPr b="1" lang="en" sz="200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1" lang="en" sz="2000">
                  <a:solidFill>
                    <a:srgbClr val="A78B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println</a:t>
              </a:r>
              <a:r>
                <a:rPr b="1" lang="en" sz="200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endParaRPr b="1" sz="2000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Invokes the </a:t>
              </a:r>
              <a:r>
                <a:rPr b="0" lang="en" sz="1150">
                  <a:solidFill>
                    <a:srgbClr val="A78BF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println()</a:t>
              </a:r>
              <a:r>
                <a:rPr b="0" lang="en" sz="11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output method on the static </a:t>
              </a:r>
              <a:r>
                <a:rPr b="0" lang="en" sz="1150">
                  <a:solidFill>
                    <a:srgbClr val="34D39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out</a:t>
              </a:r>
              <a:r>
                <a:rPr b="0" lang="en" sz="11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PrintStream object hosted within the </a:t>
              </a:r>
              <a:r>
                <a:rPr b="0" lang="en" sz="115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</a:t>
              </a:r>
              <a:r>
                <a:rPr b="0" lang="en" sz="11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class.</a:t>
              </a:r>
              <a:endParaRPr b="0" sz="11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2600">
        <p:fade thruBlk="1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7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Simple Program</a:t>
            </a:r>
            <a:endParaRPr b="0" sz="24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foundational anatomy of a Java application and its command-line execution.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82" name="Google Shape;782;p57"/>
          <p:cNvGrpSpPr/>
          <p:nvPr/>
        </p:nvGrpSpPr>
        <p:grpSpPr>
          <a:xfrm>
            <a:off x="381000" y="1333500"/>
            <a:ext cx="4191000" cy="3238500"/>
            <a:chOff x="0" y="0"/>
            <a:chExt cx="4191000" cy="3238500"/>
          </a:xfrm>
        </p:grpSpPr>
        <p:sp>
          <p:nvSpPr>
            <p:cNvPr id="783" name="Google Shape;783;p57"/>
            <p:cNvSpPr/>
            <p:nvPr/>
          </p:nvSpPr>
          <p:spPr>
            <a:xfrm>
              <a:off x="0" y="0"/>
              <a:ext cx="4191000" cy="3238500"/>
            </a:xfrm>
            <a:prstGeom prst="roundRect">
              <a:avLst>
                <a:gd fmla="val 3529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57"/>
            <p:cNvSpPr/>
            <p:nvPr/>
          </p:nvSpPr>
          <p:spPr>
            <a:xfrm>
              <a:off x="142875" y="142875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57"/>
            <p:cNvSpPr/>
            <p:nvPr/>
          </p:nvSpPr>
          <p:spPr>
            <a:xfrm>
              <a:off x="295275" y="142875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57"/>
            <p:cNvSpPr/>
            <p:nvPr/>
          </p:nvSpPr>
          <p:spPr>
            <a:xfrm>
              <a:off x="447675" y="142875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57"/>
            <p:cNvSpPr txBox="1"/>
            <p:nvPr/>
          </p:nvSpPr>
          <p:spPr>
            <a:xfrm>
              <a:off x="0" y="428625"/>
              <a:ext cx="4191000" cy="26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 </a:t>
              </a:r>
              <a:r>
                <a:rPr lang="en" sz="165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Classname</a:t>
              </a:r>
              <a:r>
                <a:rPr lang="en" sz="16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{</a:t>
              </a:r>
              <a:endParaRPr sz="165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650">
                  <a:solidFill>
                    <a:srgbClr val="FDA4A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static void </a:t>
              </a:r>
              <a:r>
                <a:rPr lang="en" sz="16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</a:t>
              </a:r>
              <a:r>
                <a:rPr lang="en" sz="1650">
                  <a:solidFill>
                    <a:srgbClr val="FDA4A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(String args[]) {</a:t>
              </a:r>
              <a:endParaRPr sz="1650">
                <a:solidFill>
                  <a:srgbClr val="FDA4A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810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65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lang="en" sz="1650">
                  <a:solidFill>
                    <a:srgbClr val="F59E0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"Hello World"</a:t>
              </a:r>
              <a:r>
                <a:rPr lang="en" sz="165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sz="1650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650">
                  <a:solidFill>
                    <a:srgbClr val="FDA4A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650">
                <a:solidFill>
                  <a:srgbClr val="FDA4A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6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65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788" name="Google Shape;788;p57"/>
          <p:cNvGrpSpPr/>
          <p:nvPr/>
        </p:nvGrpSpPr>
        <p:grpSpPr>
          <a:xfrm>
            <a:off x="4762500" y="1333500"/>
            <a:ext cx="4000500" cy="3238500"/>
            <a:chOff x="0" y="0"/>
            <a:chExt cx="4000500" cy="3238500"/>
          </a:xfrm>
        </p:grpSpPr>
        <p:sp>
          <p:nvSpPr>
            <p:cNvPr id="789" name="Google Shape;789;p57"/>
            <p:cNvSpPr/>
            <p:nvPr/>
          </p:nvSpPr>
          <p:spPr>
            <a:xfrm>
              <a:off x="0" y="0"/>
              <a:ext cx="40005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57"/>
            <p:cNvSpPr txBox="1"/>
            <p:nvPr/>
          </p:nvSpPr>
          <p:spPr>
            <a:xfrm>
              <a:off x="228600" y="228600"/>
              <a:ext cx="35433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PROGRAM EXECUTION</a:t>
              </a:r>
              <a:endParaRPr b="0" sz="8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Console Output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lang="en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To run a Java program, compile the source file into bytecode, then launch it using the Java Virtual Machine.</a:t>
              </a:r>
              <a:endParaRPr sz="17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791" name="Google Shape;791;p57"/>
            <p:cNvPicPr preferRelativeResize="0"/>
            <p:nvPr/>
          </p:nvPicPr>
          <p:blipFill rotWithShape="1">
            <a:blip r:embed="rId4">
              <a:alphaModFix/>
            </a:blip>
            <a:srcRect b="0" l="298" r="298" t="0"/>
            <a:stretch/>
          </p:blipFill>
          <p:spPr>
            <a:xfrm>
              <a:off x="228600" y="2190750"/>
              <a:ext cx="3543300" cy="600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58"/>
          <p:cNvSpPr/>
          <p:nvPr/>
        </p:nvSpPr>
        <p:spPr>
          <a:xfrm>
            <a:off x="518600" y="1410000"/>
            <a:ext cx="1228200" cy="657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58"/>
          <p:cNvSpPr txBox="1"/>
          <p:nvPr/>
        </p:nvSpPr>
        <p:spPr>
          <a:xfrm>
            <a:off x="474725" y="1507550"/>
            <a:ext cx="122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Java Source code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8" name="Google Shape;798;p58"/>
          <p:cNvSpPr/>
          <p:nvPr/>
        </p:nvSpPr>
        <p:spPr>
          <a:xfrm>
            <a:off x="1730400" y="1531950"/>
            <a:ext cx="1102200" cy="33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58"/>
          <p:cNvSpPr/>
          <p:nvPr/>
        </p:nvSpPr>
        <p:spPr>
          <a:xfrm>
            <a:off x="2832600" y="1389150"/>
            <a:ext cx="1582800" cy="657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58"/>
          <p:cNvSpPr txBox="1"/>
          <p:nvPr/>
        </p:nvSpPr>
        <p:spPr>
          <a:xfrm>
            <a:off x="3043175" y="1389150"/>
            <a:ext cx="152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Java compiler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(javac)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1" name="Google Shape;801;p58"/>
          <p:cNvSpPr/>
          <p:nvPr/>
        </p:nvSpPr>
        <p:spPr>
          <a:xfrm>
            <a:off x="4395275" y="1531950"/>
            <a:ext cx="1582800" cy="33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58"/>
          <p:cNvSpPr/>
          <p:nvPr/>
        </p:nvSpPr>
        <p:spPr>
          <a:xfrm>
            <a:off x="5978075" y="1410125"/>
            <a:ext cx="1438500" cy="657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58"/>
          <p:cNvSpPr txBox="1"/>
          <p:nvPr/>
        </p:nvSpPr>
        <p:spPr>
          <a:xfrm>
            <a:off x="6178675" y="1476925"/>
            <a:ext cx="102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Byte code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4" name="Google Shape;804;p58"/>
          <p:cNvSpPr/>
          <p:nvPr/>
        </p:nvSpPr>
        <p:spPr>
          <a:xfrm>
            <a:off x="6497300" y="2047200"/>
            <a:ext cx="338100" cy="1249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58"/>
          <p:cNvSpPr/>
          <p:nvPr/>
        </p:nvSpPr>
        <p:spPr>
          <a:xfrm>
            <a:off x="5969750" y="3296300"/>
            <a:ext cx="1438500" cy="657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58"/>
          <p:cNvSpPr txBox="1"/>
          <p:nvPr/>
        </p:nvSpPr>
        <p:spPr>
          <a:xfrm>
            <a:off x="5982400" y="3331475"/>
            <a:ext cx="143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Java Interpreter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7" name="Google Shape;807;p58"/>
          <p:cNvSpPr txBox="1"/>
          <p:nvPr/>
        </p:nvSpPr>
        <p:spPr>
          <a:xfrm>
            <a:off x="6365675" y="3968125"/>
            <a:ext cx="71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JVM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8" name="Google Shape;808;p58"/>
          <p:cNvSpPr txBox="1"/>
          <p:nvPr/>
        </p:nvSpPr>
        <p:spPr>
          <a:xfrm>
            <a:off x="7011025" y="2179375"/>
            <a:ext cx="1438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Byte code loaded into JVM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9" name="Google Shape;809;p58"/>
          <p:cNvSpPr/>
          <p:nvPr/>
        </p:nvSpPr>
        <p:spPr>
          <a:xfrm>
            <a:off x="4500984" y="3489550"/>
            <a:ext cx="1524600" cy="3300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58"/>
          <p:cNvSpPr/>
          <p:nvPr/>
        </p:nvSpPr>
        <p:spPr>
          <a:xfrm>
            <a:off x="3339950" y="3296300"/>
            <a:ext cx="1160700" cy="657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58"/>
          <p:cNvSpPr txBox="1"/>
          <p:nvPr/>
        </p:nvSpPr>
        <p:spPr>
          <a:xfrm>
            <a:off x="3339950" y="3483875"/>
            <a:ext cx="122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Host System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2" name="Google Shape;812;p58"/>
          <p:cNvSpPr txBox="1"/>
          <p:nvPr/>
        </p:nvSpPr>
        <p:spPr>
          <a:xfrm>
            <a:off x="396825" y="255725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Java Code Execution</a:t>
            </a:r>
            <a:endParaRPr b="0" sz="24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lifecycle of a Java program from raw source code to machine execution.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7" name="Google Shape;817;p59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818" name="Google Shape;818;p59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59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Java Code Execution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lifecycle of a Java program from raw source code to machine execution.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20" name="Google Shape;820;p59"/>
          <p:cNvGrpSpPr/>
          <p:nvPr/>
        </p:nvGrpSpPr>
        <p:grpSpPr>
          <a:xfrm>
            <a:off x="476250" y="1428750"/>
            <a:ext cx="1905000" cy="3143400"/>
            <a:chOff x="0" y="0"/>
            <a:chExt cx="1905000" cy="3143400"/>
          </a:xfrm>
        </p:grpSpPr>
        <p:sp>
          <p:nvSpPr>
            <p:cNvPr id="821" name="Google Shape;821;p59"/>
            <p:cNvSpPr/>
            <p:nvPr/>
          </p:nvSpPr>
          <p:spPr>
            <a:xfrm>
              <a:off x="0" y="0"/>
              <a:ext cx="1905000" cy="31434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59"/>
            <p:cNvSpPr txBox="1"/>
            <p:nvPr/>
          </p:nvSpPr>
          <p:spPr>
            <a:xfrm>
              <a:off x="190500" y="228600"/>
              <a:ext cx="15240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SOURCE</a:t>
              </a:r>
              <a:endParaRPr b="0" sz="13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Source Code</a:t>
              </a:r>
              <a:endParaRPr b="0" sz="2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developer writes human-readable program files containing raw Java code.</a:t>
              </a:r>
              <a:endParaRPr b="0" sz="17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23" name="Google Shape;823;p59"/>
          <p:cNvGrpSpPr/>
          <p:nvPr/>
        </p:nvGrpSpPr>
        <p:grpSpPr>
          <a:xfrm>
            <a:off x="2571750" y="1428750"/>
            <a:ext cx="1905000" cy="3143400"/>
            <a:chOff x="0" y="0"/>
            <a:chExt cx="1905000" cy="3143400"/>
          </a:xfrm>
        </p:grpSpPr>
        <p:sp>
          <p:nvSpPr>
            <p:cNvPr id="824" name="Google Shape;824;p59"/>
            <p:cNvSpPr/>
            <p:nvPr/>
          </p:nvSpPr>
          <p:spPr>
            <a:xfrm>
              <a:off x="0" y="0"/>
              <a:ext cx="1905000" cy="31434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59"/>
            <p:cNvSpPr txBox="1"/>
            <p:nvPr/>
          </p:nvSpPr>
          <p:spPr>
            <a:xfrm>
              <a:off x="190500" y="228600"/>
              <a:ext cx="15240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COMPILER</a:t>
              </a:r>
              <a:endParaRPr b="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Java Compiler</a:t>
              </a:r>
              <a:endParaRPr b="0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800"/>
                </a:spcAft>
                <a:buNone/>
              </a:pPr>
              <a:r>
                <a:rPr b="0" lang="en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7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javac</a:t>
              </a:r>
              <a:r>
                <a:rPr b="0" lang="en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compiler translates code into a platform-independent format.</a:t>
              </a:r>
              <a:endParaRPr b="0" sz="17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26" name="Google Shape;826;p59"/>
          <p:cNvGrpSpPr/>
          <p:nvPr/>
        </p:nvGrpSpPr>
        <p:grpSpPr>
          <a:xfrm>
            <a:off x="4667250" y="1428750"/>
            <a:ext cx="1905000" cy="3143400"/>
            <a:chOff x="0" y="0"/>
            <a:chExt cx="1905000" cy="3143400"/>
          </a:xfrm>
        </p:grpSpPr>
        <p:sp>
          <p:nvSpPr>
            <p:cNvPr id="827" name="Google Shape;827;p59"/>
            <p:cNvSpPr/>
            <p:nvPr/>
          </p:nvSpPr>
          <p:spPr>
            <a:xfrm>
              <a:off x="0" y="0"/>
              <a:ext cx="1905000" cy="31434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59"/>
            <p:cNvSpPr txBox="1"/>
            <p:nvPr/>
          </p:nvSpPr>
          <p:spPr>
            <a:xfrm>
              <a:off x="190500" y="228600"/>
              <a:ext cx="15240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8B5C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BYTECODE</a:t>
              </a:r>
              <a:endParaRPr b="0" sz="1500">
                <a:solidFill>
                  <a:srgbClr val="8B5C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3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Bytecode</a:t>
              </a:r>
              <a:endParaRPr b="0" sz="23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Universal bytecode is successfully generated and loaded into the </a:t>
              </a: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JVM</a:t>
              </a:r>
              <a:r>
                <a:rPr b="0" lang="en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29" name="Google Shape;829;p59"/>
          <p:cNvGrpSpPr/>
          <p:nvPr/>
        </p:nvGrpSpPr>
        <p:grpSpPr>
          <a:xfrm>
            <a:off x="6762750" y="1428750"/>
            <a:ext cx="1905000" cy="3143400"/>
            <a:chOff x="0" y="0"/>
            <a:chExt cx="1905000" cy="3143400"/>
          </a:xfrm>
        </p:grpSpPr>
        <p:sp>
          <p:nvSpPr>
            <p:cNvPr id="830" name="Google Shape;830;p59"/>
            <p:cNvSpPr/>
            <p:nvPr/>
          </p:nvSpPr>
          <p:spPr>
            <a:xfrm>
              <a:off x="0" y="0"/>
              <a:ext cx="1905000" cy="31434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59"/>
            <p:cNvSpPr txBox="1"/>
            <p:nvPr/>
          </p:nvSpPr>
          <p:spPr>
            <a:xfrm>
              <a:off x="190500" y="228600"/>
              <a:ext cx="15240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43F5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 / JVM EXECUTION</a:t>
              </a:r>
              <a:endParaRPr b="0" sz="1300">
                <a:solidFill>
                  <a:srgbClr val="F43F5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Interpreter</a:t>
              </a:r>
              <a:endParaRPr b="0" sz="2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Java Interpreter translates and executes bytecode directly on the target </a:t>
              </a: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Host System</a:t>
              </a: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60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DATA TYPES</a:t>
            </a:r>
            <a:endParaRPr b="0" sz="24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Understanding specifiers, static typing, and core categories in Java.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37" name="Google Shape;837;p60"/>
          <p:cNvGrpSpPr/>
          <p:nvPr/>
        </p:nvGrpSpPr>
        <p:grpSpPr>
          <a:xfrm>
            <a:off x="476250" y="1428750"/>
            <a:ext cx="2533800" cy="3143400"/>
            <a:chOff x="0" y="0"/>
            <a:chExt cx="2533800" cy="3143400"/>
          </a:xfrm>
        </p:grpSpPr>
        <p:sp>
          <p:nvSpPr>
            <p:cNvPr id="838" name="Google Shape;838;p60"/>
            <p:cNvSpPr/>
            <p:nvPr/>
          </p:nvSpPr>
          <p:spPr>
            <a:xfrm>
              <a:off x="0" y="0"/>
              <a:ext cx="2533800" cy="3143400"/>
            </a:xfrm>
            <a:prstGeom prst="roundRect">
              <a:avLst>
                <a:gd fmla="val 451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60"/>
            <p:cNvSpPr txBox="1"/>
            <p:nvPr/>
          </p:nvSpPr>
          <p:spPr>
            <a:xfrm>
              <a:off x="190500" y="228600"/>
              <a:ext cx="21528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SPECIFIERS</a:t>
              </a:r>
              <a:endParaRPr b="0" sz="13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2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Core Definition</a:t>
              </a:r>
              <a:endParaRPr b="0" sz="2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Data types act as specifiers that allocate different memory sizes and define the types of values that can be stored in a variable or identifier.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40" name="Google Shape;840;p60"/>
          <p:cNvGrpSpPr/>
          <p:nvPr/>
        </p:nvGrpSpPr>
        <p:grpSpPr>
          <a:xfrm>
            <a:off x="3305175" y="1428750"/>
            <a:ext cx="2533800" cy="3143400"/>
            <a:chOff x="0" y="0"/>
            <a:chExt cx="2533800" cy="3143400"/>
          </a:xfrm>
        </p:grpSpPr>
        <p:sp>
          <p:nvSpPr>
            <p:cNvPr id="841" name="Google Shape;841;p60"/>
            <p:cNvSpPr/>
            <p:nvPr/>
          </p:nvSpPr>
          <p:spPr>
            <a:xfrm>
              <a:off x="0" y="0"/>
              <a:ext cx="2533800" cy="3143400"/>
            </a:xfrm>
            <a:prstGeom prst="roundRect">
              <a:avLst>
                <a:gd fmla="val 451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60"/>
            <p:cNvSpPr txBox="1"/>
            <p:nvPr/>
          </p:nvSpPr>
          <p:spPr>
            <a:xfrm>
              <a:off x="190500" y="228600"/>
              <a:ext cx="21528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9900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STATIC TYPING</a:t>
              </a:r>
              <a:endParaRPr b="0" sz="1300">
                <a:solidFill>
                  <a:srgbClr val="FF9900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2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Compile-Time</a:t>
              </a:r>
              <a:endParaRPr b="0" sz="2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Java is a </a:t>
              </a: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static-typed</a:t>
              </a: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language. This means the data type of every variable must be declared and is validated at compile time.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43" name="Google Shape;843;p60"/>
          <p:cNvGrpSpPr/>
          <p:nvPr/>
        </p:nvGrpSpPr>
        <p:grpSpPr>
          <a:xfrm>
            <a:off x="6134100" y="1428750"/>
            <a:ext cx="2533800" cy="3143400"/>
            <a:chOff x="0" y="0"/>
            <a:chExt cx="2533800" cy="3143400"/>
          </a:xfrm>
        </p:grpSpPr>
        <p:sp>
          <p:nvSpPr>
            <p:cNvPr id="844" name="Google Shape;844;p60"/>
            <p:cNvSpPr/>
            <p:nvPr/>
          </p:nvSpPr>
          <p:spPr>
            <a:xfrm>
              <a:off x="0" y="0"/>
              <a:ext cx="2533800" cy="3143400"/>
            </a:xfrm>
            <a:prstGeom prst="roundRect">
              <a:avLst>
                <a:gd fmla="val 451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60"/>
            <p:cNvSpPr txBox="1"/>
            <p:nvPr/>
          </p:nvSpPr>
          <p:spPr>
            <a:xfrm>
              <a:off x="190500" y="228600"/>
              <a:ext cx="21528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CLASSIFICATION</a:t>
              </a:r>
              <a:endParaRPr b="0" sz="110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9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Categorization</a:t>
              </a:r>
              <a:endParaRPr b="0" sz="19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Java data types are divided into two fundamental groups:</a:t>
              </a:r>
              <a:endParaRPr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32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475569"/>
                </a:buClr>
                <a:buSzPts val="1350"/>
                <a:buFont typeface="Inter"/>
                <a:buChar char="●"/>
              </a:pPr>
              <a:r>
                <a:rPr b="1" lang="en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Primitive:</a:t>
              </a:r>
              <a:r>
                <a:rPr b="0" lang="en" sz="13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basic predefined types (e.g., int, char).</a:t>
              </a:r>
              <a:endParaRPr b="0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32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475569"/>
                </a:buClr>
                <a:buSzPts val="1350"/>
                <a:buFont typeface="Inter"/>
                <a:buChar char="●"/>
              </a:pPr>
              <a:r>
                <a:rPr b="1" lang="en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Non-Primitive:</a:t>
              </a:r>
              <a:r>
                <a:rPr b="0" lang="en" sz="13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user-defined reference types.</a:t>
              </a:r>
              <a:endParaRPr b="0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1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Data Types in Java</a:t>
            </a:r>
            <a:endParaRPr b="0" sz="24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fundamental classification of variables into predefined primitives and reference-based non-primitive types.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51" name="Google Shape;851;p61"/>
          <p:cNvGrpSpPr/>
          <p:nvPr/>
        </p:nvGrpSpPr>
        <p:grpSpPr>
          <a:xfrm>
            <a:off x="476250" y="1333500"/>
            <a:ext cx="3905400" cy="3238500"/>
            <a:chOff x="0" y="0"/>
            <a:chExt cx="3905400" cy="3238500"/>
          </a:xfrm>
        </p:grpSpPr>
        <p:sp>
          <p:nvSpPr>
            <p:cNvPr id="852" name="Google Shape;852;p61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61"/>
            <p:cNvSpPr txBox="1"/>
            <p:nvPr/>
          </p:nvSpPr>
          <p:spPr>
            <a:xfrm>
              <a:off x="228600" y="228600"/>
              <a:ext cx="34482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Predefined Values</a:t>
              </a:r>
              <a:endParaRPr b="0" sz="12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Primitive Data Types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Predefined in the language and directly store independent values in memory.</a:t>
              </a:r>
              <a:endParaRPr b="0" sz="14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Inter"/>
                <a:buChar char="●"/>
              </a:pPr>
              <a:r>
                <a:rPr b="1" lang="en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Logical:</a:t>
              </a:r>
              <a:r>
                <a:rPr b="0" lang="en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boolean</a:t>
              </a:r>
              <a:r>
                <a:rPr b="0" lang="en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(true/false)</a:t>
              </a:r>
              <a:endParaRPr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Inter"/>
                <a:buChar char="●"/>
              </a:pPr>
              <a:r>
                <a:rPr b="1" lang="en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Textual:</a:t>
              </a:r>
              <a:r>
                <a:rPr b="0" lang="en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</a:t>
              </a:r>
              <a:r>
                <a:rPr b="0" lang="en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(single 16-bit Unicode character)</a:t>
              </a:r>
              <a:endParaRPr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Inter"/>
                <a:buChar char="●"/>
              </a:pPr>
              <a:r>
                <a:rPr b="1" lang="en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Integers:</a:t>
              </a:r>
              <a:r>
                <a:rPr b="0" lang="en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byte</a:t>
              </a:r>
              <a:r>
                <a:rPr b="0" lang="en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1" lang="en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short</a:t>
              </a:r>
              <a:r>
                <a:rPr b="0" lang="en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1" lang="en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0" lang="en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1" lang="en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long</a:t>
              </a:r>
              <a:endParaRPr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Inter"/>
                <a:buChar char="●"/>
              </a:pPr>
              <a:r>
                <a:rPr b="1" lang="en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Floating-Point:</a:t>
              </a:r>
              <a:r>
                <a:rPr b="0" lang="en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float</a:t>
              </a:r>
              <a:r>
                <a:rPr b="0" lang="en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1" lang="en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double</a:t>
              </a:r>
              <a:endParaRPr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54" name="Google Shape;854;p61"/>
          <p:cNvGrpSpPr/>
          <p:nvPr/>
        </p:nvGrpSpPr>
        <p:grpSpPr>
          <a:xfrm>
            <a:off x="4762500" y="1333500"/>
            <a:ext cx="3905400" cy="3238500"/>
            <a:chOff x="0" y="0"/>
            <a:chExt cx="3905400" cy="3238500"/>
          </a:xfrm>
        </p:grpSpPr>
        <p:sp>
          <p:nvSpPr>
            <p:cNvPr id="855" name="Google Shape;855;p61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61"/>
            <p:cNvSpPr txBox="1"/>
            <p:nvPr/>
          </p:nvSpPr>
          <p:spPr>
            <a:xfrm>
              <a:off x="228600" y="228600"/>
              <a:ext cx="34482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Reference Types</a:t>
              </a:r>
              <a:endParaRPr b="0" sz="90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7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Non-Primitive Types</a:t>
              </a:r>
              <a:endParaRPr b="0" sz="17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Created by the programmer (except String) and store references to memory objects.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Arrays: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Collect multiple values of the same type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Classes: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Blueprints defining objects and behaviors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Interfaces: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Outline specifications to be implemented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Strings: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Built-in sequences of characters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Enums: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Predefined sets of strict constant values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" name="Google Shape;86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964325"/>
            <a:ext cx="8221299" cy="4026776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62"/>
          <p:cNvSpPr txBox="1"/>
          <p:nvPr/>
        </p:nvSpPr>
        <p:spPr>
          <a:xfrm>
            <a:off x="289350" y="136150"/>
            <a:ext cx="8565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Data Types in Java</a:t>
            </a:r>
            <a:endParaRPr sz="24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fundamental classification of variables into predefined primitives and reference-based non-primitive types.</a:t>
            </a:r>
            <a:endParaRPr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7" name="Google Shape;867;p63"/>
          <p:cNvGrpSpPr/>
          <p:nvPr/>
        </p:nvGrpSpPr>
        <p:grpSpPr>
          <a:xfrm>
            <a:off x="476250" y="381000"/>
            <a:ext cx="8191500" cy="857400"/>
            <a:chOff x="0" y="0"/>
            <a:chExt cx="8191500" cy="857400"/>
          </a:xfrm>
        </p:grpSpPr>
        <p:sp>
          <p:nvSpPr>
            <p:cNvPr id="868" name="Google Shape;868;p63"/>
            <p:cNvSpPr/>
            <p:nvPr/>
          </p:nvSpPr>
          <p:spPr>
            <a:xfrm>
              <a:off x="0" y="0"/>
              <a:ext cx="8191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63"/>
            <p:cNvSpPr txBox="1"/>
            <p:nvPr/>
          </p:nvSpPr>
          <p:spPr>
            <a:xfrm>
              <a:off x="0" y="0"/>
              <a:ext cx="8191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PRIMITIVE DATA TYPES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Primitive data types are predefined in Java and do not share state with other values.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70" name="Google Shape;870;p63"/>
          <p:cNvGrpSpPr/>
          <p:nvPr/>
        </p:nvGrpSpPr>
        <p:grpSpPr>
          <a:xfrm>
            <a:off x="476250" y="1524000"/>
            <a:ext cx="1857300" cy="3048000"/>
            <a:chOff x="0" y="0"/>
            <a:chExt cx="1857300" cy="3048000"/>
          </a:xfrm>
        </p:grpSpPr>
        <p:sp>
          <p:nvSpPr>
            <p:cNvPr id="871" name="Google Shape;871;p63"/>
            <p:cNvSpPr/>
            <p:nvPr/>
          </p:nvSpPr>
          <p:spPr>
            <a:xfrm>
              <a:off x="0" y="0"/>
              <a:ext cx="1857300" cy="3048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63"/>
            <p:cNvSpPr txBox="1"/>
            <p:nvPr/>
          </p:nvSpPr>
          <p:spPr>
            <a:xfrm>
              <a:off x="152400" y="190500"/>
              <a:ext cx="1552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INTEGRAL</a:t>
              </a:r>
              <a:endParaRPr b="0" sz="12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Integers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4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Stores whole numbers without decimals.</a:t>
              </a:r>
              <a:endParaRPr b="0" sz="14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Available Types:</a:t>
              </a:r>
              <a:endParaRPr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3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350"/>
                <a:buFont typeface="Inter"/>
                <a:buChar char="●"/>
              </a:pPr>
              <a:r>
                <a:rPr b="1" lang="en" sz="135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byte</a:t>
              </a:r>
              <a:endParaRPr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32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350"/>
                <a:buFont typeface="Inter"/>
                <a:buChar char="●"/>
              </a:pPr>
              <a:r>
                <a:rPr b="1" lang="en" sz="135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short</a:t>
              </a:r>
              <a:endParaRPr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32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350"/>
                <a:buFont typeface="Inter"/>
                <a:buChar char="●"/>
              </a:pPr>
              <a:r>
                <a:rPr b="1" lang="en" sz="135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endParaRPr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32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350"/>
                <a:buFont typeface="Inter"/>
                <a:buChar char="●"/>
              </a:pPr>
              <a:r>
                <a:rPr b="1" lang="en" sz="135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long</a:t>
              </a:r>
              <a:endParaRPr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73" name="Google Shape;873;p63"/>
          <p:cNvGrpSpPr/>
          <p:nvPr/>
        </p:nvGrpSpPr>
        <p:grpSpPr>
          <a:xfrm>
            <a:off x="2581275" y="1524000"/>
            <a:ext cx="1857300" cy="3048000"/>
            <a:chOff x="0" y="0"/>
            <a:chExt cx="1857300" cy="3048000"/>
          </a:xfrm>
        </p:grpSpPr>
        <p:sp>
          <p:nvSpPr>
            <p:cNvPr id="874" name="Google Shape;874;p63"/>
            <p:cNvSpPr/>
            <p:nvPr/>
          </p:nvSpPr>
          <p:spPr>
            <a:xfrm>
              <a:off x="0" y="0"/>
              <a:ext cx="1857300" cy="3048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63"/>
            <p:cNvSpPr txBox="1"/>
            <p:nvPr/>
          </p:nvSpPr>
          <p:spPr>
            <a:xfrm>
              <a:off x="152400" y="190500"/>
              <a:ext cx="1552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EC48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FRACTIONAL</a:t>
              </a:r>
              <a:endParaRPr b="0" sz="1300">
                <a:solidFill>
                  <a:srgbClr val="EC48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2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Floats</a:t>
              </a:r>
              <a:endParaRPr b="0" sz="2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Stores fractional numbers with decimals.</a:t>
              </a:r>
              <a:endParaRPr b="0" sz="15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Available Types: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206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450"/>
                <a:buFont typeface="Inter"/>
                <a:buChar char="●"/>
              </a:pPr>
              <a:r>
                <a:rPr b="1" lang="en" sz="1450">
                  <a:solidFill>
                    <a:srgbClr val="EC48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float</a:t>
              </a:r>
              <a:endParaRPr sz="14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206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450"/>
                <a:buFont typeface="Inter"/>
                <a:buChar char="●"/>
              </a:pPr>
              <a:r>
                <a:rPr b="1" lang="en" sz="1450">
                  <a:solidFill>
                    <a:srgbClr val="EC48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double</a:t>
              </a:r>
              <a:endParaRPr sz="14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76" name="Google Shape;876;p63"/>
          <p:cNvGrpSpPr/>
          <p:nvPr/>
        </p:nvGrpSpPr>
        <p:grpSpPr>
          <a:xfrm>
            <a:off x="4695825" y="1524000"/>
            <a:ext cx="1857300" cy="3048000"/>
            <a:chOff x="0" y="0"/>
            <a:chExt cx="1857300" cy="3048000"/>
          </a:xfrm>
        </p:grpSpPr>
        <p:sp>
          <p:nvSpPr>
            <p:cNvPr id="877" name="Google Shape;877;p63"/>
            <p:cNvSpPr/>
            <p:nvPr/>
          </p:nvSpPr>
          <p:spPr>
            <a:xfrm>
              <a:off x="0" y="0"/>
              <a:ext cx="1857300" cy="3048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63"/>
            <p:cNvSpPr txBox="1"/>
            <p:nvPr/>
          </p:nvSpPr>
          <p:spPr>
            <a:xfrm>
              <a:off x="152400" y="190500"/>
              <a:ext cx="1552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LOGICAL</a:t>
              </a:r>
              <a:endParaRPr b="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Boolean</a:t>
              </a:r>
              <a:endParaRPr b="0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6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Stores truth values representing states.</a:t>
              </a:r>
              <a:endParaRPr b="0" sz="16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Available Types: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270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550"/>
                <a:buFont typeface="Inter"/>
                <a:buChar char="●"/>
              </a:pPr>
              <a:r>
                <a:rPr b="1" lang="en" sz="155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boolean</a:t>
              </a:r>
              <a:endParaRPr sz="15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79" name="Google Shape;879;p63"/>
          <p:cNvGrpSpPr/>
          <p:nvPr/>
        </p:nvGrpSpPr>
        <p:grpSpPr>
          <a:xfrm>
            <a:off x="6810375" y="1524000"/>
            <a:ext cx="1857300" cy="3048000"/>
            <a:chOff x="0" y="0"/>
            <a:chExt cx="1857300" cy="3048000"/>
          </a:xfrm>
        </p:grpSpPr>
        <p:sp>
          <p:nvSpPr>
            <p:cNvPr id="880" name="Google Shape;880;p63"/>
            <p:cNvSpPr/>
            <p:nvPr/>
          </p:nvSpPr>
          <p:spPr>
            <a:xfrm>
              <a:off x="0" y="0"/>
              <a:ext cx="1857300" cy="3048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63"/>
            <p:cNvSpPr txBox="1"/>
            <p:nvPr/>
          </p:nvSpPr>
          <p:spPr>
            <a:xfrm>
              <a:off x="152400" y="190500"/>
              <a:ext cx="1552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8B5C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 / TEXTUAL</a:t>
              </a:r>
              <a:endParaRPr b="0">
                <a:solidFill>
                  <a:srgbClr val="8B5C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Character</a:t>
              </a:r>
              <a:endParaRPr b="0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6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Stores single characters or ASCII/Unicode values.</a:t>
              </a:r>
              <a:endParaRPr b="0" sz="16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Available Types: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270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550"/>
                <a:buFont typeface="Inter"/>
                <a:buChar char="●"/>
              </a:pPr>
              <a:r>
                <a:rPr b="1" lang="en" sz="1550">
                  <a:solidFill>
                    <a:srgbClr val="8B5C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</a:t>
              </a:r>
              <a:endParaRPr sz="15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64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01 / Integral Type</a:t>
            </a:r>
            <a:endParaRPr b="0" sz="10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Primitive Data Type: byte</a:t>
            </a:r>
            <a:endParaRPr b="0" sz="2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887" name="Google Shape;887;p64"/>
          <p:cNvGrpSpPr/>
          <p:nvPr/>
        </p:nvGrpSpPr>
        <p:grpSpPr>
          <a:xfrm>
            <a:off x="476250" y="1333500"/>
            <a:ext cx="4095900" cy="3238500"/>
            <a:chOff x="0" y="0"/>
            <a:chExt cx="4095900" cy="3238500"/>
          </a:xfrm>
        </p:grpSpPr>
        <p:sp>
          <p:nvSpPr>
            <p:cNvPr id="888" name="Google Shape;888;p64"/>
            <p:cNvSpPr/>
            <p:nvPr/>
          </p:nvSpPr>
          <p:spPr>
            <a:xfrm>
              <a:off x="0" y="0"/>
              <a:ext cx="40959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64"/>
            <p:cNvSpPr txBox="1"/>
            <p:nvPr/>
          </p:nvSpPr>
          <p:spPr>
            <a:xfrm>
              <a:off x="228600" y="228600"/>
              <a:ext cx="36387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Overview &amp; Properties</a:t>
              </a:r>
              <a:endParaRPr b="0" sz="17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byte</a:t>
              </a:r>
              <a:r>
                <a:rPr lang="en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is the smallest data type among all the integer data types in Java.</a:t>
              </a:r>
              <a:endParaRPr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Memory Size</a:t>
              </a:r>
              <a:endParaRPr b="1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3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 Byte </a:t>
              </a: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(8-bit signed)</a:t>
              </a:r>
              <a:endParaRPr b="0" sz="23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Value Range</a:t>
              </a:r>
              <a:endParaRPr b="1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-128 </a:t>
              </a:r>
              <a:r>
                <a:rPr b="0" lang="en" sz="15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</a:t>
              </a:r>
              <a:r>
                <a:rPr b="0" lang="en" sz="2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127</a:t>
              </a:r>
              <a:endParaRPr b="0" sz="2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3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It is implemented as an 8-bit signed two’s complement integer.</a:t>
              </a:r>
              <a:endParaRPr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90" name="Google Shape;890;p64"/>
          <p:cNvGrpSpPr/>
          <p:nvPr/>
        </p:nvGrpSpPr>
        <p:grpSpPr>
          <a:xfrm>
            <a:off x="4762500" y="1333500"/>
            <a:ext cx="3905400" cy="1476300"/>
            <a:chOff x="0" y="0"/>
            <a:chExt cx="3905400" cy="1476300"/>
          </a:xfrm>
        </p:grpSpPr>
        <p:sp>
          <p:nvSpPr>
            <p:cNvPr id="891" name="Google Shape;891;p64"/>
            <p:cNvSpPr/>
            <p:nvPr/>
          </p:nvSpPr>
          <p:spPr>
            <a:xfrm>
              <a:off x="0" y="0"/>
              <a:ext cx="3905400" cy="1476300"/>
            </a:xfrm>
            <a:prstGeom prst="roundRect">
              <a:avLst>
                <a:gd fmla="val 774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64"/>
            <p:cNvSpPr txBox="1"/>
            <p:nvPr/>
          </p:nvSpPr>
          <p:spPr>
            <a:xfrm>
              <a:off x="228600" y="190500"/>
              <a:ext cx="3448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Memory Efficiency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Highly space-efficient for large arrays where memory savings are critical. It can serve as a direct replacement for </a:t>
              </a:r>
              <a:r>
                <a:rPr b="1" lang="en" sz="125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when the values strictly stay within its range limits.</a:t>
              </a:r>
              <a:endParaRPr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93" name="Google Shape;893;p64"/>
          <p:cNvGrpSpPr/>
          <p:nvPr/>
        </p:nvGrpSpPr>
        <p:grpSpPr>
          <a:xfrm>
            <a:off x="4762500" y="3000375"/>
            <a:ext cx="3905400" cy="1571700"/>
            <a:chOff x="0" y="0"/>
            <a:chExt cx="3905400" cy="1571700"/>
          </a:xfrm>
        </p:grpSpPr>
        <p:sp>
          <p:nvSpPr>
            <p:cNvPr id="894" name="Google Shape;894;p64"/>
            <p:cNvSpPr/>
            <p:nvPr/>
          </p:nvSpPr>
          <p:spPr>
            <a:xfrm>
              <a:off x="0" y="0"/>
              <a:ext cx="39054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64"/>
            <p:cNvSpPr txBox="1"/>
            <p:nvPr/>
          </p:nvSpPr>
          <p:spPr>
            <a:xfrm>
              <a:off x="228600" y="190500"/>
              <a:ext cx="34482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Syntax &amp; Example</a:t>
              </a:r>
              <a:endParaRPr b="0" sz="2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byte</a:t>
              </a:r>
              <a:r>
                <a:rPr lang="en" sz="18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bytevariable; </a:t>
              </a:r>
              <a:r>
                <a:rPr lang="en" sz="18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Syntax</a:t>
              </a:r>
              <a:endParaRPr sz="18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byte</a:t>
              </a:r>
              <a:r>
                <a:rPr lang="en" sz="18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b = </a:t>
              </a:r>
              <a:r>
                <a:rPr b="1" lang="en" sz="18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10</a:t>
              </a:r>
              <a:r>
                <a:rPr lang="en" sz="18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 </a:t>
              </a:r>
              <a:r>
                <a:rPr lang="en" sz="18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Example</a:t>
              </a:r>
              <a:endParaRPr sz="18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" name="Google Shape;900;p65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901" name="Google Shape;901;p65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65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Integral Type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Primitive Data Type: short</a:t>
              </a:r>
              <a:endParaRPr b="0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903" name="Google Shape;903;p65"/>
          <p:cNvGrpSpPr/>
          <p:nvPr/>
        </p:nvGrpSpPr>
        <p:grpSpPr>
          <a:xfrm>
            <a:off x="476250" y="1333500"/>
            <a:ext cx="4095900" cy="3238500"/>
            <a:chOff x="0" y="0"/>
            <a:chExt cx="4095900" cy="3238500"/>
          </a:xfrm>
        </p:grpSpPr>
        <p:sp>
          <p:nvSpPr>
            <p:cNvPr id="904" name="Google Shape;904;p65"/>
            <p:cNvSpPr/>
            <p:nvPr/>
          </p:nvSpPr>
          <p:spPr>
            <a:xfrm>
              <a:off x="0" y="0"/>
              <a:ext cx="40959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65"/>
            <p:cNvSpPr txBox="1"/>
            <p:nvPr/>
          </p:nvSpPr>
          <p:spPr>
            <a:xfrm>
              <a:off x="228600" y="228600"/>
              <a:ext cx="36387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Overview &amp; Properties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5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short</a:t>
              </a: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data type is a 16-bit signed two's complement integer, being twice as small as a standard integer.</a:t>
              </a:r>
              <a:endParaRPr b="0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Memory Size</a:t>
              </a:r>
              <a:endParaRPr b="1"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 Bytes </a:t>
              </a: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(16-bit signed)</a:t>
              </a:r>
              <a:endParaRPr b="0" sz="24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Value Range</a:t>
              </a:r>
              <a:endParaRPr b="1"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-32,768 </a:t>
              </a:r>
              <a:r>
                <a:rPr b="0" lang="en" sz="16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</a:t>
              </a:r>
              <a:r>
                <a:rPr b="0" lang="en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32,767</a:t>
              </a:r>
              <a:endParaRPr b="0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906" name="Google Shape;906;p65"/>
          <p:cNvGrpSpPr/>
          <p:nvPr/>
        </p:nvGrpSpPr>
        <p:grpSpPr>
          <a:xfrm>
            <a:off x="4762500" y="1333500"/>
            <a:ext cx="3905400" cy="1476300"/>
            <a:chOff x="0" y="0"/>
            <a:chExt cx="3905400" cy="1476300"/>
          </a:xfrm>
        </p:grpSpPr>
        <p:sp>
          <p:nvSpPr>
            <p:cNvPr id="907" name="Google Shape;907;p65"/>
            <p:cNvSpPr/>
            <p:nvPr/>
          </p:nvSpPr>
          <p:spPr>
            <a:xfrm>
              <a:off x="0" y="0"/>
              <a:ext cx="3905400" cy="1476300"/>
            </a:xfrm>
            <a:prstGeom prst="roundRect">
              <a:avLst>
                <a:gd fmla="val 774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65"/>
            <p:cNvSpPr txBox="1"/>
            <p:nvPr/>
          </p:nvSpPr>
          <p:spPr>
            <a:xfrm>
              <a:off x="228600" y="190500"/>
              <a:ext cx="3448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Memory Efficiency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Highly space-efficient for large arrays where memory savings are critical. It acts as an optimal choice to conserve memory compared to </a:t>
              </a:r>
              <a:r>
                <a:rPr b="1" lang="en" sz="125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when the values strictly stay within its range limit.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09" name="Google Shape;909;p65"/>
          <p:cNvGrpSpPr/>
          <p:nvPr/>
        </p:nvGrpSpPr>
        <p:grpSpPr>
          <a:xfrm>
            <a:off x="4762500" y="3000375"/>
            <a:ext cx="3905400" cy="1571700"/>
            <a:chOff x="0" y="0"/>
            <a:chExt cx="3905400" cy="1571700"/>
          </a:xfrm>
        </p:grpSpPr>
        <p:sp>
          <p:nvSpPr>
            <p:cNvPr id="910" name="Google Shape;910;p65"/>
            <p:cNvSpPr/>
            <p:nvPr/>
          </p:nvSpPr>
          <p:spPr>
            <a:xfrm>
              <a:off x="0" y="0"/>
              <a:ext cx="39054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65"/>
            <p:cNvSpPr txBox="1"/>
            <p:nvPr/>
          </p:nvSpPr>
          <p:spPr>
            <a:xfrm>
              <a:off x="228600" y="190500"/>
              <a:ext cx="34482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Syntax &amp; Example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short</a:t>
              </a:r>
              <a:r>
                <a:rPr b="0" lang="en" sz="15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shortvariable; </a:t>
              </a:r>
              <a:r>
                <a:rPr b="0" lang="en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Syntax</a:t>
              </a:r>
              <a:endParaRPr b="0" sz="15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short</a:t>
              </a:r>
              <a:r>
                <a:rPr b="0" lang="en" sz="15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 = </a:t>
              </a:r>
              <a:r>
                <a:rPr b="1" lang="en" sz="15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234</a:t>
              </a:r>
              <a:r>
                <a:rPr b="0" lang="en" sz="15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 </a:t>
              </a:r>
              <a:r>
                <a:rPr b="0" lang="en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Example</a:t>
              </a:r>
              <a:endParaRPr b="0" sz="15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6" name="Google Shape;916;p66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917" name="Google Shape;917;p66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66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Integral Type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Primitive Data Type: int</a:t>
              </a:r>
              <a:endParaRPr b="0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919" name="Google Shape;919;p66"/>
          <p:cNvGrpSpPr/>
          <p:nvPr/>
        </p:nvGrpSpPr>
        <p:grpSpPr>
          <a:xfrm>
            <a:off x="476250" y="1333500"/>
            <a:ext cx="4095900" cy="3238500"/>
            <a:chOff x="0" y="0"/>
            <a:chExt cx="4095900" cy="3238500"/>
          </a:xfrm>
        </p:grpSpPr>
        <p:sp>
          <p:nvSpPr>
            <p:cNvPr id="920" name="Google Shape;920;p66"/>
            <p:cNvSpPr/>
            <p:nvPr/>
          </p:nvSpPr>
          <p:spPr>
            <a:xfrm>
              <a:off x="0" y="0"/>
              <a:ext cx="40959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66"/>
            <p:cNvSpPr txBox="1"/>
            <p:nvPr/>
          </p:nvSpPr>
          <p:spPr>
            <a:xfrm>
              <a:off x="228600" y="228600"/>
              <a:ext cx="36387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Overview &amp; Properties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3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data type is a 32-bit signed two's complement integer, serving as the standard choice for whole numbers.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Memory Size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 Bytes</a:t>
              </a: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</a:t>
              </a:r>
              <a:r>
                <a:rPr b="0" lang="en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(32-bit signed)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Value Range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-2³¹ to 2³¹ - 1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It is widely used for storing general integer values, unless memory optimization is extremely critical.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22" name="Google Shape;922;p66"/>
          <p:cNvGrpSpPr/>
          <p:nvPr/>
        </p:nvGrpSpPr>
        <p:grpSpPr>
          <a:xfrm>
            <a:off x="4762500" y="1333500"/>
            <a:ext cx="3905400" cy="1476300"/>
            <a:chOff x="0" y="0"/>
            <a:chExt cx="3905400" cy="1476300"/>
          </a:xfrm>
        </p:grpSpPr>
        <p:sp>
          <p:nvSpPr>
            <p:cNvPr id="923" name="Google Shape;923;p66"/>
            <p:cNvSpPr/>
            <p:nvPr/>
          </p:nvSpPr>
          <p:spPr>
            <a:xfrm>
              <a:off x="0" y="0"/>
              <a:ext cx="3905400" cy="1476300"/>
            </a:xfrm>
            <a:prstGeom prst="roundRect">
              <a:avLst>
                <a:gd fmla="val 774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66"/>
            <p:cNvSpPr txBox="1"/>
            <p:nvPr/>
          </p:nvSpPr>
          <p:spPr>
            <a:xfrm>
              <a:off x="228600" y="190500"/>
              <a:ext cx="3448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Standard Integer Use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Designed for general-purpose arithmetic and array indexing. The </a:t>
              </a:r>
              <a:r>
                <a:rPr b="1" lang="en" sz="125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type is the default choice for integer values in Java, balancing memory use and processing performance.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25" name="Google Shape;925;p66"/>
          <p:cNvGrpSpPr/>
          <p:nvPr/>
        </p:nvGrpSpPr>
        <p:grpSpPr>
          <a:xfrm>
            <a:off x="4762500" y="3000375"/>
            <a:ext cx="3905400" cy="1571700"/>
            <a:chOff x="0" y="0"/>
            <a:chExt cx="3905400" cy="1571700"/>
          </a:xfrm>
        </p:grpSpPr>
        <p:sp>
          <p:nvSpPr>
            <p:cNvPr id="926" name="Google Shape;926;p66"/>
            <p:cNvSpPr/>
            <p:nvPr/>
          </p:nvSpPr>
          <p:spPr>
            <a:xfrm>
              <a:off x="0" y="0"/>
              <a:ext cx="39054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66"/>
            <p:cNvSpPr txBox="1"/>
            <p:nvPr/>
          </p:nvSpPr>
          <p:spPr>
            <a:xfrm>
              <a:off x="228600" y="190500"/>
              <a:ext cx="34482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Syntax &amp; Example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 </a:t>
              </a:r>
              <a:r>
                <a:rPr b="0" lang="en" sz="15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intvariable;</a:t>
              </a:r>
              <a:r>
                <a:rPr b="1" lang="en" sz="15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Syntax</a:t>
              </a:r>
              <a:endParaRPr b="1" sz="150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563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 </a:t>
              </a:r>
              <a:r>
                <a:rPr b="0" lang="en" sz="15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 =</a:t>
              </a:r>
              <a:r>
                <a:rPr b="1" lang="en" sz="15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5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2037437</a:t>
              </a:r>
              <a:r>
                <a:rPr b="0" lang="en" sz="15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r>
                <a:rPr b="1" lang="en" sz="15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Example</a:t>
              </a:r>
              <a:endParaRPr b="1" sz="150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2" name="Google Shape;932;p67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933" name="Google Shape;933;p67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67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Integral Type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Primitive Data Type: long</a:t>
              </a:r>
              <a:endParaRPr b="0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935" name="Google Shape;935;p67"/>
          <p:cNvGrpSpPr/>
          <p:nvPr/>
        </p:nvGrpSpPr>
        <p:grpSpPr>
          <a:xfrm>
            <a:off x="476250" y="1333500"/>
            <a:ext cx="4095900" cy="3238500"/>
            <a:chOff x="0" y="0"/>
            <a:chExt cx="4095900" cy="3238500"/>
          </a:xfrm>
        </p:grpSpPr>
        <p:sp>
          <p:nvSpPr>
            <p:cNvPr id="936" name="Google Shape;936;p67"/>
            <p:cNvSpPr/>
            <p:nvPr/>
          </p:nvSpPr>
          <p:spPr>
            <a:xfrm>
              <a:off x="0" y="0"/>
              <a:ext cx="40959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67"/>
            <p:cNvSpPr txBox="1"/>
            <p:nvPr/>
          </p:nvSpPr>
          <p:spPr>
            <a:xfrm>
              <a:off x="228600" y="228600"/>
              <a:ext cx="36387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Overview &amp; Properties</a:t>
              </a:r>
              <a:endParaRPr b="0" sz="17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6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long</a:t>
              </a:r>
              <a:r>
                <a:rPr b="0" lang="en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data type is a 64-bit signed two's complement integer, designed for storing very large whole numbers.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Memory Size</a:t>
              </a:r>
              <a:endParaRPr b="1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23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8 Bytes </a:t>
              </a: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(64-bit signed)</a:t>
              </a:r>
              <a:endParaRPr b="0" sz="23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Value Range</a:t>
              </a:r>
              <a:endParaRPr b="1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-2⁶³ to 2⁶³ - 1</a:t>
              </a:r>
              <a:endParaRPr b="0" sz="2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938" name="Google Shape;938;p67"/>
          <p:cNvGrpSpPr/>
          <p:nvPr/>
        </p:nvGrpSpPr>
        <p:grpSpPr>
          <a:xfrm>
            <a:off x="4762500" y="1333500"/>
            <a:ext cx="3905400" cy="1476300"/>
            <a:chOff x="0" y="0"/>
            <a:chExt cx="3905400" cy="1476300"/>
          </a:xfrm>
        </p:grpSpPr>
        <p:sp>
          <p:nvSpPr>
            <p:cNvPr id="939" name="Google Shape;939;p67"/>
            <p:cNvSpPr/>
            <p:nvPr/>
          </p:nvSpPr>
          <p:spPr>
            <a:xfrm>
              <a:off x="0" y="0"/>
              <a:ext cx="3905400" cy="1476300"/>
            </a:xfrm>
            <a:prstGeom prst="roundRect">
              <a:avLst>
                <a:gd fmla="val 774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67"/>
            <p:cNvSpPr txBox="1"/>
            <p:nvPr/>
          </p:nvSpPr>
          <p:spPr>
            <a:xfrm>
              <a:off x="228600" y="190500"/>
              <a:ext cx="3448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Huge Numeric Storage</a:t>
              </a:r>
              <a:endParaRPr b="0" sz="13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Useful when you need to store values wider than what </a:t>
              </a:r>
              <a:r>
                <a:rPr b="1" lang="en" sz="125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can provide. It acts as the standard choice for system timestamps, high-range counters, and heavy scientific calculations.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41" name="Google Shape;941;p67"/>
          <p:cNvGrpSpPr/>
          <p:nvPr/>
        </p:nvGrpSpPr>
        <p:grpSpPr>
          <a:xfrm>
            <a:off x="4762500" y="3000375"/>
            <a:ext cx="3905400" cy="1571700"/>
            <a:chOff x="0" y="0"/>
            <a:chExt cx="3905400" cy="1571700"/>
          </a:xfrm>
        </p:grpSpPr>
        <p:sp>
          <p:nvSpPr>
            <p:cNvPr id="942" name="Google Shape;942;p67"/>
            <p:cNvSpPr/>
            <p:nvPr/>
          </p:nvSpPr>
          <p:spPr>
            <a:xfrm>
              <a:off x="0" y="0"/>
              <a:ext cx="39054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67"/>
            <p:cNvSpPr txBox="1"/>
            <p:nvPr/>
          </p:nvSpPr>
          <p:spPr>
            <a:xfrm>
              <a:off x="228600" y="190500"/>
              <a:ext cx="34482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Syntax &amp; Example</a:t>
              </a:r>
              <a:endParaRPr b="0" sz="13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long </a:t>
              </a:r>
              <a:r>
                <a:rPr b="0" lang="en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longvariable;</a:t>
              </a:r>
              <a:r>
                <a:rPr b="1" lang="en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Syntax</a:t>
              </a:r>
              <a:endParaRPr b="1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long </a:t>
              </a:r>
              <a:r>
                <a:rPr b="0" lang="en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 =</a:t>
              </a:r>
              <a:r>
                <a:rPr b="1" lang="en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372036854775</a:t>
              </a:r>
              <a:r>
                <a:rPr b="0" lang="en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r>
                <a:rPr b="1" lang="en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Example</a:t>
              </a:r>
              <a:endParaRPr b="1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8" name="Google Shape;948;p68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949" name="Google Shape;949;p68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68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Floating Point Type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Primitive Data Type: float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951" name="Google Shape;951;p68"/>
          <p:cNvGrpSpPr/>
          <p:nvPr/>
        </p:nvGrpSpPr>
        <p:grpSpPr>
          <a:xfrm>
            <a:off x="476250" y="1333500"/>
            <a:ext cx="4095900" cy="3238500"/>
            <a:chOff x="0" y="0"/>
            <a:chExt cx="4095900" cy="3238500"/>
          </a:xfrm>
        </p:grpSpPr>
        <p:sp>
          <p:nvSpPr>
            <p:cNvPr id="952" name="Google Shape;952;p68"/>
            <p:cNvSpPr/>
            <p:nvPr/>
          </p:nvSpPr>
          <p:spPr>
            <a:xfrm>
              <a:off x="0" y="0"/>
              <a:ext cx="40959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68"/>
            <p:cNvSpPr txBox="1"/>
            <p:nvPr/>
          </p:nvSpPr>
          <p:spPr>
            <a:xfrm>
              <a:off x="228600" y="228600"/>
              <a:ext cx="36387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Overview &amp; Properties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1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float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data type is a single-precision 32-bit IEEE 754 floating-point, designed for saving memory in large arrays of floating-point numbers.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Memory Size</a:t>
              </a:r>
              <a:endParaRPr b="0" sz="900">
                <a:solidFill>
                  <a:srgbClr val="64748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 Bytes</a:t>
              </a: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</a:t>
              </a: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(32-bit floating-point)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Value Range</a:t>
              </a:r>
              <a:endParaRPr b="0" sz="900">
                <a:solidFill>
                  <a:srgbClr val="64748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-3.40282347 × 10³⁸ to +3.40282347 × 10³⁸</a:t>
              </a:r>
              <a:endParaRPr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954" name="Google Shape;954;p68"/>
          <p:cNvGrpSpPr/>
          <p:nvPr/>
        </p:nvGrpSpPr>
        <p:grpSpPr>
          <a:xfrm>
            <a:off x="4762500" y="1333500"/>
            <a:ext cx="3905400" cy="1476300"/>
            <a:chOff x="0" y="0"/>
            <a:chExt cx="3905400" cy="1476300"/>
          </a:xfrm>
        </p:grpSpPr>
        <p:sp>
          <p:nvSpPr>
            <p:cNvPr id="955" name="Google Shape;955;p68"/>
            <p:cNvSpPr/>
            <p:nvPr/>
          </p:nvSpPr>
          <p:spPr>
            <a:xfrm>
              <a:off x="0" y="0"/>
              <a:ext cx="3905400" cy="1476300"/>
            </a:xfrm>
            <a:prstGeom prst="roundRect">
              <a:avLst>
                <a:gd fmla="val 774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68"/>
            <p:cNvSpPr txBox="1"/>
            <p:nvPr/>
          </p:nvSpPr>
          <p:spPr>
            <a:xfrm>
              <a:off x="228600" y="190500"/>
              <a:ext cx="3448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Precision &amp; Usage Limit</a:t>
              </a:r>
              <a:endParaRPr b="0" sz="13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Provides approximately 7 decimal digits of precision. It is </a:t>
              </a:r>
              <a:r>
                <a:rPr b="1" lang="en" sz="115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not recommended</a:t>
              </a:r>
              <a:r>
                <a:rPr b="0"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for precise calculations such as currency, financial transactions, or critical research data.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57" name="Google Shape;957;p68"/>
          <p:cNvGrpSpPr/>
          <p:nvPr/>
        </p:nvGrpSpPr>
        <p:grpSpPr>
          <a:xfrm>
            <a:off x="4762500" y="3000375"/>
            <a:ext cx="3905400" cy="1571700"/>
            <a:chOff x="0" y="0"/>
            <a:chExt cx="3905400" cy="1571700"/>
          </a:xfrm>
        </p:grpSpPr>
        <p:sp>
          <p:nvSpPr>
            <p:cNvPr id="958" name="Google Shape;958;p68"/>
            <p:cNvSpPr/>
            <p:nvPr/>
          </p:nvSpPr>
          <p:spPr>
            <a:xfrm>
              <a:off x="0" y="0"/>
              <a:ext cx="39054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68"/>
            <p:cNvSpPr txBox="1"/>
            <p:nvPr/>
          </p:nvSpPr>
          <p:spPr>
            <a:xfrm>
              <a:off x="228600" y="190500"/>
              <a:ext cx="34482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Syntax &amp; Example</a:t>
              </a:r>
              <a:endParaRPr b="0" sz="13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float</a:t>
              </a:r>
              <a:r>
                <a:rPr b="0" lang="en" sz="13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floatVariable; // Syntax</a:t>
              </a:r>
              <a:endParaRPr b="0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float</a:t>
              </a:r>
              <a:r>
                <a:rPr b="0" lang="en" sz="13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f = </a:t>
              </a:r>
              <a:r>
                <a:rPr b="1" lang="en" sz="1300">
                  <a:solidFill>
                    <a:schemeClr val="dk1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3.97f</a:t>
              </a:r>
              <a:r>
                <a:rPr b="0" lang="en" sz="13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 // Example (default value = 0.0f)</a:t>
              </a:r>
              <a:endParaRPr b="0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oogle Shape;964;p69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965" name="Google Shape;965;p69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69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Floating Point Type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Primitive Data Type: double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967" name="Google Shape;967;p69"/>
          <p:cNvGrpSpPr/>
          <p:nvPr/>
        </p:nvGrpSpPr>
        <p:grpSpPr>
          <a:xfrm>
            <a:off x="476250" y="1333500"/>
            <a:ext cx="4095900" cy="3238500"/>
            <a:chOff x="0" y="0"/>
            <a:chExt cx="4095900" cy="3238500"/>
          </a:xfrm>
        </p:grpSpPr>
        <p:sp>
          <p:nvSpPr>
            <p:cNvPr id="968" name="Google Shape;968;p69"/>
            <p:cNvSpPr/>
            <p:nvPr/>
          </p:nvSpPr>
          <p:spPr>
            <a:xfrm>
              <a:off x="0" y="0"/>
              <a:ext cx="40959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9" name="Google Shape;969;p69"/>
            <p:cNvGrpSpPr/>
            <p:nvPr/>
          </p:nvGrpSpPr>
          <p:grpSpPr>
            <a:xfrm>
              <a:off x="228600" y="228600"/>
              <a:ext cx="3638700" cy="2781300"/>
              <a:chOff x="0" y="0"/>
              <a:chExt cx="3638700" cy="2781300"/>
            </a:xfrm>
          </p:grpSpPr>
          <p:sp>
            <p:nvSpPr>
              <p:cNvPr id="970" name="Google Shape;970;p69"/>
              <p:cNvSpPr/>
              <p:nvPr/>
            </p:nvSpPr>
            <p:spPr>
              <a:xfrm>
                <a:off x="0" y="0"/>
                <a:ext cx="3638700" cy="2781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69"/>
              <p:cNvSpPr txBox="1"/>
              <p:nvPr/>
            </p:nvSpPr>
            <p:spPr>
              <a:xfrm>
                <a:off x="0" y="0"/>
                <a:ext cx="3638700" cy="2781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Overview &amp; Properties</a:t>
                </a:r>
                <a:endParaRPr b="0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The </a:t>
                </a:r>
                <a:r>
                  <a:rPr b="1" lang="en" sz="1100">
                    <a:solidFill>
                      <a:srgbClr val="3B82F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double</a:t>
                </a:r>
                <a:r>
                  <a:rPr b="0" lang="en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data type is a double-precision 64-bit IEEE 754 floating-point, representing twice the precision of float.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64748B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Memory Size</a:t>
                </a:r>
                <a:endParaRPr b="0" sz="900">
                  <a:solidFill>
                    <a:srgbClr val="64748B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" sz="2000">
                    <a:solidFill>
                      <a:srgbClr val="3B82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8 Bytes</a:t>
                </a:r>
                <a:r>
                  <a:rPr b="0" lang="en" sz="14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 </a:t>
                </a:r>
                <a:r>
                  <a:rPr b="0" lang="en" sz="12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(64-bit floating-point)</a:t>
                </a:r>
                <a:endParaRPr b="0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64748B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Value Range</a:t>
                </a:r>
                <a:endParaRPr b="0" sz="900">
                  <a:solidFill>
                    <a:srgbClr val="64748B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1200"/>
                  </a:spcAft>
                  <a:buNone/>
                </a:pPr>
                <a:r>
                  <a:rPr b="0" lang="en" sz="18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-1.79</a:t>
                </a:r>
                <a:r>
                  <a:rPr b="0" lang="en" sz="18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7</a:t>
                </a:r>
                <a:r>
                  <a:rPr b="0" lang="en" sz="18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6931348623157 × 10³⁰⁸ to 1.7976931348623157 × 10³⁰⁸</a:t>
                </a:r>
                <a:endParaRPr b="0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</p:grpSp>
      <p:grpSp>
        <p:nvGrpSpPr>
          <p:cNvPr id="972" name="Google Shape;972;p69"/>
          <p:cNvGrpSpPr/>
          <p:nvPr/>
        </p:nvGrpSpPr>
        <p:grpSpPr>
          <a:xfrm>
            <a:off x="4762500" y="1333500"/>
            <a:ext cx="3905400" cy="1476300"/>
            <a:chOff x="0" y="0"/>
            <a:chExt cx="3905400" cy="1476300"/>
          </a:xfrm>
        </p:grpSpPr>
        <p:sp>
          <p:nvSpPr>
            <p:cNvPr id="973" name="Google Shape;973;p69"/>
            <p:cNvSpPr/>
            <p:nvPr/>
          </p:nvSpPr>
          <p:spPr>
            <a:xfrm>
              <a:off x="0" y="0"/>
              <a:ext cx="3905400" cy="1476300"/>
            </a:xfrm>
            <a:prstGeom prst="roundRect">
              <a:avLst>
                <a:gd fmla="val 774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74" name="Google Shape;974;p69"/>
            <p:cNvGrpSpPr/>
            <p:nvPr/>
          </p:nvGrpSpPr>
          <p:grpSpPr>
            <a:xfrm>
              <a:off x="228600" y="190500"/>
              <a:ext cx="3448200" cy="1095300"/>
              <a:chOff x="0" y="0"/>
              <a:chExt cx="3448200" cy="1095300"/>
            </a:xfrm>
          </p:grpSpPr>
          <p:sp>
            <p:nvSpPr>
              <p:cNvPr id="975" name="Google Shape;975;p69"/>
              <p:cNvSpPr/>
              <p:nvPr/>
            </p:nvSpPr>
            <p:spPr>
              <a:xfrm>
                <a:off x="0" y="0"/>
                <a:ext cx="3448200" cy="1095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69"/>
              <p:cNvSpPr txBox="1"/>
              <p:nvPr/>
            </p:nvSpPr>
            <p:spPr>
              <a:xfrm>
                <a:off x="0" y="0"/>
                <a:ext cx="3448200" cy="1095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Precision &amp; Usage Limit</a:t>
                </a:r>
                <a:endParaRPr b="0" sz="13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Provides approximately 15 decimal digits of precision. While it is the </a:t>
                </a:r>
                <a:r>
                  <a:rPr b="1" lang="en" sz="1050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default floating data-type</a:t>
                </a: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in Java, it is still not recommended for precise calculations like currency.</a:t>
                </a:r>
                <a:endParaRPr b="0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77" name="Google Shape;977;p69"/>
          <p:cNvGrpSpPr/>
          <p:nvPr/>
        </p:nvGrpSpPr>
        <p:grpSpPr>
          <a:xfrm>
            <a:off x="4762500" y="3000375"/>
            <a:ext cx="3905400" cy="1571700"/>
            <a:chOff x="0" y="0"/>
            <a:chExt cx="3905400" cy="1571700"/>
          </a:xfrm>
        </p:grpSpPr>
        <p:sp>
          <p:nvSpPr>
            <p:cNvPr id="978" name="Google Shape;978;p69"/>
            <p:cNvSpPr/>
            <p:nvPr/>
          </p:nvSpPr>
          <p:spPr>
            <a:xfrm>
              <a:off x="0" y="0"/>
              <a:ext cx="39054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79" name="Google Shape;979;p69"/>
            <p:cNvGrpSpPr/>
            <p:nvPr/>
          </p:nvGrpSpPr>
          <p:grpSpPr>
            <a:xfrm>
              <a:off x="228600" y="190500"/>
              <a:ext cx="3448200" cy="1190700"/>
              <a:chOff x="0" y="0"/>
              <a:chExt cx="3448200" cy="1190700"/>
            </a:xfrm>
          </p:grpSpPr>
          <p:sp>
            <p:nvSpPr>
              <p:cNvPr id="980" name="Google Shape;980;p69"/>
              <p:cNvSpPr/>
              <p:nvPr/>
            </p:nvSpPr>
            <p:spPr>
              <a:xfrm>
                <a:off x="0" y="0"/>
                <a:ext cx="3448200" cy="1190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69"/>
              <p:cNvSpPr txBox="1"/>
              <p:nvPr/>
            </p:nvSpPr>
            <p:spPr>
              <a:xfrm>
                <a:off x="0" y="0"/>
                <a:ext cx="3448200" cy="1190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Syntax &amp; Example</a:t>
                </a:r>
                <a:endParaRPr b="0" sz="13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double </a:t>
                </a:r>
                <a:r>
                  <a:rPr b="0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doubleVariable; // Syntax</a:t>
                </a:r>
                <a:endParaRPr b="0" sz="1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1200"/>
                  </a:spcAft>
                  <a:buNone/>
                </a:pPr>
                <a:r>
                  <a:rPr b="1" lang="en" sz="10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double </a:t>
                </a:r>
                <a:r>
                  <a:rPr b="0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 =</a:t>
                </a:r>
                <a:r>
                  <a:rPr b="0" lang="en" sz="10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 </a:t>
                </a:r>
                <a:r>
                  <a:rPr b="1" lang="en" sz="1000">
                    <a:solidFill>
                      <a:srgbClr val="0F172A"/>
                    </a:solidFill>
                    <a:highlight>
                      <a:srgbClr val="F1F5F9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873.98343</a:t>
                </a:r>
                <a:r>
                  <a:rPr b="0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; // Example (default = 0.0d)</a:t>
                </a:r>
                <a:endParaRPr b="0" sz="1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6" name="Google Shape;986;p70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987" name="Google Shape;987;p70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70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 / Character Type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Primitive Data Type: char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989" name="Google Shape;989;p70"/>
          <p:cNvGrpSpPr/>
          <p:nvPr/>
        </p:nvGrpSpPr>
        <p:grpSpPr>
          <a:xfrm>
            <a:off x="476250" y="1333500"/>
            <a:ext cx="4095900" cy="3238500"/>
            <a:chOff x="0" y="0"/>
            <a:chExt cx="4095900" cy="3238500"/>
          </a:xfrm>
        </p:grpSpPr>
        <p:sp>
          <p:nvSpPr>
            <p:cNvPr id="990" name="Google Shape;990;p70"/>
            <p:cNvSpPr/>
            <p:nvPr/>
          </p:nvSpPr>
          <p:spPr>
            <a:xfrm>
              <a:off x="0" y="0"/>
              <a:ext cx="40959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70"/>
            <p:cNvSpPr txBox="1"/>
            <p:nvPr/>
          </p:nvSpPr>
          <p:spPr>
            <a:xfrm>
              <a:off x="228600" y="228600"/>
              <a:ext cx="36387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Overview &amp; Properties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3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</a:t>
              </a: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data type is useful for storing single value characters. Java uses Unicode format to support international character sets.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Memory Size</a:t>
              </a:r>
              <a:endParaRPr b="0" sz="900">
                <a:solidFill>
                  <a:srgbClr val="64748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 Bytes</a:t>
              </a: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</a:t>
              </a: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(16-bit unsigned integer)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Value Range</a:t>
              </a:r>
              <a:endParaRPr b="0" sz="900">
                <a:solidFill>
                  <a:srgbClr val="64748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'\u0000' </a:t>
              </a: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(0) to</a:t>
              </a: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'\uffff' </a:t>
              </a: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(65,535)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992" name="Google Shape;992;p70"/>
          <p:cNvGrpSpPr/>
          <p:nvPr/>
        </p:nvGrpSpPr>
        <p:grpSpPr>
          <a:xfrm>
            <a:off x="4762500" y="1333500"/>
            <a:ext cx="3905400" cy="1476300"/>
            <a:chOff x="0" y="0"/>
            <a:chExt cx="3905400" cy="1476300"/>
          </a:xfrm>
        </p:grpSpPr>
        <p:sp>
          <p:nvSpPr>
            <p:cNvPr id="993" name="Google Shape;993;p70"/>
            <p:cNvSpPr/>
            <p:nvPr/>
          </p:nvSpPr>
          <p:spPr>
            <a:xfrm>
              <a:off x="0" y="0"/>
              <a:ext cx="3905400" cy="1476300"/>
            </a:xfrm>
            <a:prstGeom prst="roundRect">
              <a:avLst>
                <a:gd fmla="val 774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70"/>
            <p:cNvSpPr txBox="1"/>
            <p:nvPr/>
          </p:nvSpPr>
          <p:spPr>
            <a:xfrm>
              <a:off x="228600" y="190500"/>
              <a:ext cx="3448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Unicode vs ASCII</a:t>
              </a:r>
              <a:endParaRPr b="0" sz="13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Unlike older languages using 8-bit ASCII, Java uses </a:t>
              </a:r>
              <a:r>
                <a:rPr b="1" lang="en" sz="13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Unicode</a:t>
              </a: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 This allows it to represent written characters from almost all of the world's languages natively.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95" name="Google Shape;995;p70"/>
          <p:cNvGrpSpPr/>
          <p:nvPr/>
        </p:nvGrpSpPr>
        <p:grpSpPr>
          <a:xfrm>
            <a:off x="4762500" y="3000375"/>
            <a:ext cx="3905400" cy="1571700"/>
            <a:chOff x="0" y="0"/>
            <a:chExt cx="3905400" cy="1571700"/>
          </a:xfrm>
        </p:grpSpPr>
        <p:sp>
          <p:nvSpPr>
            <p:cNvPr id="996" name="Google Shape;996;p70"/>
            <p:cNvSpPr/>
            <p:nvPr/>
          </p:nvSpPr>
          <p:spPr>
            <a:xfrm>
              <a:off x="0" y="0"/>
              <a:ext cx="39054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70"/>
            <p:cNvSpPr txBox="1"/>
            <p:nvPr/>
          </p:nvSpPr>
          <p:spPr>
            <a:xfrm>
              <a:off x="228600" y="190500"/>
              <a:ext cx="34482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Syntax &amp; Example</a:t>
              </a:r>
              <a:endParaRPr b="0" sz="13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 </a:t>
              </a:r>
              <a:r>
                <a:rPr b="0" lang="en" sz="15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charVariable; // Syntax</a:t>
              </a:r>
              <a:endParaRPr b="1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 </a:t>
              </a:r>
              <a:r>
                <a:rPr b="0" lang="en" sz="15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 = </a:t>
              </a:r>
              <a:r>
                <a:rPr b="1" lang="en" sz="1500">
                  <a:solidFill>
                    <a:srgbClr val="000000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'D'</a:t>
              </a:r>
              <a:r>
                <a:rPr b="0" lang="en" sz="15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 // Example</a:t>
              </a:r>
              <a:endParaRPr b="1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2" name="Google Shape;1002;p71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003" name="Google Shape;1003;p71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71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Logical Type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Primitive Data Type: boolean</a:t>
              </a:r>
              <a:endParaRPr b="0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005" name="Google Shape;1005;p71"/>
          <p:cNvGrpSpPr/>
          <p:nvPr/>
        </p:nvGrpSpPr>
        <p:grpSpPr>
          <a:xfrm>
            <a:off x="476250" y="1333500"/>
            <a:ext cx="4095900" cy="3238500"/>
            <a:chOff x="0" y="0"/>
            <a:chExt cx="4095900" cy="3238500"/>
          </a:xfrm>
        </p:grpSpPr>
        <p:sp>
          <p:nvSpPr>
            <p:cNvPr id="1006" name="Google Shape;1006;p71"/>
            <p:cNvSpPr/>
            <p:nvPr/>
          </p:nvSpPr>
          <p:spPr>
            <a:xfrm>
              <a:off x="0" y="0"/>
              <a:ext cx="40959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71"/>
            <p:cNvSpPr txBox="1"/>
            <p:nvPr/>
          </p:nvSpPr>
          <p:spPr>
            <a:xfrm>
              <a:off x="228600" y="228600"/>
              <a:ext cx="36387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Overview &amp; Properties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2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boolean</a:t>
              </a: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data type is a special primitive type designed solely to store logical flags. It has no standard size definition in the JVM, but is commonly represented using 1 byte.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Memory Size</a:t>
              </a:r>
              <a:endParaRPr b="0" sz="900">
                <a:solidFill>
                  <a:srgbClr val="64748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 Byte </a:t>
              </a: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(or 1 bit inside arrays)</a:t>
              </a:r>
              <a:endParaRPr b="0" sz="2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Default Value</a:t>
              </a:r>
              <a:endParaRPr b="0" sz="900">
                <a:solidFill>
                  <a:srgbClr val="64748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false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008" name="Google Shape;1008;p71"/>
          <p:cNvGrpSpPr/>
          <p:nvPr/>
        </p:nvGrpSpPr>
        <p:grpSpPr>
          <a:xfrm>
            <a:off x="4762500" y="1333500"/>
            <a:ext cx="3905400" cy="1476300"/>
            <a:chOff x="0" y="0"/>
            <a:chExt cx="3905400" cy="1476300"/>
          </a:xfrm>
        </p:grpSpPr>
        <p:sp>
          <p:nvSpPr>
            <p:cNvPr id="1009" name="Google Shape;1009;p71"/>
            <p:cNvSpPr/>
            <p:nvPr/>
          </p:nvSpPr>
          <p:spPr>
            <a:xfrm>
              <a:off x="0" y="0"/>
              <a:ext cx="3905400" cy="1476300"/>
            </a:xfrm>
            <a:prstGeom prst="roundRect">
              <a:avLst>
                <a:gd fmla="val 774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71"/>
            <p:cNvSpPr txBox="1"/>
            <p:nvPr/>
          </p:nvSpPr>
          <p:spPr>
            <a:xfrm>
              <a:off x="228600" y="190500"/>
              <a:ext cx="3448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Values &amp; Flag Usage</a:t>
              </a:r>
              <a:endParaRPr b="0" sz="13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Can only represent two possible states: </a:t>
              </a:r>
              <a:r>
                <a:rPr b="1" lang="en" sz="105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true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1" lang="en" sz="105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false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 It is widely used to track conditional states, control program flow, and manage binary flags.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11" name="Google Shape;1011;p71"/>
          <p:cNvGrpSpPr/>
          <p:nvPr/>
        </p:nvGrpSpPr>
        <p:grpSpPr>
          <a:xfrm>
            <a:off x="4762500" y="3000375"/>
            <a:ext cx="3905400" cy="1571700"/>
            <a:chOff x="0" y="0"/>
            <a:chExt cx="3905400" cy="1571700"/>
          </a:xfrm>
        </p:grpSpPr>
        <p:sp>
          <p:nvSpPr>
            <p:cNvPr id="1012" name="Google Shape;1012;p71"/>
            <p:cNvSpPr/>
            <p:nvPr/>
          </p:nvSpPr>
          <p:spPr>
            <a:xfrm>
              <a:off x="0" y="0"/>
              <a:ext cx="39054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71"/>
            <p:cNvSpPr txBox="1"/>
            <p:nvPr/>
          </p:nvSpPr>
          <p:spPr>
            <a:xfrm>
              <a:off x="228600" y="190500"/>
              <a:ext cx="34482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Syntax &amp; Example</a:t>
              </a:r>
              <a:endParaRPr b="0" sz="13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boolean </a:t>
              </a:r>
              <a:r>
                <a:rPr b="0" lang="en" sz="14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boolvariable; // Syntax</a:t>
              </a:r>
              <a:endParaRPr b="1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boolean </a:t>
              </a:r>
              <a:r>
                <a:rPr b="0" lang="en" sz="14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flag = </a:t>
              </a:r>
              <a:r>
                <a:rPr b="1" lang="en" sz="1400">
                  <a:solidFill>
                    <a:srgbClr val="000000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true</a:t>
              </a:r>
              <a:r>
                <a:rPr b="0" lang="en" sz="14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 // Example</a:t>
              </a:r>
              <a:endParaRPr b="1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72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02 / Summary Table</a:t>
            </a:r>
            <a:endParaRPr b="0" sz="10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Primitive Data Types: Defaults &amp; Sizes</a:t>
            </a:r>
            <a:endParaRPr b="0" sz="10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9" name="Google Shape;1019;p72"/>
          <p:cNvSpPr/>
          <p:nvPr/>
        </p:nvSpPr>
        <p:spPr>
          <a:xfrm>
            <a:off x="476250" y="1238250"/>
            <a:ext cx="8191500" cy="34290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0" name="Google Shape;1020;p72"/>
          <p:cNvGrpSpPr/>
          <p:nvPr/>
        </p:nvGrpSpPr>
        <p:grpSpPr>
          <a:xfrm>
            <a:off x="476250" y="1238250"/>
            <a:ext cx="8191500" cy="381000"/>
            <a:chOff x="0" y="0"/>
            <a:chExt cx="8191500" cy="381000"/>
          </a:xfrm>
        </p:grpSpPr>
        <p:sp>
          <p:nvSpPr>
            <p:cNvPr id="1021" name="Google Shape;1021;p72"/>
            <p:cNvSpPr/>
            <p:nvPr/>
          </p:nvSpPr>
          <p:spPr>
            <a:xfrm>
              <a:off x="0" y="0"/>
              <a:ext cx="8191500" cy="381000"/>
            </a:xfrm>
            <a:custGeom>
              <a:rect b="b" l="l" r="r" t="t"/>
              <a:pathLst>
                <a:path extrusionOk="0" h="120000" w="120000">
                  <a:moveTo>
                    <a:pt x="0" y="36000"/>
                  </a:moveTo>
                  <a:cubicBezTo>
                    <a:pt x="0" y="16118"/>
                    <a:pt x="750" y="0"/>
                    <a:pt x="1674" y="0"/>
                  </a:cubicBezTo>
                  <a:lnTo>
                    <a:pt x="118326" y="0"/>
                  </a:lnTo>
                  <a:cubicBezTo>
                    <a:pt x="119251" y="5"/>
                    <a:pt x="120000" y="16121"/>
                    <a:pt x="120000" y="36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72"/>
            <p:cNvSpPr txBox="1"/>
            <p:nvPr/>
          </p:nvSpPr>
          <p:spPr>
            <a:xfrm>
              <a:off x="28575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DATA TYPE</a:t>
              </a:r>
              <a:endParaRPr b="0" sz="1100">
                <a:solidFill>
                  <a:srgbClr val="4755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023" name="Google Shape;1023;p72"/>
            <p:cNvSpPr txBox="1"/>
            <p:nvPr/>
          </p:nvSpPr>
          <p:spPr>
            <a:xfrm>
              <a:off x="2857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DEFAULT VALUE</a:t>
              </a:r>
              <a:endParaRPr b="0" sz="1100">
                <a:solidFill>
                  <a:srgbClr val="4755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024" name="Google Shape;1024;p72"/>
            <p:cNvSpPr txBox="1"/>
            <p:nvPr/>
          </p:nvSpPr>
          <p:spPr>
            <a:xfrm>
              <a:off x="57150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DEFAULT SIZE</a:t>
              </a:r>
              <a:endParaRPr b="0" sz="1100">
                <a:solidFill>
                  <a:srgbClr val="4755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cxnSp>
          <p:nvCxnSpPr>
            <p:cNvPr id="1025" name="Google Shape;1025;p72"/>
            <p:cNvCxnSpPr/>
            <p:nvPr/>
          </p:nvCxnSpPr>
          <p:spPr>
            <a:xfrm>
              <a:off x="0" y="381000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26" name="Google Shape;1026;p72"/>
          <p:cNvGrpSpPr/>
          <p:nvPr/>
        </p:nvGrpSpPr>
        <p:grpSpPr>
          <a:xfrm>
            <a:off x="476250" y="1619250"/>
            <a:ext cx="8191500" cy="381000"/>
            <a:chOff x="0" y="0"/>
            <a:chExt cx="8191500" cy="381000"/>
          </a:xfrm>
        </p:grpSpPr>
        <p:sp>
          <p:nvSpPr>
            <p:cNvPr id="1027" name="Google Shape;1027;p72"/>
            <p:cNvSpPr txBox="1"/>
            <p:nvPr/>
          </p:nvSpPr>
          <p:spPr>
            <a:xfrm>
              <a:off x="28575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boolean</a:t>
              </a:r>
              <a:endParaRPr b="1" sz="130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28" name="Google Shape;1028;p72"/>
            <p:cNvSpPr txBox="1"/>
            <p:nvPr/>
          </p:nvSpPr>
          <p:spPr>
            <a:xfrm>
              <a:off x="2857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false</a:t>
              </a:r>
              <a:endParaRPr b="1" sz="13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29" name="Google Shape;1029;p72"/>
            <p:cNvSpPr txBox="1"/>
            <p:nvPr/>
          </p:nvSpPr>
          <p:spPr>
            <a:xfrm>
              <a:off x="57150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 bit</a:t>
              </a:r>
              <a:endParaRPr b="0" sz="12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1030" name="Google Shape;1030;p72"/>
            <p:cNvCxnSpPr/>
            <p:nvPr/>
          </p:nvCxnSpPr>
          <p:spPr>
            <a:xfrm>
              <a:off x="0" y="381000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31" name="Google Shape;1031;p72"/>
          <p:cNvGrpSpPr/>
          <p:nvPr/>
        </p:nvGrpSpPr>
        <p:grpSpPr>
          <a:xfrm>
            <a:off x="476250" y="2000250"/>
            <a:ext cx="8191500" cy="381000"/>
            <a:chOff x="0" y="0"/>
            <a:chExt cx="8191500" cy="381000"/>
          </a:xfrm>
        </p:grpSpPr>
        <p:sp>
          <p:nvSpPr>
            <p:cNvPr id="1032" name="Google Shape;1032;p72"/>
            <p:cNvSpPr txBox="1"/>
            <p:nvPr/>
          </p:nvSpPr>
          <p:spPr>
            <a:xfrm>
              <a:off x="28575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</a:t>
              </a:r>
              <a:endParaRPr b="1" sz="130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33" name="Google Shape;1033;p72"/>
            <p:cNvSpPr txBox="1"/>
            <p:nvPr/>
          </p:nvSpPr>
          <p:spPr>
            <a:xfrm>
              <a:off x="2857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'\u0000'</a:t>
              </a:r>
              <a:endParaRPr b="1" sz="13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34" name="Google Shape;1034;p72"/>
            <p:cNvSpPr txBox="1"/>
            <p:nvPr/>
          </p:nvSpPr>
          <p:spPr>
            <a:xfrm>
              <a:off x="57150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 byte</a:t>
              </a:r>
              <a:endParaRPr b="0" sz="12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1035" name="Google Shape;1035;p72"/>
            <p:cNvCxnSpPr/>
            <p:nvPr/>
          </p:nvCxnSpPr>
          <p:spPr>
            <a:xfrm>
              <a:off x="0" y="381000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36" name="Google Shape;1036;p72"/>
          <p:cNvGrpSpPr/>
          <p:nvPr/>
        </p:nvGrpSpPr>
        <p:grpSpPr>
          <a:xfrm>
            <a:off x="476250" y="2381250"/>
            <a:ext cx="8191500" cy="381000"/>
            <a:chOff x="0" y="0"/>
            <a:chExt cx="8191500" cy="381000"/>
          </a:xfrm>
        </p:grpSpPr>
        <p:sp>
          <p:nvSpPr>
            <p:cNvPr id="1037" name="Google Shape;1037;p72"/>
            <p:cNvSpPr txBox="1"/>
            <p:nvPr/>
          </p:nvSpPr>
          <p:spPr>
            <a:xfrm>
              <a:off x="28575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byte</a:t>
              </a:r>
              <a:endParaRPr b="1" sz="130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38" name="Google Shape;1038;p72"/>
            <p:cNvSpPr txBox="1"/>
            <p:nvPr/>
          </p:nvSpPr>
          <p:spPr>
            <a:xfrm>
              <a:off x="2857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endParaRPr b="1" sz="13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39" name="Google Shape;1039;p72"/>
            <p:cNvSpPr txBox="1"/>
            <p:nvPr/>
          </p:nvSpPr>
          <p:spPr>
            <a:xfrm>
              <a:off x="57150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 byte</a:t>
              </a:r>
              <a:endParaRPr b="0" sz="12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1040" name="Google Shape;1040;p72"/>
            <p:cNvCxnSpPr/>
            <p:nvPr/>
          </p:nvCxnSpPr>
          <p:spPr>
            <a:xfrm>
              <a:off x="0" y="381000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41" name="Google Shape;1041;p72"/>
          <p:cNvGrpSpPr/>
          <p:nvPr/>
        </p:nvGrpSpPr>
        <p:grpSpPr>
          <a:xfrm>
            <a:off x="476250" y="2762250"/>
            <a:ext cx="8191500" cy="381000"/>
            <a:chOff x="0" y="0"/>
            <a:chExt cx="8191500" cy="381000"/>
          </a:xfrm>
        </p:grpSpPr>
        <p:sp>
          <p:nvSpPr>
            <p:cNvPr id="1042" name="Google Shape;1042;p72"/>
            <p:cNvSpPr txBox="1"/>
            <p:nvPr/>
          </p:nvSpPr>
          <p:spPr>
            <a:xfrm>
              <a:off x="28575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short</a:t>
              </a:r>
              <a:endParaRPr b="1" sz="130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43" name="Google Shape;1043;p72"/>
            <p:cNvSpPr txBox="1"/>
            <p:nvPr/>
          </p:nvSpPr>
          <p:spPr>
            <a:xfrm>
              <a:off x="2857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endParaRPr b="1" sz="13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44" name="Google Shape;1044;p72"/>
            <p:cNvSpPr txBox="1"/>
            <p:nvPr/>
          </p:nvSpPr>
          <p:spPr>
            <a:xfrm>
              <a:off x="57150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 byte</a:t>
              </a:r>
              <a:endParaRPr b="0" sz="12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1045" name="Google Shape;1045;p72"/>
            <p:cNvCxnSpPr/>
            <p:nvPr/>
          </p:nvCxnSpPr>
          <p:spPr>
            <a:xfrm>
              <a:off x="0" y="381000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46" name="Google Shape;1046;p72"/>
          <p:cNvGrpSpPr/>
          <p:nvPr/>
        </p:nvGrpSpPr>
        <p:grpSpPr>
          <a:xfrm>
            <a:off x="476250" y="3143250"/>
            <a:ext cx="8191500" cy="381000"/>
            <a:chOff x="0" y="0"/>
            <a:chExt cx="8191500" cy="381000"/>
          </a:xfrm>
        </p:grpSpPr>
        <p:sp>
          <p:nvSpPr>
            <p:cNvPr id="1047" name="Google Shape;1047;p72"/>
            <p:cNvSpPr txBox="1"/>
            <p:nvPr/>
          </p:nvSpPr>
          <p:spPr>
            <a:xfrm>
              <a:off x="28575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endParaRPr b="1" sz="130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48" name="Google Shape;1048;p72"/>
            <p:cNvSpPr txBox="1"/>
            <p:nvPr/>
          </p:nvSpPr>
          <p:spPr>
            <a:xfrm>
              <a:off x="2857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endParaRPr b="1" sz="13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49" name="Google Shape;1049;p72"/>
            <p:cNvSpPr txBox="1"/>
            <p:nvPr/>
          </p:nvSpPr>
          <p:spPr>
            <a:xfrm>
              <a:off x="57150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4 byte</a:t>
              </a:r>
              <a:endParaRPr b="0" sz="12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1050" name="Google Shape;1050;p72"/>
            <p:cNvCxnSpPr/>
            <p:nvPr/>
          </p:nvCxnSpPr>
          <p:spPr>
            <a:xfrm>
              <a:off x="0" y="381000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51" name="Google Shape;1051;p72"/>
          <p:cNvGrpSpPr/>
          <p:nvPr/>
        </p:nvGrpSpPr>
        <p:grpSpPr>
          <a:xfrm>
            <a:off x="476250" y="3524250"/>
            <a:ext cx="8191500" cy="381000"/>
            <a:chOff x="0" y="0"/>
            <a:chExt cx="8191500" cy="381000"/>
          </a:xfrm>
        </p:grpSpPr>
        <p:sp>
          <p:nvSpPr>
            <p:cNvPr id="1052" name="Google Shape;1052;p72"/>
            <p:cNvSpPr txBox="1"/>
            <p:nvPr/>
          </p:nvSpPr>
          <p:spPr>
            <a:xfrm>
              <a:off x="28575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long</a:t>
              </a:r>
              <a:endParaRPr b="1" sz="130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53" name="Google Shape;1053;p72"/>
            <p:cNvSpPr txBox="1"/>
            <p:nvPr/>
          </p:nvSpPr>
          <p:spPr>
            <a:xfrm>
              <a:off x="2857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0L</a:t>
              </a:r>
              <a:endParaRPr b="1" sz="13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54" name="Google Shape;1054;p72"/>
            <p:cNvSpPr txBox="1"/>
            <p:nvPr/>
          </p:nvSpPr>
          <p:spPr>
            <a:xfrm>
              <a:off x="57150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8 byte</a:t>
              </a:r>
              <a:endParaRPr b="0" sz="12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1055" name="Google Shape;1055;p72"/>
            <p:cNvCxnSpPr/>
            <p:nvPr/>
          </p:nvCxnSpPr>
          <p:spPr>
            <a:xfrm>
              <a:off x="0" y="381000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56" name="Google Shape;1056;p72"/>
          <p:cNvGrpSpPr/>
          <p:nvPr/>
        </p:nvGrpSpPr>
        <p:grpSpPr>
          <a:xfrm>
            <a:off x="476250" y="3905250"/>
            <a:ext cx="8191500" cy="381000"/>
            <a:chOff x="0" y="0"/>
            <a:chExt cx="8191500" cy="381000"/>
          </a:xfrm>
        </p:grpSpPr>
        <p:sp>
          <p:nvSpPr>
            <p:cNvPr id="1057" name="Google Shape;1057;p72"/>
            <p:cNvSpPr txBox="1"/>
            <p:nvPr/>
          </p:nvSpPr>
          <p:spPr>
            <a:xfrm>
              <a:off x="28575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float</a:t>
              </a:r>
              <a:endParaRPr b="1" sz="130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58" name="Google Shape;1058;p72"/>
            <p:cNvSpPr txBox="1"/>
            <p:nvPr/>
          </p:nvSpPr>
          <p:spPr>
            <a:xfrm>
              <a:off x="2857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0.0f</a:t>
              </a:r>
              <a:endParaRPr b="1" sz="13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59" name="Google Shape;1059;p72"/>
            <p:cNvSpPr txBox="1"/>
            <p:nvPr/>
          </p:nvSpPr>
          <p:spPr>
            <a:xfrm>
              <a:off x="57150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4 byte</a:t>
              </a:r>
              <a:endParaRPr b="0" sz="12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1060" name="Google Shape;1060;p72"/>
            <p:cNvCxnSpPr/>
            <p:nvPr/>
          </p:nvCxnSpPr>
          <p:spPr>
            <a:xfrm>
              <a:off x="0" y="381000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61" name="Google Shape;1061;p72"/>
          <p:cNvGrpSpPr/>
          <p:nvPr/>
        </p:nvGrpSpPr>
        <p:grpSpPr>
          <a:xfrm>
            <a:off x="762000" y="4286250"/>
            <a:ext cx="7334250" cy="381000"/>
            <a:chOff x="285750" y="0"/>
            <a:chExt cx="7334250" cy="381000"/>
          </a:xfrm>
        </p:grpSpPr>
        <p:sp>
          <p:nvSpPr>
            <p:cNvPr id="1062" name="Google Shape;1062;p72"/>
            <p:cNvSpPr txBox="1"/>
            <p:nvPr/>
          </p:nvSpPr>
          <p:spPr>
            <a:xfrm>
              <a:off x="28575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double</a:t>
              </a:r>
              <a:endParaRPr b="1" sz="130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63" name="Google Shape;1063;p72"/>
            <p:cNvSpPr txBox="1"/>
            <p:nvPr/>
          </p:nvSpPr>
          <p:spPr>
            <a:xfrm>
              <a:off x="28575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0.0d</a:t>
              </a:r>
              <a:endParaRPr b="1" sz="13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64" name="Google Shape;1064;p72"/>
            <p:cNvSpPr txBox="1"/>
            <p:nvPr/>
          </p:nvSpPr>
          <p:spPr>
            <a:xfrm>
              <a:off x="57150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8 byte</a:t>
              </a:r>
              <a:endParaRPr b="0" sz="12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9" name="Google Shape;1069;p73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070" name="Google Shape;1070;p73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73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Core Characteristics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Primitive Data Types: Points to Remember</a:t>
              </a:r>
              <a:endParaRPr b="0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072" name="Google Shape;1072;p73"/>
          <p:cNvGrpSpPr/>
          <p:nvPr/>
        </p:nvGrpSpPr>
        <p:grpSpPr>
          <a:xfrm>
            <a:off x="476250" y="1428750"/>
            <a:ext cx="2600400" cy="3143400"/>
            <a:chOff x="0" y="0"/>
            <a:chExt cx="2600400" cy="3143400"/>
          </a:xfrm>
        </p:grpSpPr>
        <p:sp>
          <p:nvSpPr>
            <p:cNvPr id="1073" name="Google Shape;1073;p73"/>
            <p:cNvSpPr/>
            <p:nvPr/>
          </p:nvSpPr>
          <p:spPr>
            <a:xfrm>
              <a:off x="0" y="0"/>
              <a:ext cx="2600400" cy="31434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73"/>
            <p:cNvSpPr txBox="1"/>
            <p:nvPr/>
          </p:nvSpPr>
          <p:spPr>
            <a:xfrm>
              <a:off x="228600" y="228600"/>
              <a:ext cx="21432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PROPERTY 01</a:t>
              </a:r>
              <a:endParaRPr b="0" sz="9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Signed Numerics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All numeric data types in Java are </a:t>
              </a:r>
              <a:r>
                <a:rPr b="1" lang="en" sz="125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signed (+/-)</a:t>
              </a: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 There are no unsigned keyword variations for numeric primitives, ensuring consistent arithmetic behavior.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75" name="Google Shape;1075;p73"/>
          <p:cNvGrpSpPr/>
          <p:nvPr/>
        </p:nvGrpSpPr>
        <p:grpSpPr>
          <a:xfrm>
            <a:off x="3267075" y="1428750"/>
            <a:ext cx="2600400" cy="3143400"/>
            <a:chOff x="0" y="0"/>
            <a:chExt cx="2600400" cy="3143400"/>
          </a:xfrm>
        </p:grpSpPr>
        <p:sp>
          <p:nvSpPr>
            <p:cNvPr id="1076" name="Google Shape;1076;p73"/>
            <p:cNvSpPr/>
            <p:nvPr/>
          </p:nvSpPr>
          <p:spPr>
            <a:xfrm>
              <a:off x="0" y="0"/>
              <a:ext cx="2600400" cy="31434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73"/>
            <p:cNvSpPr txBox="1"/>
            <p:nvPr/>
          </p:nvSpPr>
          <p:spPr>
            <a:xfrm>
              <a:off x="228600" y="228600"/>
              <a:ext cx="21432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PROPERTY 02</a:t>
              </a:r>
              <a:endParaRPr b="0" sz="9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Platform Standard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size of primitive data types </a:t>
              </a:r>
              <a:r>
                <a:rPr b="1" lang="en" sz="125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remains identical</a:t>
              </a: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across all platforms. This strict standardization forms the backbone of Java's "Write Once, Run Anywhere" promise.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78" name="Google Shape;1078;p73"/>
          <p:cNvGrpSpPr/>
          <p:nvPr/>
        </p:nvGrpSpPr>
        <p:grpSpPr>
          <a:xfrm>
            <a:off x="6057900" y="1428750"/>
            <a:ext cx="2600400" cy="3143400"/>
            <a:chOff x="0" y="0"/>
            <a:chExt cx="2600400" cy="3143400"/>
          </a:xfrm>
        </p:grpSpPr>
        <p:sp>
          <p:nvSpPr>
            <p:cNvPr id="1079" name="Google Shape;1079;p73"/>
            <p:cNvSpPr/>
            <p:nvPr/>
          </p:nvSpPr>
          <p:spPr>
            <a:xfrm>
              <a:off x="0" y="0"/>
              <a:ext cx="2600400" cy="31434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73"/>
            <p:cNvSpPr txBox="1"/>
            <p:nvPr/>
          </p:nvSpPr>
          <p:spPr>
            <a:xfrm>
              <a:off x="228600" y="228600"/>
              <a:ext cx="21432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PROPERTY 03</a:t>
              </a:r>
              <a:endParaRPr b="0" sz="9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Unicode Character Set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2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</a:t>
              </a: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type is </a:t>
              </a: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 bytes</a:t>
              </a: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because Java utilizes the </a:t>
              </a: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UNICODE</a:t>
              </a: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standard. This enables full internationalization support, covering almost all active scripts worldwide.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74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04 / Language Fundamentals</a:t>
            </a:r>
            <a:endParaRPr b="0" sz="10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Understanding Variables in Java</a:t>
            </a:r>
            <a:endParaRPr b="0" sz="2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86" name="Google Shape;1086;p74"/>
          <p:cNvSpPr txBox="1"/>
          <p:nvPr/>
        </p:nvSpPr>
        <p:spPr>
          <a:xfrm>
            <a:off x="476250" y="1190625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variable is a named memory location that acts as a data container during Java program execution. Every variable must have an assigned data type which defines the type and quantity of value it can hold.</a:t>
            </a:r>
            <a:endParaRPr b="0"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87" name="Google Shape;1087;p74"/>
          <p:cNvGrpSpPr/>
          <p:nvPr/>
        </p:nvGrpSpPr>
        <p:grpSpPr>
          <a:xfrm>
            <a:off x="476250" y="1857375"/>
            <a:ext cx="2600400" cy="2809800"/>
            <a:chOff x="0" y="0"/>
            <a:chExt cx="2600400" cy="2809800"/>
          </a:xfrm>
        </p:grpSpPr>
        <p:sp>
          <p:nvSpPr>
            <p:cNvPr id="1088" name="Google Shape;1088;p74"/>
            <p:cNvSpPr/>
            <p:nvPr/>
          </p:nvSpPr>
          <p:spPr>
            <a:xfrm>
              <a:off x="0" y="0"/>
              <a:ext cx="2600400" cy="28098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74"/>
            <p:cNvSpPr txBox="1"/>
            <p:nvPr/>
          </p:nvSpPr>
          <p:spPr>
            <a:xfrm>
              <a:off x="228600" y="228600"/>
              <a:ext cx="2143200" cy="23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TYPE 01</a:t>
              </a:r>
              <a:endParaRPr b="0" sz="9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Local Variables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Variables defined </a:t>
              </a:r>
              <a:r>
                <a:rPr b="1" lang="en" sz="125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inside methods</a:t>
              </a: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constructors, or blocks are called local variables. They are only accessible within the scope they are declared.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90" name="Google Shape;1090;p74"/>
          <p:cNvGrpSpPr/>
          <p:nvPr/>
        </p:nvGrpSpPr>
        <p:grpSpPr>
          <a:xfrm>
            <a:off x="3267075" y="1857375"/>
            <a:ext cx="2600400" cy="2809800"/>
            <a:chOff x="0" y="0"/>
            <a:chExt cx="2600400" cy="2809800"/>
          </a:xfrm>
        </p:grpSpPr>
        <p:sp>
          <p:nvSpPr>
            <p:cNvPr id="1091" name="Google Shape;1091;p74"/>
            <p:cNvSpPr/>
            <p:nvPr/>
          </p:nvSpPr>
          <p:spPr>
            <a:xfrm>
              <a:off x="0" y="0"/>
              <a:ext cx="2600400" cy="28098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74"/>
            <p:cNvSpPr txBox="1"/>
            <p:nvPr/>
          </p:nvSpPr>
          <p:spPr>
            <a:xfrm>
              <a:off x="228600" y="228600"/>
              <a:ext cx="2143200" cy="23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TYPE 02</a:t>
              </a:r>
              <a:endParaRPr b="0" sz="9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Instance Variables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Variables declared within a class but </a:t>
              </a:r>
              <a:r>
                <a:rPr b="1" lang="en" sz="125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outside any method</a:t>
              </a: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 These variables are associated with class instances and objects.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93" name="Google Shape;1093;p74"/>
          <p:cNvGrpSpPr/>
          <p:nvPr/>
        </p:nvGrpSpPr>
        <p:grpSpPr>
          <a:xfrm>
            <a:off x="6057900" y="1857375"/>
            <a:ext cx="2600400" cy="2809800"/>
            <a:chOff x="0" y="0"/>
            <a:chExt cx="2600400" cy="2809800"/>
          </a:xfrm>
        </p:grpSpPr>
        <p:sp>
          <p:nvSpPr>
            <p:cNvPr id="1094" name="Google Shape;1094;p74"/>
            <p:cNvSpPr/>
            <p:nvPr/>
          </p:nvSpPr>
          <p:spPr>
            <a:xfrm>
              <a:off x="0" y="0"/>
              <a:ext cx="2600400" cy="28098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74"/>
            <p:cNvSpPr txBox="1"/>
            <p:nvPr/>
          </p:nvSpPr>
          <p:spPr>
            <a:xfrm>
              <a:off x="228600" y="228600"/>
              <a:ext cx="2143200" cy="23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TYPE 03</a:t>
              </a:r>
              <a:endParaRPr b="0" sz="9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Static Variables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Class variables declared within a class, outside any method, prefixed with the </a:t>
              </a:r>
              <a:r>
                <a:rPr b="1" lang="en" sz="125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static</a:t>
              </a:r>
              <a:r>
                <a:rPr b="0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keyword to share a single copy.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0" name="Google Shape;1100;p75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101" name="Google Shape;1101;p75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75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05 / Language Fundamentals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Variables: Declaration &amp; Initialization</a:t>
              </a:r>
              <a:endParaRPr b="0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103" name="Google Shape;1103;p75"/>
          <p:cNvGrpSpPr/>
          <p:nvPr/>
        </p:nvGrpSpPr>
        <p:grpSpPr>
          <a:xfrm>
            <a:off x="476250" y="1428750"/>
            <a:ext cx="3905400" cy="3143400"/>
            <a:chOff x="0" y="0"/>
            <a:chExt cx="3905400" cy="3143400"/>
          </a:xfrm>
        </p:grpSpPr>
        <p:sp>
          <p:nvSpPr>
            <p:cNvPr id="1104" name="Google Shape;1104;p75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75"/>
            <p:cNvSpPr txBox="1"/>
            <p:nvPr/>
          </p:nvSpPr>
          <p:spPr>
            <a:xfrm>
              <a:off x="228600" y="228600"/>
              <a:ext cx="34482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 01</a:t>
              </a:r>
              <a:endParaRPr b="0" sz="9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Variable Declaration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Specifies the name and data type of the variable to allocate memory before usage.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SYNTAX &amp; EXAMPLE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type</a:t>
              </a:r>
              <a:r>
                <a:rPr b="1" lang="en" sz="11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identifier;</a:t>
              </a:r>
              <a:endParaRPr b="1" sz="11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1" lang="en" sz="11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a;</a:t>
              </a:r>
              <a:endParaRPr b="1" sz="11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106" name="Google Shape;1106;p75"/>
          <p:cNvGrpSpPr/>
          <p:nvPr/>
        </p:nvGrpSpPr>
        <p:grpSpPr>
          <a:xfrm>
            <a:off x="4762500" y="1428750"/>
            <a:ext cx="3905400" cy="3143400"/>
            <a:chOff x="0" y="0"/>
            <a:chExt cx="3905400" cy="3143400"/>
          </a:xfrm>
        </p:grpSpPr>
        <p:sp>
          <p:nvSpPr>
            <p:cNvPr id="1107" name="Google Shape;1107;p75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75"/>
            <p:cNvSpPr txBox="1"/>
            <p:nvPr/>
          </p:nvSpPr>
          <p:spPr>
            <a:xfrm>
              <a:off x="228600" y="228600"/>
              <a:ext cx="34482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 02</a:t>
              </a:r>
              <a:endParaRPr b="0" sz="9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Variable Initialization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Assigns a specific initial value to the variable. Can be done separately or inline.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METHOD A (SPLIT)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1" lang="en" sz="11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a;</a:t>
              </a:r>
              <a:endParaRPr b="1" sz="11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 = </a:t>
              </a:r>
              <a:r>
                <a:rPr b="1" lang="en" sz="1100">
                  <a:solidFill>
                    <a:srgbClr val="0EA5E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r>
                <a:rPr b="1" lang="en" sz="11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sz="11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METHOD B (COMBINED)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1" lang="en" sz="11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a = </a:t>
              </a:r>
              <a:r>
                <a:rPr b="1" lang="en" sz="1100">
                  <a:solidFill>
                    <a:srgbClr val="0EA5E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r>
                <a:rPr b="1" lang="en" sz="11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sz="11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3" name="Google Shape;1113;p76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114" name="Google Shape;1114;p76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76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</a:t>
              </a:r>
              <a:r>
                <a:rPr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5</a:t>
              </a: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/ Language Fundamentals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Variables: Code Demonstration</a:t>
              </a:r>
              <a:endParaRPr b="0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116" name="Google Shape;1116;p76"/>
          <p:cNvGrpSpPr/>
          <p:nvPr/>
        </p:nvGrpSpPr>
        <p:grpSpPr>
          <a:xfrm>
            <a:off x="476250" y="1428750"/>
            <a:ext cx="3905400" cy="3143400"/>
            <a:chOff x="0" y="0"/>
            <a:chExt cx="3905400" cy="3143400"/>
          </a:xfrm>
        </p:grpSpPr>
        <p:sp>
          <p:nvSpPr>
            <p:cNvPr id="1117" name="Google Shape;1117;p76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76"/>
            <p:cNvSpPr txBox="1"/>
            <p:nvPr/>
          </p:nvSpPr>
          <p:spPr>
            <a:xfrm>
              <a:off x="228600" y="228600"/>
              <a:ext cx="34482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</a:t>
              </a:r>
              <a:r>
                <a:rPr lang="en" sz="12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demo {</a:t>
              </a:r>
              <a:endParaRPr sz="12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static int</a:t>
              </a:r>
              <a:r>
                <a:rPr lang="en" sz="12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 = </a:t>
              </a:r>
              <a:r>
                <a:rPr b="1" lang="en" sz="1200">
                  <a:solidFill>
                    <a:srgbClr val="0EA5E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lang="en" sz="12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 </a:t>
              </a:r>
              <a:r>
                <a:rPr lang="en" sz="12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static variable</a:t>
              </a:r>
              <a:endParaRPr sz="12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" sz="12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data = </a:t>
              </a:r>
              <a:r>
                <a:rPr b="1" lang="en" sz="1200">
                  <a:solidFill>
                    <a:srgbClr val="0EA5E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99</a:t>
              </a:r>
              <a:r>
                <a:rPr lang="en" sz="12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 </a:t>
              </a:r>
              <a:r>
                <a:rPr lang="en" sz="12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instance variable</a:t>
              </a:r>
              <a:endParaRPr sz="12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</a:t>
              </a:r>
              <a:r>
                <a:rPr lang="en" sz="12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method() {</a:t>
              </a:r>
              <a:endParaRPr sz="12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" sz="12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b = </a:t>
              </a:r>
              <a:r>
                <a:rPr b="1" lang="en" sz="1200">
                  <a:solidFill>
                    <a:srgbClr val="0EA5E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90</a:t>
              </a:r>
              <a:r>
                <a:rPr lang="en" sz="12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 </a:t>
              </a:r>
              <a:r>
                <a:rPr lang="en" sz="12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local variable</a:t>
              </a:r>
              <a:endParaRPr sz="12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2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2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119" name="Google Shape;1119;p76"/>
          <p:cNvGrpSpPr/>
          <p:nvPr/>
        </p:nvGrpSpPr>
        <p:grpSpPr>
          <a:xfrm>
            <a:off x="4762500" y="1428750"/>
            <a:ext cx="3905400" cy="3143400"/>
            <a:chOff x="0" y="0"/>
            <a:chExt cx="3905400" cy="3143400"/>
          </a:xfrm>
        </p:grpSpPr>
        <p:sp>
          <p:nvSpPr>
            <p:cNvPr id="1120" name="Google Shape;1120;p76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76"/>
            <p:cNvSpPr txBox="1"/>
            <p:nvPr/>
          </p:nvSpPr>
          <p:spPr>
            <a:xfrm>
              <a:off x="228600" y="228600"/>
              <a:ext cx="34482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1. Static Variable (</a:t>
              </a:r>
              <a:r>
                <a:rPr b="0" lang="en" sz="115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static int a</a:t>
              </a:r>
              <a:r>
                <a:rPr b="0" lang="en" sz="13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)</a:t>
              </a:r>
              <a:endParaRPr b="0" sz="13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Declared with the </a:t>
              </a:r>
              <a:r>
                <a:rPr b="1" lang="en" sz="11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static</a:t>
              </a: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keyword inside the class. It creates a single shared copy across all class instances.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2. Instance Variable (</a:t>
              </a:r>
              <a:r>
                <a:rPr b="0" lang="en" sz="115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 data</a:t>
              </a:r>
              <a:r>
                <a:rPr b="0" lang="en" sz="13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)</a:t>
              </a:r>
              <a:endParaRPr b="0" sz="13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Declared inside the class but outside any method. It is unique to each instantiated object of the class.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3. Local Variable (</a:t>
              </a:r>
              <a:r>
                <a:rPr b="0" lang="en" sz="115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 b</a:t>
              </a:r>
              <a:r>
                <a:rPr b="0" lang="en" sz="13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)</a:t>
              </a:r>
              <a:endParaRPr b="0" sz="13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Declared inside the body of a method. It is only accessible and active within that specific method's scope.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" name="Google Shape;1126;p77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127" name="Google Shape;1127;p77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77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05 / Language Fundamentals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Rules for Variable Declaration</a:t>
              </a:r>
              <a:endParaRPr b="0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129" name="Google Shape;1129;p77"/>
          <p:cNvGrpSpPr/>
          <p:nvPr/>
        </p:nvGrpSpPr>
        <p:grpSpPr>
          <a:xfrm>
            <a:off x="476250" y="1333500"/>
            <a:ext cx="3905400" cy="3333900"/>
            <a:chOff x="0" y="0"/>
            <a:chExt cx="3905400" cy="3333900"/>
          </a:xfrm>
        </p:grpSpPr>
        <p:sp>
          <p:nvSpPr>
            <p:cNvPr id="1130" name="Google Shape;1130;p77"/>
            <p:cNvSpPr/>
            <p:nvPr/>
          </p:nvSpPr>
          <p:spPr>
            <a:xfrm>
              <a:off x="0" y="0"/>
              <a:ext cx="3905400" cy="33339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77"/>
            <p:cNvSpPr txBox="1"/>
            <p:nvPr/>
          </p:nvSpPr>
          <p:spPr>
            <a:xfrm>
              <a:off x="228600" y="228600"/>
              <a:ext cx="3448200" cy="28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Allowed Characters &amp; Syntax</a:t>
              </a:r>
              <a:endParaRPr b="0" sz="9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Character Set: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Can consist of uppercase (A-Z), lowercase (a-z), digits (0-9), and special characters </a:t>
              </a:r>
              <a:r>
                <a:rPr b="1" lang="en" sz="11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_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(underscore) and </a:t>
              </a:r>
              <a:r>
                <a:rPr b="1" lang="en" sz="11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(dollar sign).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First Character: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Must not begin with a digit.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Case Sensitivity: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Variable names in Java are strictly case-sensitive.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Positioning: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Must always exist on the left-hand side of assignment operators.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32" name="Google Shape;1132;p77"/>
          <p:cNvGrpSpPr/>
          <p:nvPr/>
        </p:nvGrpSpPr>
        <p:grpSpPr>
          <a:xfrm>
            <a:off x="4762500" y="1333500"/>
            <a:ext cx="3905400" cy="3333900"/>
            <a:chOff x="0" y="0"/>
            <a:chExt cx="3905400" cy="3333900"/>
          </a:xfrm>
        </p:grpSpPr>
        <p:sp>
          <p:nvSpPr>
            <p:cNvPr id="1133" name="Google Shape;1133;p77"/>
            <p:cNvSpPr/>
            <p:nvPr/>
          </p:nvSpPr>
          <p:spPr>
            <a:xfrm>
              <a:off x="0" y="0"/>
              <a:ext cx="3905400" cy="33339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77"/>
            <p:cNvSpPr txBox="1"/>
            <p:nvPr/>
          </p:nvSpPr>
          <p:spPr>
            <a:xfrm>
              <a:off x="228600" y="228600"/>
              <a:ext cx="3448200" cy="28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Constraints &amp; Conventions</a:t>
              </a:r>
              <a:endParaRPr b="0" sz="9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No Blank Spaces: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Spaces are strictly prohibited within variable names.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Reserved Keywords: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Java keywords cannot be used as variable identifiers.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Length Convention: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There is no official limit on length, but by convention, it should be kept between 4 and 15 characters for readability.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9" name="Google Shape;1139;p78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140" name="Google Shape;1140;p78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78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06 / Language Fundamentals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Type Conversion &amp; Type Casting</a:t>
              </a:r>
              <a:endParaRPr b="0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142" name="Google Shape;1142;p78"/>
          <p:cNvGrpSpPr/>
          <p:nvPr/>
        </p:nvGrpSpPr>
        <p:grpSpPr>
          <a:xfrm>
            <a:off x="476250" y="1428750"/>
            <a:ext cx="2533800" cy="3238500"/>
            <a:chOff x="0" y="0"/>
            <a:chExt cx="2533800" cy="3238500"/>
          </a:xfrm>
        </p:grpSpPr>
        <p:sp>
          <p:nvSpPr>
            <p:cNvPr id="1143" name="Google Shape;1143;p78"/>
            <p:cNvSpPr/>
            <p:nvPr/>
          </p:nvSpPr>
          <p:spPr>
            <a:xfrm>
              <a:off x="0" y="0"/>
              <a:ext cx="2533800" cy="3238500"/>
            </a:xfrm>
            <a:prstGeom prst="roundRect">
              <a:avLst>
                <a:gd fmla="val 451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4" name="Google Shape;1144;p78"/>
            <p:cNvGrpSpPr/>
            <p:nvPr/>
          </p:nvGrpSpPr>
          <p:grpSpPr>
            <a:xfrm>
              <a:off x="190500" y="190500"/>
              <a:ext cx="2152800" cy="2857500"/>
              <a:chOff x="0" y="0"/>
              <a:chExt cx="2152800" cy="2857500"/>
            </a:xfrm>
          </p:grpSpPr>
          <p:sp>
            <p:nvSpPr>
              <p:cNvPr id="1145" name="Google Shape;1145;p78"/>
              <p:cNvSpPr/>
              <p:nvPr/>
            </p:nvSpPr>
            <p:spPr>
              <a:xfrm>
                <a:off x="0" y="0"/>
                <a:ext cx="2152800" cy="2857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78"/>
              <p:cNvSpPr txBox="1"/>
              <p:nvPr/>
            </p:nvSpPr>
            <p:spPr>
              <a:xfrm>
                <a:off x="0" y="0"/>
                <a:ext cx="21528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3B82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01 / THE CHALLENGE</a:t>
                </a:r>
                <a:endParaRPr b="0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Data Play</a:t>
                </a:r>
                <a:endParaRPr b="1" sz="1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 significant part of programming involves playing around with data. Situations often arise where the data type has to be changed from one type to another to perform tasks.</a:t>
                </a:r>
                <a:endParaRPr b="0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47" name="Google Shape;1147;p78"/>
          <p:cNvGrpSpPr/>
          <p:nvPr/>
        </p:nvGrpSpPr>
        <p:grpSpPr>
          <a:xfrm>
            <a:off x="3305175" y="1428750"/>
            <a:ext cx="2533800" cy="3238500"/>
            <a:chOff x="0" y="0"/>
            <a:chExt cx="2533800" cy="3238500"/>
          </a:xfrm>
        </p:grpSpPr>
        <p:sp>
          <p:nvSpPr>
            <p:cNvPr id="1148" name="Google Shape;1148;p78"/>
            <p:cNvSpPr/>
            <p:nvPr/>
          </p:nvSpPr>
          <p:spPr>
            <a:xfrm>
              <a:off x="0" y="0"/>
              <a:ext cx="2533800" cy="3238500"/>
            </a:xfrm>
            <a:prstGeom prst="roundRect">
              <a:avLst>
                <a:gd fmla="val 451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9" name="Google Shape;1149;p78"/>
            <p:cNvGrpSpPr/>
            <p:nvPr/>
          </p:nvGrpSpPr>
          <p:grpSpPr>
            <a:xfrm>
              <a:off x="190500" y="190500"/>
              <a:ext cx="2152800" cy="2857500"/>
              <a:chOff x="0" y="0"/>
              <a:chExt cx="2152800" cy="2857500"/>
            </a:xfrm>
          </p:grpSpPr>
          <p:sp>
            <p:nvSpPr>
              <p:cNvPr id="1150" name="Google Shape;1150;p78"/>
              <p:cNvSpPr/>
              <p:nvPr/>
            </p:nvSpPr>
            <p:spPr>
              <a:xfrm>
                <a:off x="0" y="0"/>
                <a:ext cx="2152800" cy="2857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78"/>
              <p:cNvSpPr txBox="1"/>
              <p:nvPr/>
            </p:nvSpPr>
            <p:spPr>
              <a:xfrm>
                <a:off x="0" y="0"/>
                <a:ext cx="21528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3B82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02 / PRACTICAL CASE</a:t>
                </a:r>
                <a:endParaRPr b="0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Real-world Example</a:t>
                </a:r>
                <a:endParaRPr b="1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When calculating a circle's area using Pi, we get a decimal. This needs to be converted to an integer format if we desire to obtain the final answer as an integer.</a:t>
                </a:r>
                <a:endParaRPr b="0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52" name="Google Shape;1152;p78"/>
          <p:cNvGrpSpPr/>
          <p:nvPr/>
        </p:nvGrpSpPr>
        <p:grpSpPr>
          <a:xfrm>
            <a:off x="6134100" y="1428750"/>
            <a:ext cx="2533800" cy="3238500"/>
            <a:chOff x="0" y="0"/>
            <a:chExt cx="2533800" cy="3238500"/>
          </a:xfrm>
        </p:grpSpPr>
        <p:sp>
          <p:nvSpPr>
            <p:cNvPr id="1153" name="Google Shape;1153;p78"/>
            <p:cNvSpPr/>
            <p:nvPr/>
          </p:nvSpPr>
          <p:spPr>
            <a:xfrm>
              <a:off x="0" y="0"/>
              <a:ext cx="2533800" cy="3238500"/>
            </a:xfrm>
            <a:prstGeom prst="roundRect">
              <a:avLst>
                <a:gd fmla="val 451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54" name="Google Shape;1154;p78"/>
            <p:cNvGrpSpPr/>
            <p:nvPr/>
          </p:nvGrpSpPr>
          <p:grpSpPr>
            <a:xfrm>
              <a:off x="190500" y="190500"/>
              <a:ext cx="2152800" cy="2857500"/>
              <a:chOff x="0" y="0"/>
              <a:chExt cx="2152800" cy="2857500"/>
            </a:xfrm>
          </p:grpSpPr>
          <p:sp>
            <p:nvSpPr>
              <p:cNvPr id="1155" name="Google Shape;1155;p78"/>
              <p:cNvSpPr/>
              <p:nvPr/>
            </p:nvSpPr>
            <p:spPr>
              <a:xfrm>
                <a:off x="0" y="0"/>
                <a:ext cx="2152800" cy="2857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78"/>
              <p:cNvSpPr txBox="1"/>
              <p:nvPr/>
            </p:nvSpPr>
            <p:spPr>
              <a:xfrm>
                <a:off x="0" y="0"/>
                <a:ext cx="21528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3B82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03 / JAVA SOLUTION</a:t>
                </a:r>
                <a:endParaRPr b="0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Strong Typing</a:t>
                </a:r>
                <a:endParaRPr b="1" sz="1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Since Java is strongly typed, type conversion is crucial. The programmer or compiler can easily manage this using type casting and type conversion concepts.</a:t>
                </a:r>
                <a:endParaRPr b="0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79"/>
          <p:cNvSpPr txBox="1"/>
          <p:nvPr>
            <p:ph type="title"/>
          </p:nvPr>
        </p:nvSpPr>
        <p:spPr>
          <a:xfrm>
            <a:off x="476250" y="38100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07 / Language Fundamentals</a:t>
            </a:r>
            <a:endParaRPr b="0" sz="10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Type Conversion</a:t>
            </a:r>
            <a:endParaRPr b="0" sz="2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162" name="Google Shape;1162;p79"/>
          <p:cNvGrpSpPr/>
          <p:nvPr/>
        </p:nvGrpSpPr>
        <p:grpSpPr>
          <a:xfrm>
            <a:off x="476250" y="1428750"/>
            <a:ext cx="2533800" cy="3238500"/>
            <a:chOff x="0" y="0"/>
            <a:chExt cx="2533800" cy="3238500"/>
          </a:xfrm>
        </p:grpSpPr>
        <p:sp>
          <p:nvSpPr>
            <p:cNvPr id="1163" name="Google Shape;1163;p79"/>
            <p:cNvSpPr/>
            <p:nvPr/>
          </p:nvSpPr>
          <p:spPr>
            <a:xfrm>
              <a:off x="0" y="0"/>
              <a:ext cx="2533800" cy="3238500"/>
            </a:xfrm>
            <a:prstGeom prst="roundRect">
              <a:avLst>
                <a:gd fmla="val 451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64" name="Google Shape;1164;p79"/>
            <p:cNvGrpSpPr/>
            <p:nvPr/>
          </p:nvGrpSpPr>
          <p:grpSpPr>
            <a:xfrm>
              <a:off x="190500" y="190500"/>
              <a:ext cx="2152800" cy="2857500"/>
              <a:chOff x="0" y="0"/>
              <a:chExt cx="2152800" cy="2857500"/>
            </a:xfrm>
          </p:grpSpPr>
          <p:sp>
            <p:nvSpPr>
              <p:cNvPr id="1165" name="Google Shape;1165;p79"/>
              <p:cNvSpPr/>
              <p:nvPr/>
            </p:nvSpPr>
            <p:spPr>
              <a:xfrm>
                <a:off x="0" y="0"/>
                <a:ext cx="2152800" cy="2857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79"/>
              <p:cNvSpPr txBox="1"/>
              <p:nvPr/>
            </p:nvSpPr>
            <p:spPr>
              <a:xfrm>
                <a:off x="0" y="0"/>
                <a:ext cx="21528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3B82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01 / AUTOMATIC PROCESS</a:t>
                </a:r>
                <a:endParaRPr b="0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Implicit Action</a:t>
                </a:r>
                <a:endParaRPr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Type conversion is a process in which the data type is automatically converted into another data type. The compiler does this automatic conversion at compile time.</a:t>
                </a:r>
                <a:endParaRPr b="0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67" name="Google Shape;1167;p79"/>
          <p:cNvGrpSpPr/>
          <p:nvPr/>
        </p:nvGrpSpPr>
        <p:grpSpPr>
          <a:xfrm>
            <a:off x="3305175" y="1428750"/>
            <a:ext cx="2533800" cy="3238500"/>
            <a:chOff x="0" y="0"/>
            <a:chExt cx="2533800" cy="3238500"/>
          </a:xfrm>
        </p:grpSpPr>
        <p:sp>
          <p:nvSpPr>
            <p:cNvPr id="1168" name="Google Shape;1168;p79"/>
            <p:cNvSpPr/>
            <p:nvPr/>
          </p:nvSpPr>
          <p:spPr>
            <a:xfrm>
              <a:off x="0" y="0"/>
              <a:ext cx="2533800" cy="3238500"/>
            </a:xfrm>
            <a:prstGeom prst="roundRect">
              <a:avLst>
                <a:gd fmla="val 451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69" name="Google Shape;1169;p79"/>
            <p:cNvGrpSpPr/>
            <p:nvPr/>
          </p:nvGrpSpPr>
          <p:grpSpPr>
            <a:xfrm>
              <a:off x="190500" y="190500"/>
              <a:ext cx="2152800" cy="2857500"/>
              <a:chOff x="0" y="0"/>
              <a:chExt cx="2152800" cy="2857500"/>
            </a:xfrm>
          </p:grpSpPr>
          <p:sp>
            <p:nvSpPr>
              <p:cNvPr id="1170" name="Google Shape;1170;p79"/>
              <p:cNvSpPr/>
              <p:nvPr/>
            </p:nvSpPr>
            <p:spPr>
              <a:xfrm>
                <a:off x="0" y="0"/>
                <a:ext cx="2152800" cy="2857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79"/>
              <p:cNvSpPr txBox="1"/>
              <p:nvPr/>
            </p:nvSpPr>
            <p:spPr>
              <a:xfrm>
                <a:off x="0" y="0"/>
                <a:ext cx="21528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3B82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02 / MANDATORY RULE</a:t>
                </a:r>
                <a:endParaRPr b="0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Size Requirement</a:t>
                </a:r>
                <a:endParaRPr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For type conversion to take place, the destination data type must be larger than the source type, ensuring there is enough capacity to hold the value.</a:t>
                </a:r>
                <a:endParaRPr b="0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72" name="Google Shape;1172;p79"/>
          <p:cNvGrpSpPr/>
          <p:nvPr/>
        </p:nvGrpSpPr>
        <p:grpSpPr>
          <a:xfrm>
            <a:off x="6134100" y="1428750"/>
            <a:ext cx="2533800" cy="3238500"/>
            <a:chOff x="0" y="0"/>
            <a:chExt cx="2533800" cy="3238500"/>
          </a:xfrm>
        </p:grpSpPr>
        <p:sp>
          <p:nvSpPr>
            <p:cNvPr id="1173" name="Google Shape;1173;p79"/>
            <p:cNvSpPr/>
            <p:nvPr/>
          </p:nvSpPr>
          <p:spPr>
            <a:xfrm>
              <a:off x="0" y="0"/>
              <a:ext cx="2533800" cy="3238500"/>
            </a:xfrm>
            <a:prstGeom prst="roundRect">
              <a:avLst>
                <a:gd fmla="val 451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74" name="Google Shape;1174;p79"/>
            <p:cNvGrpSpPr/>
            <p:nvPr/>
          </p:nvGrpSpPr>
          <p:grpSpPr>
            <a:xfrm>
              <a:off x="190500" y="190500"/>
              <a:ext cx="2152800" cy="2857500"/>
              <a:chOff x="0" y="0"/>
              <a:chExt cx="2152800" cy="2857500"/>
            </a:xfrm>
          </p:grpSpPr>
          <p:sp>
            <p:nvSpPr>
              <p:cNvPr id="1175" name="Google Shape;1175;p79"/>
              <p:cNvSpPr/>
              <p:nvPr/>
            </p:nvSpPr>
            <p:spPr>
              <a:xfrm>
                <a:off x="0" y="0"/>
                <a:ext cx="2152800" cy="2857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79"/>
              <p:cNvSpPr txBox="1"/>
              <p:nvPr/>
            </p:nvSpPr>
            <p:spPr>
              <a:xfrm>
                <a:off x="0" y="0"/>
                <a:ext cx="21528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3B82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03 / SAFE WIDENING</a:t>
                </a:r>
                <a:endParaRPr b="0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No Data Loss</a:t>
                </a:r>
                <a:endParaRPr b="1" sz="2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7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Also called Widening Type Conversion, Implicit Conversion, or Casting Down. As smaller types are converted to larger ones, there is absolutely no chance of data loss.</a:t>
                </a:r>
                <a:endParaRPr b="0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1" name="Google Shape;118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590825"/>
            <a:ext cx="8839201" cy="1330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00" y="1304825"/>
            <a:ext cx="7667625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80"/>
          <p:cNvSpPr txBox="1"/>
          <p:nvPr>
            <p:ph type="title"/>
          </p:nvPr>
        </p:nvSpPr>
        <p:spPr>
          <a:xfrm>
            <a:off x="152400" y="38090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07 / Language Fundamentals</a:t>
            </a:r>
            <a:endParaRPr b="0" sz="10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Type Conversion</a:t>
            </a:r>
            <a:endParaRPr b="0" sz="2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8" name="Google Shape;1188;p81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189" name="Google Shape;1189;p81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81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07 / Language Fundamentals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Implicit Type Conversion</a:t>
              </a:r>
              <a:endParaRPr b="0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191" name="Google Shape;1191;p81"/>
          <p:cNvGrpSpPr/>
          <p:nvPr/>
        </p:nvGrpSpPr>
        <p:grpSpPr>
          <a:xfrm>
            <a:off x="476250" y="1333500"/>
            <a:ext cx="8191500" cy="2190900"/>
            <a:chOff x="0" y="0"/>
            <a:chExt cx="8191500" cy="2190900"/>
          </a:xfrm>
        </p:grpSpPr>
        <p:sp>
          <p:nvSpPr>
            <p:cNvPr id="1192" name="Google Shape;1192;p81"/>
            <p:cNvSpPr/>
            <p:nvPr/>
          </p:nvSpPr>
          <p:spPr>
            <a:xfrm>
              <a:off x="0" y="0"/>
              <a:ext cx="81915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81"/>
            <p:cNvSpPr txBox="1"/>
            <p:nvPr/>
          </p:nvSpPr>
          <p:spPr>
            <a:xfrm>
              <a:off x="190500" y="142875"/>
              <a:ext cx="7810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CODE EXAMPLE</a:t>
              </a:r>
              <a:endParaRPr b="0" sz="9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 Main {</a:t>
              </a:r>
              <a:endParaRPr b="0" sz="13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static void main(String[] args) {</a:t>
              </a:r>
              <a:endParaRPr b="0" sz="13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 a = 10;</a:t>
              </a:r>
              <a:endParaRPr b="0" sz="1300">
                <a:solidFill>
                  <a:srgbClr val="0284C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float b = a; </a:t>
              </a:r>
              <a:r>
                <a:rPr b="0"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// Implicit Conversion (int to float)</a:t>
              </a:r>
              <a:endParaRPr b="0" sz="1300">
                <a:solidFill>
                  <a:srgbClr val="0284C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System.out.println("value of a after type conversion: " + b);</a:t>
              </a:r>
              <a:endParaRPr b="0" sz="13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3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3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194" name="Google Shape;1194;p81"/>
          <p:cNvGrpSpPr/>
          <p:nvPr/>
        </p:nvGrpSpPr>
        <p:grpSpPr>
          <a:xfrm>
            <a:off x="476250" y="3714750"/>
            <a:ext cx="8191500" cy="1047900"/>
            <a:chOff x="0" y="0"/>
            <a:chExt cx="8191500" cy="1047900"/>
          </a:xfrm>
        </p:grpSpPr>
        <p:sp>
          <p:nvSpPr>
            <p:cNvPr id="1195" name="Google Shape;1195;p81"/>
            <p:cNvSpPr/>
            <p:nvPr/>
          </p:nvSpPr>
          <p:spPr>
            <a:xfrm>
              <a:off x="0" y="0"/>
              <a:ext cx="81915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81"/>
            <p:cNvSpPr txBox="1"/>
            <p:nvPr/>
          </p:nvSpPr>
          <p:spPr>
            <a:xfrm>
              <a:off x="190500" y="95250"/>
              <a:ext cx="7810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EXECUTION OUTPUT</a:t>
              </a:r>
              <a:endParaRPr b="0" sz="9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pic>
        <p:nvPicPr>
          <p:cNvPr id="1197" name="Google Shape;1197;p81"/>
          <p:cNvPicPr preferRelativeResize="0"/>
          <p:nvPr/>
        </p:nvPicPr>
        <p:blipFill rotWithShape="1">
          <a:blip r:embed="rId4">
            <a:alphaModFix/>
          </a:blip>
          <a:srcRect b="0" l="855" r="845" t="0"/>
          <a:stretch/>
        </p:blipFill>
        <p:spPr>
          <a:xfrm>
            <a:off x="666750" y="3981450"/>
            <a:ext cx="6858000" cy="7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82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07 / Language Fundamentals</a:t>
            </a:r>
            <a:endParaRPr b="0" sz="10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Type Casting</a:t>
            </a:r>
            <a:endParaRPr b="0" sz="2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203" name="Google Shape;1203;p82"/>
          <p:cNvGrpSpPr/>
          <p:nvPr/>
        </p:nvGrpSpPr>
        <p:grpSpPr>
          <a:xfrm>
            <a:off x="476250" y="1333500"/>
            <a:ext cx="3905400" cy="3238500"/>
            <a:chOff x="0" y="0"/>
            <a:chExt cx="3905400" cy="3238500"/>
          </a:xfrm>
        </p:grpSpPr>
        <p:sp>
          <p:nvSpPr>
            <p:cNvPr id="1204" name="Google Shape;1204;p82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82"/>
            <p:cNvSpPr txBox="1"/>
            <p:nvPr/>
          </p:nvSpPr>
          <p:spPr>
            <a:xfrm>
              <a:off x="228600" y="228600"/>
              <a:ext cx="34482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Concept &amp; Operator</a:t>
              </a:r>
              <a:endParaRPr b="0" sz="9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Manual conversion controlled by the programmer.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Type casting</a:t>
              </a: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is required when you need to explicitly convert a value into a different data type that is smaller in size.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Uses the explicit casting operator </a:t>
              </a:r>
              <a:r>
                <a:rPr b="1" lang="en" sz="12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The source type </a:t>
              </a: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must be larger</a:t>
              </a: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than the destination type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06" name="Google Shape;1206;p82"/>
          <p:cNvGrpSpPr/>
          <p:nvPr/>
        </p:nvGrpSpPr>
        <p:grpSpPr>
          <a:xfrm>
            <a:off x="4762500" y="1333500"/>
            <a:ext cx="3905400" cy="3238500"/>
            <a:chOff x="0" y="0"/>
            <a:chExt cx="3905400" cy="3238500"/>
          </a:xfrm>
        </p:grpSpPr>
        <p:sp>
          <p:nvSpPr>
            <p:cNvPr id="1207" name="Google Shape;1207;p82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82"/>
            <p:cNvSpPr txBox="1"/>
            <p:nvPr/>
          </p:nvSpPr>
          <p:spPr>
            <a:xfrm>
              <a:off x="228600" y="228600"/>
              <a:ext cx="34482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Behavior &amp; Risk</a:t>
              </a:r>
              <a:endParaRPr b="0" sz="9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Narrowing with potential loss of data.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Also known as </a:t>
              </a: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Narrowing Type Casting</a:t>
              </a: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Explicit Conversion</a:t>
              </a: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or </a:t>
              </a: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Casting Up</a:t>
              </a: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Converting to a smaller size introduces a </a:t>
              </a:r>
              <a:r>
                <a:rPr b="1" lang="en" sz="11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risk of data loss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Because of this risk, Java </a:t>
              </a: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never</a:t>
              </a: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performs this automatically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3" name="Google Shape;121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566600"/>
            <a:ext cx="8839201" cy="1385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" y="975800"/>
            <a:ext cx="729615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83"/>
          <p:cNvSpPr txBox="1"/>
          <p:nvPr/>
        </p:nvSpPr>
        <p:spPr>
          <a:xfrm>
            <a:off x="385500" y="16545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07 / Language Fundamentals</a:t>
            </a:r>
            <a:endParaRPr b="0" sz="10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Type Casting</a:t>
            </a:r>
            <a:endParaRPr b="0" sz="2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84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07 / Language Fundamentals</a:t>
            </a:r>
            <a:endParaRPr b="0" sz="10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Type Casting</a:t>
            </a:r>
            <a:endParaRPr b="0" sz="2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221" name="Google Shape;1221;p84"/>
          <p:cNvGrpSpPr/>
          <p:nvPr/>
        </p:nvGrpSpPr>
        <p:grpSpPr>
          <a:xfrm>
            <a:off x="476250" y="1238250"/>
            <a:ext cx="4953000" cy="2190900"/>
            <a:chOff x="0" y="0"/>
            <a:chExt cx="4953000" cy="2190900"/>
          </a:xfrm>
        </p:grpSpPr>
        <p:sp>
          <p:nvSpPr>
            <p:cNvPr id="1222" name="Google Shape;1222;p84"/>
            <p:cNvSpPr/>
            <p:nvPr/>
          </p:nvSpPr>
          <p:spPr>
            <a:xfrm>
              <a:off x="0" y="0"/>
              <a:ext cx="4953000" cy="21909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84"/>
            <p:cNvSpPr/>
            <p:nvPr/>
          </p:nvSpPr>
          <p:spPr>
            <a:xfrm>
              <a:off x="0" y="0"/>
              <a:ext cx="4953000" cy="285900"/>
            </a:xfrm>
            <a:prstGeom prst="roundRect">
              <a:avLst>
                <a:gd fmla="val 26666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84"/>
            <p:cNvSpPr/>
            <p:nvPr/>
          </p:nvSpPr>
          <p:spPr>
            <a:xfrm>
              <a:off x="0" y="190500"/>
              <a:ext cx="49530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84"/>
            <p:cNvSpPr txBox="1"/>
            <p:nvPr/>
          </p:nvSpPr>
          <p:spPr>
            <a:xfrm>
              <a:off x="142875" y="47625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Main.java</a:t>
              </a:r>
              <a:endParaRPr b="0" sz="10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226" name="Google Shape;1226;p84"/>
            <p:cNvSpPr/>
            <p:nvPr/>
          </p:nvSpPr>
          <p:spPr>
            <a:xfrm>
              <a:off x="4486275" y="104775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84"/>
            <p:cNvSpPr/>
            <p:nvPr/>
          </p:nvSpPr>
          <p:spPr>
            <a:xfrm>
              <a:off x="4600575" y="104775"/>
              <a:ext cx="76200" cy="762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84"/>
            <p:cNvSpPr/>
            <p:nvPr/>
          </p:nvSpPr>
          <p:spPr>
            <a:xfrm>
              <a:off x="4714875" y="104775"/>
              <a:ext cx="76200" cy="76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84"/>
            <p:cNvSpPr txBox="1"/>
            <p:nvPr/>
          </p:nvSpPr>
          <p:spPr>
            <a:xfrm>
              <a:off x="190500" y="428625"/>
              <a:ext cx="45720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</a:t>
              </a:r>
              <a:r>
                <a:rPr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1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</a:t>
              </a:r>
              <a:r>
                <a:rPr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{</a:t>
              </a:r>
              <a:endParaRPr sz="110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static void</a:t>
              </a:r>
              <a:r>
                <a:rPr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1100">
                  <a:solidFill>
                    <a:srgbClr val="D9770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</a:t>
              </a:r>
              <a:r>
                <a:rPr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(String[] args) {</a:t>
              </a:r>
              <a:endParaRPr sz="110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81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float</a:t>
              </a:r>
              <a:r>
                <a:rPr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 = </a:t>
              </a:r>
              <a:r>
                <a:rPr lang="en" sz="1100">
                  <a:solidFill>
                    <a:srgbClr val="0596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10.56f</a:t>
              </a:r>
              <a:r>
                <a:rPr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110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81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b = a; </a:t>
              </a:r>
              <a:r>
                <a:rPr lang="en" sz="11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Compilation Error without explicit cast</a:t>
              </a:r>
              <a:endParaRPr sz="110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81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</a:t>
              </a:r>
              <a:r>
                <a:rPr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.out.println(</a:t>
              </a:r>
              <a:r>
                <a:rPr lang="en" sz="1100">
                  <a:solidFill>
                    <a:srgbClr val="0596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"value of a after type casting:"</a:t>
              </a:r>
              <a:r>
                <a:rPr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+ b);</a:t>
              </a:r>
              <a:endParaRPr sz="110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10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10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230" name="Google Shape;1230;p84"/>
          <p:cNvGrpSpPr/>
          <p:nvPr/>
        </p:nvGrpSpPr>
        <p:grpSpPr>
          <a:xfrm>
            <a:off x="5619750" y="1238250"/>
            <a:ext cx="3048000" cy="2190900"/>
            <a:chOff x="0" y="0"/>
            <a:chExt cx="3048000" cy="2190900"/>
          </a:xfrm>
        </p:grpSpPr>
        <p:sp>
          <p:nvSpPr>
            <p:cNvPr id="1231" name="Google Shape;1231;p84"/>
            <p:cNvSpPr/>
            <p:nvPr/>
          </p:nvSpPr>
          <p:spPr>
            <a:xfrm>
              <a:off x="0" y="0"/>
              <a:ext cx="3048000" cy="2190900"/>
            </a:xfrm>
            <a:prstGeom prst="roundRect">
              <a:avLst>
                <a:gd fmla="val 3478" name="adj"/>
              </a:avLst>
            </a:prstGeom>
            <a:solidFill>
              <a:srgbClr val="EFF6FF"/>
            </a:solidFill>
            <a:ln cap="flat" cmpd="sng" w="14300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84"/>
            <p:cNvSpPr txBox="1"/>
            <p:nvPr/>
          </p:nvSpPr>
          <p:spPr>
            <a:xfrm>
              <a:off x="190500" y="190500"/>
              <a:ext cx="2667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1E40A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ANALYSIS</a:t>
              </a:r>
              <a:endParaRPr b="0" sz="1110">
                <a:solidFill>
                  <a:srgbClr val="1E40A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Type Mismatch Risk</a:t>
              </a:r>
              <a:endParaRPr b="1" sz="1203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Compilation Failure:</a:t>
              </a:r>
              <a:endParaRPr b="0" sz="1018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1143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7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Assigning a </a:t>
              </a:r>
              <a:r>
                <a:rPr b="1" lang="en" sz="971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float</a:t>
              </a:r>
              <a:r>
                <a:rPr lang="en" sz="97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directly to an </a:t>
              </a:r>
              <a:r>
                <a:rPr b="1" lang="en" sz="971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" sz="97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causes a "possible loss of precision" error.</a:t>
              </a:r>
              <a:endParaRPr sz="97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Correct Syntax Required:</a:t>
              </a:r>
              <a:endParaRPr b="0" sz="1018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1143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7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 b = (int) a;</a:t>
              </a:r>
              <a:endParaRPr sz="97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33" name="Google Shape;1233;p84"/>
          <p:cNvGrpSpPr/>
          <p:nvPr/>
        </p:nvGrpSpPr>
        <p:grpSpPr>
          <a:xfrm>
            <a:off x="476250" y="3619500"/>
            <a:ext cx="8191500" cy="1143000"/>
            <a:chOff x="0" y="0"/>
            <a:chExt cx="8191500" cy="1143000"/>
          </a:xfrm>
        </p:grpSpPr>
        <p:sp>
          <p:nvSpPr>
            <p:cNvPr id="1234" name="Google Shape;1234;p84"/>
            <p:cNvSpPr/>
            <p:nvPr/>
          </p:nvSpPr>
          <p:spPr>
            <a:xfrm>
              <a:off x="0" y="0"/>
              <a:ext cx="8191500" cy="1143000"/>
            </a:xfrm>
            <a:prstGeom prst="roundRect">
              <a:avLst>
                <a:gd fmla="val 6666" name="adj"/>
              </a:avLst>
            </a:prstGeom>
            <a:solidFill>
              <a:srgbClr val="F1F5F9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84"/>
            <p:cNvSpPr/>
            <p:nvPr/>
          </p:nvSpPr>
          <p:spPr>
            <a:xfrm>
              <a:off x="142875" y="123825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84"/>
            <p:cNvSpPr/>
            <p:nvPr/>
          </p:nvSpPr>
          <p:spPr>
            <a:xfrm>
              <a:off x="276225" y="123825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84"/>
            <p:cNvSpPr/>
            <p:nvPr/>
          </p:nvSpPr>
          <p:spPr>
            <a:xfrm>
              <a:off x="409575" y="123825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84"/>
            <p:cNvSpPr txBox="1"/>
            <p:nvPr/>
          </p:nvSpPr>
          <p:spPr>
            <a:xfrm>
              <a:off x="666750" y="952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Terminal - Output</a:t>
              </a:r>
              <a:endParaRPr b="0" sz="9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pic>
          <p:nvPicPr>
            <p:cNvPr id="1239" name="Google Shape;1239;p84"/>
            <p:cNvPicPr preferRelativeResize="0"/>
            <p:nvPr/>
          </p:nvPicPr>
          <p:blipFill rotWithShape="1">
            <a:blip r:embed="rId4">
              <a:alphaModFix/>
            </a:blip>
            <a:srcRect b="9083" l="150" r="140" t="0"/>
            <a:stretch/>
          </p:blipFill>
          <p:spPr>
            <a:xfrm>
              <a:off x="142875" y="276225"/>
              <a:ext cx="7905900" cy="762000"/>
            </a:xfrm>
            <a:prstGeom prst="roundRect">
              <a:avLst>
                <a:gd fmla="val 5333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85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07 / Language Fundamentals</a:t>
            </a:r>
            <a:endParaRPr b="0" sz="10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Reserved Words / Keywords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45" name="Google Shape;1245;p85"/>
          <p:cNvGrpSpPr/>
          <p:nvPr/>
        </p:nvGrpSpPr>
        <p:grpSpPr>
          <a:xfrm>
            <a:off x="476250" y="1333500"/>
            <a:ext cx="3952800" cy="2476500"/>
            <a:chOff x="0" y="0"/>
            <a:chExt cx="3952800" cy="2476500"/>
          </a:xfrm>
        </p:grpSpPr>
        <p:sp>
          <p:nvSpPr>
            <p:cNvPr id="1246" name="Google Shape;1246;p85"/>
            <p:cNvSpPr/>
            <p:nvPr/>
          </p:nvSpPr>
          <p:spPr>
            <a:xfrm>
              <a:off x="0" y="0"/>
              <a:ext cx="3952800" cy="2476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85"/>
            <p:cNvSpPr txBox="1"/>
            <p:nvPr/>
          </p:nvSpPr>
          <p:spPr>
            <a:xfrm>
              <a:off x="238125" y="238125"/>
              <a:ext cx="3476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Core Concept</a:t>
              </a:r>
              <a:endParaRPr b="1" sz="14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Reserved words or keywords are pre-defined words that hold special significance within the programming language.</a:t>
              </a:r>
              <a:endParaRPr b="0" sz="12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Inter"/>
                <a:buChar char="●"/>
              </a:pPr>
              <a:r>
                <a:rPr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They have a </a:t>
              </a: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specific meaning</a:t>
              </a:r>
              <a:r>
                <a:rPr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to the compiler.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Inter"/>
                <a:buChar char="●"/>
              </a:pPr>
              <a:r>
                <a:rPr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They </a:t>
              </a:r>
              <a:r>
                <a:rPr b="1" lang="en" sz="12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cannot be used</a:t>
              </a:r>
              <a:r>
                <a:rPr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as identifiers (names for variables, methods, or classes).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48" name="Google Shape;1248;p85"/>
          <p:cNvGrpSpPr/>
          <p:nvPr/>
        </p:nvGrpSpPr>
        <p:grpSpPr>
          <a:xfrm>
            <a:off x="4714875" y="1333500"/>
            <a:ext cx="3952800" cy="2476500"/>
            <a:chOff x="0" y="0"/>
            <a:chExt cx="3952800" cy="2476500"/>
          </a:xfrm>
        </p:grpSpPr>
        <p:sp>
          <p:nvSpPr>
            <p:cNvPr id="1249" name="Google Shape;1249;p85"/>
            <p:cNvSpPr/>
            <p:nvPr/>
          </p:nvSpPr>
          <p:spPr>
            <a:xfrm>
              <a:off x="0" y="0"/>
              <a:ext cx="3952800" cy="2476500"/>
            </a:xfrm>
            <a:prstGeom prst="roundRect">
              <a:avLst>
                <a:gd fmla="val 3076" name="adj"/>
              </a:avLst>
            </a:prstGeom>
            <a:solidFill>
              <a:srgbClr val="EFF6FF"/>
            </a:solidFill>
            <a:ln cap="flat" cmpd="sng" w="14300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85"/>
            <p:cNvSpPr txBox="1"/>
            <p:nvPr/>
          </p:nvSpPr>
          <p:spPr>
            <a:xfrm>
              <a:off x="238125" y="238125"/>
              <a:ext cx="3476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How the Compiler Interprets</a:t>
              </a:r>
              <a:endParaRPr b="1" sz="1295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When the compiler encounters a keyword, it triggers specific grammatical rules:</a:t>
              </a:r>
              <a:endParaRPr b="0" sz="111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</a:t>
              </a:r>
              <a:r>
                <a:rPr b="1" lang="en" sz="1018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MyProgram {</a:t>
              </a:r>
              <a:endParaRPr b="1" sz="1018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42875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compiler expects "MyProgram"</a:t>
              </a:r>
              <a:endParaRPr b="0" sz="1018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42875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to be the name of the class</a:t>
              </a:r>
              <a:endParaRPr b="0" sz="1018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1018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7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keyword </a:t>
              </a:r>
              <a:r>
                <a:rPr b="1" lang="en" sz="97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</a:t>
              </a:r>
              <a:r>
                <a:rPr lang="en" sz="97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informs the compiler that the following word is the unique class identifier.</a:t>
              </a:r>
              <a:endParaRPr sz="97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51" name="Google Shape;1251;p85"/>
          <p:cNvGrpSpPr/>
          <p:nvPr/>
        </p:nvGrpSpPr>
        <p:grpSpPr>
          <a:xfrm>
            <a:off x="476250" y="4048125"/>
            <a:ext cx="8191500" cy="571500"/>
            <a:chOff x="0" y="0"/>
            <a:chExt cx="8191500" cy="571500"/>
          </a:xfrm>
        </p:grpSpPr>
        <p:sp>
          <p:nvSpPr>
            <p:cNvPr id="1252" name="Google Shape;1252;p85"/>
            <p:cNvSpPr/>
            <p:nvPr/>
          </p:nvSpPr>
          <p:spPr>
            <a:xfrm>
              <a:off x="0" y="0"/>
              <a:ext cx="8191500" cy="571500"/>
            </a:xfrm>
            <a:prstGeom prst="roundRect">
              <a:avLst>
                <a:gd fmla="val 10000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85"/>
            <p:cNvSpPr txBox="1"/>
            <p:nvPr/>
          </p:nvSpPr>
          <p:spPr>
            <a:xfrm>
              <a:off x="190500" y="9525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➔ </a:t>
              </a: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Next Up:</a:t>
              </a:r>
              <a:r>
                <a:rPr b="0" lang="en" sz="12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Below are the key reserved words used to define structures, data types, and control flows in Java.</a:t>
              </a:r>
              <a:endParaRPr b="0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8" name="Google Shape;1258;p86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259" name="Google Shape;1259;p86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86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07 / Language Fundamentals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Reserved Words / Keywords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1261" name="Google Shape;1261;p86"/>
          <p:cNvSpPr/>
          <p:nvPr/>
        </p:nvSpPr>
        <p:spPr>
          <a:xfrm>
            <a:off x="476250" y="1333500"/>
            <a:ext cx="8191500" cy="3333900"/>
          </a:xfrm>
          <a:prstGeom prst="roundRect">
            <a:avLst>
              <a:gd fmla="val 228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62" name="Google Shape;1262;p86"/>
          <p:cNvGraphicFramePr/>
          <p:nvPr/>
        </p:nvGraphicFramePr>
        <p:xfrm>
          <a:off x="476250" y="133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{C75DE77E-582F-48B9-99DE-893D65EC9C9C}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abstract</a:t>
                      </a:r>
                      <a:endParaRPr/>
                    </a:p>
                  </a:txBody>
                  <a:tcPr marT="66675" marB="66675" marR="38100" marL="38100"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continue</a:t>
                      </a:r>
                      <a:endParaRPr/>
                    </a:p>
                  </a:txBody>
                  <a:tcPr marT="66675" marB="66675" marR="38100" marL="38100"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for</a:t>
                      </a:r>
                      <a:endParaRPr/>
                    </a:p>
                  </a:txBody>
                  <a:tcPr marT="66675" marB="66675" marR="38100" marL="38100"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new</a:t>
                      </a:r>
                      <a:endParaRPr/>
                    </a:p>
                  </a:txBody>
                  <a:tcPr marT="66675" marB="66675" marR="38100" marL="38100"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switch</a:t>
                      </a:r>
                      <a:endParaRPr/>
                    </a:p>
                  </a:txBody>
                  <a:tcPr marT="66675" marB="66675" marR="38100" marL="38100"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assert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package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synchronized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default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F4444"/>
                          </a:solidFill>
                        </a:rPr>
                        <a:t>goto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boolean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do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if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private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this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break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else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import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public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throw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byte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enum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implements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protected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throws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case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double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instanceof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return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transient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catch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extends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int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short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try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char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final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interface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static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void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class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finally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long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strictfp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volatile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F4444"/>
                          </a:solidFill>
                        </a:rPr>
                        <a:t>const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float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native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super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563EB"/>
                          </a:solidFill>
                          <a:highlight>
                            <a:srgbClr val="EFF6FF"/>
                          </a:highlight>
                        </a:rPr>
                        <a:t>while</a:t>
                      </a:r>
                      <a:endParaRPr/>
                    </a:p>
                  </a:txBody>
                  <a:tcPr marT="66675" marB="66675" marR="38100" marL="381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7" name="Google Shape;1267;p87"/>
          <p:cNvGrpSpPr/>
          <p:nvPr/>
        </p:nvGrpSpPr>
        <p:grpSpPr>
          <a:xfrm>
            <a:off x="476250" y="369655"/>
            <a:ext cx="8191500" cy="762000"/>
            <a:chOff x="0" y="0"/>
            <a:chExt cx="8191500" cy="762000"/>
          </a:xfrm>
        </p:grpSpPr>
        <p:sp>
          <p:nvSpPr>
            <p:cNvPr id="1268" name="Google Shape;1268;p87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87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07 / Language Fundamentals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Comments in Java</a:t>
              </a:r>
              <a:endParaRPr b="1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70" name="Google Shape;1270;p87"/>
          <p:cNvGrpSpPr/>
          <p:nvPr/>
        </p:nvGrpSpPr>
        <p:grpSpPr>
          <a:xfrm>
            <a:off x="476250" y="1333500"/>
            <a:ext cx="3952800" cy="2476500"/>
            <a:chOff x="0" y="0"/>
            <a:chExt cx="3952800" cy="2476500"/>
          </a:xfrm>
        </p:grpSpPr>
        <p:sp>
          <p:nvSpPr>
            <p:cNvPr id="1271" name="Google Shape;1271;p87"/>
            <p:cNvSpPr/>
            <p:nvPr/>
          </p:nvSpPr>
          <p:spPr>
            <a:xfrm>
              <a:off x="0" y="0"/>
              <a:ext cx="3952800" cy="2476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87"/>
            <p:cNvSpPr txBox="1"/>
            <p:nvPr/>
          </p:nvSpPr>
          <p:spPr>
            <a:xfrm>
              <a:off x="238125" y="238125"/>
              <a:ext cx="3476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Single-Line Comments</a:t>
              </a:r>
              <a:endParaRPr b="1" sz="18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comment</a:t>
              </a:r>
              <a:endParaRPr b="1" sz="24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3270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550"/>
                <a:buFont typeface="Inter"/>
                <a:buChar char="●"/>
              </a:pPr>
              <a:r>
                <a:rPr lang="en" sz="15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Preceded by </a:t>
              </a:r>
              <a:r>
                <a:rPr b="1" lang="en" sz="15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</a:t>
              </a:r>
              <a:r>
                <a:rPr lang="en" sz="15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at the start or middle of a line.</a:t>
              </a:r>
              <a:endParaRPr sz="15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270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550"/>
                <a:buFont typeface="Inter"/>
                <a:buChar char="●"/>
              </a:pPr>
              <a:r>
                <a:rPr lang="en" sz="15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compiler ignores all text from the slashes to the end of that specific line.</a:t>
              </a:r>
              <a:endParaRPr sz="15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73" name="Google Shape;1273;p87"/>
          <p:cNvGrpSpPr/>
          <p:nvPr/>
        </p:nvGrpSpPr>
        <p:grpSpPr>
          <a:xfrm>
            <a:off x="4714875" y="1333500"/>
            <a:ext cx="3952800" cy="2476500"/>
            <a:chOff x="0" y="0"/>
            <a:chExt cx="3952800" cy="2476500"/>
          </a:xfrm>
        </p:grpSpPr>
        <p:sp>
          <p:nvSpPr>
            <p:cNvPr id="1274" name="Google Shape;1274;p87"/>
            <p:cNvSpPr/>
            <p:nvPr/>
          </p:nvSpPr>
          <p:spPr>
            <a:xfrm>
              <a:off x="0" y="0"/>
              <a:ext cx="3952800" cy="2476500"/>
            </a:xfrm>
            <a:prstGeom prst="roundRect">
              <a:avLst>
                <a:gd fmla="val 3076" name="adj"/>
              </a:avLst>
            </a:prstGeom>
            <a:solidFill>
              <a:srgbClr val="EFF6FF"/>
            </a:solidFill>
            <a:ln cap="flat" cmpd="sng" w="14300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87"/>
            <p:cNvSpPr txBox="1"/>
            <p:nvPr/>
          </p:nvSpPr>
          <p:spPr>
            <a:xfrm>
              <a:off x="238125" y="238125"/>
              <a:ext cx="3476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Multi-Line Comments</a:t>
              </a:r>
              <a:endParaRPr b="1" sz="160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/* comment */</a:t>
              </a:r>
              <a:endParaRPr b="1" sz="22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3143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350"/>
                <a:buFont typeface="Inter"/>
                <a:buChar char="●"/>
              </a:pPr>
              <a:r>
                <a:rPr lang="en" sz="13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Enclosed between </a:t>
              </a:r>
              <a:r>
                <a:rPr b="1" lang="en" sz="13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/*</a:t>
              </a:r>
              <a:r>
                <a:rPr lang="en" sz="13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1" lang="en" sz="13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*/</a:t>
              </a:r>
              <a:r>
                <a:rPr lang="en" sz="13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3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3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350"/>
                <a:buFont typeface="Inter"/>
                <a:buChar char="●"/>
              </a:pPr>
              <a:r>
                <a:rPr lang="en" sz="13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Can span across </a:t>
              </a:r>
              <a:r>
                <a:rPr b="1" lang="en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one or multiple lines</a:t>
              </a:r>
              <a:r>
                <a:rPr lang="en" sz="13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3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3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350"/>
                <a:buFont typeface="Inter"/>
                <a:buChar char="●"/>
              </a:pPr>
              <a:r>
                <a:rPr lang="en" sz="13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The compiler scans for the closing tag and ignores everything in between.</a:t>
              </a:r>
              <a:endParaRPr sz="13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76" name="Google Shape;1276;p87"/>
          <p:cNvGrpSpPr/>
          <p:nvPr/>
        </p:nvGrpSpPr>
        <p:grpSpPr>
          <a:xfrm>
            <a:off x="476250" y="4048125"/>
            <a:ext cx="8191500" cy="571500"/>
            <a:chOff x="0" y="0"/>
            <a:chExt cx="8191500" cy="571500"/>
          </a:xfrm>
        </p:grpSpPr>
        <p:sp>
          <p:nvSpPr>
            <p:cNvPr id="1277" name="Google Shape;1277;p87"/>
            <p:cNvSpPr/>
            <p:nvPr/>
          </p:nvSpPr>
          <p:spPr>
            <a:xfrm>
              <a:off x="0" y="0"/>
              <a:ext cx="8191500" cy="571500"/>
            </a:xfrm>
            <a:prstGeom prst="roundRect">
              <a:avLst>
                <a:gd fmla="val 10000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87"/>
            <p:cNvSpPr txBox="1"/>
            <p:nvPr/>
          </p:nvSpPr>
          <p:spPr>
            <a:xfrm>
              <a:off x="190500" y="9525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➔ </a:t>
              </a: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Inline Documentation:</a:t>
              </a:r>
              <a:r>
                <a:rPr b="0" lang="en" sz="16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Comments are completely ignored by the compiler, serving solely as documentation to make code readable and maintainable.</a:t>
              </a:r>
              <a:endParaRPr b="0" sz="16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3" name="Google Shape;1283;p88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284" name="Google Shape;1284;p88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88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07 / Language Fundamentals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Access Modifiers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286" name="Google Shape;1286;p88"/>
          <p:cNvGrpSpPr/>
          <p:nvPr/>
        </p:nvGrpSpPr>
        <p:grpSpPr>
          <a:xfrm>
            <a:off x="476250" y="1333500"/>
            <a:ext cx="1905000" cy="3143400"/>
            <a:chOff x="0" y="0"/>
            <a:chExt cx="1905000" cy="3143400"/>
          </a:xfrm>
        </p:grpSpPr>
        <p:sp>
          <p:nvSpPr>
            <p:cNvPr id="1287" name="Google Shape;1287;p88"/>
            <p:cNvSpPr/>
            <p:nvPr/>
          </p:nvSpPr>
          <p:spPr>
            <a:xfrm>
              <a:off x="0" y="0"/>
              <a:ext cx="1905000" cy="31434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88"/>
            <p:cNvSpPr txBox="1"/>
            <p:nvPr/>
          </p:nvSpPr>
          <p:spPr>
            <a:xfrm>
              <a:off x="142875" y="190500"/>
              <a:ext cx="16191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991B1B"/>
                  </a:solidFill>
                  <a:highlight>
                    <a:srgbClr val="FEE2E2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private</a:t>
              </a:r>
              <a:endParaRPr sz="17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most restrictive access level. Only visible within its own class.</a:t>
              </a:r>
              <a:endParaRPr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Scope:</a:t>
              </a:r>
              <a:endParaRPr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85725" lvl="0" marL="142875" marR="0" rtl="0" algn="l">
                <a:spcBef>
                  <a:spcPts val="375"/>
                </a:spcBef>
                <a:spcAft>
                  <a:spcPts val="0"/>
                </a:spcAft>
                <a:buClr>
                  <a:srgbClr val="475569"/>
                </a:buClr>
                <a:buSzPts val="1350"/>
                <a:buFont typeface="Inter"/>
                <a:buChar char="●"/>
              </a:pPr>
              <a:r>
                <a:rPr lang="en" sz="13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Inside the </a:t>
              </a:r>
              <a:r>
                <a:rPr b="1" lang="en" sz="13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class</a:t>
              </a:r>
              <a:r>
                <a:rPr lang="en" sz="13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only</a:t>
              </a:r>
              <a:endParaRPr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85725" lvl="0" marL="142875" marR="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350"/>
                <a:buFont typeface="Inter"/>
                <a:buChar char="●"/>
              </a:pPr>
              <a:r>
                <a:rPr lang="en" sz="13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No access from outside</a:t>
              </a:r>
              <a:endParaRPr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89" name="Google Shape;1289;p88"/>
          <p:cNvGrpSpPr/>
          <p:nvPr/>
        </p:nvGrpSpPr>
        <p:grpSpPr>
          <a:xfrm>
            <a:off x="2571750" y="1333500"/>
            <a:ext cx="1905000" cy="3143400"/>
            <a:chOff x="0" y="0"/>
            <a:chExt cx="1905000" cy="3143400"/>
          </a:xfrm>
        </p:grpSpPr>
        <p:sp>
          <p:nvSpPr>
            <p:cNvPr id="1290" name="Google Shape;1290;p88"/>
            <p:cNvSpPr/>
            <p:nvPr/>
          </p:nvSpPr>
          <p:spPr>
            <a:xfrm>
              <a:off x="0" y="0"/>
              <a:ext cx="1905000" cy="31434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88"/>
            <p:cNvSpPr txBox="1"/>
            <p:nvPr/>
          </p:nvSpPr>
          <p:spPr>
            <a:xfrm>
              <a:off x="142875" y="190500"/>
              <a:ext cx="16191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74151"/>
                  </a:solidFill>
                  <a:highlight>
                    <a:srgbClr val="F3F4F6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default</a:t>
              </a:r>
              <a:endParaRPr sz="16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Active when no modifier is specified. Package-private visibility.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Scope: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79375" lvl="0" marL="142875" marR="0" rtl="0" algn="l">
                <a:spcBef>
                  <a:spcPts val="375"/>
                </a:spcBef>
                <a:spcAft>
                  <a:spcPts val="0"/>
                </a:spcAft>
                <a:buClr>
                  <a:srgbClr val="475569"/>
                </a:buClr>
                <a:buSzPts val="1250"/>
                <a:buFont typeface="Inter"/>
                <a:buChar char="●"/>
              </a:pPr>
              <a:r>
                <a:rPr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Inside the </a:t>
              </a:r>
              <a:r>
                <a:rPr b="1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package</a:t>
              </a:r>
              <a:endParaRPr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79375" lvl="0" marL="142875" marR="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250"/>
                <a:buFont typeface="Inter"/>
                <a:buChar char="●"/>
              </a:pPr>
              <a:r>
                <a:rPr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No access from external packages</a:t>
              </a:r>
              <a:endParaRPr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2" name="Google Shape;1292;p88"/>
          <p:cNvGrpSpPr/>
          <p:nvPr/>
        </p:nvGrpSpPr>
        <p:grpSpPr>
          <a:xfrm>
            <a:off x="4667250" y="1333500"/>
            <a:ext cx="1905000" cy="3143400"/>
            <a:chOff x="0" y="0"/>
            <a:chExt cx="1905000" cy="3143400"/>
          </a:xfrm>
        </p:grpSpPr>
        <p:sp>
          <p:nvSpPr>
            <p:cNvPr id="1293" name="Google Shape;1293;p88"/>
            <p:cNvSpPr/>
            <p:nvPr/>
          </p:nvSpPr>
          <p:spPr>
            <a:xfrm>
              <a:off x="0" y="0"/>
              <a:ext cx="1905000" cy="31434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88"/>
            <p:cNvSpPr txBox="1"/>
            <p:nvPr/>
          </p:nvSpPr>
          <p:spPr>
            <a:xfrm>
              <a:off x="142875" y="190500"/>
              <a:ext cx="16191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92400E"/>
                  </a:solidFill>
                  <a:highlight>
                    <a:srgbClr val="FEF3C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protected</a:t>
              </a:r>
              <a:endParaRPr sz="18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Tailored for inheritance. Visible to subclasses across packages.</a:t>
              </a:r>
              <a:endParaRPr b="0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Scope: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92075" lvl="0" marL="142875" marR="0" rtl="0" algn="l">
                <a:spcBef>
                  <a:spcPts val="375"/>
                </a:spcBef>
                <a:spcAft>
                  <a:spcPts val="0"/>
                </a:spcAft>
                <a:buClr>
                  <a:srgbClr val="475569"/>
                </a:buClr>
                <a:buSzPts val="1450"/>
                <a:buFont typeface="Inter"/>
                <a:buChar char="●"/>
              </a:pPr>
              <a:r>
                <a:rPr lang="en" sz="14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Same </a:t>
              </a:r>
              <a:r>
                <a:rPr b="1" lang="en" sz="14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package</a:t>
              </a:r>
              <a:endParaRPr sz="14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92075" lvl="0" marL="142875" marR="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450"/>
                <a:buFont typeface="Inter"/>
                <a:buChar char="●"/>
              </a:pPr>
              <a:r>
                <a:rPr b="1" lang="en" sz="14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Subclasses</a:t>
              </a:r>
              <a:r>
                <a:rPr lang="en" sz="14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in other packages</a:t>
              </a:r>
              <a:endParaRPr sz="14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5" name="Google Shape;1295;p88"/>
          <p:cNvGrpSpPr/>
          <p:nvPr/>
        </p:nvGrpSpPr>
        <p:grpSpPr>
          <a:xfrm>
            <a:off x="6762750" y="1333500"/>
            <a:ext cx="1905000" cy="3143400"/>
            <a:chOff x="0" y="0"/>
            <a:chExt cx="1905000" cy="3143400"/>
          </a:xfrm>
        </p:grpSpPr>
        <p:sp>
          <p:nvSpPr>
            <p:cNvPr id="1296" name="Google Shape;1296;p88"/>
            <p:cNvSpPr/>
            <p:nvPr/>
          </p:nvSpPr>
          <p:spPr>
            <a:xfrm>
              <a:off x="0" y="0"/>
              <a:ext cx="1905000" cy="31434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88"/>
            <p:cNvSpPr txBox="1"/>
            <p:nvPr/>
          </p:nvSpPr>
          <p:spPr>
            <a:xfrm>
              <a:off x="142875" y="190500"/>
              <a:ext cx="16191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66534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public</a:t>
              </a:r>
              <a:endParaRPr sz="18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most permissive level. Open access across the entire project.</a:t>
              </a:r>
              <a:endParaRPr b="0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Scope: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92075" lvl="0" marL="142875" marR="0" rtl="0" algn="l">
                <a:spcBef>
                  <a:spcPts val="375"/>
                </a:spcBef>
                <a:spcAft>
                  <a:spcPts val="0"/>
                </a:spcAft>
                <a:buClr>
                  <a:srgbClr val="475569"/>
                </a:buClr>
                <a:buSzPts val="1450"/>
                <a:buFont typeface="Inter"/>
                <a:buChar char="●"/>
              </a:pPr>
              <a:r>
                <a:rPr b="1" lang="en" sz="14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Everywhere</a:t>
              </a:r>
              <a:endParaRPr sz="14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92075" lvl="0" marL="142875" marR="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450"/>
                <a:buFont typeface="Inter"/>
                <a:buChar char="●"/>
              </a:pPr>
              <a:r>
                <a:rPr lang="en" sz="14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All classes and packages</a:t>
              </a:r>
              <a:endParaRPr sz="14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89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07 / Language Fundamentals</a:t>
            </a:r>
            <a:endParaRPr b="0" sz="10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Operators in Java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3" name="Google Shape;1303;p89"/>
          <p:cNvSpPr txBox="1"/>
          <p:nvPr/>
        </p:nvSpPr>
        <p:spPr>
          <a:xfrm>
            <a:off x="476250" y="1190625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4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 operator is a symbol that performs an operation on variables called </a:t>
            </a:r>
            <a:r>
              <a:rPr b="1" lang="en" sz="1249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operands</a:t>
            </a:r>
            <a:r>
              <a:rPr lang="en" sz="124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Java categorizes these operators into six primary groups:</a:t>
            </a:r>
            <a:endParaRPr sz="1249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04" name="Google Shape;1304;p89"/>
          <p:cNvGrpSpPr/>
          <p:nvPr/>
        </p:nvGrpSpPr>
        <p:grpSpPr>
          <a:xfrm>
            <a:off x="476250" y="1762125"/>
            <a:ext cx="2571900" cy="1285800"/>
            <a:chOff x="0" y="0"/>
            <a:chExt cx="2571900" cy="1285800"/>
          </a:xfrm>
        </p:grpSpPr>
        <p:sp>
          <p:nvSpPr>
            <p:cNvPr id="1305" name="Google Shape;1305;p89"/>
            <p:cNvSpPr/>
            <p:nvPr/>
          </p:nvSpPr>
          <p:spPr>
            <a:xfrm>
              <a:off x="0" y="0"/>
              <a:ext cx="2571900" cy="12858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89"/>
            <p:cNvSpPr txBox="1"/>
            <p:nvPr/>
          </p:nvSpPr>
          <p:spPr>
            <a:xfrm>
              <a:off x="0" y="0"/>
              <a:ext cx="2571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90500" spcFirstLastPara="1" rIns="19050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calculate</a:t>
              </a: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Arithmetic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Performs basic mathematical operations like addition, subtraction, and multiplication.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07" name="Google Shape;1307;p89"/>
          <p:cNvGrpSpPr/>
          <p:nvPr/>
        </p:nvGrpSpPr>
        <p:grpSpPr>
          <a:xfrm>
            <a:off x="3286125" y="1762125"/>
            <a:ext cx="2571900" cy="1285800"/>
            <a:chOff x="0" y="0"/>
            <a:chExt cx="2571900" cy="1285800"/>
          </a:xfrm>
        </p:grpSpPr>
        <p:sp>
          <p:nvSpPr>
            <p:cNvPr id="1308" name="Google Shape;1308;p89"/>
            <p:cNvSpPr/>
            <p:nvPr/>
          </p:nvSpPr>
          <p:spPr>
            <a:xfrm>
              <a:off x="0" y="0"/>
              <a:ext cx="2571900" cy="12858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89"/>
            <p:cNvSpPr txBox="1"/>
            <p:nvPr/>
          </p:nvSpPr>
          <p:spPr>
            <a:xfrm>
              <a:off x="0" y="0"/>
              <a:ext cx="2571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90500" spcFirstLastPara="1" rIns="19050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compare_arrows</a:t>
              </a: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Relational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Compares two values and determines equality or difference, returning boolean values.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10" name="Google Shape;1310;p89"/>
          <p:cNvGrpSpPr/>
          <p:nvPr/>
        </p:nvGrpSpPr>
        <p:grpSpPr>
          <a:xfrm>
            <a:off x="6096000" y="1762125"/>
            <a:ext cx="2571900" cy="1285800"/>
            <a:chOff x="0" y="0"/>
            <a:chExt cx="2571900" cy="1285800"/>
          </a:xfrm>
        </p:grpSpPr>
        <p:sp>
          <p:nvSpPr>
            <p:cNvPr id="1311" name="Google Shape;1311;p89"/>
            <p:cNvSpPr/>
            <p:nvPr/>
          </p:nvSpPr>
          <p:spPr>
            <a:xfrm>
              <a:off x="0" y="0"/>
              <a:ext cx="2571900" cy="12858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89"/>
            <p:cNvSpPr txBox="1"/>
            <p:nvPr/>
          </p:nvSpPr>
          <p:spPr>
            <a:xfrm>
              <a:off x="0" y="0"/>
              <a:ext cx="2571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90500" spcFirstLastPara="1" rIns="19050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Bitwise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Manipulates individual bits of integer types to perform low-level logical calculations.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13" name="Google Shape;1313;p89"/>
          <p:cNvGrpSpPr/>
          <p:nvPr/>
        </p:nvGrpSpPr>
        <p:grpSpPr>
          <a:xfrm>
            <a:off x="476250" y="3238500"/>
            <a:ext cx="2571900" cy="1285800"/>
            <a:chOff x="0" y="0"/>
            <a:chExt cx="2571900" cy="1285800"/>
          </a:xfrm>
        </p:grpSpPr>
        <p:sp>
          <p:nvSpPr>
            <p:cNvPr id="1314" name="Google Shape;1314;p89"/>
            <p:cNvSpPr/>
            <p:nvPr/>
          </p:nvSpPr>
          <p:spPr>
            <a:xfrm>
              <a:off x="0" y="0"/>
              <a:ext cx="2571900" cy="12858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89"/>
            <p:cNvSpPr txBox="1"/>
            <p:nvPr/>
          </p:nvSpPr>
          <p:spPr>
            <a:xfrm>
              <a:off x="0" y="0"/>
              <a:ext cx="2571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90500" spcFirstLastPara="1" rIns="19050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alt_route</a:t>
              </a: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Logical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Combines multiple conditions using AND, OR, and NOT logic to control program flow.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16" name="Google Shape;1316;p89"/>
          <p:cNvGrpSpPr/>
          <p:nvPr/>
        </p:nvGrpSpPr>
        <p:grpSpPr>
          <a:xfrm>
            <a:off x="3286125" y="3238500"/>
            <a:ext cx="2571900" cy="1285800"/>
            <a:chOff x="0" y="0"/>
            <a:chExt cx="2571900" cy="1285800"/>
          </a:xfrm>
        </p:grpSpPr>
        <p:sp>
          <p:nvSpPr>
            <p:cNvPr id="1317" name="Google Shape;1317;p89"/>
            <p:cNvSpPr/>
            <p:nvPr/>
          </p:nvSpPr>
          <p:spPr>
            <a:xfrm>
              <a:off x="0" y="0"/>
              <a:ext cx="2571900" cy="12858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89"/>
            <p:cNvSpPr txBox="1"/>
            <p:nvPr/>
          </p:nvSpPr>
          <p:spPr>
            <a:xfrm>
              <a:off x="0" y="0"/>
              <a:ext cx="2571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90500" spcFirstLastPara="1" rIns="19050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input</a:t>
              </a: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Assignment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Assigns values to variables, supporting both simple and shorthand compound operations.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19" name="Google Shape;1319;p89"/>
          <p:cNvGrpSpPr/>
          <p:nvPr/>
        </p:nvGrpSpPr>
        <p:grpSpPr>
          <a:xfrm>
            <a:off x="6096000" y="3238500"/>
            <a:ext cx="2571900" cy="1285800"/>
            <a:chOff x="0" y="0"/>
            <a:chExt cx="2571900" cy="1285800"/>
          </a:xfrm>
        </p:grpSpPr>
        <p:sp>
          <p:nvSpPr>
            <p:cNvPr id="1320" name="Google Shape;1320;p89"/>
            <p:cNvSpPr/>
            <p:nvPr/>
          </p:nvSpPr>
          <p:spPr>
            <a:xfrm>
              <a:off x="0" y="0"/>
              <a:ext cx="2571900" cy="1285800"/>
            </a:xfrm>
            <a:prstGeom prst="roundRect">
              <a:avLst>
                <a:gd fmla="val 5925" name="adj"/>
              </a:avLst>
            </a:prstGeom>
            <a:solidFill>
              <a:srgbClr val="EFF6FF"/>
            </a:solidFill>
            <a:ln cap="flat" cmpd="sng" w="14300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89"/>
            <p:cNvSpPr txBox="1"/>
            <p:nvPr/>
          </p:nvSpPr>
          <p:spPr>
            <a:xfrm>
              <a:off x="0" y="0"/>
              <a:ext cx="2571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90500" spcFirstLastPara="1" rIns="19050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r>
                <a:rPr b="1" lang="en" sz="150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Special</a:t>
              </a:r>
              <a:endParaRPr b="1" sz="150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Includes advanced Java-specific operators like ternary (?:) and instanceof.</a:t>
              </a:r>
              <a:endParaRPr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6" name="Google Shape;1326;p90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327" name="Google Shape;1327;p90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90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07 / Language Fundamentals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Arithmetic Operators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329" name="Google Shape;1329;p90"/>
          <p:cNvGrpSpPr/>
          <p:nvPr/>
        </p:nvGrpSpPr>
        <p:grpSpPr>
          <a:xfrm>
            <a:off x="476250" y="1333500"/>
            <a:ext cx="8191500" cy="571500"/>
            <a:chOff x="0" y="0"/>
            <a:chExt cx="8191500" cy="571500"/>
          </a:xfrm>
        </p:grpSpPr>
        <p:sp>
          <p:nvSpPr>
            <p:cNvPr id="1330" name="Google Shape;1330;p90"/>
            <p:cNvSpPr/>
            <p:nvPr/>
          </p:nvSpPr>
          <p:spPr>
            <a:xfrm>
              <a:off x="0" y="0"/>
              <a:ext cx="81915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90"/>
            <p:cNvSpPr/>
            <p:nvPr/>
          </p:nvSpPr>
          <p:spPr>
            <a:xfrm>
              <a:off x="142875" y="95250"/>
              <a:ext cx="3810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90"/>
            <p:cNvSpPr txBox="1"/>
            <p:nvPr/>
          </p:nvSpPr>
          <p:spPr>
            <a:xfrm>
              <a:off x="142875" y="952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+</a:t>
              </a:r>
              <a:endParaRPr b="1" sz="18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33" name="Google Shape;1333;p90"/>
            <p:cNvSpPr txBox="1"/>
            <p:nvPr/>
          </p:nvSpPr>
          <p:spPr>
            <a:xfrm>
              <a:off x="714375" y="952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Addition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334" name="Google Shape;1334;p90"/>
            <p:cNvSpPr txBox="1"/>
            <p:nvPr/>
          </p:nvSpPr>
          <p:spPr>
            <a:xfrm>
              <a:off x="3810000" y="9525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3 + 4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35" name="Google Shape;1335;p90"/>
            <p:cNvSpPr txBox="1"/>
            <p:nvPr/>
          </p:nvSpPr>
          <p:spPr>
            <a:xfrm>
              <a:off x="6191250" y="9525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Result: </a:t>
              </a:r>
              <a:r>
                <a:rPr b="1" lang="en" sz="1400">
                  <a:solidFill>
                    <a:srgbClr val="16A3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7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36" name="Google Shape;1336;p90"/>
          <p:cNvGrpSpPr/>
          <p:nvPr/>
        </p:nvGrpSpPr>
        <p:grpSpPr>
          <a:xfrm>
            <a:off x="476250" y="2000250"/>
            <a:ext cx="8191500" cy="571500"/>
            <a:chOff x="0" y="0"/>
            <a:chExt cx="8191500" cy="571500"/>
          </a:xfrm>
        </p:grpSpPr>
        <p:sp>
          <p:nvSpPr>
            <p:cNvPr id="1337" name="Google Shape;1337;p90"/>
            <p:cNvSpPr/>
            <p:nvPr/>
          </p:nvSpPr>
          <p:spPr>
            <a:xfrm>
              <a:off x="0" y="0"/>
              <a:ext cx="81915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90"/>
            <p:cNvSpPr/>
            <p:nvPr/>
          </p:nvSpPr>
          <p:spPr>
            <a:xfrm>
              <a:off x="142875" y="95250"/>
              <a:ext cx="3810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90"/>
            <p:cNvSpPr txBox="1"/>
            <p:nvPr/>
          </p:nvSpPr>
          <p:spPr>
            <a:xfrm>
              <a:off x="142875" y="952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</a:t>
              </a:r>
              <a:endParaRPr b="1" sz="18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40" name="Google Shape;1340;p90"/>
            <p:cNvSpPr txBox="1"/>
            <p:nvPr/>
          </p:nvSpPr>
          <p:spPr>
            <a:xfrm>
              <a:off x="714375" y="952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Subtraction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341" name="Google Shape;1341;p90"/>
            <p:cNvSpPr txBox="1"/>
            <p:nvPr/>
          </p:nvSpPr>
          <p:spPr>
            <a:xfrm>
              <a:off x="3810000" y="9525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5 - 7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42" name="Google Shape;1342;p90"/>
            <p:cNvSpPr txBox="1"/>
            <p:nvPr/>
          </p:nvSpPr>
          <p:spPr>
            <a:xfrm>
              <a:off x="6191250" y="9525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Result: </a:t>
              </a:r>
              <a:r>
                <a:rPr b="1" lang="en" sz="1400">
                  <a:solidFill>
                    <a:srgbClr val="16A3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-2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43" name="Google Shape;1343;p90"/>
          <p:cNvGrpSpPr/>
          <p:nvPr/>
        </p:nvGrpSpPr>
        <p:grpSpPr>
          <a:xfrm>
            <a:off x="476250" y="2667000"/>
            <a:ext cx="8191500" cy="571500"/>
            <a:chOff x="0" y="0"/>
            <a:chExt cx="8191500" cy="571500"/>
          </a:xfrm>
        </p:grpSpPr>
        <p:sp>
          <p:nvSpPr>
            <p:cNvPr id="1344" name="Google Shape;1344;p90"/>
            <p:cNvSpPr/>
            <p:nvPr/>
          </p:nvSpPr>
          <p:spPr>
            <a:xfrm>
              <a:off x="0" y="0"/>
              <a:ext cx="81915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90"/>
            <p:cNvSpPr/>
            <p:nvPr/>
          </p:nvSpPr>
          <p:spPr>
            <a:xfrm>
              <a:off x="142875" y="95250"/>
              <a:ext cx="3810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90"/>
            <p:cNvSpPr txBox="1"/>
            <p:nvPr/>
          </p:nvSpPr>
          <p:spPr>
            <a:xfrm>
              <a:off x="142875" y="952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*</a:t>
              </a:r>
              <a:endParaRPr b="1" sz="18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47" name="Google Shape;1347;p90"/>
            <p:cNvSpPr txBox="1"/>
            <p:nvPr/>
          </p:nvSpPr>
          <p:spPr>
            <a:xfrm>
              <a:off x="714375" y="952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Multiplication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348" name="Google Shape;1348;p90"/>
            <p:cNvSpPr txBox="1"/>
            <p:nvPr/>
          </p:nvSpPr>
          <p:spPr>
            <a:xfrm>
              <a:off x="3810000" y="9525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5 * 5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49" name="Google Shape;1349;p90"/>
            <p:cNvSpPr txBox="1"/>
            <p:nvPr/>
          </p:nvSpPr>
          <p:spPr>
            <a:xfrm>
              <a:off x="6191250" y="9525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Result: </a:t>
              </a:r>
              <a:r>
                <a:rPr b="1" lang="en" sz="1400">
                  <a:solidFill>
                    <a:srgbClr val="16A3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25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50" name="Google Shape;1350;p90"/>
          <p:cNvGrpSpPr/>
          <p:nvPr/>
        </p:nvGrpSpPr>
        <p:grpSpPr>
          <a:xfrm>
            <a:off x="476250" y="3333750"/>
            <a:ext cx="8191500" cy="571500"/>
            <a:chOff x="0" y="0"/>
            <a:chExt cx="8191500" cy="571500"/>
          </a:xfrm>
        </p:grpSpPr>
        <p:sp>
          <p:nvSpPr>
            <p:cNvPr id="1351" name="Google Shape;1351;p90"/>
            <p:cNvSpPr/>
            <p:nvPr/>
          </p:nvSpPr>
          <p:spPr>
            <a:xfrm>
              <a:off x="0" y="0"/>
              <a:ext cx="81915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90"/>
            <p:cNvSpPr/>
            <p:nvPr/>
          </p:nvSpPr>
          <p:spPr>
            <a:xfrm>
              <a:off x="142875" y="95250"/>
              <a:ext cx="3810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90"/>
            <p:cNvSpPr txBox="1"/>
            <p:nvPr/>
          </p:nvSpPr>
          <p:spPr>
            <a:xfrm>
              <a:off x="142875" y="952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</a:t>
              </a:r>
              <a:endParaRPr b="1" sz="18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54" name="Google Shape;1354;p90"/>
            <p:cNvSpPr txBox="1"/>
            <p:nvPr/>
          </p:nvSpPr>
          <p:spPr>
            <a:xfrm>
              <a:off x="714375" y="952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Division </a:t>
              </a:r>
              <a:r>
                <a:rPr b="0"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(gives quotient)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355" name="Google Shape;1355;p90"/>
            <p:cNvSpPr txBox="1"/>
            <p:nvPr/>
          </p:nvSpPr>
          <p:spPr>
            <a:xfrm>
              <a:off x="3810000" y="9525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14 / 7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56" name="Google Shape;1356;p90"/>
            <p:cNvSpPr txBox="1"/>
            <p:nvPr/>
          </p:nvSpPr>
          <p:spPr>
            <a:xfrm>
              <a:off x="6191250" y="9525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Result: </a:t>
              </a:r>
              <a:r>
                <a:rPr b="1" lang="en" sz="1400">
                  <a:solidFill>
                    <a:srgbClr val="16A3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57" name="Google Shape;1357;p90"/>
          <p:cNvGrpSpPr/>
          <p:nvPr/>
        </p:nvGrpSpPr>
        <p:grpSpPr>
          <a:xfrm>
            <a:off x="476250" y="4000500"/>
            <a:ext cx="8191500" cy="571500"/>
            <a:chOff x="0" y="0"/>
            <a:chExt cx="8191500" cy="571500"/>
          </a:xfrm>
        </p:grpSpPr>
        <p:sp>
          <p:nvSpPr>
            <p:cNvPr id="1358" name="Google Shape;1358;p90"/>
            <p:cNvSpPr/>
            <p:nvPr/>
          </p:nvSpPr>
          <p:spPr>
            <a:xfrm>
              <a:off x="0" y="0"/>
              <a:ext cx="81915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90"/>
            <p:cNvSpPr/>
            <p:nvPr/>
          </p:nvSpPr>
          <p:spPr>
            <a:xfrm>
              <a:off x="142875" y="95250"/>
              <a:ext cx="3810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90"/>
            <p:cNvSpPr txBox="1"/>
            <p:nvPr/>
          </p:nvSpPr>
          <p:spPr>
            <a:xfrm>
              <a:off x="142875" y="952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%</a:t>
              </a:r>
              <a:endParaRPr b="1" sz="18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61" name="Google Shape;1361;p90"/>
            <p:cNvSpPr txBox="1"/>
            <p:nvPr/>
          </p:nvSpPr>
          <p:spPr>
            <a:xfrm>
              <a:off x="714375" y="952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Modulus </a:t>
              </a:r>
              <a:r>
                <a:rPr b="0"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(gives remainder)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362" name="Google Shape;1362;p90"/>
            <p:cNvSpPr txBox="1"/>
            <p:nvPr/>
          </p:nvSpPr>
          <p:spPr>
            <a:xfrm>
              <a:off x="3810000" y="9525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20 % 7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63" name="Google Shape;1363;p90"/>
            <p:cNvSpPr txBox="1"/>
            <p:nvPr/>
          </p:nvSpPr>
          <p:spPr>
            <a:xfrm>
              <a:off x="6191250" y="9525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Result: </a:t>
              </a:r>
              <a:r>
                <a:rPr b="1" lang="en" sz="1400">
                  <a:solidFill>
                    <a:srgbClr val="16A3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6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91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07 / Language Fundamentals</a:t>
            </a:r>
            <a:endParaRPr b="0" sz="10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Assignment Operators</a:t>
            </a:r>
            <a:endParaRPr b="0" sz="10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369" name="Google Shape;1369;p91"/>
          <p:cNvGrpSpPr/>
          <p:nvPr/>
        </p:nvGrpSpPr>
        <p:grpSpPr>
          <a:xfrm>
            <a:off x="476250" y="1333500"/>
            <a:ext cx="8191500" cy="571500"/>
            <a:chOff x="0" y="0"/>
            <a:chExt cx="8191500" cy="571500"/>
          </a:xfrm>
        </p:grpSpPr>
        <p:sp>
          <p:nvSpPr>
            <p:cNvPr id="1370" name="Google Shape;1370;p91"/>
            <p:cNvSpPr/>
            <p:nvPr/>
          </p:nvSpPr>
          <p:spPr>
            <a:xfrm>
              <a:off x="0" y="0"/>
              <a:ext cx="81915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91"/>
            <p:cNvSpPr/>
            <p:nvPr/>
          </p:nvSpPr>
          <p:spPr>
            <a:xfrm>
              <a:off x="142875" y="95250"/>
              <a:ext cx="4764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91"/>
            <p:cNvSpPr txBox="1"/>
            <p:nvPr/>
          </p:nvSpPr>
          <p:spPr>
            <a:xfrm>
              <a:off x="142875" y="95250"/>
              <a:ext cx="476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+=</a:t>
              </a:r>
              <a:endParaRPr b="1" sz="16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73" name="Google Shape;1373;p91"/>
            <p:cNvSpPr txBox="1"/>
            <p:nvPr/>
          </p:nvSpPr>
          <p:spPr>
            <a:xfrm>
              <a:off x="809625" y="95250"/>
              <a:ext cx="2667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Addition Assignment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374" name="Google Shape;1374;p91"/>
            <p:cNvSpPr txBox="1"/>
            <p:nvPr/>
          </p:nvSpPr>
          <p:spPr>
            <a:xfrm>
              <a:off x="3619500" y="95250"/>
              <a:ext cx="2095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 = x + y</a:t>
              </a:r>
              <a:endParaRPr b="1" sz="12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75" name="Google Shape;1375;p91"/>
            <p:cNvSpPr txBox="1"/>
            <p:nvPr/>
          </p:nvSpPr>
          <p:spPr>
            <a:xfrm>
              <a:off x="5905500" y="95250"/>
              <a:ext cx="20001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Equivalent: </a:t>
              </a:r>
              <a:r>
                <a:rPr b="1" lang="en" sz="1400">
                  <a:solidFill>
                    <a:srgbClr val="16A3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 += y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76" name="Google Shape;1376;p91"/>
          <p:cNvGrpSpPr/>
          <p:nvPr/>
        </p:nvGrpSpPr>
        <p:grpSpPr>
          <a:xfrm>
            <a:off x="476250" y="2047875"/>
            <a:ext cx="8191500" cy="571500"/>
            <a:chOff x="0" y="0"/>
            <a:chExt cx="8191500" cy="571500"/>
          </a:xfrm>
        </p:grpSpPr>
        <p:sp>
          <p:nvSpPr>
            <p:cNvPr id="1377" name="Google Shape;1377;p91"/>
            <p:cNvSpPr/>
            <p:nvPr/>
          </p:nvSpPr>
          <p:spPr>
            <a:xfrm>
              <a:off x="0" y="0"/>
              <a:ext cx="81915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91"/>
            <p:cNvSpPr/>
            <p:nvPr/>
          </p:nvSpPr>
          <p:spPr>
            <a:xfrm>
              <a:off x="142875" y="95250"/>
              <a:ext cx="4764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91"/>
            <p:cNvSpPr txBox="1"/>
            <p:nvPr/>
          </p:nvSpPr>
          <p:spPr>
            <a:xfrm>
              <a:off x="142875" y="95250"/>
              <a:ext cx="476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-=</a:t>
              </a:r>
              <a:endParaRPr b="1" sz="16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80" name="Google Shape;1380;p91"/>
            <p:cNvSpPr txBox="1"/>
            <p:nvPr/>
          </p:nvSpPr>
          <p:spPr>
            <a:xfrm>
              <a:off x="809625" y="95250"/>
              <a:ext cx="2667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Subtraction Assignment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381" name="Google Shape;1381;p91"/>
            <p:cNvSpPr txBox="1"/>
            <p:nvPr/>
          </p:nvSpPr>
          <p:spPr>
            <a:xfrm>
              <a:off x="3619500" y="95250"/>
              <a:ext cx="2095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 = x - y</a:t>
              </a:r>
              <a:endParaRPr b="1" sz="12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82" name="Google Shape;1382;p91"/>
            <p:cNvSpPr txBox="1"/>
            <p:nvPr/>
          </p:nvSpPr>
          <p:spPr>
            <a:xfrm>
              <a:off x="5905500" y="95250"/>
              <a:ext cx="20001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Equivalent: </a:t>
              </a:r>
              <a:r>
                <a:rPr b="1" lang="en" sz="1400">
                  <a:solidFill>
                    <a:srgbClr val="16A3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 -= y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83" name="Google Shape;1383;p91"/>
          <p:cNvGrpSpPr/>
          <p:nvPr/>
        </p:nvGrpSpPr>
        <p:grpSpPr>
          <a:xfrm>
            <a:off x="476250" y="2762250"/>
            <a:ext cx="8191500" cy="571500"/>
            <a:chOff x="0" y="0"/>
            <a:chExt cx="8191500" cy="571500"/>
          </a:xfrm>
        </p:grpSpPr>
        <p:sp>
          <p:nvSpPr>
            <p:cNvPr id="1384" name="Google Shape;1384;p91"/>
            <p:cNvSpPr/>
            <p:nvPr/>
          </p:nvSpPr>
          <p:spPr>
            <a:xfrm>
              <a:off x="0" y="0"/>
              <a:ext cx="81915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91"/>
            <p:cNvSpPr/>
            <p:nvPr/>
          </p:nvSpPr>
          <p:spPr>
            <a:xfrm>
              <a:off x="142875" y="95250"/>
              <a:ext cx="4764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91"/>
            <p:cNvSpPr txBox="1"/>
            <p:nvPr/>
          </p:nvSpPr>
          <p:spPr>
            <a:xfrm>
              <a:off x="142875" y="95250"/>
              <a:ext cx="476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*=</a:t>
              </a:r>
              <a:endParaRPr b="1" sz="16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87" name="Google Shape;1387;p91"/>
            <p:cNvSpPr txBox="1"/>
            <p:nvPr/>
          </p:nvSpPr>
          <p:spPr>
            <a:xfrm>
              <a:off x="809625" y="95250"/>
              <a:ext cx="2667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Multiplication Assignment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388" name="Google Shape;1388;p91"/>
            <p:cNvSpPr txBox="1"/>
            <p:nvPr/>
          </p:nvSpPr>
          <p:spPr>
            <a:xfrm>
              <a:off x="3619500" y="95250"/>
              <a:ext cx="2095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 = x * y</a:t>
              </a:r>
              <a:endParaRPr b="1" sz="12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89" name="Google Shape;1389;p91"/>
            <p:cNvSpPr txBox="1"/>
            <p:nvPr/>
          </p:nvSpPr>
          <p:spPr>
            <a:xfrm>
              <a:off x="5905500" y="95250"/>
              <a:ext cx="20001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Equivalent: </a:t>
              </a:r>
              <a:r>
                <a:rPr b="1" lang="en" sz="1400">
                  <a:solidFill>
                    <a:srgbClr val="16A3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 *= y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90" name="Google Shape;1390;p91"/>
          <p:cNvGrpSpPr/>
          <p:nvPr/>
        </p:nvGrpSpPr>
        <p:grpSpPr>
          <a:xfrm>
            <a:off x="476250" y="3476625"/>
            <a:ext cx="8191500" cy="571500"/>
            <a:chOff x="0" y="0"/>
            <a:chExt cx="8191500" cy="571500"/>
          </a:xfrm>
        </p:grpSpPr>
        <p:sp>
          <p:nvSpPr>
            <p:cNvPr id="1391" name="Google Shape;1391;p91"/>
            <p:cNvSpPr/>
            <p:nvPr/>
          </p:nvSpPr>
          <p:spPr>
            <a:xfrm>
              <a:off x="0" y="0"/>
              <a:ext cx="81915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91"/>
            <p:cNvSpPr/>
            <p:nvPr/>
          </p:nvSpPr>
          <p:spPr>
            <a:xfrm>
              <a:off x="142875" y="95250"/>
              <a:ext cx="4764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91"/>
            <p:cNvSpPr txBox="1"/>
            <p:nvPr/>
          </p:nvSpPr>
          <p:spPr>
            <a:xfrm>
              <a:off x="142875" y="95250"/>
              <a:ext cx="476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/=</a:t>
              </a:r>
              <a:endParaRPr b="1" sz="16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94" name="Google Shape;1394;p91"/>
            <p:cNvSpPr txBox="1"/>
            <p:nvPr/>
          </p:nvSpPr>
          <p:spPr>
            <a:xfrm>
              <a:off x="809625" y="95250"/>
              <a:ext cx="2667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Division Assignment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395" name="Google Shape;1395;p91"/>
            <p:cNvSpPr txBox="1"/>
            <p:nvPr/>
          </p:nvSpPr>
          <p:spPr>
            <a:xfrm>
              <a:off x="3619500" y="95250"/>
              <a:ext cx="2095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 = x / y</a:t>
              </a:r>
              <a:endParaRPr b="1" sz="12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96" name="Google Shape;1396;p91"/>
            <p:cNvSpPr txBox="1"/>
            <p:nvPr/>
          </p:nvSpPr>
          <p:spPr>
            <a:xfrm>
              <a:off x="5905500" y="95250"/>
              <a:ext cx="20001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Equivalent: </a:t>
              </a:r>
              <a:r>
                <a:rPr b="1" lang="en" sz="1400">
                  <a:solidFill>
                    <a:srgbClr val="16A3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 /= y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1" name="Google Shape;1401;p92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402" name="Google Shape;1402;p92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92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07 / Language Fundamentals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Unary Operators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404" name="Google Shape;1404;p92"/>
          <p:cNvGrpSpPr/>
          <p:nvPr/>
        </p:nvGrpSpPr>
        <p:grpSpPr>
          <a:xfrm>
            <a:off x="476250" y="1333500"/>
            <a:ext cx="8191500" cy="857400"/>
            <a:chOff x="0" y="0"/>
            <a:chExt cx="8191500" cy="857400"/>
          </a:xfrm>
        </p:grpSpPr>
        <p:sp>
          <p:nvSpPr>
            <p:cNvPr id="1405" name="Google Shape;1405;p92"/>
            <p:cNvSpPr/>
            <p:nvPr/>
          </p:nvSpPr>
          <p:spPr>
            <a:xfrm>
              <a:off x="0" y="0"/>
              <a:ext cx="8191500" cy="8574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92"/>
            <p:cNvSpPr/>
            <p:nvPr/>
          </p:nvSpPr>
          <p:spPr>
            <a:xfrm>
              <a:off x="142875" y="238125"/>
              <a:ext cx="4764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92"/>
            <p:cNvSpPr txBox="1"/>
            <p:nvPr/>
          </p:nvSpPr>
          <p:spPr>
            <a:xfrm>
              <a:off x="142875" y="23812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</a:t>
              </a:r>
              <a:endParaRPr b="1" sz="18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08" name="Google Shape;1408;p92"/>
            <p:cNvSpPr txBox="1"/>
            <p:nvPr/>
          </p:nvSpPr>
          <p:spPr>
            <a:xfrm>
              <a:off x="809625" y="14287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Unary Minus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409" name="Google Shape;1409;p92"/>
            <p:cNvSpPr txBox="1"/>
            <p:nvPr/>
          </p:nvSpPr>
          <p:spPr>
            <a:xfrm>
              <a:off x="2857500" y="142875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j = -k;</a:t>
              </a:r>
              <a:endParaRPr b="1" sz="12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10" name="Google Shape;1410;p92"/>
            <p:cNvSpPr txBox="1"/>
            <p:nvPr/>
          </p:nvSpPr>
          <p:spPr>
            <a:xfrm>
              <a:off x="4762500" y="142875"/>
              <a:ext cx="3238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Negates the value of </a:t>
              </a:r>
              <a:r>
                <a:rPr b="1" lang="en" sz="11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and stores it in </a:t>
              </a:r>
              <a:r>
                <a:rPr b="1" lang="en" sz="11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11" name="Google Shape;1411;p92"/>
          <p:cNvGrpSpPr/>
          <p:nvPr/>
        </p:nvGrpSpPr>
        <p:grpSpPr>
          <a:xfrm>
            <a:off x="476250" y="2428875"/>
            <a:ext cx="8191500" cy="1047900"/>
            <a:chOff x="0" y="0"/>
            <a:chExt cx="8191500" cy="1047900"/>
          </a:xfrm>
        </p:grpSpPr>
        <p:sp>
          <p:nvSpPr>
            <p:cNvPr id="1412" name="Google Shape;1412;p92"/>
            <p:cNvSpPr/>
            <p:nvPr/>
          </p:nvSpPr>
          <p:spPr>
            <a:xfrm>
              <a:off x="0" y="0"/>
              <a:ext cx="81915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92"/>
            <p:cNvSpPr/>
            <p:nvPr/>
          </p:nvSpPr>
          <p:spPr>
            <a:xfrm>
              <a:off x="142875" y="333375"/>
              <a:ext cx="4764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92"/>
            <p:cNvSpPr txBox="1"/>
            <p:nvPr/>
          </p:nvSpPr>
          <p:spPr>
            <a:xfrm>
              <a:off x="142875" y="3333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++</a:t>
              </a:r>
              <a:endParaRPr b="1" sz="18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15" name="Google Shape;1415;p92"/>
            <p:cNvSpPr txBox="1"/>
            <p:nvPr/>
          </p:nvSpPr>
          <p:spPr>
            <a:xfrm>
              <a:off x="809625" y="142875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Increment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416" name="Google Shape;1416;p92"/>
            <p:cNvSpPr txBox="1"/>
            <p:nvPr/>
          </p:nvSpPr>
          <p:spPr>
            <a:xfrm>
              <a:off x="2857500" y="142875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b++;</a:t>
              </a:r>
              <a:endParaRPr b="1" sz="12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++b;</a:t>
              </a:r>
              <a:endParaRPr b="1" sz="12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17" name="Google Shape;1417;p92"/>
            <p:cNvSpPr txBox="1"/>
            <p:nvPr/>
          </p:nvSpPr>
          <p:spPr>
            <a:xfrm>
              <a:off x="4762500" y="142875"/>
              <a:ext cx="3238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Post-increment: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Increments </a:t>
              </a:r>
              <a:r>
                <a:rPr b="1" lang="en" sz="11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after its value is evaluated.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Pre-increment: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Increments </a:t>
              </a:r>
              <a:r>
                <a:rPr b="1" lang="en" sz="11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before its value is evaluated.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18" name="Google Shape;1418;p92"/>
          <p:cNvGrpSpPr/>
          <p:nvPr/>
        </p:nvGrpSpPr>
        <p:grpSpPr>
          <a:xfrm>
            <a:off x="476250" y="3714750"/>
            <a:ext cx="8191500" cy="1047900"/>
            <a:chOff x="0" y="0"/>
            <a:chExt cx="8191500" cy="1047900"/>
          </a:xfrm>
        </p:grpSpPr>
        <p:sp>
          <p:nvSpPr>
            <p:cNvPr id="1419" name="Google Shape;1419;p92"/>
            <p:cNvSpPr/>
            <p:nvPr/>
          </p:nvSpPr>
          <p:spPr>
            <a:xfrm>
              <a:off x="0" y="0"/>
              <a:ext cx="81915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92"/>
            <p:cNvSpPr/>
            <p:nvPr/>
          </p:nvSpPr>
          <p:spPr>
            <a:xfrm>
              <a:off x="142875" y="333375"/>
              <a:ext cx="4764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92"/>
            <p:cNvSpPr txBox="1"/>
            <p:nvPr/>
          </p:nvSpPr>
          <p:spPr>
            <a:xfrm>
              <a:off x="142875" y="3333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--</a:t>
              </a:r>
              <a:endParaRPr b="1" sz="18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22" name="Google Shape;1422;p92"/>
            <p:cNvSpPr txBox="1"/>
            <p:nvPr/>
          </p:nvSpPr>
          <p:spPr>
            <a:xfrm>
              <a:off x="809625" y="142875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Decrement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423" name="Google Shape;1423;p92"/>
            <p:cNvSpPr txBox="1"/>
            <p:nvPr/>
          </p:nvSpPr>
          <p:spPr>
            <a:xfrm>
              <a:off x="2857500" y="142875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b--;</a:t>
              </a:r>
              <a:endParaRPr b="1" sz="12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--b;</a:t>
              </a:r>
              <a:endParaRPr b="1" sz="12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24" name="Google Shape;1424;p92"/>
            <p:cNvSpPr txBox="1"/>
            <p:nvPr/>
          </p:nvSpPr>
          <p:spPr>
            <a:xfrm>
              <a:off x="4762500" y="142875"/>
              <a:ext cx="3238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Post-decrement: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Decrements </a:t>
              </a:r>
              <a:r>
                <a:rPr b="1" lang="en" sz="11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after its value is evaluated.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Pre-decrement: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Decrements </a:t>
              </a:r>
              <a:r>
                <a:rPr b="1" lang="en" sz="11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before its value is evaluated.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93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07 / Language Fundamentals</a:t>
            </a:r>
            <a:endParaRPr b="0" sz="10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Relational Operators</a:t>
            </a:r>
            <a:endParaRPr b="0" sz="10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430" name="Google Shape;1430;p93"/>
          <p:cNvGrpSpPr/>
          <p:nvPr/>
        </p:nvGrpSpPr>
        <p:grpSpPr>
          <a:xfrm>
            <a:off x="476250" y="1238250"/>
            <a:ext cx="8191500" cy="590700"/>
            <a:chOff x="0" y="0"/>
            <a:chExt cx="8191500" cy="590700"/>
          </a:xfrm>
        </p:grpSpPr>
        <p:sp>
          <p:nvSpPr>
            <p:cNvPr id="1431" name="Google Shape;1431;p93"/>
            <p:cNvSpPr/>
            <p:nvPr/>
          </p:nvSpPr>
          <p:spPr>
            <a:xfrm>
              <a:off x="0" y="0"/>
              <a:ext cx="8191500" cy="590700"/>
            </a:xfrm>
            <a:prstGeom prst="roundRect">
              <a:avLst>
                <a:gd fmla="val 1290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93"/>
            <p:cNvSpPr/>
            <p:nvPr/>
          </p:nvSpPr>
          <p:spPr>
            <a:xfrm>
              <a:off x="142875" y="104775"/>
              <a:ext cx="4764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93"/>
            <p:cNvSpPr txBox="1"/>
            <p:nvPr/>
          </p:nvSpPr>
          <p:spPr>
            <a:xfrm>
              <a:off x="142875" y="1047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==</a:t>
              </a:r>
              <a:endParaRPr b="1" sz="16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34" name="Google Shape;1434;p93"/>
            <p:cNvSpPr txBox="1"/>
            <p:nvPr/>
          </p:nvSpPr>
          <p:spPr>
            <a:xfrm>
              <a:off x="809625" y="104775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Equal to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435" name="Google Shape;1435;p93"/>
            <p:cNvSpPr txBox="1"/>
            <p:nvPr/>
          </p:nvSpPr>
          <p:spPr>
            <a:xfrm>
              <a:off x="3619500" y="104775"/>
              <a:ext cx="428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Example: </a:t>
              </a:r>
              <a:r>
                <a:rPr b="1" lang="en" sz="1200">
                  <a:solidFill>
                    <a:srgbClr val="16A3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 == 3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36" name="Google Shape;1436;p93"/>
          <p:cNvGrpSpPr/>
          <p:nvPr/>
        </p:nvGrpSpPr>
        <p:grpSpPr>
          <a:xfrm>
            <a:off x="476250" y="1924050"/>
            <a:ext cx="8191500" cy="590700"/>
            <a:chOff x="0" y="0"/>
            <a:chExt cx="8191500" cy="590700"/>
          </a:xfrm>
        </p:grpSpPr>
        <p:sp>
          <p:nvSpPr>
            <p:cNvPr id="1437" name="Google Shape;1437;p93"/>
            <p:cNvSpPr/>
            <p:nvPr/>
          </p:nvSpPr>
          <p:spPr>
            <a:xfrm>
              <a:off x="0" y="0"/>
              <a:ext cx="8191500" cy="590700"/>
            </a:xfrm>
            <a:prstGeom prst="roundRect">
              <a:avLst>
                <a:gd fmla="val 1290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93"/>
            <p:cNvSpPr/>
            <p:nvPr/>
          </p:nvSpPr>
          <p:spPr>
            <a:xfrm>
              <a:off x="142875" y="104775"/>
              <a:ext cx="4764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93"/>
            <p:cNvSpPr txBox="1"/>
            <p:nvPr/>
          </p:nvSpPr>
          <p:spPr>
            <a:xfrm>
              <a:off x="142875" y="1047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!=</a:t>
              </a:r>
              <a:endParaRPr b="1" sz="16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40" name="Google Shape;1440;p93"/>
            <p:cNvSpPr txBox="1"/>
            <p:nvPr/>
          </p:nvSpPr>
          <p:spPr>
            <a:xfrm>
              <a:off x="809625" y="104775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Not equal to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441" name="Google Shape;1441;p93"/>
            <p:cNvSpPr txBox="1"/>
            <p:nvPr/>
          </p:nvSpPr>
          <p:spPr>
            <a:xfrm>
              <a:off x="3619500" y="104775"/>
              <a:ext cx="428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Example: </a:t>
              </a:r>
              <a:r>
                <a:rPr b="1" lang="en" sz="1200">
                  <a:solidFill>
                    <a:srgbClr val="16A3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 != 3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2" name="Google Shape;1442;p93"/>
          <p:cNvGrpSpPr/>
          <p:nvPr/>
        </p:nvGrpSpPr>
        <p:grpSpPr>
          <a:xfrm>
            <a:off x="476250" y="2609850"/>
            <a:ext cx="8191500" cy="590700"/>
            <a:chOff x="0" y="0"/>
            <a:chExt cx="8191500" cy="590700"/>
          </a:xfrm>
        </p:grpSpPr>
        <p:sp>
          <p:nvSpPr>
            <p:cNvPr id="1443" name="Google Shape;1443;p93"/>
            <p:cNvSpPr/>
            <p:nvPr/>
          </p:nvSpPr>
          <p:spPr>
            <a:xfrm>
              <a:off x="0" y="0"/>
              <a:ext cx="8191500" cy="590700"/>
            </a:xfrm>
            <a:prstGeom prst="roundRect">
              <a:avLst>
                <a:gd fmla="val 1290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93"/>
            <p:cNvSpPr/>
            <p:nvPr/>
          </p:nvSpPr>
          <p:spPr>
            <a:xfrm>
              <a:off x="142875" y="104775"/>
              <a:ext cx="4764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93"/>
            <p:cNvSpPr txBox="1"/>
            <p:nvPr/>
          </p:nvSpPr>
          <p:spPr>
            <a:xfrm>
              <a:off x="142875" y="1047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endParaRPr b="1" sz="16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46" name="Google Shape;1446;p93"/>
            <p:cNvSpPr txBox="1"/>
            <p:nvPr/>
          </p:nvSpPr>
          <p:spPr>
            <a:xfrm>
              <a:off x="809625" y="104775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Less than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447" name="Google Shape;1447;p93"/>
            <p:cNvSpPr txBox="1"/>
            <p:nvPr/>
          </p:nvSpPr>
          <p:spPr>
            <a:xfrm>
              <a:off x="3619500" y="104775"/>
              <a:ext cx="428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Example: </a:t>
              </a:r>
              <a:r>
                <a:rPr b="1" lang="en" sz="1200">
                  <a:solidFill>
                    <a:srgbClr val="16A3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 &lt; 3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8" name="Google Shape;1448;p93"/>
          <p:cNvGrpSpPr/>
          <p:nvPr/>
        </p:nvGrpSpPr>
        <p:grpSpPr>
          <a:xfrm>
            <a:off x="476250" y="3295650"/>
            <a:ext cx="8191500" cy="590700"/>
            <a:chOff x="0" y="0"/>
            <a:chExt cx="8191500" cy="590700"/>
          </a:xfrm>
        </p:grpSpPr>
        <p:sp>
          <p:nvSpPr>
            <p:cNvPr id="1449" name="Google Shape;1449;p93"/>
            <p:cNvSpPr/>
            <p:nvPr/>
          </p:nvSpPr>
          <p:spPr>
            <a:xfrm>
              <a:off x="0" y="0"/>
              <a:ext cx="8191500" cy="590700"/>
            </a:xfrm>
            <a:prstGeom prst="roundRect">
              <a:avLst>
                <a:gd fmla="val 1290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93"/>
            <p:cNvSpPr/>
            <p:nvPr/>
          </p:nvSpPr>
          <p:spPr>
            <a:xfrm>
              <a:off x="142875" y="104775"/>
              <a:ext cx="4764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93"/>
            <p:cNvSpPr txBox="1"/>
            <p:nvPr/>
          </p:nvSpPr>
          <p:spPr>
            <a:xfrm>
              <a:off x="142875" y="1047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</a:t>
              </a:r>
              <a:endParaRPr b="1" sz="16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52" name="Google Shape;1452;p93"/>
            <p:cNvSpPr txBox="1"/>
            <p:nvPr/>
          </p:nvSpPr>
          <p:spPr>
            <a:xfrm>
              <a:off x="809625" y="104775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Greater than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453" name="Google Shape;1453;p93"/>
            <p:cNvSpPr txBox="1"/>
            <p:nvPr/>
          </p:nvSpPr>
          <p:spPr>
            <a:xfrm>
              <a:off x="3619500" y="104775"/>
              <a:ext cx="428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Example: </a:t>
              </a:r>
              <a:r>
                <a:rPr b="1" lang="en" sz="1200">
                  <a:solidFill>
                    <a:srgbClr val="16A3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 &gt; 3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54" name="Google Shape;1454;p93"/>
          <p:cNvGrpSpPr/>
          <p:nvPr/>
        </p:nvGrpSpPr>
        <p:grpSpPr>
          <a:xfrm>
            <a:off x="476250" y="3981450"/>
            <a:ext cx="8191500" cy="590700"/>
            <a:chOff x="0" y="0"/>
            <a:chExt cx="8191500" cy="590700"/>
          </a:xfrm>
        </p:grpSpPr>
        <p:sp>
          <p:nvSpPr>
            <p:cNvPr id="1455" name="Google Shape;1455;p93"/>
            <p:cNvSpPr/>
            <p:nvPr/>
          </p:nvSpPr>
          <p:spPr>
            <a:xfrm>
              <a:off x="0" y="0"/>
              <a:ext cx="8191500" cy="590700"/>
            </a:xfrm>
            <a:prstGeom prst="roundRect">
              <a:avLst>
                <a:gd fmla="val 1290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93"/>
            <p:cNvSpPr/>
            <p:nvPr/>
          </p:nvSpPr>
          <p:spPr>
            <a:xfrm>
              <a:off x="142875" y="104775"/>
              <a:ext cx="4764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93"/>
            <p:cNvSpPr txBox="1"/>
            <p:nvPr/>
          </p:nvSpPr>
          <p:spPr>
            <a:xfrm>
              <a:off x="142875" y="1047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&lt;=</a:t>
              </a:r>
              <a:endParaRPr b="1" sz="16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58" name="Google Shape;1458;p93"/>
            <p:cNvSpPr txBox="1"/>
            <p:nvPr/>
          </p:nvSpPr>
          <p:spPr>
            <a:xfrm>
              <a:off x="809625" y="104775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Less than or equal to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459" name="Google Shape;1459;p93"/>
            <p:cNvSpPr txBox="1"/>
            <p:nvPr/>
          </p:nvSpPr>
          <p:spPr>
            <a:xfrm>
              <a:off x="3619500" y="104775"/>
              <a:ext cx="428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Example: </a:t>
              </a:r>
              <a:r>
                <a:rPr b="1" lang="en" sz="1200">
                  <a:solidFill>
                    <a:srgbClr val="16A3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 &lt;= 3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94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07 / Language Fundamentals</a:t>
            </a:r>
            <a:endParaRPr b="0" sz="10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Logical / Short Circuit Operators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65" name="Google Shape;1465;p94"/>
          <p:cNvGrpSpPr/>
          <p:nvPr/>
        </p:nvGrpSpPr>
        <p:grpSpPr>
          <a:xfrm>
            <a:off x="476250" y="1333500"/>
            <a:ext cx="8191500" cy="1047900"/>
            <a:chOff x="0" y="0"/>
            <a:chExt cx="8191500" cy="1047900"/>
          </a:xfrm>
        </p:grpSpPr>
        <p:sp>
          <p:nvSpPr>
            <p:cNvPr id="1466" name="Google Shape;1466;p94"/>
            <p:cNvSpPr/>
            <p:nvPr/>
          </p:nvSpPr>
          <p:spPr>
            <a:xfrm>
              <a:off x="0" y="0"/>
              <a:ext cx="81915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94"/>
            <p:cNvSpPr/>
            <p:nvPr/>
          </p:nvSpPr>
          <p:spPr>
            <a:xfrm>
              <a:off x="142875" y="333375"/>
              <a:ext cx="4764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94"/>
            <p:cNvSpPr txBox="1"/>
            <p:nvPr/>
          </p:nvSpPr>
          <p:spPr>
            <a:xfrm>
              <a:off x="142875" y="3333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&amp;&amp;</a:t>
              </a:r>
              <a:endParaRPr b="1" sz="16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69" name="Google Shape;1469;p94"/>
            <p:cNvSpPr txBox="1"/>
            <p:nvPr/>
          </p:nvSpPr>
          <p:spPr>
            <a:xfrm>
              <a:off x="809625" y="142875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And Operator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470" name="Google Shape;1470;p94"/>
            <p:cNvSpPr txBox="1"/>
            <p:nvPr/>
          </p:nvSpPr>
          <p:spPr>
            <a:xfrm>
              <a:off x="2857500" y="142875"/>
              <a:ext cx="228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if(a &gt; b &amp;&amp; a &gt; c)</a:t>
              </a:r>
              <a:endParaRPr b="1" sz="11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System.out.print("yes");</a:t>
              </a:r>
              <a:endParaRPr b="1" sz="11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71" name="Google Shape;1471;p94"/>
            <p:cNvSpPr txBox="1"/>
            <p:nvPr/>
          </p:nvSpPr>
          <p:spPr>
            <a:xfrm>
              <a:off x="5334000" y="142875"/>
              <a:ext cx="2714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If a value is greater than b and c then only "yes" is displayed.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72" name="Google Shape;1472;p94"/>
          <p:cNvGrpSpPr/>
          <p:nvPr/>
        </p:nvGrpSpPr>
        <p:grpSpPr>
          <a:xfrm>
            <a:off x="476250" y="2476500"/>
            <a:ext cx="8191500" cy="1047900"/>
            <a:chOff x="0" y="0"/>
            <a:chExt cx="8191500" cy="1047900"/>
          </a:xfrm>
        </p:grpSpPr>
        <p:sp>
          <p:nvSpPr>
            <p:cNvPr id="1473" name="Google Shape;1473;p94"/>
            <p:cNvSpPr/>
            <p:nvPr/>
          </p:nvSpPr>
          <p:spPr>
            <a:xfrm>
              <a:off x="0" y="0"/>
              <a:ext cx="81915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94"/>
            <p:cNvSpPr/>
            <p:nvPr/>
          </p:nvSpPr>
          <p:spPr>
            <a:xfrm>
              <a:off x="142875" y="333375"/>
              <a:ext cx="4764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94"/>
            <p:cNvSpPr txBox="1"/>
            <p:nvPr/>
          </p:nvSpPr>
          <p:spPr>
            <a:xfrm>
              <a:off x="142875" y="3333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||</a:t>
              </a:r>
              <a:endParaRPr b="1" sz="16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76" name="Google Shape;1476;p94"/>
            <p:cNvSpPr txBox="1"/>
            <p:nvPr/>
          </p:nvSpPr>
          <p:spPr>
            <a:xfrm>
              <a:off x="809625" y="142875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Or Operator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477" name="Google Shape;1477;p94"/>
            <p:cNvSpPr txBox="1"/>
            <p:nvPr/>
          </p:nvSpPr>
          <p:spPr>
            <a:xfrm>
              <a:off x="2857500" y="142875"/>
              <a:ext cx="228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if(a == 1 || b == 1)</a:t>
              </a:r>
              <a:endParaRPr b="1" sz="11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System.out.print("yes");</a:t>
              </a:r>
              <a:endParaRPr b="1" sz="11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78" name="Google Shape;1478;p94"/>
            <p:cNvSpPr txBox="1"/>
            <p:nvPr/>
          </p:nvSpPr>
          <p:spPr>
            <a:xfrm>
              <a:off x="5334000" y="142875"/>
              <a:ext cx="2714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If either a value is 1 or b value is 1 then "yes" is displayed.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79" name="Google Shape;1479;p94"/>
          <p:cNvGrpSpPr/>
          <p:nvPr/>
        </p:nvGrpSpPr>
        <p:grpSpPr>
          <a:xfrm>
            <a:off x="476250" y="3619500"/>
            <a:ext cx="8191500" cy="1047900"/>
            <a:chOff x="0" y="0"/>
            <a:chExt cx="8191500" cy="1047900"/>
          </a:xfrm>
        </p:grpSpPr>
        <p:sp>
          <p:nvSpPr>
            <p:cNvPr id="1480" name="Google Shape;1480;p94"/>
            <p:cNvSpPr/>
            <p:nvPr/>
          </p:nvSpPr>
          <p:spPr>
            <a:xfrm>
              <a:off x="0" y="0"/>
              <a:ext cx="81915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94"/>
            <p:cNvSpPr/>
            <p:nvPr/>
          </p:nvSpPr>
          <p:spPr>
            <a:xfrm>
              <a:off x="142875" y="333375"/>
              <a:ext cx="4764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94"/>
            <p:cNvSpPr txBox="1"/>
            <p:nvPr/>
          </p:nvSpPr>
          <p:spPr>
            <a:xfrm>
              <a:off x="142875" y="3333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!</a:t>
              </a:r>
              <a:endParaRPr b="1" sz="16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83" name="Google Shape;1483;p94"/>
            <p:cNvSpPr txBox="1"/>
            <p:nvPr/>
          </p:nvSpPr>
          <p:spPr>
            <a:xfrm>
              <a:off x="809625" y="142875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Not Operator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484" name="Google Shape;1484;p94"/>
            <p:cNvSpPr txBox="1"/>
            <p:nvPr/>
          </p:nvSpPr>
          <p:spPr>
            <a:xfrm>
              <a:off x="2857500" y="142875"/>
              <a:ext cx="228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if(!(a == 0))</a:t>
              </a:r>
              <a:endParaRPr b="1" sz="11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System.out.print("yes");</a:t>
              </a:r>
              <a:endParaRPr b="1" sz="11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85" name="Google Shape;1485;p94"/>
            <p:cNvSpPr txBox="1"/>
            <p:nvPr/>
          </p:nvSpPr>
          <p:spPr>
            <a:xfrm>
              <a:off x="5334000" y="142875"/>
              <a:ext cx="2714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If a value is not equal to zero then only "yes" is displayed.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0" name="Google Shape;1490;p95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491" name="Google Shape;1491;p95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95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07 / Language Fundamentals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Bitwise Operators</a:t>
              </a:r>
              <a:endParaRPr b="1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93" name="Google Shape;1493;p95"/>
          <p:cNvGrpSpPr/>
          <p:nvPr/>
        </p:nvGrpSpPr>
        <p:grpSpPr>
          <a:xfrm>
            <a:off x="476250" y="1238250"/>
            <a:ext cx="8191500" cy="419100"/>
            <a:chOff x="0" y="0"/>
            <a:chExt cx="8191500" cy="419100"/>
          </a:xfrm>
        </p:grpSpPr>
        <p:sp>
          <p:nvSpPr>
            <p:cNvPr id="1494" name="Google Shape;1494;p95"/>
            <p:cNvSpPr/>
            <p:nvPr/>
          </p:nvSpPr>
          <p:spPr>
            <a:xfrm>
              <a:off x="0" y="0"/>
              <a:ext cx="8191500" cy="419100"/>
            </a:xfrm>
            <a:prstGeom prst="roundRect">
              <a:avLst>
                <a:gd fmla="val 1363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95"/>
            <p:cNvSpPr/>
            <p:nvPr/>
          </p:nvSpPr>
          <p:spPr>
            <a:xfrm>
              <a:off x="95250" y="57150"/>
              <a:ext cx="457200" cy="304800"/>
            </a:xfrm>
            <a:prstGeom prst="roundRect">
              <a:avLst>
                <a:gd fmla="val 125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95"/>
            <p:cNvSpPr txBox="1"/>
            <p:nvPr/>
          </p:nvSpPr>
          <p:spPr>
            <a:xfrm>
              <a:off x="95250" y="5715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&amp;</a:t>
              </a:r>
              <a:endParaRPr b="1" sz="14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97" name="Google Shape;1497;p95"/>
            <p:cNvSpPr txBox="1"/>
            <p:nvPr/>
          </p:nvSpPr>
          <p:spPr>
            <a:xfrm>
              <a:off x="714375" y="57150"/>
              <a:ext cx="1714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Bitwise AND</a:t>
              </a:r>
              <a:endParaRPr b="0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498" name="Google Shape;1498;p95"/>
            <p:cNvSpPr txBox="1"/>
            <p:nvPr/>
          </p:nvSpPr>
          <p:spPr>
            <a:xfrm>
              <a:off x="2571750" y="57150"/>
              <a:ext cx="5429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Multiplies the individual bits of operands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99" name="Google Shape;1499;p95"/>
          <p:cNvGrpSpPr/>
          <p:nvPr/>
        </p:nvGrpSpPr>
        <p:grpSpPr>
          <a:xfrm>
            <a:off x="476250" y="1733550"/>
            <a:ext cx="8191500" cy="419100"/>
            <a:chOff x="0" y="0"/>
            <a:chExt cx="8191500" cy="419100"/>
          </a:xfrm>
        </p:grpSpPr>
        <p:sp>
          <p:nvSpPr>
            <p:cNvPr id="1500" name="Google Shape;1500;p95"/>
            <p:cNvSpPr/>
            <p:nvPr/>
          </p:nvSpPr>
          <p:spPr>
            <a:xfrm>
              <a:off x="0" y="0"/>
              <a:ext cx="8191500" cy="419100"/>
            </a:xfrm>
            <a:prstGeom prst="roundRect">
              <a:avLst>
                <a:gd fmla="val 1363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95"/>
            <p:cNvSpPr/>
            <p:nvPr/>
          </p:nvSpPr>
          <p:spPr>
            <a:xfrm>
              <a:off x="95250" y="57150"/>
              <a:ext cx="457200" cy="304800"/>
            </a:xfrm>
            <a:prstGeom prst="roundRect">
              <a:avLst>
                <a:gd fmla="val 125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95"/>
            <p:cNvSpPr txBox="1"/>
            <p:nvPr/>
          </p:nvSpPr>
          <p:spPr>
            <a:xfrm>
              <a:off x="95250" y="5715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|</a:t>
              </a:r>
              <a:endParaRPr b="1" sz="14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03" name="Google Shape;1503;p95"/>
            <p:cNvSpPr txBox="1"/>
            <p:nvPr/>
          </p:nvSpPr>
          <p:spPr>
            <a:xfrm>
              <a:off x="714375" y="57150"/>
              <a:ext cx="1714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Bitwise OR</a:t>
              </a:r>
              <a:endParaRPr b="0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504" name="Google Shape;1504;p95"/>
            <p:cNvSpPr txBox="1"/>
            <p:nvPr/>
          </p:nvSpPr>
          <p:spPr>
            <a:xfrm>
              <a:off x="2571750" y="57150"/>
              <a:ext cx="5429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Adds the individual bits of operands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05" name="Google Shape;1505;p95"/>
          <p:cNvGrpSpPr/>
          <p:nvPr/>
        </p:nvGrpSpPr>
        <p:grpSpPr>
          <a:xfrm>
            <a:off x="476250" y="2228850"/>
            <a:ext cx="8191500" cy="419100"/>
            <a:chOff x="0" y="0"/>
            <a:chExt cx="8191500" cy="419100"/>
          </a:xfrm>
        </p:grpSpPr>
        <p:sp>
          <p:nvSpPr>
            <p:cNvPr id="1506" name="Google Shape;1506;p95"/>
            <p:cNvSpPr/>
            <p:nvPr/>
          </p:nvSpPr>
          <p:spPr>
            <a:xfrm>
              <a:off x="0" y="0"/>
              <a:ext cx="8191500" cy="419100"/>
            </a:xfrm>
            <a:prstGeom prst="roundRect">
              <a:avLst>
                <a:gd fmla="val 1363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95"/>
            <p:cNvSpPr/>
            <p:nvPr/>
          </p:nvSpPr>
          <p:spPr>
            <a:xfrm>
              <a:off x="95250" y="57150"/>
              <a:ext cx="457200" cy="304800"/>
            </a:xfrm>
            <a:prstGeom prst="roundRect">
              <a:avLst>
                <a:gd fmla="val 125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95"/>
            <p:cNvSpPr txBox="1"/>
            <p:nvPr/>
          </p:nvSpPr>
          <p:spPr>
            <a:xfrm>
              <a:off x="95250" y="5715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^</a:t>
              </a:r>
              <a:endParaRPr b="1" sz="14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09" name="Google Shape;1509;p95"/>
            <p:cNvSpPr txBox="1"/>
            <p:nvPr/>
          </p:nvSpPr>
          <p:spPr>
            <a:xfrm>
              <a:off x="714375" y="57150"/>
              <a:ext cx="1714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Bitwise XOR</a:t>
              </a:r>
              <a:endParaRPr b="0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510" name="Google Shape;1510;p95"/>
            <p:cNvSpPr txBox="1"/>
            <p:nvPr/>
          </p:nvSpPr>
          <p:spPr>
            <a:xfrm>
              <a:off x="2571750" y="57150"/>
              <a:ext cx="5429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Performs Exclusive OR operation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11" name="Google Shape;1511;p95"/>
          <p:cNvGrpSpPr/>
          <p:nvPr/>
        </p:nvGrpSpPr>
        <p:grpSpPr>
          <a:xfrm>
            <a:off x="476250" y="2724150"/>
            <a:ext cx="8191500" cy="419100"/>
            <a:chOff x="0" y="0"/>
            <a:chExt cx="8191500" cy="419100"/>
          </a:xfrm>
        </p:grpSpPr>
        <p:sp>
          <p:nvSpPr>
            <p:cNvPr id="1512" name="Google Shape;1512;p95"/>
            <p:cNvSpPr/>
            <p:nvPr/>
          </p:nvSpPr>
          <p:spPr>
            <a:xfrm>
              <a:off x="0" y="0"/>
              <a:ext cx="8191500" cy="419100"/>
            </a:xfrm>
            <a:prstGeom prst="roundRect">
              <a:avLst>
                <a:gd fmla="val 1363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95"/>
            <p:cNvSpPr/>
            <p:nvPr/>
          </p:nvSpPr>
          <p:spPr>
            <a:xfrm>
              <a:off x="95250" y="57150"/>
              <a:ext cx="457200" cy="304800"/>
            </a:xfrm>
            <a:prstGeom prst="roundRect">
              <a:avLst>
                <a:gd fmla="val 125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95"/>
            <p:cNvSpPr txBox="1"/>
            <p:nvPr/>
          </p:nvSpPr>
          <p:spPr>
            <a:xfrm>
              <a:off x="95250" y="5715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&lt;&lt;</a:t>
              </a:r>
              <a:endParaRPr b="1" sz="14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15" name="Google Shape;1515;p95"/>
            <p:cNvSpPr txBox="1"/>
            <p:nvPr/>
          </p:nvSpPr>
          <p:spPr>
            <a:xfrm>
              <a:off x="714375" y="57150"/>
              <a:ext cx="1714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Left shift</a:t>
              </a:r>
              <a:endParaRPr b="0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516" name="Google Shape;1516;p95"/>
            <p:cNvSpPr txBox="1"/>
            <p:nvPr/>
          </p:nvSpPr>
          <p:spPr>
            <a:xfrm>
              <a:off x="2571750" y="57150"/>
              <a:ext cx="5429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Shifts the bits of the number left a specified number of positions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17" name="Google Shape;1517;p95"/>
          <p:cNvGrpSpPr/>
          <p:nvPr/>
        </p:nvGrpSpPr>
        <p:grpSpPr>
          <a:xfrm>
            <a:off x="476250" y="3219450"/>
            <a:ext cx="8191500" cy="419100"/>
            <a:chOff x="0" y="0"/>
            <a:chExt cx="8191500" cy="419100"/>
          </a:xfrm>
        </p:grpSpPr>
        <p:sp>
          <p:nvSpPr>
            <p:cNvPr id="1518" name="Google Shape;1518;p95"/>
            <p:cNvSpPr/>
            <p:nvPr/>
          </p:nvSpPr>
          <p:spPr>
            <a:xfrm>
              <a:off x="0" y="0"/>
              <a:ext cx="8191500" cy="419100"/>
            </a:xfrm>
            <a:prstGeom prst="roundRect">
              <a:avLst>
                <a:gd fmla="val 1363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95"/>
            <p:cNvSpPr/>
            <p:nvPr/>
          </p:nvSpPr>
          <p:spPr>
            <a:xfrm>
              <a:off x="95250" y="57150"/>
              <a:ext cx="457200" cy="304800"/>
            </a:xfrm>
            <a:prstGeom prst="roundRect">
              <a:avLst>
                <a:gd fmla="val 125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95"/>
            <p:cNvSpPr txBox="1"/>
            <p:nvPr/>
          </p:nvSpPr>
          <p:spPr>
            <a:xfrm>
              <a:off x="95250" y="5715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&gt;&gt;</a:t>
              </a:r>
              <a:endParaRPr b="1" sz="14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21" name="Google Shape;1521;p95"/>
            <p:cNvSpPr txBox="1"/>
            <p:nvPr/>
          </p:nvSpPr>
          <p:spPr>
            <a:xfrm>
              <a:off x="714375" y="57150"/>
              <a:ext cx="1714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Right shift</a:t>
              </a:r>
              <a:endParaRPr b="0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522" name="Google Shape;1522;p95"/>
            <p:cNvSpPr txBox="1"/>
            <p:nvPr/>
          </p:nvSpPr>
          <p:spPr>
            <a:xfrm>
              <a:off x="2571750" y="57150"/>
              <a:ext cx="5429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Shifts the bits right a specified number of positions and preserves the sign bit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23" name="Google Shape;1523;p95"/>
          <p:cNvGrpSpPr/>
          <p:nvPr/>
        </p:nvGrpSpPr>
        <p:grpSpPr>
          <a:xfrm>
            <a:off x="476250" y="3714750"/>
            <a:ext cx="8191500" cy="419100"/>
            <a:chOff x="0" y="0"/>
            <a:chExt cx="8191500" cy="419100"/>
          </a:xfrm>
        </p:grpSpPr>
        <p:sp>
          <p:nvSpPr>
            <p:cNvPr id="1524" name="Google Shape;1524;p95"/>
            <p:cNvSpPr/>
            <p:nvPr/>
          </p:nvSpPr>
          <p:spPr>
            <a:xfrm>
              <a:off x="0" y="0"/>
              <a:ext cx="8191500" cy="419100"/>
            </a:xfrm>
            <a:prstGeom prst="roundRect">
              <a:avLst>
                <a:gd fmla="val 1363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95"/>
            <p:cNvSpPr/>
            <p:nvPr/>
          </p:nvSpPr>
          <p:spPr>
            <a:xfrm>
              <a:off x="95250" y="57150"/>
              <a:ext cx="457200" cy="304800"/>
            </a:xfrm>
            <a:prstGeom prst="roundRect">
              <a:avLst>
                <a:gd fmla="val 125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95"/>
            <p:cNvSpPr txBox="1"/>
            <p:nvPr/>
          </p:nvSpPr>
          <p:spPr>
            <a:xfrm>
              <a:off x="95250" y="5715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&gt;&gt;&gt;</a:t>
              </a:r>
              <a:endParaRPr b="1" sz="12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27" name="Google Shape;1527;p95"/>
            <p:cNvSpPr txBox="1"/>
            <p:nvPr/>
          </p:nvSpPr>
          <p:spPr>
            <a:xfrm>
              <a:off x="714375" y="57150"/>
              <a:ext cx="1714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Zero fill right shift</a:t>
              </a:r>
              <a:endParaRPr b="0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528" name="Google Shape;1528;p95"/>
            <p:cNvSpPr txBox="1"/>
            <p:nvPr/>
          </p:nvSpPr>
          <p:spPr>
            <a:xfrm>
              <a:off x="2571750" y="57150"/>
              <a:ext cx="5429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Shifts the bits right and stores 0 (Zero) in the sign bit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29" name="Google Shape;1529;p95"/>
          <p:cNvGrpSpPr/>
          <p:nvPr/>
        </p:nvGrpSpPr>
        <p:grpSpPr>
          <a:xfrm>
            <a:off x="476250" y="4210050"/>
            <a:ext cx="8191500" cy="419100"/>
            <a:chOff x="0" y="0"/>
            <a:chExt cx="8191500" cy="419100"/>
          </a:xfrm>
        </p:grpSpPr>
        <p:sp>
          <p:nvSpPr>
            <p:cNvPr id="1530" name="Google Shape;1530;p95"/>
            <p:cNvSpPr/>
            <p:nvPr/>
          </p:nvSpPr>
          <p:spPr>
            <a:xfrm>
              <a:off x="0" y="0"/>
              <a:ext cx="8191500" cy="419100"/>
            </a:xfrm>
            <a:prstGeom prst="roundRect">
              <a:avLst>
                <a:gd fmla="val 1363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95"/>
            <p:cNvSpPr/>
            <p:nvPr/>
          </p:nvSpPr>
          <p:spPr>
            <a:xfrm>
              <a:off x="95250" y="57150"/>
              <a:ext cx="457200" cy="304800"/>
            </a:xfrm>
            <a:prstGeom prst="roundRect">
              <a:avLst>
                <a:gd fmla="val 125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95"/>
            <p:cNvSpPr txBox="1"/>
            <p:nvPr/>
          </p:nvSpPr>
          <p:spPr>
            <a:xfrm>
              <a:off x="95250" y="5715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~</a:t>
              </a:r>
              <a:endParaRPr b="1" sz="14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33" name="Google Shape;1533;p95"/>
            <p:cNvSpPr txBox="1"/>
            <p:nvPr/>
          </p:nvSpPr>
          <p:spPr>
            <a:xfrm>
              <a:off x="714375" y="57150"/>
              <a:ext cx="1714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Bitwise complement</a:t>
              </a:r>
              <a:endParaRPr b="0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534" name="Google Shape;1534;p95"/>
            <p:cNvSpPr txBox="1"/>
            <p:nvPr/>
          </p:nvSpPr>
          <p:spPr>
            <a:xfrm>
              <a:off x="2571750" y="57150"/>
              <a:ext cx="5429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Gives the complement form of a number by changing 0's to 1's and vice versa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9" name="Google Shape;1539;p96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540" name="Google Shape;1540;p96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96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07 / Language Fundamentals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Ternary / Conditional Operators</a:t>
              </a:r>
              <a:endParaRPr b="1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42" name="Google Shape;1542;p96"/>
          <p:cNvGrpSpPr/>
          <p:nvPr/>
        </p:nvGrpSpPr>
        <p:grpSpPr>
          <a:xfrm>
            <a:off x="476250" y="1333500"/>
            <a:ext cx="8191500" cy="1428900"/>
            <a:chOff x="0" y="0"/>
            <a:chExt cx="8191500" cy="1428900"/>
          </a:xfrm>
        </p:grpSpPr>
        <p:sp>
          <p:nvSpPr>
            <p:cNvPr id="1543" name="Google Shape;1543;p96"/>
            <p:cNvSpPr/>
            <p:nvPr/>
          </p:nvSpPr>
          <p:spPr>
            <a:xfrm>
              <a:off x="0" y="0"/>
              <a:ext cx="8191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96"/>
            <p:cNvSpPr/>
            <p:nvPr/>
          </p:nvSpPr>
          <p:spPr>
            <a:xfrm>
              <a:off x="142875" y="523875"/>
              <a:ext cx="4764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96"/>
            <p:cNvSpPr txBox="1"/>
            <p:nvPr/>
          </p:nvSpPr>
          <p:spPr>
            <a:xfrm>
              <a:off x="142875" y="5238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?:</a:t>
              </a:r>
              <a:endParaRPr b="1" sz="16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46" name="Google Shape;1546;p96"/>
            <p:cNvSpPr txBox="1"/>
            <p:nvPr/>
          </p:nvSpPr>
          <p:spPr>
            <a:xfrm>
              <a:off x="809625" y="142875"/>
              <a:ext cx="1905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Ternary Operator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Takes three operands to evaluate conditions efficiently.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47" name="Google Shape;1547;p96"/>
            <p:cNvSpPr txBox="1"/>
            <p:nvPr/>
          </p:nvSpPr>
          <p:spPr>
            <a:xfrm>
              <a:off x="2857500" y="142875"/>
              <a:ext cx="5095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Syntax: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Variable</a:t>
              </a:r>
              <a:r>
                <a:rPr b="1" lang="en" sz="1100">
                  <a:solidFill>
                    <a:srgbClr val="475569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= Expression1 ? Expression2 : Expression3;</a:t>
              </a:r>
              <a:endParaRPr b="1" sz="1100">
                <a:solidFill>
                  <a:srgbClr val="475569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548" name="Google Shape;1548;p96"/>
          <p:cNvGrpSpPr/>
          <p:nvPr/>
        </p:nvGrpSpPr>
        <p:grpSpPr>
          <a:xfrm>
            <a:off x="476250" y="2952750"/>
            <a:ext cx="8191500" cy="1666800"/>
            <a:chOff x="0" y="0"/>
            <a:chExt cx="8191500" cy="1666800"/>
          </a:xfrm>
        </p:grpSpPr>
        <p:sp>
          <p:nvSpPr>
            <p:cNvPr id="1549" name="Google Shape;1549;p96"/>
            <p:cNvSpPr/>
            <p:nvPr/>
          </p:nvSpPr>
          <p:spPr>
            <a:xfrm>
              <a:off x="0" y="0"/>
              <a:ext cx="8191500" cy="1666800"/>
            </a:xfrm>
            <a:prstGeom prst="roundRect">
              <a:avLst>
                <a:gd fmla="val 4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96"/>
            <p:cNvSpPr txBox="1"/>
            <p:nvPr/>
          </p:nvSpPr>
          <p:spPr>
            <a:xfrm>
              <a:off x="238125" y="142875"/>
              <a:ext cx="39054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Execution Logic</a:t>
              </a:r>
              <a:endParaRPr b="0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2984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First, </a:t>
              </a:r>
              <a:r>
                <a:rPr b="1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Expression1</a:t>
              </a: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is evaluated (must return boolean).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If </a:t>
              </a:r>
              <a:r>
                <a:rPr b="0" lang="en" sz="1100">
                  <a:solidFill>
                    <a:srgbClr val="16A34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true</a:t>
              </a: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the value of </a:t>
              </a:r>
              <a:r>
                <a:rPr b="1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Expression2</a:t>
              </a: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is assigned.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If </a:t>
              </a:r>
              <a:r>
                <a:rPr b="0" lang="en" sz="1100">
                  <a:solidFill>
                    <a:srgbClr val="DC262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false</a:t>
              </a: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the value of </a:t>
              </a:r>
              <a:r>
                <a:rPr b="1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Expression3</a:t>
              </a: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is assigned.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551" name="Google Shape;1551;p96"/>
            <p:cNvCxnSpPr/>
            <p:nvPr/>
          </p:nvCxnSpPr>
          <p:spPr>
            <a:xfrm>
              <a:off x="4429125" y="190500"/>
              <a:ext cx="0" cy="12858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52" name="Google Shape;1552;p96"/>
            <p:cNvSpPr txBox="1"/>
            <p:nvPr/>
          </p:nvSpPr>
          <p:spPr>
            <a:xfrm>
              <a:off x="4714875" y="142875"/>
              <a:ext cx="32385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Practical Example</a:t>
              </a:r>
              <a:endParaRPr b="0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max = (a &gt; b) ? a : b;</a:t>
              </a:r>
              <a:endParaRPr b="1" sz="1100">
                <a:solidFill>
                  <a:srgbClr val="475569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If the variable </a:t>
              </a:r>
              <a:r>
                <a:rPr b="0" lang="en" sz="10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r>
                <a:rPr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is greater than </a:t>
              </a:r>
              <a:r>
                <a:rPr b="0" lang="en" sz="10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r>
                <a:rPr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0" lang="en" sz="10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r>
                <a:rPr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is assigned to </a:t>
              </a:r>
              <a:r>
                <a:rPr b="0" lang="en" sz="10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max</a:t>
              </a:r>
              <a:r>
                <a:rPr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; otherwise, </a:t>
              </a:r>
              <a:r>
                <a:rPr b="0" lang="en" sz="10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r>
                <a:rPr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is assigned.</a:t>
              </a:r>
              <a:endParaRPr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7" name="Google Shape;1557;p97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558" name="Google Shape;1558;p97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97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07 / Language Fundamentals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Special Operator: instanceof</a:t>
              </a:r>
              <a:endParaRPr b="1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60" name="Google Shape;1560;p97"/>
          <p:cNvGrpSpPr/>
          <p:nvPr/>
        </p:nvGrpSpPr>
        <p:grpSpPr>
          <a:xfrm>
            <a:off x="476250" y="1333500"/>
            <a:ext cx="8191500" cy="1238400"/>
            <a:chOff x="0" y="0"/>
            <a:chExt cx="8191500" cy="1238400"/>
          </a:xfrm>
        </p:grpSpPr>
        <p:sp>
          <p:nvSpPr>
            <p:cNvPr id="1561" name="Google Shape;1561;p97"/>
            <p:cNvSpPr/>
            <p:nvPr/>
          </p:nvSpPr>
          <p:spPr>
            <a:xfrm>
              <a:off x="0" y="0"/>
              <a:ext cx="8191500" cy="1238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97"/>
            <p:cNvSpPr/>
            <p:nvPr/>
          </p:nvSpPr>
          <p:spPr>
            <a:xfrm>
              <a:off x="142875" y="428625"/>
              <a:ext cx="11430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97"/>
            <p:cNvSpPr txBox="1"/>
            <p:nvPr/>
          </p:nvSpPr>
          <p:spPr>
            <a:xfrm>
              <a:off x="142875" y="428625"/>
              <a:ext cx="114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instanceof</a:t>
              </a:r>
              <a:endParaRPr b="1" sz="13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64" name="Google Shape;1564;p97"/>
            <p:cNvSpPr txBox="1"/>
            <p:nvPr/>
          </p:nvSpPr>
          <p:spPr>
            <a:xfrm>
              <a:off x="1428750" y="142875"/>
              <a:ext cx="2952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Object Reference Operator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Tests whether an object is an instance of a specific class or interface type at runtime.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65" name="Google Shape;1565;p97"/>
            <p:cNvSpPr txBox="1"/>
            <p:nvPr/>
          </p:nvSpPr>
          <p:spPr>
            <a:xfrm>
              <a:off x="4572000" y="142875"/>
              <a:ext cx="3381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Syntax: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object instanceof ClassName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566" name="Google Shape;1566;p97"/>
          <p:cNvGrpSpPr/>
          <p:nvPr/>
        </p:nvGrpSpPr>
        <p:grpSpPr>
          <a:xfrm>
            <a:off x="476250" y="2762250"/>
            <a:ext cx="8191500" cy="1857300"/>
            <a:chOff x="0" y="0"/>
            <a:chExt cx="8191500" cy="1857300"/>
          </a:xfrm>
        </p:grpSpPr>
        <p:sp>
          <p:nvSpPr>
            <p:cNvPr id="1567" name="Google Shape;1567;p97"/>
            <p:cNvSpPr/>
            <p:nvPr/>
          </p:nvSpPr>
          <p:spPr>
            <a:xfrm>
              <a:off x="0" y="0"/>
              <a:ext cx="8191500" cy="1857300"/>
            </a:xfrm>
            <a:prstGeom prst="roundRect">
              <a:avLst>
                <a:gd fmla="val 410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97"/>
            <p:cNvSpPr txBox="1"/>
            <p:nvPr/>
          </p:nvSpPr>
          <p:spPr>
            <a:xfrm>
              <a:off x="238125" y="190500"/>
              <a:ext cx="39054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Execution Logic</a:t>
              </a:r>
              <a:endParaRPr b="0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Evaluates the left-hand side object reference against the right-hand side type.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Returns </a:t>
              </a:r>
              <a:r>
                <a:rPr b="1" lang="en" sz="1100">
                  <a:solidFill>
                    <a:srgbClr val="16A34A"/>
                  </a:solidFill>
                  <a:latin typeface="Inter"/>
                  <a:ea typeface="Inter"/>
                  <a:cs typeface="Inter"/>
                  <a:sym typeface="Inter"/>
                </a:rPr>
                <a:t>true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if the object belongs to or can be cast to the specified class.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Returns </a:t>
              </a:r>
              <a:r>
                <a:rPr b="1" lang="en" sz="11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false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if the object reference is null or of an incompatible type.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569" name="Google Shape;1569;p97"/>
            <p:cNvCxnSpPr/>
            <p:nvPr/>
          </p:nvCxnSpPr>
          <p:spPr>
            <a:xfrm>
              <a:off x="4429125" y="190500"/>
              <a:ext cx="0" cy="1476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70" name="Google Shape;1570;p97"/>
            <p:cNvSpPr txBox="1"/>
            <p:nvPr/>
          </p:nvSpPr>
          <p:spPr>
            <a:xfrm>
              <a:off x="4714875" y="190500"/>
              <a:ext cx="3238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Practical Example</a:t>
              </a:r>
              <a:endParaRPr b="0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person instanceof student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If the variable </a:t>
              </a:r>
              <a:r>
                <a:rPr b="0" lang="en" sz="10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person</a:t>
              </a:r>
              <a:r>
                <a:rPr b="0"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refers to an object of class </a:t>
              </a:r>
              <a:r>
                <a:rPr b="0" lang="en" sz="10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</a:t>
              </a:r>
              <a:r>
                <a:rPr b="0"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, it evaluates to </a:t>
              </a:r>
              <a:r>
                <a:rPr b="0" lang="en" sz="1050">
                  <a:solidFill>
                    <a:srgbClr val="16A34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true</a:t>
              </a:r>
              <a:r>
                <a:rPr b="0"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; otherwise, it is </a:t>
              </a:r>
              <a:r>
                <a:rPr b="0" lang="en" sz="1050">
                  <a:solidFill>
                    <a:srgbClr val="DC262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false</a:t>
              </a:r>
              <a:r>
                <a:rPr b="0"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98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07 / Language Fundamentals</a:t>
            </a:r>
            <a:endParaRPr b="0" sz="10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Operator: Example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6" name="Google Shape;1576;p98"/>
          <p:cNvSpPr/>
          <p:nvPr/>
        </p:nvSpPr>
        <p:spPr>
          <a:xfrm>
            <a:off x="476250" y="1238250"/>
            <a:ext cx="4191000" cy="361950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98"/>
          <p:cNvSpPr/>
          <p:nvPr/>
        </p:nvSpPr>
        <p:spPr>
          <a:xfrm>
            <a:off x="4857750" y="1238250"/>
            <a:ext cx="3905400" cy="361950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98"/>
          <p:cNvSpPr txBox="1"/>
          <p:nvPr/>
        </p:nvSpPr>
        <p:spPr>
          <a:xfrm>
            <a:off x="714375" y="1409700"/>
            <a:ext cx="3714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code</a:t>
            </a:r>
            <a:r>
              <a:rPr b="1" lang="en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Java Source Code</a:t>
            </a:r>
            <a:endParaRPr b="1" sz="12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9" name="Google Shape;1579;p98"/>
          <p:cNvSpPr txBox="1"/>
          <p:nvPr/>
        </p:nvSpPr>
        <p:spPr>
          <a:xfrm>
            <a:off x="5095950" y="1409700"/>
            <a:ext cx="3429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terminal</a:t>
            </a:r>
            <a:r>
              <a:rPr b="1" lang="en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Console Output</a:t>
            </a:r>
            <a:endParaRPr b="1" sz="12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80" name="Google Shape;1580;p98"/>
          <p:cNvPicPr preferRelativeResize="0"/>
          <p:nvPr/>
        </p:nvPicPr>
        <p:blipFill rotWithShape="1">
          <a:blip r:embed="rId4">
            <a:alphaModFix/>
          </a:blip>
          <a:srcRect b="0" l="40" r="40" t="0"/>
          <a:stretch/>
        </p:blipFill>
        <p:spPr>
          <a:xfrm>
            <a:off x="714375" y="1714500"/>
            <a:ext cx="3714900" cy="30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1" name="Google Shape;1581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8000" y="1695600"/>
            <a:ext cx="3504926" cy="293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99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08 / Language Fundamentals</a:t>
            </a:r>
            <a:endParaRPr b="0" sz="10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Control Statements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87" name="Google Shape;1587;p99"/>
          <p:cNvGrpSpPr/>
          <p:nvPr/>
        </p:nvGrpSpPr>
        <p:grpSpPr>
          <a:xfrm>
            <a:off x="476250" y="1238250"/>
            <a:ext cx="8191500" cy="857400"/>
            <a:chOff x="0" y="0"/>
            <a:chExt cx="8191500" cy="857400"/>
          </a:xfrm>
        </p:grpSpPr>
        <p:sp>
          <p:nvSpPr>
            <p:cNvPr id="1588" name="Google Shape;1588;p99"/>
            <p:cNvSpPr/>
            <p:nvPr/>
          </p:nvSpPr>
          <p:spPr>
            <a:xfrm>
              <a:off x="0" y="0"/>
              <a:ext cx="8191500" cy="8574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99"/>
            <p:cNvSpPr txBox="1"/>
            <p:nvPr/>
          </p:nvSpPr>
          <p:spPr>
            <a:xfrm>
              <a:off x="190500" y="142875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Definition</a:t>
              </a:r>
              <a:endParaRPr b="0" sz="925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Control statements are the statements which alter the flow of execution and provide better control to the programmer on the flow of execution.</a:t>
              </a:r>
              <a:endParaRPr b="0" sz="1203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90" name="Google Shape;1590;p99"/>
          <p:cNvGrpSpPr/>
          <p:nvPr/>
        </p:nvGrpSpPr>
        <p:grpSpPr>
          <a:xfrm>
            <a:off x="476250" y="2333625"/>
            <a:ext cx="2533800" cy="2238300"/>
            <a:chOff x="0" y="0"/>
            <a:chExt cx="2533800" cy="2238300"/>
          </a:xfrm>
        </p:grpSpPr>
        <p:sp>
          <p:nvSpPr>
            <p:cNvPr id="1591" name="Google Shape;1591;p99"/>
            <p:cNvSpPr/>
            <p:nvPr/>
          </p:nvSpPr>
          <p:spPr>
            <a:xfrm>
              <a:off x="0" y="0"/>
              <a:ext cx="2533800" cy="2238300"/>
            </a:xfrm>
            <a:prstGeom prst="roundRect">
              <a:avLst>
                <a:gd fmla="val 340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99"/>
            <p:cNvSpPr txBox="1"/>
            <p:nvPr/>
          </p:nvSpPr>
          <p:spPr>
            <a:xfrm>
              <a:off x="190500" y="190500"/>
              <a:ext cx="21528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highlight>
                    <a:srgbClr val="EFF6FF"/>
                  </a:highlight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 b="1" sz="1000">
                <a:solidFill>
                  <a:srgbClr val="2563EB"/>
                </a:solidFill>
                <a:highlight>
                  <a:srgbClr val="EFF6FF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Selection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Decision making control statements that direct program flow based on conditional evaluations.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93" name="Google Shape;1593;p99"/>
          <p:cNvGrpSpPr/>
          <p:nvPr/>
        </p:nvGrpSpPr>
        <p:grpSpPr>
          <a:xfrm>
            <a:off x="3295650" y="2333625"/>
            <a:ext cx="2533800" cy="2238300"/>
            <a:chOff x="0" y="0"/>
            <a:chExt cx="2533800" cy="2238300"/>
          </a:xfrm>
        </p:grpSpPr>
        <p:sp>
          <p:nvSpPr>
            <p:cNvPr id="1594" name="Google Shape;1594;p99"/>
            <p:cNvSpPr/>
            <p:nvPr/>
          </p:nvSpPr>
          <p:spPr>
            <a:xfrm>
              <a:off x="0" y="0"/>
              <a:ext cx="2533800" cy="2238300"/>
            </a:xfrm>
            <a:prstGeom prst="roundRect">
              <a:avLst>
                <a:gd fmla="val 340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99"/>
            <p:cNvSpPr txBox="1"/>
            <p:nvPr/>
          </p:nvSpPr>
          <p:spPr>
            <a:xfrm>
              <a:off x="190500" y="190500"/>
              <a:ext cx="21528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highlight>
                    <a:srgbClr val="EFF6FF"/>
                  </a:highlight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 b="1" sz="1000">
                <a:solidFill>
                  <a:srgbClr val="2563EB"/>
                </a:solidFill>
                <a:highlight>
                  <a:srgbClr val="EFF6FF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Iteration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Looping control statements designed to repeat execution blocks efficiently while conditions are met.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96" name="Google Shape;1596;p99"/>
          <p:cNvGrpSpPr/>
          <p:nvPr/>
        </p:nvGrpSpPr>
        <p:grpSpPr>
          <a:xfrm>
            <a:off x="6115050" y="2333625"/>
            <a:ext cx="2533800" cy="2238300"/>
            <a:chOff x="0" y="0"/>
            <a:chExt cx="2533800" cy="2238300"/>
          </a:xfrm>
        </p:grpSpPr>
        <p:sp>
          <p:nvSpPr>
            <p:cNvPr id="1597" name="Google Shape;1597;p99"/>
            <p:cNvSpPr/>
            <p:nvPr/>
          </p:nvSpPr>
          <p:spPr>
            <a:xfrm>
              <a:off x="0" y="0"/>
              <a:ext cx="2533800" cy="2238300"/>
            </a:xfrm>
            <a:prstGeom prst="roundRect">
              <a:avLst>
                <a:gd fmla="val 340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99"/>
            <p:cNvSpPr txBox="1"/>
            <p:nvPr/>
          </p:nvSpPr>
          <p:spPr>
            <a:xfrm>
              <a:off x="190500" y="190500"/>
              <a:ext cx="21528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highlight>
                    <a:srgbClr val="EFF6FF"/>
                  </a:highlight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 b="1" sz="1000">
                <a:solidFill>
                  <a:srgbClr val="2563EB"/>
                </a:solidFill>
                <a:highlight>
                  <a:srgbClr val="EFF6FF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Jump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Unconditional branching statements that immediately transfer control flow to other sections of code.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3" name="Google Shape;1603;p100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604" name="Google Shape;1604;p100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100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Selection Statements</a:t>
              </a:r>
              <a:endParaRPr b="1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06" name="Google Shape;1606;p100"/>
          <p:cNvGrpSpPr/>
          <p:nvPr/>
        </p:nvGrpSpPr>
        <p:grpSpPr>
          <a:xfrm>
            <a:off x="476250" y="1238250"/>
            <a:ext cx="8191500" cy="952500"/>
            <a:chOff x="0" y="0"/>
            <a:chExt cx="8191500" cy="952500"/>
          </a:xfrm>
        </p:grpSpPr>
        <p:sp>
          <p:nvSpPr>
            <p:cNvPr id="1607" name="Google Shape;1607;p100"/>
            <p:cNvSpPr/>
            <p:nvPr/>
          </p:nvSpPr>
          <p:spPr>
            <a:xfrm>
              <a:off x="0" y="0"/>
              <a:ext cx="8191500" cy="9525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100"/>
            <p:cNvSpPr txBox="1"/>
            <p:nvPr/>
          </p:nvSpPr>
          <p:spPr>
            <a:xfrm>
              <a:off x="190500" y="142875"/>
              <a:ext cx="7810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Definition</a:t>
              </a:r>
              <a:endParaRPr b="0" sz="925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Decision-making statements decide which statement to execute and when. They evaluate Boolean expressions and control the program flow depending upon the result of the condition provided.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09" name="Google Shape;1609;p100"/>
          <p:cNvGrpSpPr/>
          <p:nvPr/>
        </p:nvGrpSpPr>
        <p:grpSpPr>
          <a:xfrm>
            <a:off x="476250" y="2381250"/>
            <a:ext cx="3905400" cy="2238300"/>
            <a:chOff x="0" y="0"/>
            <a:chExt cx="3905400" cy="2238300"/>
          </a:xfrm>
        </p:grpSpPr>
        <p:sp>
          <p:nvSpPr>
            <p:cNvPr id="1610" name="Google Shape;1610;p100"/>
            <p:cNvSpPr/>
            <p:nvPr/>
          </p:nvSpPr>
          <p:spPr>
            <a:xfrm>
              <a:off x="0" y="0"/>
              <a:ext cx="3905400" cy="2238300"/>
            </a:xfrm>
            <a:prstGeom prst="roundRect">
              <a:avLst>
                <a:gd fmla="val 340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100"/>
            <p:cNvSpPr txBox="1"/>
            <p:nvPr/>
          </p:nvSpPr>
          <p:spPr>
            <a:xfrm>
              <a:off x="190500" y="190500"/>
              <a:ext cx="35244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highlight>
                    <a:srgbClr val="EFF6FF"/>
                  </a:highlight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If Statements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Executes a block of code based on whether a condition is true or false. Includes standard if, if-else, if-else-if, and nested if statements.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12" name="Google Shape;1612;p100"/>
          <p:cNvGrpSpPr/>
          <p:nvPr/>
        </p:nvGrpSpPr>
        <p:grpSpPr>
          <a:xfrm>
            <a:off x="4762500" y="2381250"/>
            <a:ext cx="3905400" cy="2238300"/>
            <a:chOff x="0" y="0"/>
            <a:chExt cx="3905400" cy="2238300"/>
          </a:xfrm>
        </p:grpSpPr>
        <p:sp>
          <p:nvSpPr>
            <p:cNvPr id="1613" name="Google Shape;1613;p100"/>
            <p:cNvSpPr/>
            <p:nvPr/>
          </p:nvSpPr>
          <p:spPr>
            <a:xfrm>
              <a:off x="0" y="0"/>
              <a:ext cx="3905400" cy="2238300"/>
            </a:xfrm>
            <a:prstGeom prst="roundRect">
              <a:avLst>
                <a:gd fmla="val 340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100"/>
            <p:cNvSpPr txBox="1"/>
            <p:nvPr/>
          </p:nvSpPr>
          <p:spPr>
            <a:xfrm>
              <a:off x="190500" y="190500"/>
              <a:ext cx="35244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highlight>
                    <a:srgbClr val="EFF6FF"/>
                  </a:highlight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Switch Statement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multi-way branch control statement that evaluates an expression and routes program execution to multiple matching options cleanly.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9" name="Google Shape;1619;p101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620" name="Google Shape;1620;p101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101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If Statement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622" name="Google Shape;1622;p101"/>
          <p:cNvGrpSpPr/>
          <p:nvPr/>
        </p:nvGrpSpPr>
        <p:grpSpPr>
          <a:xfrm>
            <a:off x="476250" y="1238250"/>
            <a:ext cx="8191500" cy="857400"/>
            <a:chOff x="0" y="0"/>
            <a:chExt cx="8191500" cy="857400"/>
          </a:xfrm>
        </p:grpSpPr>
        <p:sp>
          <p:nvSpPr>
            <p:cNvPr id="1623" name="Google Shape;1623;p101"/>
            <p:cNvSpPr/>
            <p:nvPr/>
          </p:nvSpPr>
          <p:spPr>
            <a:xfrm>
              <a:off x="0" y="0"/>
              <a:ext cx="8191500" cy="8574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101"/>
            <p:cNvSpPr txBox="1"/>
            <p:nvPr/>
          </p:nvSpPr>
          <p:spPr>
            <a:xfrm>
              <a:off x="190500" y="142875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Definition</a:t>
              </a:r>
              <a:endParaRPr b="0" sz="925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if statement</a:t>
              </a: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is a decision-making control statement that performs a task depending on whether a given condition evaluates to </a:t>
              </a:r>
              <a:r>
                <a:rPr b="1" lang="en" sz="1200">
                  <a:solidFill>
                    <a:srgbClr val="16A34A"/>
                  </a:solidFill>
                  <a:latin typeface="Inter"/>
                  <a:ea typeface="Inter"/>
                  <a:cs typeface="Inter"/>
                  <a:sym typeface="Inter"/>
                </a:rPr>
                <a:t>true</a:t>
              </a: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or </a:t>
              </a:r>
              <a:r>
                <a:rPr b="1" lang="en" sz="12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false</a:t>
              </a: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925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625" name="Google Shape;1625;p101"/>
          <p:cNvGrpSpPr/>
          <p:nvPr/>
        </p:nvGrpSpPr>
        <p:grpSpPr>
          <a:xfrm>
            <a:off x="476250" y="2333625"/>
            <a:ext cx="3905400" cy="2333700"/>
            <a:chOff x="0" y="0"/>
            <a:chExt cx="3905400" cy="2333700"/>
          </a:xfrm>
        </p:grpSpPr>
        <p:sp>
          <p:nvSpPr>
            <p:cNvPr id="1626" name="Google Shape;1626;p101"/>
            <p:cNvSpPr/>
            <p:nvPr/>
          </p:nvSpPr>
          <p:spPr>
            <a:xfrm>
              <a:off x="0" y="0"/>
              <a:ext cx="3905400" cy="2333700"/>
            </a:xfrm>
            <a:prstGeom prst="roundRect">
              <a:avLst>
                <a:gd fmla="val 3265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101"/>
            <p:cNvSpPr txBox="1"/>
            <p:nvPr/>
          </p:nvSpPr>
          <p:spPr>
            <a:xfrm>
              <a:off x="228600" y="228600"/>
              <a:ext cx="3448200" cy="18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SYNTAX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r>
                <a:rPr lang="en" sz="1300">
                  <a:solidFill>
                    <a:srgbClr val="F1F5F9"/>
                  </a:solidFill>
                  <a:latin typeface="Arial"/>
                  <a:ea typeface="Arial"/>
                  <a:cs typeface="Arial"/>
                  <a:sym typeface="Arial"/>
                </a:rPr>
                <a:t> (condition) {</a:t>
              </a:r>
              <a:endParaRPr sz="13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// statements to execute</a:t>
              </a:r>
              <a:endParaRPr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F1F5F9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sz="13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8" name="Google Shape;1628;p101"/>
          <p:cNvGrpSpPr/>
          <p:nvPr/>
        </p:nvGrpSpPr>
        <p:grpSpPr>
          <a:xfrm>
            <a:off x="4762500" y="2333625"/>
            <a:ext cx="3905400" cy="2333700"/>
            <a:chOff x="0" y="0"/>
            <a:chExt cx="3905400" cy="2333700"/>
          </a:xfrm>
        </p:grpSpPr>
        <p:sp>
          <p:nvSpPr>
            <p:cNvPr id="1629" name="Google Shape;1629;p101"/>
            <p:cNvSpPr/>
            <p:nvPr/>
          </p:nvSpPr>
          <p:spPr>
            <a:xfrm>
              <a:off x="0" y="0"/>
              <a:ext cx="3905400" cy="2333700"/>
            </a:xfrm>
            <a:prstGeom prst="roundRect">
              <a:avLst>
                <a:gd fmla="val 3265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101"/>
            <p:cNvSpPr txBox="1"/>
            <p:nvPr/>
          </p:nvSpPr>
          <p:spPr>
            <a:xfrm>
              <a:off x="228600" y="228600"/>
              <a:ext cx="3448200" cy="18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EXAMPLE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int</a:t>
              </a:r>
              <a:r>
                <a:rPr lang="en" sz="1200">
                  <a:solidFill>
                    <a:srgbClr val="F1F5F9"/>
                  </a:solidFill>
                  <a:latin typeface="Arial"/>
                  <a:ea typeface="Arial"/>
                  <a:cs typeface="Arial"/>
                  <a:sym typeface="Arial"/>
                </a:rPr>
                <a:t> a = </a:t>
              </a:r>
              <a:r>
                <a:rPr lang="en" sz="12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lang="en" sz="1200">
                  <a:solidFill>
                    <a:srgbClr val="F1F5F9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sz="12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r>
                <a:rPr lang="en" sz="1200">
                  <a:solidFill>
                    <a:srgbClr val="F1F5F9"/>
                  </a:solidFill>
                  <a:latin typeface="Arial"/>
                  <a:ea typeface="Arial"/>
                  <a:cs typeface="Arial"/>
                  <a:sym typeface="Arial"/>
                </a:rPr>
                <a:t> (a &gt; </a:t>
              </a:r>
              <a:r>
                <a:rPr lang="en" sz="12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lang="en" sz="1200">
                  <a:solidFill>
                    <a:srgbClr val="F1F5F9"/>
                  </a:solidFill>
                  <a:latin typeface="Arial"/>
                  <a:ea typeface="Arial"/>
                  <a:cs typeface="Arial"/>
                  <a:sym typeface="Arial"/>
                </a:rPr>
                <a:t>) { </a:t>
              </a:r>
              <a:endParaRPr sz="12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// </a:t>
              </a:r>
              <a:r>
                <a:rPr b="1" lang="en" sz="9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False (5 &gt; 10)</a:t>
              </a:r>
              <a:endParaRPr sz="12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System.out.println(</a:t>
              </a:r>
              <a:r>
                <a:rPr lang="en" sz="1200">
                  <a:solidFill>
                    <a:srgbClr val="34D399"/>
                  </a:solidFill>
                  <a:latin typeface="Arial"/>
                  <a:ea typeface="Arial"/>
                  <a:cs typeface="Arial"/>
                  <a:sym typeface="Arial"/>
                </a:rPr>
                <a:t>"Condition is true"</a:t>
              </a:r>
              <a:r>
                <a:rPr lang="en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);</a:t>
              </a:r>
              <a:endParaRPr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1F5F9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sz="12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DA4A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 NOTE: Since the condition is false, no output is displayed.</a:t>
              </a:r>
              <a:endParaRPr b="0" sz="1050">
                <a:solidFill>
                  <a:srgbClr val="FDA4A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5" name="Google Shape;1635;p102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636" name="Google Shape;1636;p102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102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If-Else Statement</a:t>
              </a:r>
              <a:endParaRPr b="1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38" name="Google Shape;1638;p102"/>
          <p:cNvGrpSpPr/>
          <p:nvPr/>
        </p:nvGrpSpPr>
        <p:grpSpPr>
          <a:xfrm>
            <a:off x="476250" y="1238250"/>
            <a:ext cx="8191500" cy="857400"/>
            <a:chOff x="0" y="0"/>
            <a:chExt cx="8191500" cy="857400"/>
          </a:xfrm>
        </p:grpSpPr>
        <p:sp>
          <p:nvSpPr>
            <p:cNvPr id="1639" name="Google Shape;1639;p102"/>
            <p:cNvSpPr/>
            <p:nvPr/>
          </p:nvSpPr>
          <p:spPr>
            <a:xfrm>
              <a:off x="0" y="0"/>
              <a:ext cx="8191500" cy="8574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102"/>
            <p:cNvSpPr txBox="1"/>
            <p:nvPr/>
          </p:nvSpPr>
          <p:spPr>
            <a:xfrm>
              <a:off x="190500" y="142875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Definition</a:t>
              </a:r>
              <a:endParaRPr b="0" sz="925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if-else statement</a:t>
              </a: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is a decision-making control statement that performs a task depending on whether a given condition evaluates to </a:t>
              </a:r>
              <a:r>
                <a:rPr b="1" lang="en" sz="1200">
                  <a:solidFill>
                    <a:srgbClr val="16A34A"/>
                  </a:solidFill>
                  <a:latin typeface="Inter"/>
                  <a:ea typeface="Inter"/>
                  <a:cs typeface="Inter"/>
                  <a:sym typeface="Inter"/>
                </a:rPr>
                <a:t>true</a:t>
              </a: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or </a:t>
              </a:r>
              <a:r>
                <a:rPr b="1" lang="en" sz="12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false</a:t>
              </a: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41" name="Google Shape;1641;p102"/>
          <p:cNvGrpSpPr/>
          <p:nvPr/>
        </p:nvGrpSpPr>
        <p:grpSpPr>
          <a:xfrm>
            <a:off x="476250" y="2333625"/>
            <a:ext cx="3905400" cy="2333700"/>
            <a:chOff x="0" y="0"/>
            <a:chExt cx="3905400" cy="2333700"/>
          </a:xfrm>
        </p:grpSpPr>
        <p:sp>
          <p:nvSpPr>
            <p:cNvPr id="1642" name="Google Shape;1642;p102"/>
            <p:cNvSpPr/>
            <p:nvPr/>
          </p:nvSpPr>
          <p:spPr>
            <a:xfrm>
              <a:off x="0" y="0"/>
              <a:ext cx="3905400" cy="2333700"/>
            </a:xfrm>
            <a:prstGeom prst="roundRect">
              <a:avLst>
                <a:gd fmla="val 3265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102"/>
            <p:cNvSpPr txBox="1"/>
            <p:nvPr/>
          </p:nvSpPr>
          <p:spPr>
            <a:xfrm>
              <a:off x="228600" y="228600"/>
              <a:ext cx="3448200" cy="18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SYNTAX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lang="en" sz="130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(condition) {</a:t>
              </a:r>
              <a:endParaRPr sz="1300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228600" lvl="0" marL="0" marR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statements to execute if true</a:t>
              </a:r>
              <a:endParaRPr sz="13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 </a:t>
              </a:r>
              <a:r>
                <a:rPr b="1" lang="en" sz="13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lang="en" sz="130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{</a:t>
              </a:r>
              <a:endParaRPr sz="1300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228600" lvl="0" marL="0" marR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statements to execute if false</a:t>
              </a:r>
              <a:endParaRPr sz="13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300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644" name="Google Shape;1644;p102"/>
          <p:cNvGrpSpPr/>
          <p:nvPr/>
        </p:nvGrpSpPr>
        <p:grpSpPr>
          <a:xfrm>
            <a:off x="4762500" y="2333625"/>
            <a:ext cx="3905400" cy="2333700"/>
            <a:chOff x="0" y="0"/>
            <a:chExt cx="3905400" cy="2333700"/>
          </a:xfrm>
        </p:grpSpPr>
        <p:sp>
          <p:nvSpPr>
            <p:cNvPr id="1645" name="Google Shape;1645;p102"/>
            <p:cNvSpPr/>
            <p:nvPr/>
          </p:nvSpPr>
          <p:spPr>
            <a:xfrm>
              <a:off x="0" y="0"/>
              <a:ext cx="3905400" cy="2333700"/>
            </a:xfrm>
            <a:prstGeom prst="roundRect">
              <a:avLst>
                <a:gd fmla="val 3265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102"/>
            <p:cNvSpPr txBox="1"/>
            <p:nvPr/>
          </p:nvSpPr>
          <p:spPr>
            <a:xfrm>
              <a:off x="228600" y="228600"/>
              <a:ext cx="3448200" cy="18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3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EXAMPLE</a:t>
              </a:r>
              <a:endParaRPr b="1" sz="853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93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" sz="93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 = </a:t>
              </a:r>
              <a:r>
                <a:rPr lang="en" sz="93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r>
                <a:rPr lang="en" sz="93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930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3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lang="en" sz="93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(a &gt; </a:t>
              </a:r>
              <a:r>
                <a:rPr lang="en" sz="93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</a:t>
              </a:r>
              <a:r>
                <a:rPr lang="en" sz="93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{</a:t>
              </a:r>
              <a:endParaRPr sz="930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228600" lvl="0" marL="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3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lang="en" sz="93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"Condition is true"</a:t>
              </a:r>
              <a:r>
                <a:rPr lang="en" sz="93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sz="93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3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 </a:t>
              </a:r>
              <a:r>
                <a:rPr b="1" lang="en" sz="93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lang="en" sz="93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{</a:t>
              </a:r>
              <a:endParaRPr sz="930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228600" lvl="0" marL="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3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lang="en" sz="93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"Condition is false"</a:t>
              </a:r>
              <a:r>
                <a:rPr lang="en" sz="93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sz="93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3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930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" sz="775">
                  <a:solidFill>
                    <a:srgbClr val="FDA4A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 NOTE: Since 5 &gt; 10 is false, the else block executes.</a:t>
              </a:r>
              <a:endParaRPr b="0" sz="775">
                <a:solidFill>
                  <a:srgbClr val="FDA4A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1" name="Google Shape;1651;p103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652" name="Google Shape;1652;p103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103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i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0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Else-If Statement</a:t>
              </a:r>
              <a:endParaRPr b="0" i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654" name="Google Shape;1654;p103"/>
          <p:cNvGrpSpPr/>
          <p:nvPr/>
        </p:nvGrpSpPr>
        <p:grpSpPr>
          <a:xfrm>
            <a:off x="476250" y="1238250"/>
            <a:ext cx="8191500" cy="857400"/>
            <a:chOff x="0" y="0"/>
            <a:chExt cx="8191500" cy="857400"/>
          </a:xfrm>
        </p:grpSpPr>
        <p:sp>
          <p:nvSpPr>
            <p:cNvPr id="1655" name="Google Shape;1655;p103"/>
            <p:cNvSpPr/>
            <p:nvPr/>
          </p:nvSpPr>
          <p:spPr>
            <a:xfrm>
              <a:off x="0" y="0"/>
              <a:ext cx="8191500" cy="8574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103"/>
            <p:cNvSpPr txBox="1"/>
            <p:nvPr/>
          </p:nvSpPr>
          <p:spPr>
            <a:xfrm>
              <a:off x="190500" y="142875"/>
              <a:ext cx="7810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2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Definition</a:t>
              </a:r>
              <a:endParaRPr b="0" i="0" sz="925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i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i="0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else if statement</a:t>
              </a:r>
              <a:r>
                <a:rPr b="0" i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is used to specify a new condition if the first condition is </a:t>
              </a:r>
              <a:r>
                <a:rPr b="1" i="0" lang="en" sz="12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false</a:t>
              </a:r>
              <a:r>
                <a:rPr b="0" i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i="0" sz="925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657" name="Google Shape;1657;p103"/>
          <p:cNvGrpSpPr/>
          <p:nvPr/>
        </p:nvGrpSpPr>
        <p:grpSpPr>
          <a:xfrm>
            <a:off x="476250" y="2333625"/>
            <a:ext cx="3905400" cy="2428800"/>
            <a:chOff x="0" y="0"/>
            <a:chExt cx="3905400" cy="2428800"/>
          </a:xfrm>
        </p:grpSpPr>
        <p:sp>
          <p:nvSpPr>
            <p:cNvPr id="1658" name="Google Shape;1658;p103"/>
            <p:cNvSpPr/>
            <p:nvPr/>
          </p:nvSpPr>
          <p:spPr>
            <a:xfrm>
              <a:off x="0" y="0"/>
              <a:ext cx="3905400" cy="2428800"/>
            </a:xfrm>
            <a:prstGeom prst="roundRect">
              <a:avLst>
                <a:gd fmla="val 3137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103"/>
            <p:cNvSpPr txBox="1"/>
            <p:nvPr/>
          </p:nvSpPr>
          <p:spPr>
            <a:xfrm>
              <a:off x="228600" y="190500"/>
              <a:ext cx="3448200" cy="204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SYNTAX</a:t>
              </a:r>
              <a:endParaRPr b="1" i="0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i="0" lang="en" sz="12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0" i="0" lang="en" sz="120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(condition1) {</a:t>
              </a:r>
              <a:endParaRPr b="1" i="0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statements</a:t>
              </a:r>
              <a:endParaRPr b="1" i="0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 </a:t>
              </a:r>
              <a:r>
                <a:rPr b="1" i="0" lang="en" sz="12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 if</a:t>
              </a:r>
              <a:r>
                <a:rPr b="0" i="0" lang="en" sz="120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(condition2) {</a:t>
              </a:r>
              <a:endParaRPr b="1" i="0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statement</a:t>
              </a:r>
              <a:endParaRPr b="1" i="0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 </a:t>
              </a:r>
              <a:r>
                <a:rPr b="1" i="0" lang="en" sz="12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b="0" i="0" lang="en" sz="120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{</a:t>
              </a:r>
              <a:endParaRPr b="1" i="0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statements</a:t>
              </a:r>
              <a:endParaRPr b="1" i="0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b="0" i="0" lang="en" sz="120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i="0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60" name="Google Shape;1660;p103"/>
          <p:cNvGrpSpPr/>
          <p:nvPr/>
        </p:nvGrpSpPr>
        <p:grpSpPr>
          <a:xfrm>
            <a:off x="4762500" y="2333625"/>
            <a:ext cx="3905400" cy="2428800"/>
            <a:chOff x="0" y="0"/>
            <a:chExt cx="3905400" cy="2428800"/>
          </a:xfrm>
        </p:grpSpPr>
        <p:sp>
          <p:nvSpPr>
            <p:cNvPr id="1661" name="Google Shape;1661;p103"/>
            <p:cNvSpPr/>
            <p:nvPr/>
          </p:nvSpPr>
          <p:spPr>
            <a:xfrm>
              <a:off x="0" y="0"/>
              <a:ext cx="3905400" cy="2428800"/>
            </a:xfrm>
            <a:prstGeom prst="roundRect">
              <a:avLst>
                <a:gd fmla="val 3137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103"/>
            <p:cNvSpPr txBox="1"/>
            <p:nvPr/>
          </p:nvSpPr>
          <p:spPr>
            <a:xfrm>
              <a:off x="228600" y="190500"/>
              <a:ext cx="3448200" cy="204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35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EXAMPLE</a:t>
              </a:r>
              <a:endParaRPr b="1" i="0" sz="93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i="0" lang="en" sz="893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0" i="0" lang="en" sz="89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 = </a:t>
              </a:r>
              <a:r>
                <a:rPr b="0" i="0" lang="en" sz="893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r>
                <a:rPr b="0" i="0" lang="en" sz="89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i="0" sz="93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0" lang="en" sz="893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0" i="0" lang="en" sz="89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(a &gt; </a:t>
              </a:r>
              <a:r>
                <a:rPr b="0" i="0" lang="en" sz="893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</a:t>
              </a:r>
              <a:r>
                <a:rPr b="0" i="0" lang="en" sz="89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{</a:t>
              </a:r>
              <a:endParaRPr b="1" i="0" sz="93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893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System.out.println(...);</a:t>
              </a:r>
              <a:endParaRPr b="1" i="0" sz="93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89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 </a:t>
              </a:r>
              <a:r>
                <a:rPr b="1" i="0" lang="en" sz="893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 if</a:t>
              </a:r>
              <a:r>
                <a:rPr b="0" i="0" lang="en" sz="89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(a == </a:t>
              </a:r>
              <a:r>
                <a:rPr b="0" i="0" lang="en" sz="893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</a:t>
              </a:r>
              <a:r>
                <a:rPr b="0" i="0" lang="en" sz="89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{</a:t>
              </a:r>
              <a:endParaRPr b="1" i="0" sz="93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893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System.out.println(...);</a:t>
              </a:r>
              <a:endParaRPr b="1" i="0" sz="93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89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 </a:t>
              </a:r>
              <a:r>
                <a:rPr b="1" i="0" lang="en" sz="893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b="0" i="0" lang="en" sz="89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{</a:t>
              </a:r>
              <a:endParaRPr b="1" i="0" sz="93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893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b="0" i="0" lang="en" sz="893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"Given condition is false"</a:t>
              </a:r>
              <a:r>
                <a:rPr b="0" i="0" lang="en" sz="893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1" i="0" sz="93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89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i="0" sz="93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i="0" lang="en" sz="680">
                  <a:solidFill>
                    <a:srgbClr val="FDA4A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 NOTE: Since first two conditions are false, else executes.</a:t>
              </a:r>
              <a:endParaRPr b="1" i="0" sz="68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104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Nested if statement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668" name="Google Shape;1668;p104"/>
          <p:cNvGrpSpPr/>
          <p:nvPr/>
        </p:nvGrpSpPr>
        <p:grpSpPr>
          <a:xfrm>
            <a:off x="476250" y="1238250"/>
            <a:ext cx="8191500" cy="857400"/>
            <a:chOff x="0" y="0"/>
            <a:chExt cx="8191500" cy="857400"/>
          </a:xfrm>
        </p:grpSpPr>
        <p:sp>
          <p:nvSpPr>
            <p:cNvPr id="1669" name="Google Shape;1669;p104"/>
            <p:cNvSpPr/>
            <p:nvPr/>
          </p:nvSpPr>
          <p:spPr>
            <a:xfrm>
              <a:off x="0" y="0"/>
              <a:ext cx="8191500" cy="8574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104"/>
            <p:cNvSpPr txBox="1"/>
            <p:nvPr/>
          </p:nvSpPr>
          <p:spPr>
            <a:xfrm>
              <a:off x="190500" y="142875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Definition</a:t>
              </a:r>
              <a:endParaRPr b="0" sz="925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If the </a:t>
              </a: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inner condition</a:t>
              </a: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satisfies then only </a:t>
              </a: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outer if</a:t>
              </a: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will be executed. Along with if conditions we can write else conditions also.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71" name="Google Shape;1671;p104"/>
          <p:cNvGrpSpPr/>
          <p:nvPr/>
        </p:nvGrpSpPr>
        <p:grpSpPr>
          <a:xfrm>
            <a:off x="476250" y="2333625"/>
            <a:ext cx="3905400" cy="2428800"/>
            <a:chOff x="0" y="0"/>
            <a:chExt cx="3905400" cy="2428800"/>
          </a:xfrm>
        </p:grpSpPr>
        <p:sp>
          <p:nvSpPr>
            <p:cNvPr id="1672" name="Google Shape;1672;p104"/>
            <p:cNvSpPr/>
            <p:nvPr/>
          </p:nvSpPr>
          <p:spPr>
            <a:xfrm>
              <a:off x="0" y="0"/>
              <a:ext cx="3905400" cy="2428800"/>
            </a:xfrm>
            <a:prstGeom prst="roundRect">
              <a:avLst>
                <a:gd fmla="val 3137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104"/>
            <p:cNvSpPr txBox="1"/>
            <p:nvPr/>
          </p:nvSpPr>
          <p:spPr>
            <a:xfrm>
              <a:off x="228600" y="190500"/>
              <a:ext cx="3448200" cy="20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SYNTAX</a:t>
              </a:r>
              <a:endParaRPr b="1" sz="93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102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0" lang="en" sz="102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(condition) {</a:t>
              </a:r>
              <a:endParaRPr b="0" sz="1020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//statements</a:t>
              </a:r>
              <a:endParaRPr b="0" sz="102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2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0" lang="en" sz="102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(condition) {</a:t>
              </a:r>
              <a:endParaRPr b="0" sz="1020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810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//statement</a:t>
              </a:r>
              <a:endParaRPr b="0" sz="102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020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 </a:t>
              </a:r>
              <a:r>
                <a:rPr b="1" lang="en" sz="102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b="0" lang="en" sz="102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{</a:t>
              </a:r>
              <a:endParaRPr b="0" sz="1020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//Statements</a:t>
              </a:r>
              <a:endParaRPr b="0" sz="102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020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674" name="Google Shape;1674;p104"/>
          <p:cNvGrpSpPr/>
          <p:nvPr/>
        </p:nvGrpSpPr>
        <p:grpSpPr>
          <a:xfrm>
            <a:off x="4762500" y="2333625"/>
            <a:ext cx="3905400" cy="2428800"/>
            <a:chOff x="0" y="0"/>
            <a:chExt cx="3905400" cy="2428800"/>
          </a:xfrm>
        </p:grpSpPr>
        <p:sp>
          <p:nvSpPr>
            <p:cNvPr id="1675" name="Google Shape;1675;p104"/>
            <p:cNvSpPr/>
            <p:nvPr/>
          </p:nvSpPr>
          <p:spPr>
            <a:xfrm>
              <a:off x="0" y="0"/>
              <a:ext cx="3905400" cy="2428800"/>
            </a:xfrm>
            <a:prstGeom prst="roundRect">
              <a:avLst>
                <a:gd fmla="val 3137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104"/>
            <p:cNvSpPr txBox="1"/>
            <p:nvPr/>
          </p:nvSpPr>
          <p:spPr>
            <a:xfrm>
              <a:off x="228600" y="190500"/>
              <a:ext cx="3448200" cy="20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EXAMPLE</a:t>
              </a:r>
              <a:endParaRPr b="1" sz="1018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879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0" lang="en" sz="879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 = </a:t>
              </a:r>
              <a:r>
                <a:rPr b="0" lang="en" sz="879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r>
                <a:rPr b="0" lang="en" sz="879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0" sz="879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879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0" lang="en" sz="879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(a &gt; </a:t>
              </a:r>
              <a:r>
                <a:rPr b="0" lang="en" sz="879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</a:t>
              </a:r>
              <a:r>
                <a:rPr b="0" lang="en" sz="879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{</a:t>
              </a:r>
              <a:endParaRPr b="0" sz="879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42875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b="0" lang="en" sz="879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"Value of a: "</a:t>
              </a:r>
              <a:r>
                <a:rPr b="0" lang="en" sz="879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+ a);</a:t>
              </a:r>
              <a:endParaRPr b="0" sz="879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 </a:t>
              </a:r>
              <a:r>
                <a:rPr b="1" lang="en" sz="879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 if</a:t>
              </a:r>
              <a:r>
                <a:rPr b="0" lang="en" sz="879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(a == </a:t>
              </a:r>
              <a:r>
                <a:rPr b="0" lang="en" sz="879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</a:t>
              </a:r>
              <a:r>
                <a:rPr b="0" lang="en" sz="879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{</a:t>
              </a:r>
              <a:endParaRPr b="0" sz="879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42875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b="0" lang="en" sz="879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"Value of a: "</a:t>
              </a:r>
              <a:r>
                <a:rPr b="0" lang="en" sz="879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+ a);</a:t>
              </a:r>
              <a:endParaRPr b="0" sz="879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 </a:t>
              </a:r>
              <a:r>
                <a:rPr b="1" lang="en" sz="879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b="0" lang="en" sz="879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{</a:t>
              </a:r>
              <a:endParaRPr b="0" sz="879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42875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b="0" lang="en" sz="879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"Given condition is false"</a:t>
              </a:r>
              <a:r>
                <a:rPr b="0" lang="en" sz="879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0" sz="879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879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694">
                  <a:solidFill>
                    <a:srgbClr val="FDA4A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➔ NOTE: Since a = 5, the else block executes.</a:t>
              </a:r>
              <a:endParaRPr b="0" sz="694">
                <a:solidFill>
                  <a:srgbClr val="FDA4A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105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Switch Statement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682" name="Google Shape;1682;p105"/>
          <p:cNvGrpSpPr/>
          <p:nvPr/>
        </p:nvGrpSpPr>
        <p:grpSpPr>
          <a:xfrm>
            <a:off x="476250" y="1238250"/>
            <a:ext cx="8191500" cy="857400"/>
            <a:chOff x="0" y="0"/>
            <a:chExt cx="8191500" cy="857400"/>
          </a:xfrm>
        </p:grpSpPr>
        <p:sp>
          <p:nvSpPr>
            <p:cNvPr id="1683" name="Google Shape;1683;p105"/>
            <p:cNvSpPr/>
            <p:nvPr/>
          </p:nvSpPr>
          <p:spPr>
            <a:xfrm>
              <a:off x="0" y="0"/>
              <a:ext cx="8191500" cy="8574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105"/>
            <p:cNvSpPr txBox="1"/>
            <p:nvPr/>
          </p:nvSpPr>
          <p:spPr>
            <a:xfrm>
              <a:off x="190500" y="142875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Definition</a:t>
              </a:r>
              <a:endParaRPr b="0" sz="925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switch statement</a:t>
              </a:r>
              <a:r>
                <a:rPr b="0" lang="en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is used to choose and execute only one option from multiple available choices based on an expression's value.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85" name="Google Shape;1685;p105"/>
          <p:cNvGrpSpPr/>
          <p:nvPr/>
        </p:nvGrpSpPr>
        <p:grpSpPr>
          <a:xfrm>
            <a:off x="476250" y="2333625"/>
            <a:ext cx="3905400" cy="2428800"/>
            <a:chOff x="0" y="0"/>
            <a:chExt cx="3905400" cy="2428800"/>
          </a:xfrm>
        </p:grpSpPr>
        <p:sp>
          <p:nvSpPr>
            <p:cNvPr id="1686" name="Google Shape;1686;p105"/>
            <p:cNvSpPr/>
            <p:nvPr/>
          </p:nvSpPr>
          <p:spPr>
            <a:xfrm>
              <a:off x="0" y="0"/>
              <a:ext cx="3905400" cy="2428800"/>
            </a:xfrm>
            <a:prstGeom prst="roundRect">
              <a:avLst>
                <a:gd fmla="val 3137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105"/>
            <p:cNvSpPr txBox="1"/>
            <p:nvPr/>
          </p:nvSpPr>
          <p:spPr>
            <a:xfrm>
              <a:off x="228600" y="190500"/>
              <a:ext cx="3448200" cy="20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SYNTAX</a:t>
              </a:r>
              <a:endParaRPr b="1" sz="93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switch </a:t>
              </a:r>
              <a:r>
                <a:rPr b="0" lang="en" sz="935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(expression) {</a:t>
              </a:r>
              <a:endParaRPr b="1" sz="935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case </a:t>
              </a:r>
              <a:r>
                <a:rPr b="0" lang="en" sz="935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value1:</a:t>
              </a:r>
              <a:endParaRPr b="1" sz="935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81000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statements</a:t>
              </a:r>
              <a:endParaRPr b="0" sz="935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81000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break;</a:t>
              </a:r>
              <a:endParaRPr b="1" sz="935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case </a:t>
              </a:r>
              <a:r>
                <a:rPr b="0" lang="en" sz="935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value2:</a:t>
              </a:r>
              <a:endParaRPr b="1" sz="935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81000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statements</a:t>
              </a:r>
              <a:endParaRPr b="0" sz="935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default:</a:t>
              </a:r>
              <a:endParaRPr b="1" sz="935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81000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default statements</a:t>
              </a:r>
              <a:endParaRPr b="0" sz="935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935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688" name="Google Shape;1688;p105"/>
          <p:cNvGrpSpPr/>
          <p:nvPr/>
        </p:nvGrpSpPr>
        <p:grpSpPr>
          <a:xfrm>
            <a:off x="4762500" y="2333625"/>
            <a:ext cx="3905400" cy="2428800"/>
            <a:chOff x="0" y="0"/>
            <a:chExt cx="3905400" cy="2428800"/>
          </a:xfrm>
        </p:grpSpPr>
        <p:sp>
          <p:nvSpPr>
            <p:cNvPr id="1689" name="Google Shape;1689;p105"/>
            <p:cNvSpPr/>
            <p:nvPr/>
          </p:nvSpPr>
          <p:spPr>
            <a:xfrm>
              <a:off x="0" y="0"/>
              <a:ext cx="3905400" cy="2428800"/>
            </a:xfrm>
            <a:prstGeom prst="roundRect">
              <a:avLst>
                <a:gd fmla="val 31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105"/>
            <p:cNvSpPr txBox="1"/>
            <p:nvPr/>
          </p:nvSpPr>
          <p:spPr>
            <a:xfrm>
              <a:off x="228600" y="190500"/>
              <a:ext cx="3448200" cy="20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KEY CONCEPTS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Expression: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Evaluated once and compared with each case value.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Break: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Terminates the switch block execution. If omitted, execution falls through to subsequent cases.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Default Case: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Optional block that runs if no matching case is found.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5" name="Google Shape;1695;p106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696" name="Google Shape;1696;p106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106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Switch Case: Example 1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698" name="Google Shape;1698;p106"/>
          <p:cNvGrpSpPr/>
          <p:nvPr/>
        </p:nvGrpSpPr>
        <p:grpSpPr>
          <a:xfrm>
            <a:off x="476250" y="1333500"/>
            <a:ext cx="3905400" cy="3381300"/>
            <a:chOff x="0" y="0"/>
            <a:chExt cx="3905400" cy="3381300"/>
          </a:xfrm>
        </p:grpSpPr>
        <p:sp>
          <p:nvSpPr>
            <p:cNvPr id="1699" name="Google Shape;1699;p106"/>
            <p:cNvSpPr/>
            <p:nvPr/>
          </p:nvSpPr>
          <p:spPr>
            <a:xfrm>
              <a:off x="0" y="0"/>
              <a:ext cx="3905400" cy="3381300"/>
            </a:xfrm>
            <a:prstGeom prst="roundRect">
              <a:avLst>
                <a:gd fmla="val 2253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106"/>
            <p:cNvSpPr txBox="1"/>
            <p:nvPr/>
          </p:nvSpPr>
          <p:spPr>
            <a:xfrm>
              <a:off x="190500" y="190500"/>
              <a:ext cx="35244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SOURCE CODE</a:t>
              </a:r>
              <a:endParaRPr b="1" sz="92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Switchcase {</a:t>
              </a:r>
              <a:endParaRPr sz="833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42875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static void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main(String args[]) {</a:t>
              </a:r>
              <a:endParaRPr sz="833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8575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color = </a:t>
              </a:r>
              <a:r>
                <a:rPr lang="en" sz="833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'r'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833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8575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switch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(color) {</a:t>
              </a:r>
              <a:endParaRPr sz="833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28625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case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833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'r'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System.out.println(</a:t>
              </a:r>
              <a:r>
                <a:rPr lang="en" sz="833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"red"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sz="833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5715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break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833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28625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case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833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'y'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System.out.println(</a:t>
              </a:r>
              <a:r>
                <a:rPr lang="en" sz="833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"yellow"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sz="833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5715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break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833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28625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case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833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'w'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System.out.println(</a:t>
              </a:r>
              <a:r>
                <a:rPr lang="en" sz="833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"white"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sz="833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5715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break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833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28625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case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833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'b'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System.out.println(</a:t>
              </a:r>
              <a:r>
                <a:rPr lang="en" sz="833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"black"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sz="833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5715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break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833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28625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default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System.out.println(</a:t>
              </a:r>
              <a:r>
                <a:rPr lang="en" sz="833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"No color selected"</a:t>
              </a: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sz="833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8575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833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42875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833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33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833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701" name="Google Shape;1701;p106"/>
          <p:cNvGrpSpPr/>
          <p:nvPr/>
        </p:nvGrpSpPr>
        <p:grpSpPr>
          <a:xfrm>
            <a:off x="4762500" y="1333500"/>
            <a:ext cx="3905400" cy="3381300"/>
            <a:chOff x="0" y="0"/>
            <a:chExt cx="3905400" cy="3381300"/>
          </a:xfrm>
        </p:grpSpPr>
        <p:sp>
          <p:nvSpPr>
            <p:cNvPr id="1702" name="Google Shape;1702;p106"/>
            <p:cNvSpPr/>
            <p:nvPr/>
          </p:nvSpPr>
          <p:spPr>
            <a:xfrm>
              <a:off x="0" y="0"/>
              <a:ext cx="3905400" cy="3381300"/>
            </a:xfrm>
            <a:prstGeom prst="roundRect">
              <a:avLst>
                <a:gd fmla="val 2253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106"/>
            <p:cNvSpPr txBox="1"/>
            <p:nvPr/>
          </p:nvSpPr>
          <p:spPr>
            <a:xfrm>
              <a:off x="190500" y="190500"/>
              <a:ext cx="35244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TERMINAL OUTPUT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PS C:\Users\HP\Desktop\itm\JAVA\practicals_2023&gt; </a:t>
              </a:r>
              <a:r>
                <a:rPr lang="en" sz="9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javac</a:t>
              </a:r>
              <a:r>
                <a:rPr lang="en" sz="9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Switchcase.java</a:t>
              </a:r>
              <a:endParaRPr sz="9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PS C:\Users\HP\Desktop\itm\JAVA\practicals_2023&gt; </a:t>
              </a:r>
              <a:r>
                <a:rPr lang="en" sz="9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java</a:t>
              </a:r>
              <a:r>
                <a:rPr lang="en" sz="9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Switchcase</a:t>
              </a:r>
              <a:endParaRPr sz="9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red</a:t>
              </a:r>
              <a:endParaRPr b="1" sz="13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8" name="Google Shape;1708;p107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709" name="Google Shape;1709;p107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107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Switch Case: Example 2 (Without Break)</a:t>
              </a:r>
              <a:endParaRPr b="1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11" name="Google Shape;1711;p107"/>
          <p:cNvGrpSpPr/>
          <p:nvPr/>
        </p:nvGrpSpPr>
        <p:grpSpPr>
          <a:xfrm>
            <a:off x="476250" y="1333500"/>
            <a:ext cx="4762500" cy="3333900"/>
            <a:chOff x="0" y="0"/>
            <a:chExt cx="4762500" cy="3333900"/>
          </a:xfrm>
        </p:grpSpPr>
        <p:sp>
          <p:nvSpPr>
            <p:cNvPr id="1712" name="Google Shape;1712;p107"/>
            <p:cNvSpPr/>
            <p:nvPr/>
          </p:nvSpPr>
          <p:spPr>
            <a:xfrm>
              <a:off x="0" y="0"/>
              <a:ext cx="4762500" cy="3333900"/>
            </a:xfrm>
            <a:prstGeom prst="roundRect">
              <a:avLst>
                <a:gd fmla="val 2285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107"/>
            <p:cNvSpPr txBox="1"/>
            <p:nvPr/>
          </p:nvSpPr>
          <p:spPr>
            <a:xfrm>
              <a:off x="190500" y="190500"/>
              <a:ext cx="4381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SOURCE CODE</a:t>
              </a:r>
              <a:endParaRPr b="1" sz="786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import </a:t>
              </a:r>
              <a:r>
                <a:rPr b="0" lang="en" sz="786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java.util.Scanner;</a:t>
              </a:r>
              <a:endParaRPr b="1" sz="786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 </a:t>
              </a:r>
              <a:r>
                <a:rPr b="0" lang="en" sz="786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Switchcase {</a:t>
              </a:r>
              <a:endParaRPr b="1" sz="786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static void </a:t>
              </a:r>
              <a:r>
                <a:rPr b="0" lang="en" sz="786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main(String args[]) {</a:t>
              </a:r>
              <a:endParaRPr b="1" sz="786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810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Scanner sc = </a:t>
              </a:r>
              <a:r>
                <a:rPr b="1" lang="en" sz="786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new</a:t>
              </a:r>
              <a:r>
                <a:rPr b="0" lang="en" sz="786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Scanner(System.in);</a:t>
              </a:r>
              <a:endParaRPr b="0" sz="786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810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b="0" lang="en" sz="786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"Enter the day: "</a:t>
              </a:r>
              <a:r>
                <a:rPr b="0" lang="en" sz="786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0" sz="786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810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 day = sc.nextLine();</a:t>
              </a:r>
              <a:endParaRPr b="0" sz="786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810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switch </a:t>
              </a:r>
              <a:r>
                <a:rPr b="0" lang="en" sz="786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(day) {</a:t>
              </a:r>
              <a:endParaRPr b="1" sz="786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5715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case </a:t>
              </a:r>
              <a:r>
                <a:rPr b="0" lang="en" sz="786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"Saturday", "Sunday"</a:t>
              </a:r>
              <a:r>
                <a:rPr b="1" lang="en" sz="786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786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-&gt;</a:t>
              </a:r>
              <a:endParaRPr b="1" sz="786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7620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b="0" lang="en" sz="786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"Holiday"</a:t>
              </a:r>
              <a:r>
                <a:rPr b="0" lang="en" sz="786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0" sz="786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5715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case </a:t>
              </a:r>
              <a:r>
                <a:rPr b="0" lang="en" sz="786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"Monday", "Tuesday", "Wednesday",</a:t>
              </a:r>
              <a:endParaRPr b="1" sz="786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6350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"Thursday", "Friday" </a:t>
              </a:r>
              <a:r>
                <a:rPr b="1" lang="en" sz="786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-&gt;</a:t>
              </a:r>
              <a:endParaRPr b="0" sz="786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7620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b="0" lang="en" sz="786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"Working Day"</a:t>
              </a:r>
              <a:r>
                <a:rPr b="0" lang="en" sz="786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0" sz="786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5715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default </a:t>
              </a:r>
              <a:r>
                <a:rPr b="1" lang="en" sz="786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-&gt;</a:t>
              </a:r>
              <a:endParaRPr b="1" sz="786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7620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b="0" lang="en" sz="786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"Wrong input"</a:t>
              </a:r>
              <a:r>
                <a:rPr b="0" lang="en" sz="786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0" sz="786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810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786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786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786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714" name="Google Shape;1714;p107"/>
          <p:cNvGrpSpPr/>
          <p:nvPr/>
        </p:nvGrpSpPr>
        <p:grpSpPr>
          <a:xfrm>
            <a:off x="5524500" y="1333500"/>
            <a:ext cx="3143400" cy="3333900"/>
            <a:chOff x="0" y="0"/>
            <a:chExt cx="3143400" cy="3333900"/>
          </a:xfrm>
        </p:grpSpPr>
        <p:sp>
          <p:nvSpPr>
            <p:cNvPr id="1715" name="Google Shape;1715;p107"/>
            <p:cNvSpPr/>
            <p:nvPr/>
          </p:nvSpPr>
          <p:spPr>
            <a:xfrm>
              <a:off x="0" y="0"/>
              <a:ext cx="3143400" cy="33339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107"/>
            <p:cNvSpPr txBox="1"/>
            <p:nvPr/>
          </p:nvSpPr>
          <p:spPr>
            <a:xfrm>
              <a:off x="228600" y="190500"/>
              <a:ext cx="26862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KEY FEATURES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0F172A"/>
                </a:buClr>
                <a:buSzPts val="1000"/>
                <a:buFont typeface="Inter"/>
                <a:buChar char="●"/>
              </a:pP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Arrow Syntax (-&gt;):</a:t>
              </a:r>
              <a:b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Introduced in modern Java. Only the expression or block to the right of the arrow is executed. No fall-through occurs, completely eliminating the need for explicit </a:t>
              </a:r>
              <a:r>
                <a:rPr b="1" lang="en" sz="95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break;</a:t>
              </a:r>
              <a:r>
                <a:rPr b="0"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statements.</a:t>
              </a:r>
              <a:endParaRPr b="1" sz="1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0F172A"/>
                </a:buClr>
                <a:buSzPts val="1000"/>
                <a:buFont typeface="Inter"/>
                <a:buChar char="●"/>
              </a:pP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Multiple Case Labels:</a:t>
              </a:r>
              <a:b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Allows grouping multiple comma-separated constants within a single case block, making the syntax highly compact and clean.</a:t>
              </a:r>
              <a:endParaRPr b="1" sz="1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108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Switch Case: Example 2 (Outputs)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722" name="Google Shape;1722;p108"/>
          <p:cNvGrpSpPr/>
          <p:nvPr/>
        </p:nvGrpSpPr>
        <p:grpSpPr>
          <a:xfrm>
            <a:off x="476250" y="1524000"/>
            <a:ext cx="2476500" cy="2952900"/>
            <a:chOff x="0" y="0"/>
            <a:chExt cx="2476500" cy="2952900"/>
          </a:xfrm>
        </p:grpSpPr>
        <p:sp>
          <p:nvSpPr>
            <p:cNvPr id="1723" name="Google Shape;1723;p108"/>
            <p:cNvSpPr/>
            <p:nvPr/>
          </p:nvSpPr>
          <p:spPr>
            <a:xfrm>
              <a:off x="0" y="0"/>
              <a:ext cx="2476500" cy="2952900"/>
            </a:xfrm>
            <a:prstGeom prst="roundRect">
              <a:avLst>
                <a:gd fmla="val 3076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108"/>
            <p:cNvSpPr txBox="1"/>
            <p:nvPr/>
          </p:nvSpPr>
          <p:spPr>
            <a:xfrm>
              <a:off x="0" y="0"/>
              <a:ext cx="2476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TEST RUN 01</a:t>
              </a:r>
              <a:endParaRPr b="1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PS C:\...\practicals_2023&gt; </a:t>
              </a:r>
              <a:r>
                <a:rPr lang="en" sz="9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java</a:t>
              </a:r>
              <a:r>
                <a:rPr lang="en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Switchcase</a:t>
              </a:r>
              <a:endParaRPr sz="9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Enter the day:</a:t>
              </a:r>
              <a:endParaRPr sz="10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Sunday</a:t>
              </a:r>
              <a:endParaRPr b="1" sz="10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OUTPUT</a:t>
              </a:r>
              <a:endParaRPr b="1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Holiday</a:t>
              </a:r>
              <a:endParaRPr b="1" sz="16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725" name="Google Shape;1725;p108"/>
          <p:cNvGrpSpPr/>
          <p:nvPr/>
        </p:nvGrpSpPr>
        <p:grpSpPr>
          <a:xfrm>
            <a:off x="3333750" y="1524000"/>
            <a:ext cx="2476500" cy="2952900"/>
            <a:chOff x="0" y="0"/>
            <a:chExt cx="2476500" cy="2952900"/>
          </a:xfrm>
        </p:grpSpPr>
        <p:sp>
          <p:nvSpPr>
            <p:cNvPr id="1726" name="Google Shape;1726;p108"/>
            <p:cNvSpPr/>
            <p:nvPr/>
          </p:nvSpPr>
          <p:spPr>
            <a:xfrm>
              <a:off x="0" y="0"/>
              <a:ext cx="2476500" cy="2952900"/>
            </a:xfrm>
            <a:prstGeom prst="roundRect">
              <a:avLst>
                <a:gd fmla="val 3076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108"/>
            <p:cNvSpPr txBox="1"/>
            <p:nvPr/>
          </p:nvSpPr>
          <p:spPr>
            <a:xfrm>
              <a:off x="0" y="0"/>
              <a:ext cx="2476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TEST RUN 02</a:t>
              </a:r>
              <a:endParaRPr b="1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PS C:\...\practicals_2023&gt; </a:t>
              </a:r>
              <a:r>
                <a:rPr lang="en" sz="9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java</a:t>
              </a:r>
              <a:r>
                <a:rPr lang="en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Switchcase</a:t>
              </a:r>
              <a:endParaRPr sz="9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Enter the day:</a:t>
              </a:r>
              <a:endParaRPr sz="10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Monday</a:t>
              </a:r>
              <a:endParaRPr b="1" sz="10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OUTPUT</a:t>
              </a:r>
              <a:endParaRPr b="1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Working Day</a:t>
              </a:r>
              <a:endParaRPr b="1" sz="16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728" name="Google Shape;1728;p108"/>
          <p:cNvGrpSpPr/>
          <p:nvPr/>
        </p:nvGrpSpPr>
        <p:grpSpPr>
          <a:xfrm>
            <a:off x="6191250" y="1524000"/>
            <a:ext cx="2476500" cy="2952900"/>
            <a:chOff x="0" y="0"/>
            <a:chExt cx="2476500" cy="2952900"/>
          </a:xfrm>
        </p:grpSpPr>
        <p:sp>
          <p:nvSpPr>
            <p:cNvPr id="1729" name="Google Shape;1729;p108"/>
            <p:cNvSpPr/>
            <p:nvPr/>
          </p:nvSpPr>
          <p:spPr>
            <a:xfrm>
              <a:off x="0" y="0"/>
              <a:ext cx="2476500" cy="2952900"/>
            </a:xfrm>
            <a:prstGeom prst="roundRect">
              <a:avLst>
                <a:gd fmla="val 3076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108"/>
            <p:cNvSpPr txBox="1"/>
            <p:nvPr/>
          </p:nvSpPr>
          <p:spPr>
            <a:xfrm>
              <a:off x="0" y="0"/>
              <a:ext cx="2476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TEST RUN 03</a:t>
              </a:r>
              <a:endParaRPr b="1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PS C:\...\practicals_2023&gt; </a:t>
              </a:r>
              <a:r>
                <a:rPr lang="en" sz="9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java</a:t>
              </a:r>
              <a:r>
                <a:rPr lang="en" sz="9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Switchcase</a:t>
              </a:r>
              <a:endParaRPr sz="9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Enter the day:</a:t>
              </a:r>
              <a:endParaRPr sz="10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xyz</a:t>
              </a:r>
              <a:endParaRPr b="1" sz="10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OUTPUT</a:t>
              </a:r>
              <a:endParaRPr b="1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Wrong input</a:t>
              </a:r>
              <a:endParaRPr b="1" sz="16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109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Looping/Iteration Statements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736" name="Google Shape;1736;p109"/>
          <p:cNvGrpSpPr/>
          <p:nvPr/>
        </p:nvGrpSpPr>
        <p:grpSpPr>
          <a:xfrm>
            <a:off x="476250" y="1381125"/>
            <a:ext cx="2533800" cy="3286200"/>
            <a:chOff x="0" y="0"/>
            <a:chExt cx="2533800" cy="3286200"/>
          </a:xfrm>
        </p:grpSpPr>
        <p:sp>
          <p:nvSpPr>
            <p:cNvPr id="1737" name="Google Shape;1737;p109"/>
            <p:cNvSpPr/>
            <p:nvPr/>
          </p:nvSpPr>
          <p:spPr>
            <a:xfrm>
              <a:off x="0" y="0"/>
              <a:ext cx="2533800" cy="3286200"/>
            </a:xfrm>
            <a:prstGeom prst="roundRect">
              <a:avLst>
                <a:gd fmla="val 300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109"/>
            <p:cNvSpPr txBox="1"/>
            <p:nvPr/>
          </p:nvSpPr>
          <p:spPr>
            <a:xfrm>
              <a:off x="0" y="0"/>
              <a:ext cx="2533800" cy="3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Types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Java Loop Types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Iteration statements in java are: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Courier New"/>
                <a:buChar char="●"/>
              </a:pPr>
              <a:r>
                <a:rPr b="1" lang="en" sz="12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</a:t>
              </a:r>
              <a:endParaRPr b="1" sz="12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Courier New"/>
                <a:buChar char="●"/>
              </a:pPr>
              <a:r>
                <a:rPr b="1" lang="en" sz="12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while</a:t>
              </a:r>
              <a:endParaRPr b="1" sz="12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Courier New"/>
                <a:buChar char="●"/>
              </a:pPr>
              <a:r>
                <a:rPr b="1" lang="en" sz="12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do-while</a:t>
              </a:r>
              <a:endParaRPr b="1" sz="12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739" name="Google Shape;1739;p109"/>
          <p:cNvGrpSpPr/>
          <p:nvPr/>
        </p:nvGrpSpPr>
        <p:grpSpPr>
          <a:xfrm>
            <a:off x="3295650" y="1381125"/>
            <a:ext cx="2533800" cy="3286200"/>
            <a:chOff x="0" y="0"/>
            <a:chExt cx="2533800" cy="3286200"/>
          </a:xfrm>
        </p:grpSpPr>
        <p:sp>
          <p:nvSpPr>
            <p:cNvPr id="1740" name="Google Shape;1740;p109"/>
            <p:cNvSpPr/>
            <p:nvPr/>
          </p:nvSpPr>
          <p:spPr>
            <a:xfrm>
              <a:off x="0" y="0"/>
              <a:ext cx="2533800" cy="3286200"/>
            </a:xfrm>
            <a:prstGeom prst="roundRect">
              <a:avLst>
                <a:gd fmla="val 300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109"/>
            <p:cNvSpPr txBox="1"/>
            <p:nvPr/>
          </p:nvSpPr>
          <p:spPr>
            <a:xfrm>
              <a:off x="0" y="0"/>
              <a:ext cx="2533800" cy="3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Purpose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Repetitive Execution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These statements are used to repeat same set of instructions specified number of times called </a:t>
              </a: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loops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42" name="Google Shape;1742;p109"/>
          <p:cNvGrpSpPr/>
          <p:nvPr/>
        </p:nvGrpSpPr>
        <p:grpSpPr>
          <a:xfrm>
            <a:off x="6115050" y="1381125"/>
            <a:ext cx="2552700" cy="3286200"/>
            <a:chOff x="0" y="0"/>
            <a:chExt cx="2552700" cy="3286200"/>
          </a:xfrm>
        </p:grpSpPr>
        <p:sp>
          <p:nvSpPr>
            <p:cNvPr id="1743" name="Google Shape;1743;p109"/>
            <p:cNvSpPr/>
            <p:nvPr/>
          </p:nvSpPr>
          <p:spPr>
            <a:xfrm>
              <a:off x="0" y="0"/>
              <a:ext cx="2552700" cy="3286200"/>
            </a:xfrm>
            <a:prstGeom prst="roundRect">
              <a:avLst>
                <a:gd fmla="val 298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109"/>
            <p:cNvSpPr txBox="1"/>
            <p:nvPr/>
          </p:nvSpPr>
          <p:spPr>
            <a:xfrm>
              <a:off x="0" y="0"/>
              <a:ext cx="2552700" cy="3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Control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Termination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loop repeatedly executes the same set of instructions </a:t>
              </a: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until a termination condition is met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110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While Loop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0" name="Google Shape;1750;p110"/>
          <p:cNvSpPr txBox="1"/>
          <p:nvPr/>
        </p:nvSpPr>
        <p:spPr>
          <a:xfrm>
            <a:off x="476250" y="1428750"/>
            <a:ext cx="39054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01 / REPETITION</a:t>
            </a:r>
            <a:endParaRPr b="0" sz="9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Loop Condition</a:t>
            </a:r>
            <a:endParaRPr b="1" sz="16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while loop repeats a group of statements as long as the specified condition remains true.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02 / TERMINATION</a:t>
            </a:r>
            <a:endParaRPr b="0" sz="9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Loop Exit</a:t>
            </a:r>
            <a:endParaRPr b="1" sz="16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Once the condition evaluates to false, the loop is immediately terminated and control exits.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03 / CONTROL FLOW</a:t>
            </a:r>
            <a:endParaRPr b="0" sz="9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Entry Control Loop</a:t>
            </a:r>
            <a:endParaRPr b="1" sz="16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condition is tested first. Statements are executed only if the condition is true.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751" name="Google Shape;1751;p110"/>
          <p:cNvGrpSpPr/>
          <p:nvPr/>
        </p:nvGrpSpPr>
        <p:grpSpPr>
          <a:xfrm>
            <a:off x="4857750" y="1428750"/>
            <a:ext cx="3810000" cy="3238500"/>
            <a:chOff x="0" y="0"/>
            <a:chExt cx="3810000" cy="3238500"/>
          </a:xfrm>
        </p:grpSpPr>
        <p:sp>
          <p:nvSpPr>
            <p:cNvPr id="1752" name="Google Shape;1752;p110"/>
            <p:cNvSpPr/>
            <p:nvPr/>
          </p:nvSpPr>
          <p:spPr>
            <a:xfrm>
              <a:off x="0" y="0"/>
              <a:ext cx="3810000" cy="3238500"/>
            </a:xfrm>
            <a:prstGeom prst="roundRect">
              <a:avLst>
                <a:gd fmla="val 2352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110"/>
            <p:cNvSpPr txBox="1"/>
            <p:nvPr/>
          </p:nvSpPr>
          <p:spPr>
            <a:xfrm>
              <a:off x="0" y="0"/>
              <a:ext cx="3810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SYNTAX STRUCTURE</a:t>
              </a:r>
              <a:endParaRPr b="1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while</a:t>
              </a:r>
              <a:r>
                <a:rPr lang="en" sz="14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</a:t>
              </a:r>
              <a:r>
                <a:rPr lang="en" sz="14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condition</a:t>
              </a:r>
              <a:r>
                <a:rPr lang="en" sz="14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4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4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i="1" lang="en" sz="14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Statements;</a:t>
              </a:r>
              <a:endParaRPr i="1" sz="14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4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111"/>
          <p:cNvSpPr txBox="1"/>
          <p:nvPr>
            <p:ph type="title"/>
          </p:nvPr>
        </p:nvSpPr>
        <p:spPr>
          <a:xfrm>
            <a:off x="476250" y="38100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While Loop: Example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759" name="Google Shape;1759;p111"/>
          <p:cNvGrpSpPr/>
          <p:nvPr/>
        </p:nvGrpSpPr>
        <p:grpSpPr>
          <a:xfrm>
            <a:off x="476250" y="1381125"/>
            <a:ext cx="3905400" cy="3286200"/>
            <a:chOff x="0" y="0"/>
            <a:chExt cx="3905400" cy="3286200"/>
          </a:xfrm>
        </p:grpSpPr>
        <p:sp>
          <p:nvSpPr>
            <p:cNvPr id="1760" name="Google Shape;1760;p111"/>
            <p:cNvSpPr/>
            <p:nvPr/>
          </p:nvSpPr>
          <p:spPr>
            <a:xfrm>
              <a:off x="0" y="0"/>
              <a:ext cx="3905400" cy="3286200"/>
            </a:xfrm>
            <a:prstGeom prst="roundRect">
              <a:avLst>
                <a:gd fmla="val 231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111"/>
            <p:cNvSpPr txBox="1"/>
            <p:nvPr/>
          </p:nvSpPr>
          <p:spPr>
            <a:xfrm>
              <a:off x="228600" y="228600"/>
              <a:ext cx="3448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CODE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Java Implementation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762" name="Google Shape;1762;p111"/>
          <p:cNvGrpSpPr/>
          <p:nvPr/>
        </p:nvGrpSpPr>
        <p:grpSpPr>
          <a:xfrm>
            <a:off x="4762500" y="1381125"/>
            <a:ext cx="3905400" cy="3286200"/>
            <a:chOff x="0" y="0"/>
            <a:chExt cx="3905400" cy="3286200"/>
          </a:xfrm>
        </p:grpSpPr>
        <p:sp>
          <p:nvSpPr>
            <p:cNvPr id="1763" name="Google Shape;1763;p111"/>
            <p:cNvSpPr/>
            <p:nvPr/>
          </p:nvSpPr>
          <p:spPr>
            <a:xfrm>
              <a:off x="0" y="0"/>
              <a:ext cx="3905400" cy="3286200"/>
            </a:xfrm>
            <a:prstGeom prst="roundRect">
              <a:avLst>
                <a:gd fmla="val 231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111"/>
            <p:cNvSpPr txBox="1"/>
            <p:nvPr/>
          </p:nvSpPr>
          <p:spPr>
            <a:xfrm>
              <a:off x="228600" y="228600"/>
              <a:ext cx="3448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OUTPUT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Console Execution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pic>
        <p:nvPicPr>
          <p:cNvPr id="1765" name="Google Shape;1765;p111"/>
          <p:cNvPicPr preferRelativeResize="0"/>
          <p:nvPr/>
        </p:nvPicPr>
        <p:blipFill rotWithShape="1">
          <a:blip r:embed="rId4">
            <a:alphaModFix/>
          </a:blip>
          <a:srcRect b="40" l="0" r="0" t="40"/>
          <a:stretch/>
        </p:blipFill>
        <p:spPr>
          <a:xfrm>
            <a:off x="666750" y="2190750"/>
            <a:ext cx="35244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6" name="Google Shape;1766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3100" y="2190750"/>
            <a:ext cx="3524400" cy="47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1" name="Google Shape;1771;p112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772" name="Google Shape;1772;p112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112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do-while Loop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774" name="Google Shape;1774;p112"/>
          <p:cNvGrpSpPr/>
          <p:nvPr/>
        </p:nvGrpSpPr>
        <p:grpSpPr>
          <a:xfrm>
            <a:off x="476250" y="1428750"/>
            <a:ext cx="3905400" cy="3238500"/>
            <a:chOff x="0" y="0"/>
            <a:chExt cx="3905400" cy="3238500"/>
          </a:xfrm>
        </p:grpSpPr>
        <p:sp>
          <p:nvSpPr>
            <p:cNvPr id="1775" name="Google Shape;1775;p112"/>
            <p:cNvSpPr/>
            <p:nvPr/>
          </p:nvSpPr>
          <p:spPr>
            <a:xfrm>
              <a:off x="0" y="0"/>
              <a:ext cx="39054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112"/>
            <p:cNvSpPr txBox="1"/>
            <p:nvPr/>
          </p:nvSpPr>
          <p:spPr>
            <a:xfrm>
              <a:off x="0" y="0"/>
              <a:ext cx="39054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REPETITION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Loop Condition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do...while loop repeats a group of statements as long as the specified condition remains true.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1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EXECUTION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First Execution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 a do...while loop, the statements are executed first, and then the loop condition is tested.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1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/ CONTROL FLOW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Exit Control Loop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Because it evaluates the condition at the end of the loop, it is commonly referred to as an exit control loop.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777" name="Google Shape;1777;p112"/>
          <p:cNvGrpSpPr/>
          <p:nvPr/>
        </p:nvGrpSpPr>
        <p:grpSpPr>
          <a:xfrm>
            <a:off x="4857750" y="1428750"/>
            <a:ext cx="3810000" cy="3238500"/>
            <a:chOff x="0" y="0"/>
            <a:chExt cx="3810000" cy="3238500"/>
          </a:xfrm>
        </p:grpSpPr>
        <p:sp>
          <p:nvSpPr>
            <p:cNvPr id="1778" name="Google Shape;1778;p112"/>
            <p:cNvSpPr/>
            <p:nvPr/>
          </p:nvSpPr>
          <p:spPr>
            <a:xfrm>
              <a:off x="0" y="0"/>
              <a:ext cx="3810000" cy="3238500"/>
            </a:xfrm>
            <a:prstGeom prst="roundRect">
              <a:avLst>
                <a:gd fmla="val 2352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79" name="Google Shape;1779;p112"/>
            <p:cNvGrpSpPr/>
            <p:nvPr/>
          </p:nvGrpSpPr>
          <p:grpSpPr>
            <a:xfrm>
              <a:off x="228600" y="228600"/>
              <a:ext cx="3352800" cy="2781300"/>
              <a:chOff x="0" y="0"/>
              <a:chExt cx="3352800" cy="2781300"/>
            </a:xfrm>
          </p:grpSpPr>
          <p:sp>
            <p:nvSpPr>
              <p:cNvPr id="1780" name="Google Shape;1780;p112"/>
              <p:cNvSpPr/>
              <p:nvPr/>
            </p:nvSpPr>
            <p:spPr>
              <a:xfrm>
                <a:off x="0" y="0"/>
                <a:ext cx="3352800" cy="2781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1" name="Google Shape;1781;p112"/>
              <p:cNvSpPr txBox="1"/>
              <p:nvPr/>
            </p:nvSpPr>
            <p:spPr>
              <a:xfrm>
                <a:off x="0" y="0"/>
                <a:ext cx="3352800" cy="278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SYNTAX STRUCTURE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do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171450" marR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i="1" lang="en" sz="14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Statements;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 </a:t>
                </a:r>
                <a:r>
                  <a:rPr b="1" lang="en" sz="14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while</a:t>
                </a:r>
                <a:r>
                  <a:rPr b="0" lang="en" sz="14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(</a:t>
                </a:r>
                <a:r>
                  <a:rPr b="0" lang="en" sz="140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condition</a:t>
                </a:r>
                <a:r>
                  <a:rPr b="0" lang="en" sz="14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);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113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do-while Loop: Example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787" name="Google Shape;1787;p113"/>
          <p:cNvGrpSpPr/>
          <p:nvPr/>
        </p:nvGrpSpPr>
        <p:grpSpPr>
          <a:xfrm>
            <a:off x="476250" y="1381125"/>
            <a:ext cx="3905400" cy="3286200"/>
            <a:chOff x="0" y="0"/>
            <a:chExt cx="3905400" cy="3286200"/>
          </a:xfrm>
        </p:grpSpPr>
        <p:sp>
          <p:nvSpPr>
            <p:cNvPr id="1788" name="Google Shape;1788;p113"/>
            <p:cNvSpPr/>
            <p:nvPr/>
          </p:nvSpPr>
          <p:spPr>
            <a:xfrm>
              <a:off x="0" y="0"/>
              <a:ext cx="3905400" cy="3286200"/>
            </a:xfrm>
            <a:prstGeom prst="roundRect">
              <a:avLst>
                <a:gd fmla="val 231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113"/>
            <p:cNvSpPr txBox="1"/>
            <p:nvPr/>
          </p:nvSpPr>
          <p:spPr>
            <a:xfrm>
              <a:off x="228600" y="228600"/>
              <a:ext cx="3448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CODE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Java Implementation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790" name="Google Shape;1790;p113"/>
          <p:cNvGrpSpPr/>
          <p:nvPr/>
        </p:nvGrpSpPr>
        <p:grpSpPr>
          <a:xfrm>
            <a:off x="4762500" y="1381125"/>
            <a:ext cx="3905400" cy="3286200"/>
            <a:chOff x="0" y="0"/>
            <a:chExt cx="3905400" cy="3286200"/>
          </a:xfrm>
        </p:grpSpPr>
        <p:sp>
          <p:nvSpPr>
            <p:cNvPr id="1791" name="Google Shape;1791;p113"/>
            <p:cNvSpPr/>
            <p:nvPr/>
          </p:nvSpPr>
          <p:spPr>
            <a:xfrm>
              <a:off x="0" y="0"/>
              <a:ext cx="3905400" cy="3286200"/>
            </a:xfrm>
            <a:prstGeom prst="roundRect">
              <a:avLst>
                <a:gd fmla="val 231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113"/>
            <p:cNvSpPr txBox="1"/>
            <p:nvPr/>
          </p:nvSpPr>
          <p:spPr>
            <a:xfrm>
              <a:off x="228600" y="228600"/>
              <a:ext cx="3448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OUTPUT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Console Execution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pic>
        <p:nvPicPr>
          <p:cNvPr id="1793" name="Google Shape;1793;p113"/>
          <p:cNvPicPr preferRelativeResize="0"/>
          <p:nvPr/>
        </p:nvPicPr>
        <p:blipFill rotWithShape="1">
          <a:blip r:embed="rId4">
            <a:alphaModFix/>
          </a:blip>
          <a:srcRect b="0" l="3557" r="3566" t="0"/>
          <a:stretch/>
        </p:blipFill>
        <p:spPr>
          <a:xfrm>
            <a:off x="666750" y="2190750"/>
            <a:ext cx="3524400" cy="2286000"/>
          </a:xfrm>
          <a:prstGeom prst="roundRect">
            <a:avLst>
              <a:gd fmla="val 1666" name="adj"/>
            </a:avLst>
          </a:prstGeom>
          <a:noFill/>
          <a:ln>
            <a:noFill/>
          </a:ln>
        </p:spPr>
      </p:pic>
      <p:pic>
        <p:nvPicPr>
          <p:cNvPr id="1794" name="Google Shape;1794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9650" y="2190750"/>
            <a:ext cx="3524401" cy="327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114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for Loop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800" name="Google Shape;1800;p114"/>
          <p:cNvSpPr txBox="1"/>
          <p:nvPr/>
        </p:nvSpPr>
        <p:spPr>
          <a:xfrm>
            <a:off x="476250" y="1428750"/>
            <a:ext cx="39054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01 / SYNTAX</a:t>
            </a:r>
            <a:endParaRPr b="0" sz="9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Compact Structure</a:t>
            </a:r>
            <a:endParaRPr b="0" sz="9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for loop is also same as do…while or while loop, but it is more compact syntactically.</a:t>
            </a:r>
            <a:endParaRPr b="0" sz="9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02 / EXECUTION</a:t>
            </a:r>
            <a:endParaRPr b="0" sz="9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Conditional Execution</a:t>
            </a:r>
            <a:endParaRPr b="0" sz="9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for loop executes a group of statements as long as a condition is true.</a:t>
            </a:r>
            <a:endParaRPr b="0" sz="9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801" name="Google Shape;1801;p114"/>
          <p:cNvSpPr/>
          <p:nvPr/>
        </p:nvSpPr>
        <p:spPr>
          <a:xfrm>
            <a:off x="4857750" y="1428750"/>
            <a:ext cx="3810000" cy="3238500"/>
          </a:xfrm>
          <a:prstGeom prst="roundRect">
            <a:avLst>
              <a:gd fmla="val 2352" name="adj"/>
            </a:avLst>
          </a:prstGeom>
          <a:solidFill>
            <a:srgbClr val="0F172A"/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114"/>
          <p:cNvSpPr txBox="1"/>
          <p:nvPr/>
        </p:nvSpPr>
        <p:spPr>
          <a:xfrm>
            <a:off x="5086350" y="1657350"/>
            <a:ext cx="3352800" cy="278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SYNTAX STRUCTURE</a:t>
            </a:r>
            <a:endParaRPr b="1" sz="9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" sz="14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0" lang="en" sz="14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initialisation</a:t>
            </a:r>
            <a:r>
              <a:rPr b="0" lang="en" sz="14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0" lang="en" sz="14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0" lang="en" sz="14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0" lang="en" sz="14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inc/dec</a:t>
            </a:r>
            <a:r>
              <a:rPr b="0" lang="en" sz="14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9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9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7145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1" lang="en" sz="14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// Statements;</a:t>
            </a:r>
            <a:endParaRPr b="1" sz="9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9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115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for Loop: Example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808" name="Google Shape;1808;p115"/>
          <p:cNvGrpSpPr/>
          <p:nvPr/>
        </p:nvGrpSpPr>
        <p:grpSpPr>
          <a:xfrm>
            <a:off x="476250" y="1381125"/>
            <a:ext cx="3905400" cy="3286200"/>
            <a:chOff x="0" y="0"/>
            <a:chExt cx="3905400" cy="3286200"/>
          </a:xfrm>
        </p:grpSpPr>
        <p:sp>
          <p:nvSpPr>
            <p:cNvPr id="1809" name="Google Shape;1809;p115"/>
            <p:cNvSpPr/>
            <p:nvPr/>
          </p:nvSpPr>
          <p:spPr>
            <a:xfrm>
              <a:off x="0" y="0"/>
              <a:ext cx="3905400" cy="3286200"/>
            </a:xfrm>
            <a:prstGeom prst="roundRect">
              <a:avLst>
                <a:gd fmla="val 231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115"/>
            <p:cNvSpPr txBox="1"/>
            <p:nvPr/>
          </p:nvSpPr>
          <p:spPr>
            <a:xfrm>
              <a:off x="228600" y="228600"/>
              <a:ext cx="34482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CODE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Java Implementation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811" name="Google Shape;1811;p115"/>
          <p:cNvGrpSpPr/>
          <p:nvPr/>
        </p:nvGrpSpPr>
        <p:grpSpPr>
          <a:xfrm>
            <a:off x="4762500" y="1381125"/>
            <a:ext cx="3905400" cy="3286200"/>
            <a:chOff x="0" y="0"/>
            <a:chExt cx="3905400" cy="3286200"/>
          </a:xfrm>
        </p:grpSpPr>
        <p:sp>
          <p:nvSpPr>
            <p:cNvPr id="1812" name="Google Shape;1812;p115"/>
            <p:cNvSpPr/>
            <p:nvPr/>
          </p:nvSpPr>
          <p:spPr>
            <a:xfrm>
              <a:off x="0" y="0"/>
              <a:ext cx="3905400" cy="3286200"/>
            </a:xfrm>
            <a:prstGeom prst="roundRect">
              <a:avLst>
                <a:gd fmla="val 231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115"/>
            <p:cNvSpPr txBox="1"/>
            <p:nvPr/>
          </p:nvSpPr>
          <p:spPr>
            <a:xfrm>
              <a:off x="228600" y="228600"/>
              <a:ext cx="34482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/ OUTPUT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Console Execution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pic>
        <p:nvPicPr>
          <p:cNvPr id="1814" name="Google Shape;1814;p115"/>
          <p:cNvPicPr preferRelativeResize="0"/>
          <p:nvPr/>
        </p:nvPicPr>
        <p:blipFill rotWithShape="1">
          <a:blip r:embed="rId4">
            <a:alphaModFix/>
          </a:blip>
          <a:srcRect b="0" l="10" r="0" t="0"/>
          <a:stretch/>
        </p:blipFill>
        <p:spPr>
          <a:xfrm>
            <a:off x="666750" y="2286000"/>
            <a:ext cx="3524400" cy="17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5" name="Google Shape;1815;p1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650" y="2083275"/>
            <a:ext cx="3524624" cy="237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6" name="Google Shape;1816;p1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1025" y="2083275"/>
            <a:ext cx="3766726" cy="379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116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Jump Statement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2" name="Google Shape;1822;p116"/>
          <p:cNvSpPr txBox="1"/>
          <p:nvPr/>
        </p:nvSpPr>
        <p:spPr>
          <a:xfrm>
            <a:off x="476250" y="1524000"/>
            <a:ext cx="39054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01 / Overview</a:t>
            </a:r>
            <a:endParaRPr b="0" sz="9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Transferring Control</a:t>
            </a:r>
            <a:endParaRPr b="1" sz="1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Java supports three jump statements that immediately redirect the execution flow of your code.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These statements unconditionally transfer control to another part of the program.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23" name="Google Shape;1823;p116"/>
          <p:cNvGrpSpPr/>
          <p:nvPr/>
        </p:nvGrpSpPr>
        <p:grpSpPr>
          <a:xfrm>
            <a:off x="4762500" y="1428750"/>
            <a:ext cx="3905400" cy="3143400"/>
            <a:chOff x="0" y="0"/>
            <a:chExt cx="3905400" cy="3143400"/>
          </a:xfrm>
        </p:grpSpPr>
        <p:sp>
          <p:nvSpPr>
            <p:cNvPr id="1824" name="Google Shape;1824;p116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2424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116"/>
            <p:cNvSpPr txBox="1"/>
            <p:nvPr/>
          </p:nvSpPr>
          <p:spPr>
            <a:xfrm>
              <a:off x="228600" y="228600"/>
              <a:ext cx="34482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Supported Statements</a:t>
              </a:r>
              <a:endParaRPr b="1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break</a:t>
              </a:r>
              <a:endParaRPr b="1" sz="22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Exits the innermost loop or switch block immediately.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continue</a:t>
              </a:r>
              <a:endParaRPr b="1" sz="2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Skips the current loop iteration and proceeds to the next.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return</a:t>
              </a:r>
              <a:endParaRPr b="1" sz="22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Exits from the current method back to the caller.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117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Break Statement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1" name="Google Shape;1831;p117"/>
          <p:cNvSpPr txBox="1"/>
          <p:nvPr/>
        </p:nvSpPr>
        <p:spPr>
          <a:xfrm>
            <a:off x="476250" y="1428750"/>
            <a:ext cx="39054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01 / Core Concept</a:t>
            </a:r>
            <a:endParaRPr b="0" sz="9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Exiting Execution Blocks</a:t>
            </a:r>
            <a:endParaRPr b="1" sz="1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Loop Termination</a:t>
            </a:r>
            <a:endParaRPr b="0" sz="12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Used inside loops (for, while, do-while) to immediately break loop execution and jump to the next statement.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Switch Escape</a:t>
            </a:r>
            <a:endParaRPr b="0" sz="12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Used inside a switch block to exit the block immediately once a matching case is handled, preventing fall-through.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Nested Break</a:t>
            </a:r>
            <a:endParaRPr b="0" sz="12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Used in nested blocks to transfer control to the very end of an outer labeled block structure.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32" name="Google Shape;1832;p117"/>
          <p:cNvGrpSpPr/>
          <p:nvPr/>
        </p:nvGrpSpPr>
        <p:grpSpPr>
          <a:xfrm>
            <a:off x="4762500" y="1381125"/>
            <a:ext cx="3905400" cy="3286200"/>
            <a:chOff x="0" y="0"/>
            <a:chExt cx="3905400" cy="3286200"/>
          </a:xfrm>
        </p:grpSpPr>
        <p:sp>
          <p:nvSpPr>
            <p:cNvPr id="1833" name="Google Shape;1833;p117"/>
            <p:cNvSpPr/>
            <p:nvPr/>
          </p:nvSpPr>
          <p:spPr>
            <a:xfrm>
              <a:off x="0" y="0"/>
              <a:ext cx="3905400" cy="3286200"/>
            </a:xfrm>
            <a:prstGeom prst="roundRect">
              <a:avLst>
                <a:gd fmla="val 231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117"/>
            <p:cNvSpPr txBox="1"/>
            <p:nvPr/>
          </p:nvSpPr>
          <p:spPr>
            <a:xfrm>
              <a:off x="228600" y="228600"/>
              <a:ext cx="3448200" cy="28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02 / Syntax Structure</a:t>
              </a:r>
              <a:endParaRPr b="1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break;</a:t>
              </a:r>
              <a:endParaRPr b="1" sz="22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Standard syntax used to exit the innermost enclosing loop or switch block directly.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break label;</a:t>
              </a:r>
              <a:endParaRPr b="1" sz="2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Labeled break statement used to transfer control out of a deeply nested block to the end of the named target block.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118"/>
          <p:cNvSpPr txBox="1"/>
          <p:nvPr>
            <p:ph type="title"/>
          </p:nvPr>
        </p:nvSpPr>
        <p:spPr>
          <a:xfrm>
            <a:off x="476250" y="38100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Break: Example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840" name="Google Shape;1840;p118"/>
          <p:cNvGrpSpPr/>
          <p:nvPr/>
        </p:nvGrpSpPr>
        <p:grpSpPr>
          <a:xfrm>
            <a:off x="476250" y="1333500"/>
            <a:ext cx="8191500" cy="2381400"/>
            <a:chOff x="0" y="0"/>
            <a:chExt cx="8191500" cy="2381400"/>
          </a:xfrm>
        </p:grpSpPr>
        <p:sp>
          <p:nvSpPr>
            <p:cNvPr id="1841" name="Google Shape;1841;p118"/>
            <p:cNvSpPr/>
            <p:nvPr/>
          </p:nvSpPr>
          <p:spPr>
            <a:xfrm>
              <a:off x="0" y="0"/>
              <a:ext cx="8191500" cy="2381400"/>
            </a:xfrm>
            <a:prstGeom prst="roundRect">
              <a:avLst>
                <a:gd fmla="val 32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118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118"/>
            <p:cNvSpPr/>
            <p:nvPr/>
          </p:nvSpPr>
          <p:spPr>
            <a:xfrm>
              <a:off x="323850" y="133350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118"/>
            <p:cNvSpPr/>
            <p:nvPr/>
          </p:nvSpPr>
          <p:spPr>
            <a:xfrm>
              <a:off x="514350" y="133350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118"/>
            <p:cNvSpPr txBox="1"/>
            <p:nvPr/>
          </p:nvSpPr>
          <p:spPr>
            <a:xfrm>
              <a:off x="762000" y="952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forloop.java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1846" name="Google Shape;1846;p118"/>
            <p:cNvPicPr preferRelativeResize="0"/>
            <p:nvPr/>
          </p:nvPicPr>
          <p:blipFill rotWithShape="1">
            <a:blip r:embed="rId4">
              <a:alphaModFix/>
            </a:blip>
            <a:srcRect b="12536" l="0" r="0" t="12536"/>
            <a:stretch/>
          </p:blipFill>
          <p:spPr>
            <a:xfrm>
              <a:off x="142875" y="428625"/>
              <a:ext cx="4953000" cy="18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7" name="Google Shape;1847;p118"/>
            <p:cNvSpPr txBox="1"/>
            <p:nvPr/>
          </p:nvSpPr>
          <p:spPr>
            <a:xfrm>
              <a:off x="5334000" y="428625"/>
              <a:ext cx="2667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How it works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loop is initialized with </a:t>
              </a:r>
              <a:r>
                <a:rPr b="1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i=1</a:t>
              </a: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and set to run up to </a:t>
              </a:r>
              <a:r>
                <a:rPr b="1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</a:t>
              </a: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When </a:t>
              </a: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 reaches 5</a:t>
              </a: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the break condition is met, and the </a:t>
              </a: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break;</a:t>
              </a: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statement terminates the loop execution immediately, transferring control to the statement after the loop.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48" name="Google Shape;1848;p118"/>
          <p:cNvGrpSpPr/>
          <p:nvPr/>
        </p:nvGrpSpPr>
        <p:grpSpPr>
          <a:xfrm>
            <a:off x="476250" y="3857625"/>
            <a:ext cx="8191500" cy="904800"/>
            <a:chOff x="0" y="0"/>
            <a:chExt cx="8191500" cy="904800"/>
          </a:xfrm>
        </p:grpSpPr>
        <p:sp>
          <p:nvSpPr>
            <p:cNvPr id="1849" name="Google Shape;1849;p118"/>
            <p:cNvSpPr/>
            <p:nvPr/>
          </p:nvSpPr>
          <p:spPr>
            <a:xfrm>
              <a:off x="0" y="0"/>
              <a:ext cx="81915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118"/>
            <p:cNvSpPr txBox="1"/>
            <p:nvPr/>
          </p:nvSpPr>
          <p:spPr>
            <a:xfrm>
              <a:off x="190500" y="11430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Output</a:t>
              </a:r>
              <a:endParaRPr b="0" sz="1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pic>
          <p:nvPicPr>
            <p:cNvPr id="1851" name="Google Shape;1851;p118"/>
            <p:cNvPicPr preferRelativeResize="0"/>
            <p:nvPr/>
          </p:nvPicPr>
          <p:blipFill rotWithShape="1">
            <a:blip r:embed="rId5">
              <a:alphaModFix/>
            </a:blip>
            <a:srcRect b="11615" l="0" r="0" t="11615"/>
            <a:stretch/>
          </p:blipFill>
          <p:spPr>
            <a:xfrm>
              <a:off x="190500" y="237900"/>
              <a:ext cx="7136400" cy="612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6" name="Google Shape;1856;p119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857" name="Google Shape;1857;p119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119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Continue Statement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859" name="Google Shape;1859;p119"/>
          <p:cNvGrpSpPr/>
          <p:nvPr/>
        </p:nvGrpSpPr>
        <p:grpSpPr>
          <a:xfrm>
            <a:off x="476250" y="1428750"/>
            <a:ext cx="3905400" cy="3238500"/>
            <a:chOff x="0" y="0"/>
            <a:chExt cx="3905400" cy="3238500"/>
          </a:xfrm>
        </p:grpSpPr>
        <p:sp>
          <p:nvSpPr>
            <p:cNvPr id="1860" name="Google Shape;1860;p119"/>
            <p:cNvSpPr/>
            <p:nvPr/>
          </p:nvSpPr>
          <p:spPr>
            <a:xfrm>
              <a:off x="0" y="0"/>
              <a:ext cx="39054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119"/>
            <p:cNvSpPr txBox="1"/>
            <p:nvPr/>
          </p:nvSpPr>
          <p:spPr>
            <a:xfrm>
              <a:off x="0" y="0"/>
              <a:ext cx="39054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Core Concept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Skipping Loop Iterations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1. Loop Continuation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This statement is useful to continue the next repetition of a loop/ iteration.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2. Conditional Skip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When continue is executed, subsequent statements inside the loop are not executed.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862" name="Google Shape;1862;p119"/>
          <p:cNvGrpSpPr/>
          <p:nvPr/>
        </p:nvGrpSpPr>
        <p:grpSpPr>
          <a:xfrm>
            <a:off x="4762500" y="1381125"/>
            <a:ext cx="3905400" cy="3286200"/>
            <a:chOff x="0" y="0"/>
            <a:chExt cx="3905400" cy="3286200"/>
          </a:xfrm>
        </p:grpSpPr>
        <p:sp>
          <p:nvSpPr>
            <p:cNvPr id="1863" name="Google Shape;1863;p119"/>
            <p:cNvSpPr/>
            <p:nvPr/>
          </p:nvSpPr>
          <p:spPr>
            <a:xfrm>
              <a:off x="0" y="0"/>
              <a:ext cx="3905400" cy="3286200"/>
            </a:xfrm>
            <a:prstGeom prst="roundRect">
              <a:avLst>
                <a:gd fmla="val 231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64" name="Google Shape;1864;p119"/>
            <p:cNvGrpSpPr/>
            <p:nvPr/>
          </p:nvGrpSpPr>
          <p:grpSpPr>
            <a:xfrm>
              <a:off x="228600" y="228600"/>
              <a:ext cx="3448200" cy="2829000"/>
              <a:chOff x="0" y="0"/>
              <a:chExt cx="3448200" cy="2829000"/>
            </a:xfrm>
          </p:grpSpPr>
          <p:sp>
            <p:nvSpPr>
              <p:cNvPr id="1865" name="Google Shape;1865;p119"/>
              <p:cNvSpPr/>
              <p:nvPr/>
            </p:nvSpPr>
            <p:spPr>
              <a:xfrm>
                <a:off x="0" y="0"/>
                <a:ext cx="3448200" cy="2829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6" name="Google Shape;1866;p119"/>
              <p:cNvSpPr txBox="1"/>
              <p:nvPr/>
            </p:nvSpPr>
            <p:spPr>
              <a:xfrm>
                <a:off x="0" y="0"/>
                <a:ext cx="3448200" cy="282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02 / Syntax Structure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22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continue;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1200"/>
                  </a:spcAft>
                  <a:buNone/>
                </a:pPr>
                <a:r>
                  <a:rPr b="0" lang="en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Standard syntax used to immediately transfer control to the loop condition or update statement of the innermost enclosing loop.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120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Continue: Example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872" name="Google Shape;1872;p120"/>
          <p:cNvGrpSpPr/>
          <p:nvPr/>
        </p:nvGrpSpPr>
        <p:grpSpPr>
          <a:xfrm>
            <a:off x="476250" y="1333500"/>
            <a:ext cx="8191500" cy="2381400"/>
            <a:chOff x="0" y="0"/>
            <a:chExt cx="8191500" cy="2381400"/>
          </a:xfrm>
        </p:grpSpPr>
        <p:sp>
          <p:nvSpPr>
            <p:cNvPr id="1873" name="Google Shape;1873;p120"/>
            <p:cNvSpPr/>
            <p:nvPr/>
          </p:nvSpPr>
          <p:spPr>
            <a:xfrm>
              <a:off x="0" y="0"/>
              <a:ext cx="8191500" cy="2381400"/>
            </a:xfrm>
            <a:prstGeom prst="roundRect">
              <a:avLst>
                <a:gd fmla="val 32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120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120"/>
            <p:cNvSpPr/>
            <p:nvPr/>
          </p:nvSpPr>
          <p:spPr>
            <a:xfrm>
              <a:off x="323850" y="133350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120"/>
            <p:cNvSpPr/>
            <p:nvPr/>
          </p:nvSpPr>
          <p:spPr>
            <a:xfrm>
              <a:off x="514350" y="133350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120"/>
            <p:cNvSpPr txBox="1"/>
            <p:nvPr/>
          </p:nvSpPr>
          <p:spPr>
            <a:xfrm>
              <a:off x="762000" y="952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forloop.java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1878" name="Google Shape;1878;p120"/>
            <p:cNvPicPr preferRelativeResize="0"/>
            <p:nvPr/>
          </p:nvPicPr>
          <p:blipFill rotWithShape="1">
            <a:blip r:embed="rId4">
              <a:alphaModFix/>
            </a:blip>
            <a:srcRect b="24008" l="0" r="0" t="13810"/>
            <a:stretch/>
          </p:blipFill>
          <p:spPr>
            <a:xfrm>
              <a:off x="142875" y="276225"/>
              <a:ext cx="4953000" cy="18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9" name="Google Shape;1879;p120"/>
            <p:cNvSpPr txBox="1"/>
            <p:nvPr/>
          </p:nvSpPr>
          <p:spPr>
            <a:xfrm>
              <a:off x="5238750" y="428625"/>
              <a:ext cx="27624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How it works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loop is initialized with </a:t>
              </a:r>
              <a:r>
                <a:rPr b="1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i=1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and set to run up to </a:t>
              </a:r>
              <a:r>
                <a:rPr b="1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When </a:t>
              </a: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 reaches 5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the condition is met, and the </a:t>
              </a: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continue;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statement skips the print statement, transferring control back to the update expression of the loop.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80" name="Google Shape;1880;p120"/>
          <p:cNvGrpSpPr/>
          <p:nvPr/>
        </p:nvGrpSpPr>
        <p:grpSpPr>
          <a:xfrm>
            <a:off x="476250" y="3857625"/>
            <a:ext cx="8191500" cy="904800"/>
            <a:chOff x="0" y="0"/>
            <a:chExt cx="8191500" cy="904800"/>
          </a:xfrm>
        </p:grpSpPr>
        <p:sp>
          <p:nvSpPr>
            <p:cNvPr id="1881" name="Google Shape;1881;p120"/>
            <p:cNvSpPr/>
            <p:nvPr/>
          </p:nvSpPr>
          <p:spPr>
            <a:xfrm>
              <a:off x="0" y="0"/>
              <a:ext cx="81915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120"/>
            <p:cNvSpPr txBox="1"/>
            <p:nvPr/>
          </p:nvSpPr>
          <p:spPr>
            <a:xfrm>
              <a:off x="190500" y="11430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Output</a:t>
              </a:r>
              <a:endParaRPr b="0" sz="1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pic>
          <p:nvPicPr>
            <p:cNvPr id="1883" name="Google Shape;1883;p120"/>
            <p:cNvPicPr preferRelativeResize="0"/>
            <p:nvPr/>
          </p:nvPicPr>
          <p:blipFill rotWithShape="1">
            <a:blip r:embed="rId5">
              <a:alphaModFix/>
            </a:blip>
            <a:srcRect b="30329" l="0" r="-9337" t="236"/>
            <a:stretch/>
          </p:blipFill>
          <p:spPr>
            <a:xfrm>
              <a:off x="190500" y="142875"/>
              <a:ext cx="7810500" cy="571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8" name="Google Shape;1888;p121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889" name="Google Shape;1889;p121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121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Return Statement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891" name="Google Shape;1891;p121"/>
          <p:cNvGrpSpPr/>
          <p:nvPr/>
        </p:nvGrpSpPr>
        <p:grpSpPr>
          <a:xfrm>
            <a:off x="476250" y="1428750"/>
            <a:ext cx="3905400" cy="3238500"/>
            <a:chOff x="0" y="0"/>
            <a:chExt cx="3905400" cy="3238500"/>
          </a:xfrm>
        </p:grpSpPr>
        <p:sp>
          <p:nvSpPr>
            <p:cNvPr id="1892" name="Google Shape;1892;p121"/>
            <p:cNvSpPr/>
            <p:nvPr/>
          </p:nvSpPr>
          <p:spPr>
            <a:xfrm>
              <a:off x="0" y="0"/>
              <a:ext cx="39054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121"/>
            <p:cNvSpPr txBox="1"/>
            <p:nvPr/>
          </p:nvSpPr>
          <p:spPr>
            <a:xfrm>
              <a:off x="0" y="0"/>
              <a:ext cx="39054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Core Concept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Control Flow &amp; Value Return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1. Method Termination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Useful to terminate a method and come back to the calling method.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2. Application Exit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Using the return statement in the main method terminates the application.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3. Return Values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Can be used to return some value from a method to a calling method.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894" name="Google Shape;1894;p121"/>
          <p:cNvGrpSpPr/>
          <p:nvPr/>
        </p:nvGrpSpPr>
        <p:grpSpPr>
          <a:xfrm>
            <a:off x="4762500" y="1381125"/>
            <a:ext cx="3905400" cy="3286200"/>
            <a:chOff x="0" y="0"/>
            <a:chExt cx="3905400" cy="3286200"/>
          </a:xfrm>
        </p:grpSpPr>
        <p:sp>
          <p:nvSpPr>
            <p:cNvPr id="1895" name="Google Shape;1895;p121"/>
            <p:cNvSpPr/>
            <p:nvPr/>
          </p:nvSpPr>
          <p:spPr>
            <a:xfrm>
              <a:off x="0" y="0"/>
              <a:ext cx="3905400" cy="3286200"/>
            </a:xfrm>
            <a:prstGeom prst="roundRect">
              <a:avLst>
                <a:gd fmla="val 231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96" name="Google Shape;1896;p121"/>
            <p:cNvGrpSpPr/>
            <p:nvPr/>
          </p:nvGrpSpPr>
          <p:grpSpPr>
            <a:xfrm>
              <a:off x="228600" y="228600"/>
              <a:ext cx="3448200" cy="2829000"/>
              <a:chOff x="0" y="0"/>
              <a:chExt cx="3448200" cy="2829000"/>
            </a:xfrm>
          </p:grpSpPr>
          <p:sp>
            <p:nvSpPr>
              <p:cNvPr id="1897" name="Google Shape;1897;p121"/>
              <p:cNvSpPr/>
              <p:nvPr/>
            </p:nvSpPr>
            <p:spPr>
              <a:xfrm>
                <a:off x="0" y="0"/>
                <a:ext cx="3448200" cy="2829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121"/>
              <p:cNvSpPr txBox="1"/>
              <p:nvPr/>
            </p:nvSpPr>
            <p:spPr>
              <a:xfrm>
                <a:off x="0" y="0"/>
                <a:ext cx="3448200" cy="282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02 / Syntax Structure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return;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Terminates method execution without returning a value.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return value;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1200"/>
                  </a:spcAft>
                  <a:buNone/>
                </a:pPr>
                <a:r>
                  <a:rPr b="0" lang="en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Terminates method and passes a specified value back (may be of any type) to the caller.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3" name="Google Shape;1903;p122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904" name="Google Shape;1904;p122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122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Return: Example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906" name="Google Shape;1906;p122"/>
          <p:cNvGrpSpPr/>
          <p:nvPr/>
        </p:nvGrpSpPr>
        <p:grpSpPr>
          <a:xfrm>
            <a:off x="476250" y="1333500"/>
            <a:ext cx="8191500" cy="2381400"/>
            <a:chOff x="0" y="0"/>
            <a:chExt cx="8191500" cy="2381400"/>
          </a:xfrm>
        </p:grpSpPr>
        <p:sp>
          <p:nvSpPr>
            <p:cNvPr id="1907" name="Google Shape;1907;p122"/>
            <p:cNvSpPr/>
            <p:nvPr/>
          </p:nvSpPr>
          <p:spPr>
            <a:xfrm>
              <a:off x="0" y="0"/>
              <a:ext cx="8191500" cy="2381400"/>
            </a:xfrm>
            <a:prstGeom prst="roundRect">
              <a:avLst>
                <a:gd fmla="val 32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122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122"/>
            <p:cNvSpPr/>
            <p:nvPr/>
          </p:nvSpPr>
          <p:spPr>
            <a:xfrm>
              <a:off x="323850" y="133350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122"/>
            <p:cNvSpPr/>
            <p:nvPr/>
          </p:nvSpPr>
          <p:spPr>
            <a:xfrm>
              <a:off x="514350" y="133350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122"/>
            <p:cNvSpPr txBox="1"/>
            <p:nvPr/>
          </p:nvSpPr>
          <p:spPr>
            <a:xfrm>
              <a:off x="762000" y="952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forloop.java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1912" name="Google Shape;1912;p122"/>
            <p:cNvPicPr preferRelativeResize="0"/>
            <p:nvPr/>
          </p:nvPicPr>
          <p:blipFill rotWithShape="1">
            <a:blip r:embed="rId4">
              <a:alphaModFix/>
            </a:blip>
            <a:srcRect b="12398" l="0" r="0" t="6729"/>
            <a:stretch/>
          </p:blipFill>
          <p:spPr>
            <a:xfrm>
              <a:off x="142875" y="266700"/>
              <a:ext cx="4762500" cy="1905000"/>
            </a:xfrm>
            <a:prstGeom prst="roundRect">
              <a:avLst>
                <a:gd fmla="val 2000" name="adj"/>
              </a:avLst>
            </a:prstGeom>
            <a:noFill/>
            <a:ln>
              <a:noFill/>
            </a:ln>
          </p:spPr>
        </p:pic>
        <p:sp>
          <p:nvSpPr>
            <p:cNvPr id="1913" name="Google Shape;1913;p122"/>
            <p:cNvSpPr txBox="1"/>
            <p:nvPr/>
          </p:nvSpPr>
          <p:spPr>
            <a:xfrm>
              <a:off x="5143500" y="381000"/>
              <a:ext cx="28575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How it works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loop is initialized with </a:t>
              </a:r>
              <a:r>
                <a:rPr b="1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i=1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and runs up to </a:t>
              </a:r>
              <a:r>
                <a:rPr b="1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When </a:t>
              </a: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 reaches 5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the condition is met and the </a:t>
              </a:r>
              <a:r>
                <a:rPr b="1" lang="en" sz="11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return;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statement terminates the entire main method, skipping all subsequent statements.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14" name="Google Shape;1914;p122"/>
          <p:cNvGrpSpPr/>
          <p:nvPr/>
        </p:nvGrpSpPr>
        <p:grpSpPr>
          <a:xfrm>
            <a:off x="476250" y="3857625"/>
            <a:ext cx="8191500" cy="904800"/>
            <a:chOff x="0" y="0"/>
            <a:chExt cx="8191500" cy="904800"/>
          </a:xfrm>
        </p:grpSpPr>
        <p:sp>
          <p:nvSpPr>
            <p:cNvPr id="1915" name="Google Shape;1915;p122"/>
            <p:cNvSpPr/>
            <p:nvPr/>
          </p:nvSpPr>
          <p:spPr>
            <a:xfrm>
              <a:off x="0" y="0"/>
              <a:ext cx="81915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122"/>
            <p:cNvSpPr txBox="1"/>
            <p:nvPr/>
          </p:nvSpPr>
          <p:spPr>
            <a:xfrm>
              <a:off x="190500" y="11430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Output</a:t>
              </a:r>
              <a:endParaRPr b="0" sz="1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pic>
        <p:nvPicPr>
          <p:cNvPr id="1917" name="Google Shape;1917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9350" y="4114150"/>
            <a:ext cx="7578399" cy="6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2" name="Google Shape;1922;p123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923" name="Google Shape;1923;p123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123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Array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925" name="Google Shape;1925;p123"/>
          <p:cNvGrpSpPr/>
          <p:nvPr/>
        </p:nvGrpSpPr>
        <p:grpSpPr>
          <a:xfrm>
            <a:off x="476250" y="1428750"/>
            <a:ext cx="3905400" cy="3238500"/>
            <a:chOff x="0" y="0"/>
            <a:chExt cx="3905400" cy="3238500"/>
          </a:xfrm>
        </p:grpSpPr>
        <p:sp>
          <p:nvSpPr>
            <p:cNvPr id="1926" name="Google Shape;1926;p123"/>
            <p:cNvSpPr/>
            <p:nvPr/>
          </p:nvSpPr>
          <p:spPr>
            <a:xfrm>
              <a:off x="0" y="0"/>
              <a:ext cx="39054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123"/>
            <p:cNvSpPr txBox="1"/>
            <p:nvPr/>
          </p:nvSpPr>
          <p:spPr>
            <a:xfrm>
              <a:off x="0" y="0"/>
              <a:ext cx="39054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/ Core Concept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Understanding Arrays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An array represents a group of elements of the same data type. Arrays are generally categorized into two main types: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1. Single Dimensional Arrays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Often referred to as 1-Dimensional arrays, representing a simple linear list of elements.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2. Multi-Dimensional Arrays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Includes 2-Dimensional, 3-Dimensional, or higher nested arrays for complex structures.</a:t>
              </a:r>
              <a:endParaRPr b="0" sz="9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928" name="Google Shape;1928;p123"/>
          <p:cNvGrpSpPr/>
          <p:nvPr/>
        </p:nvGrpSpPr>
        <p:grpSpPr>
          <a:xfrm>
            <a:off x="4762500" y="1381125"/>
            <a:ext cx="3905400" cy="3286200"/>
            <a:chOff x="0" y="0"/>
            <a:chExt cx="3905400" cy="3286200"/>
          </a:xfrm>
        </p:grpSpPr>
        <p:sp>
          <p:nvSpPr>
            <p:cNvPr id="1929" name="Google Shape;1929;p123"/>
            <p:cNvSpPr/>
            <p:nvPr/>
          </p:nvSpPr>
          <p:spPr>
            <a:xfrm>
              <a:off x="0" y="0"/>
              <a:ext cx="3905400" cy="3286200"/>
            </a:xfrm>
            <a:prstGeom prst="roundRect">
              <a:avLst>
                <a:gd fmla="val 231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30" name="Google Shape;1930;p123"/>
            <p:cNvGrpSpPr/>
            <p:nvPr/>
          </p:nvGrpSpPr>
          <p:grpSpPr>
            <a:xfrm>
              <a:off x="228600" y="228600"/>
              <a:ext cx="3448200" cy="2829000"/>
              <a:chOff x="0" y="0"/>
              <a:chExt cx="3448200" cy="2829000"/>
            </a:xfrm>
          </p:grpSpPr>
          <p:sp>
            <p:nvSpPr>
              <p:cNvPr id="1931" name="Google Shape;1931;p123"/>
              <p:cNvSpPr/>
              <p:nvPr/>
            </p:nvSpPr>
            <p:spPr>
              <a:xfrm>
                <a:off x="0" y="0"/>
                <a:ext cx="3448200" cy="2829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123"/>
              <p:cNvSpPr txBox="1"/>
              <p:nvPr/>
            </p:nvSpPr>
            <p:spPr>
              <a:xfrm>
                <a:off x="0" y="0"/>
                <a:ext cx="3448200" cy="282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02 / Implementation Workflow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Creating an Array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43F5E"/>
                    </a:solidFill>
                    <a:latin typeface="Inter"/>
                    <a:ea typeface="Inter"/>
                    <a:cs typeface="Inter"/>
                    <a:sym typeface="Inter"/>
                  </a:rPr>
                  <a:t>Step 1: Declare the Array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Introduce the array variable name and specify the type of data it holds.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43F5E"/>
                    </a:solidFill>
                    <a:latin typeface="Inter"/>
                    <a:ea typeface="Inter"/>
                    <a:cs typeface="Inter"/>
                    <a:sym typeface="Inter"/>
                  </a:rPr>
                  <a:t>Step 2: Create Memory Location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Allocate the required block of memory using the 'new' keyword.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43F5E"/>
                    </a:solidFill>
                    <a:latin typeface="Inter"/>
                    <a:ea typeface="Inter"/>
                    <a:cs typeface="Inter"/>
                    <a:sym typeface="Inter"/>
                  </a:rPr>
                  <a:t>Step 3: Populate the Array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Assign specific values to each individual memory location in the array.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124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Declaring Array Variable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8" name="Google Shape;1938;p124"/>
          <p:cNvSpPr txBox="1"/>
          <p:nvPr/>
        </p:nvSpPr>
        <p:spPr>
          <a:xfrm>
            <a:off x="476250" y="1190625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 declare an array, write the data type, followed by a set of square brackets </a:t>
            </a:r>
            <a:r>
              <a:rPr b="1" lang="en" sz="12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b="0" lang="en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followed by the identifier name.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39" name="Google Shape;1939;p124"/>
          <p:cNvGrpSpPr/>
          <p:nvPr/>
        </p:nvGrpSpPr>
        <p:grpSpPr>
          <a:xfrm>
            <a:off x="476250" y="1762125"/>
            <a:ext cx="3905400" cy="2905200"/>
            <a:chOff x="0" y="0"/>
            <a:chExt cx="3905400" cy="2905200"/>
          </a:xfrm>
        </p:grpSpPr>
        <p:sp>
          <p:nvSpPr>
            <p:cNvPr id="1940" name="Google Shape;1940;p124"/>
            <p:cNvSpPr/>
            <p:nvPr/>
          </p:nvSpPr>
          <p:spPr>
            <a:xfrm>
              <a:off x="0" y="0"/>
              <a:ext cx="3905400" cy="2905200"/>
            </a:xfrm>
            <a:prstGeom prst="roundRect">
              <a:avLst>
                <a:gd fmla="val 2622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124"/>
            <p:cNvSpPr/>
            <p:nvPr/>
          </p:nvSpPr>
          <p:spPr>
            <a:xfrm>
              <a:off x="142875" y="142875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124"/>
            <p:cNvSpPr/>
            <p:nvPr/>
          </p:nvSpPr>
          <p:spPr>
            <a:xfrm>
              <a:off x="285750" y="142875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124"/>
            <p:cNvSpPr/>
            <p:nvPr/>
          </p:nvSpPr>
          <p:spPr>
            <a:xfrm>
              <a:off x="428625" y="142875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124"/>
            <p:cNvSpPr txBox="1"/>
            <p:nvPr/>
          </p:nvSpPr>
          <p:spPr>
            <a:xfrm>
              <a:off x="666750" y="104775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syntax.java</a:t>
              </a:r>
              <a:endParaRPr b="1" sz="10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945" name="Google Shape;1945;p124"/>
            <p:cNvSpPr txBox="1"/>
            <p:nvPr/>
          </p:nvSpPr>
          <p:spPr>
            <a:xfrm>
              <a:off x="190500" y="523875"/>
              <a:ext cx="3524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01 / Preferred syntax</a:t>
              </a:r>
              <a:endParaRPr b="1" sz="13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datatype</a:t>
              </a:r>
              <a:r>
                <a:rPr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[] arrayRefVar;</a:t>
              </a:r>
              <a:endPara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02 / Alternative syntax</a:t>
              </a:r>
              <a:endParaRPr b="1" sz="13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datatype</a:t>
              </a:r>
              <a:r>
                <a:rPr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arrayRefVar[];</a:t>
              </a:r>
              <a:endPara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946" name="Google Shape;1946;p124"/>
          <p:cNvGrpSpPr/>
          <p:nvPr/>
        </p:nvGrpSpPr>
        <p:grpSpPr>
          <a:xfrm>
            <a:off x="4762500" y="1762125"/>
            <a:ext cx="3905400" cy="2905200"/>
            <a:chOff x="0" y="0"/>
            <a:chExt cx="3905400" cy="2905200"/>
          </a:xfrm>
        </p:grpSpPr>
        <p:sp>
          <p:nvSpPr>
            <p:cNvPr id="1947" name="Google Shape;1947;p124"/>
            <p:cNvSpPr/>
            <p:nvPr/>
          </p:nvSpPr>
          <p:spPr>
            <a:xfrm>
              <a:off x="0" y="0"/>
              <a:ext cx="3905400" cy="2905200"/>
            </a:xfrm>
            <a:prstGeom prst="roundRect">
              <a:avLst>
                <a:gd fmla="val 2622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124"/>
            <p:cNvSpPr/>
            <p:nvPr/>
          </p:nvSpPr>
          <p:spPr>
            <a:xfrm>
              <a:off x="142875" y="142875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124"/>
            <p:cNvSpPr/>
            <p:nvPr/>
          </p:nvSpPr>
          <p:spPr>
            <a:xfrm>
              <a:off x="285750" y="142875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124"/>
            <p:cNvSpPr/>
            <p:nvPr/>
          </p:nvSpPr>
          <p:spPr>
            <a:xfrm>
              <a:off x="428625" y="142875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124"/>
            <p:cNvSpPr txBox="1"/>
            <p:nvPr/>
          </p:nvSpPr>
          <p:spPr>
            <a:xfrm>
              <a:off x="666750" y="104775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declare.java</a:t>
              </a:r>
              <a:endParaRPr b="1" sz="10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952" name="Google Shape;1952;p124"/>
            <p:cNvSpPr txBox="1"/>
            <p:nvPr/>
          </p:nvSpPr>
          <p:spPr>
            <a:xfrm>
              <a:off x="190500" y="523875"/>
              <a:ext cx="3524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01 / Preferred way</a:t>
              </a:r>
              <a:endParaRPr b="1" sz="13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double</a:t>
              </a:r>
              <a:r>
                <a:rPr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[] myList;</a:t>
              </a:r>
              <a:endPara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02 / Alternative way</a:t>
              </a:r>
              <a:endParaRPr b="1" sz="13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double</a:t>
              </a:r>
              <a:r>
                <a:rPr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myList[];</a:t>
              </a:r>
              <a:endPara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7" name="Google Shape;1957;p125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1958" name="Google Shape;1958;p125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125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Array Creation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960" name="Google Shape;1960;p125"/>
          <p:cNvGrpSpPr/>
          <p:nvPr/>
        </p:nvGrpSpPr>
        <p:grpSpPr>
          <a:xfrm>
            <a:off x="476250" y="1190625"/>
            <a:ext cx="8191500" cy="476400"/>
            <a:chOff x="0" y="0"/>
            <a:chExt cx="8191500" cy="476400"/>
          </a:xfrm>
        </p:grpSpPr>
        <p:sp>
          <p:nvSpPr>
            <p:cNvPr id="1961" name="Google Shape;1961;p125"/>
            <p:cNvSpPr/>
            <p:nvPr/>
          </p:nvSpPr>
          <p:spPr>
            <a:xfrm>
              <a:off x="0" y="0"/>
              <a:ext cx="8191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125"/>
            <p:cNvSpPr txBox="1"/>
            <p:nvPr/>
          </p:nvSpPr>
          <p:spPr>
            <a:xfrm>
              <a:off x="0" y="0"/>
              <a:ext cx="8191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To create an array, write the </a:t>
              </a: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new</a:t>
              </a: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keyword, followed by the square brackets </a:t>
              </a: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[]</a:t>
              </a: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containing the number of elements you want to have in the array.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63" name="Google Shape;1963;p125"/>
          <p:cNvGrpSpPr/>
          <p:nvPr/>
        </p:nvGrpSpPr>
        <p:grpSpPr>
          <a:xfrm>
            <a:off x="476250" y="1762125"/>
            <a:ext cx="3905400" cy="2905200"/>
            <a:chOff x="0" y="0"/>
            <a:chExt cx="3905400" cy="2905200"/>
          </a:xfrm>
        </p:grpSpPr>
        <p:sp>
          <p:nvSpPr>
            <p:cNvPr id="1964" name="Google Shape;1964;p125"/>
            <p:cNvSpPr/>
            <p:nvPr/>
          </p:nvSpPr>
          <p:spPr>
            <a:xfrm>
              <a:off x="0" y="0"/>
              <a:ext cx="3905400" cy="2905200"/>
            </a:xfrm>
            <a:prstGeom prst="roundRect">
              <a:avLst>
                <a:gd fmla="val 2622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125"/>
            <p:cNvSpPr/>
            <p:nvPr/>
          </p:nvSpPr>
          <p:spPr>
            <a:xfrm>
              <a:off x="142875" y="142875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125"/>
            <p:cNvSpPr/>
            <p:nvPr/>
          </p:nvSpPr>
          <p:spPr>
            <a:xfrm>
              <a:off x="285750" y="142875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125"/>
            <p:cNvSpPr/>
            <p:nvPr/>
          </p:nvSpPr>
          <p:spPr>
            <a:xfrm>
              <a:off x="428625" y="142875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125"/>
            <p:cNvSpPr txBox="1"/>
            <p:nvPr/>
          </p:nvSpPr>
          <p:spPr>
            <a:xfrm>
              <a:off x="666750" y="104775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twostep.java</a:t>
              </a:r>
              <a:endParaRPr b="1" sz="10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969" name="Google Shape;1969;p125"/>
            <p:cNvSpPr txBox="1"/>
            <p:nvPr/>
          </p:nvSpPr>
          <p:spPr>
            <a:xfrm>
              <a:off x="190500" y="523875"/>
              <a:ext cx="3524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01 / Declaration</a:t>
              </a:r>
              <a:endParaRPr b="1" sz="13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1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arr[];</a:t>
              </a:r>
              <a:endParaRPr b="1" sz="13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02 / Object Creation</a:t>
              </a:r>
              <a:endParaRPr b="1" sz="13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 = </a:t>
              </a: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new</a:t>
              </a:r>
              <a:r>
                <a:rPr b="1" lang="en" sz="13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1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[10];</a:t>
              </a:r>
              <a:endParaRPr b="1" sz="13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970" name="Google Shape;1970;p125"/>
          <p:cNvGrpSpPr/>
          <p:nvPr/>
        </p:nvGrpSpPr>
        <p:grpSpPr>
          <a:xfrm>
            <a:off x="4762500" y="1762125"/>
            <a:ext cx="3905400" cy="2905200"/>
            <a:chOff x="0" y="0"/>
            <a:chExt cx="3905400" cy="2905200"/>
          </a:xfrm>
        </p:grpSpPr>
        <p:sp>
          <p:nvSpPr>
            <p:cNvPr id="1971" name="Google Shape;1971;p125"/>
            <p:cNvSpPr/>
            <p:nvPr/>
          </p:nvSpPr>
          <p:spPr>
            <a:xfrm>
              <a:off x="0" y="0"/>
              <a:ext cx="3905400" cy="2905200"/>
            </a:xfrm>
            <a:prstGeom prst="roundRect">
              <a:avLst>
                <a:gd fmla="val 2622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125"/>
            <p:cNvSpPr/>
            <p:nvPr/>
          </p:nvSpPr>
          <p:spPr>
            <a:xfrm>
              <a:off x="142875" y="142875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125"/>
            <p:cNvSpPr/>
            <p:nvPr/>
          </p:nvSpPr>
          <p:spPr>
            <a:xfrm>
              <a:off x="285750" y="142875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125"/>
            <p:cNvSpPr/>
            <p:nvPr/>
          </p:nvSpPr>
          <p:spPr>
            <a:xfrm>
              <a:off x="428625" y="142875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125"/>
            <p:cNvSpPr txBox="1"/>
            <p:nvPr/>
          </p:nvSpPr>
          <p:spPr>
            <a:xfrm>
              <a:off x="666750" y="104775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onestep.java</a:t>
              </a:r>
              <a:endParaRPr b="1" sz="10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976" name="Google Shape;1976;p125"/>
            <p:cNvSpPr txBox="1"/>
            <p:nvPr/>
          </p:nvSpPr>
          <p:spPr>
            <a:xfrm>
              <a:off x="190500" y="523875"/>
              <a:ext cx="3524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Single Step Combination</a:t>
              </a:r>
              <a:endParaRPr b="1" sz="13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declare &amp; object creation</a:t>
              </a:r>
              <a:endParaRPr b="1" sz="13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1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arr[] = </a:t>
              </a: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new</a:t>
              </a:r>
              <a:r>
                <a:rPr b="1" lang="en" sz="13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1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[10];</a:t>
              </a:r>
              <a:endParaRPr b="1" sz="13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p126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Array Creation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982" name="Google Shape;1982;p126"/>
          <p:cNvSpPr txBox="1"/>
          <p:nvPr/>
        </p:nvSpPr>
        <p:spPr>
          <a:xfrm>
            <a:off x="476250" y="1190625"/>
            <a:ext cx="8191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Another way to create an array if the elements are known: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83" name="Google Shape;1983;p126"/>
          <p:cNvGrpSpPr/>
          <p:nvPr/>
        </p:nvGrpSpPr>
        <p:grpSpPr>
          <a:xfrm>
            <a:off x="476250" y="1762125"/>
            <a:ext cx="3905400" cy="2905200"/>
            <a:chOff x="0" y="0"/>
            <a:chExt cx="3905400" cy="2905200"/>
          </a:xfrm>
        </p:grpSpPr>
        <p:sp>
          <p:nvSpPr>
            <p:cNvPr id="1984" name="Google Shape;1984;p126"/>
            <p:cNvSpPr/>
            <p:nvPr/>
          </p:nvSpPr>
          <p:spPr>
            <a:xfrm>
              <a:off x="0" y="0"/>
              <a:ext cx="3905400" cy="2905200"/>
            </a:xfrm>
            <a:prstGeom prst="roundRect">
              <a:avLst>
                <a:gd fmla="val 2622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126"/>
            <p:cNvSpPr/>
            <p:nvPr/>
          </p:nvSpPr>
          <p:spPr>
            <a:xfrm>
              <a:off x="142875" y="142875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126"/>
            <p:cNvSpPr/>
            <p:nvPr/>
          </p:nvSpPr>
          <p:spPr>
            <a:xfrm>
              <a:off x="285750" y="142875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126"/>
            <p:cNvSpPr/>
            <p:nvPr/>
          </p:nvSpPr>
          <p:spPr>
            <a:xfrm>
              <a:off x="428625" y="142875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126"/>
            <p:cNvSpPr txBox="1"/>
            <p:nvPr/>
          </p:nvSpPr>
          <p:spPr>
            <a:xfrm>
              <a:off x="666750" y="104775"/>
              <a:ext cx="1905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syntax.java</a:t>
              </a:r>
              <a:endParaRPr b="1" sz="10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989" name="Google Shape;1989;p126"/>
            <p:cNvSpPr txBox="1"/>
            <p:nvPr/>
          </p:nvSpPr>
          <p:spPr>
            <a:xfrm>
              <a:off x="190500" y="523875"/>
              <a:ext cx="3524400" cy="219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01 / Syntax</a:t>
              </a:r>
              <a:endParaRPr b="1" sz="13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1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arr[] = {</a:t>
              </a:r>
              <a:r>
                <a:rPr b="1" lang="en" sz="13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/*elements*/</a:t>
              </a:r>
              <a:r>
                <a:rPr b="1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};</a:t>
              </a:r>
              <a:endParaRPr b="1" sz="13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02 / Inline Commented</a:t>
              </a:r>
              <a:endParaRPr b="1" sz="13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1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arr[ ] = {</a:t>
              </a: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//comma operator</a:t>
              </a:r>
              <a:r>
                <a:rPr b="1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};</a:t>
              </a:r>
              <a:endParaRPr b="1" sz="13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990" name="Google Shape;1990;p126"/>
          <p:cNvGrpSpPr/>
          <p:nvPr/>
        </p:nvGrpSpPr>
        <p:grpSpPr>
          <a:xfrm>
            <a:off x="4762500" y="1762125"/>
            <a:ext cx="3905400" cy="2905200"/>
            <a:chOff x="0" y="0"/>
            <a:chExt cx="3905400" cy="2905200"/>
          </a:xfrm>
        </p:grpSpPr>
        <p:sp>
          <p:nvSpPr>
            <p:cNvPr id="1991" name="Google Shape;1991;p126"/>
            <p:cNvSpPr/>
            <p:nvPr/>
          </p:nvSpPr>
          <p:spPr>
            <a:xfrm>
              <a:off x="0" y="0"/>
              <a:ext cx="3905400" cy="2905200"/>
            </a:xfrm>
            <a:prstGeom prst="roundRect">
              <a:avLst>
                <a:gd fmla="val 2622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126"/>
            <p:cNvSpPr/>
            <p:nvPr/>
          </p:nvSpPr>
          <p:spPr>
            <a:xfrm>
              <a:off x="142875" y="142875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126"/>
            <p:cNvSpPr/>
            <p:nvPr/>
          </p:nvSpPr>
          <p:spPr>
            <a:xfrm>
              <a:off x="285750" y="142875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126"/>
            <p:cNvSpPr/>
            <p:nvPr/>
          </p:nvSpPr>
          <p:spPr>
            <a:xfrm>
              <a:off x="428625" y="142875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126"/>
            <p:cNvSpPr txBox="1"/>
            <p:nvPr/>
          </p:nvSpPr>
          <p:spPr>
            <a:xfrm>
              <a:off x="666750" y="104775"/>
              <a:ext cx="1905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example.java</a:t>
              </a:r>
              <a:endParaRPr b="1" sz="10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996" name="Google Shape;1996;p126"/>
            <p:cNvSpPr txBox="1"/>
            <p:nvPr/>
          </p:nvSpPr>
          <p:spPr>
            <a:xfrm>
              <a:off x="190500" y="523875"/>
              <a:ext cx="3524400" cy="219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01 / Array Initialization</a:t>
              </a:r>
              <a:endParaRPr b="1" sz="13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1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arr[] = {</a:t>
              </a: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</a:t>
              </a:r>
              <a:r>
                <a:rPr b="1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20</a:t>
              </a:r>
              <a:r>
                <a:rPr b="1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30</a:t>
              </a:r>
              <a:r>
                <a:rPr b="1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40</a:t>
              </a:r>
              <a:r>
                <a:rPr b="1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50</a:t>
              </a:r>
              <a:r>
                <a:rPr b="1" lang="en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};</a:t>
              </a:r>
              <a:endParaRPr b="1" sz="13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127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Example 1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002" name="Google Shape;2002;p127"/>
          <p:cNvGrpSpPr/>
          <p:nvPr/>
        </p:nvGrpSpPr>
        <p:grpSpPr>
          <a:xfrm>
            <a:off x="1143000" y="1190625"/>
            <a:ext cx="6858000" cy="3667200"/>
            <a:chOff x="0" y="0"/>
            <a:chExt cx="6858000" cy="3667200"/>
          </a:xfrm>
        </p:grpSpPr>
        <p:sp>
          <p:nvSpPr>
            <p:cNvPr id="2003" name="Google Shape;2003;p127"/>
            <p:cNvSpPr/>
            <p:nvPr/>
          </p:nvSpPr>
          <p:spPr>
            <a:xfrm>
              <a:off x="0" y="0"/>
              <a:ext cx="6858000" cy="3667200"/>
            </a:xfrm>
            <a:prstGeom prst="roundRect">
              <a:avLst>
                <a:gd fmla="val 207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127"/>
            <p:cNvSpPr/>
            <p:nvPr/>
          </p:nvSpPr>
          <p:spPr>
            <a:xfrm>
              <a:off x="142875" y="1143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127"/>
            <p:cNvSpPr/>
            <p:nvPr/>
          </p:nvSpPr>
          <p:spPr>
            <a:xfrm>
              <a:off x="285750" y="1143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127"/>
            <p:cNvSpPr/>
            <p:nvPr/>
          </p:nvSpPr>
          <p:spPr>
            <a:xfrm>
              <a:off x="428625" y="1143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127"/>
            <p:cNvSpPr txBox="1"/>
            <p:nvPr/>
          </p:nvSpPr>
          <p:spPr>
            <a:xfrm>
              <a:off x="666750" y="66675"/>
              <a:ext cx="552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Arr.java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2008" name="Google Shape;2008;p1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5250" y="1458700"/>
            <a:ext cx="6580051" cy="3306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128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i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Example 1</a:t>
            </a:r>
            <a:endParaRPr b="1" i="0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4" name="Google Shape;2014;p128"/>
          <p:cNvSpPr txBox="1"/>
          <p:nvPr/>
        </p:nvSpPr>
        <p:spPr>
          <a:xfrm>
            <a:off x="476250" y="1190625"/>
            <a:ext cx="8191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Execution Output: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015" name="Google Shape;2015;p128"/>
          <p:cNvGrpSpPr/>
          <p:nvPr/>
        </p:nvGrpSpPr>
        <p:grpSpPr>
          <a:xfrm>
            <a:off x="1143000" y="1524000"/>
            <a:ext cx="6858000" cy="3143400"/>
            <a:chOff x="0" y="0"/>
            <a:chExt cx="6858000" cy="3143400"/>
          </a:xfrm>
        </p:grpSpPr>
        <p:sp>
          <p:nvSpPr>
            <p:cNvPr id="2016" name="Google Shape;2016;p128"/>
            <p:cNvSpPr/>
            <p:nvPr/>
          </p:nvSpPr>
          <p:spPr>
            <a:xfrm>
              <a:off x="0" y="0"/>
              <a:ext cx="6858000" cy="3143400"/>
            </a:xfrm>
            <a:prstGeom prst="roundRect">
              <a:avLst>
                <a:gd fmla="val 242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128"/>
            <p:cNvSpPr/>
            <p:nvPr/>
          </p:nvSpPr>
          <p:spPr>
            <a:xfrm>
              <a:off x="142875" y="123825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128"/>
            <p:cNvSpPr/>
            <p:nvPr/>
          </p:nvSpPr>
          <p:spPr>
            <a:xfrm>
              <a:off x="285750" y="123825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128"/>
            <p:cNvSpPr/>
            <p:nvPr/>
          </p:nvSpPr>
          <p:spPr>
            <a:xfrm>
              <a:off x="428625" y="123825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128"/>
            <p:cNvSpPr txBox="1"/>
            <p:nvPr/>
          </p:nvSpPr>
          <p:spPr>
            <a:xfrm>
              <a:off x="666750" y="0"/>
              <a:ext cx="5524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Terminal - Output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2021" name="Google Shape;2021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225" y="1868175"/>
            <a:ext cx="6535549" cy="2613075"/>
          </a:xfrm>
          <a:prstGeom prst="rect">
            <a:avLst/>
          </a:prstGeom>
          <a:noFill/>
          <a:ln cap="flat" cmpd="sng" w="9525">
            <a:solidFill>
              <a:srgbClr val="2CA1B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129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Example 2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027" name="Google Shape;2027;p129"/>
          <p:cNvGrpSpPr/>
          <p:nvPr/>
        </p:nvGrpSpPr>
        <p:grpSpPr>
          <a:xfrm>
            <a:off x="476250" y="1428750"/>
            <a:ext cx="4000500" cy="3238500"/>
            <a:chOff x="0" y="0"/>
            <a:chExt cx="4000500" cy="3238500"/>
          </a:xfrm>
        </p:grpSpPr>
        <p:sp>
          <p:nvSpPr>
            <p:cNvPr id="2028" name="Google Shape;2028;p129"/>
            <p:cNvSpPr/>
            <p:nvPr/>
          </p:nvSpPr>
          <p:spPr>
            <a:xfrm>
              <a:off x="0" y="0"/>
              <a:ext cx="40005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129"/>
            <p:cNvSpPr/>
            <p:nvPr/>
          </p:nvSpPr>
          <p:spPr>
            <a:xfrm>
              <a:off x="142875" y="1143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129"/>
            <p:cNvSpPr/>
            <p:nvPr/>
          </p:nvSpPr>
          <p:spPr>
            <a:xfrm>
              <a:off x="285750" y="1143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129"/>
            <p:cNvSpPr/>
            <p:nvPr/>
          </p:nvSpPr>
          <p:spPr>
            <a:xfrm>
              <a:off x="428625" y="1143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129"/>
            <p:cNvSpPr txBox="1"/>
            <p:nvPr/>
          </p:nvSpPr>
          <p:spPr>
            <a:xfrm>
              <a:off x="666750" y="66675"/>
              <a:ext cx="2667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Arr.java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033" name="Google Shape;2033;p129"/>
          <p:cNvGrpSpPr/>
          <p:nvPr/>
        </p:nvGrpSpPr>
        <p:grpSpPr>
          <a:xfrm>
            <a:off x="4667250" y="1428750"/>
            <a:ext cx="4000500" cy="3238500"/>
            <a:chOff x="0" y="0"/>
            <a:chExt cx="4000500" cy="3238500"/>
          </a:xfrm>
        </p:grpSpPr>
        <p:sp>
          <p:nvSpPr>
            <p:cNvPr id="2034" name="Google Shape;2034;p129"/>
            <p:cNvSpPr/>
            <p:nvPr/>
          </p:nvSpPr>
          <p:spPr>
            <a:xfrm>
              <a:off x="0" y="0"/>
              <a:ext cx="40005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129"/>
            <p:cNvSpPr/>
            <p:nvPr/>
          </p:nvSpPr>
          <p:spPr>
            <a:xfrm>
              <a:off x="142875" y="1143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129"/>
            <p:cNvSpPr/>
            <p:nvPr/>
          </p:nvSpPr>
          <p:spPr>
            <a:xfrm>
              <a:off x="285750" y="1143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129"/>
            <p:cNvSpPr/>
            <p:nvPr/>
          </p:nvSpPr>
          <p:spPr>
            <a:xfrm>
              <a:off x="428625" y="1143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129"/>
            <p:cNvSpPr txBox="1"/>
            <p:nvPr/>
          </p:nvSpPr>
          <p:spPr>
            <a:xfrm>
              <a:off x="666750" y="66675"/>
              <a:ext cx="2667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Terminal - Output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2039" name="Google Shape;2039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250" y="1745775"/>
            <a:ext cx="3816650" cy="2792200"/>
          </a:xfrm>
          <a:prstGeom prst="rect">
            <a:avLst/>
          </a:prstGeom>
          <a:noFill/>
          <a:ln cap="flat" cmpd="sng" w="9525">
            <a:solidFill>
              <a:srgbClr val="2CA1B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40" name="Google Shape;2040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3450" y="1745775"/>
            <a:ext cx="3816650" cy="853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4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p130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Array Length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046" name="Google Shape;2046;p130"/>
          <p:cNvGrpSpPr/>
          <p:nvPr/>
        </p:nvGrpSpPr>
        <p:grpSpPr>
          <a:xfrm>
            <a:off x="476250" y="1428750"/>
            <a:ext cx="3905400" cy="2952900"/>
            <a:chOff x="0" y="0"/>
            <a:chExt cx="3905400" cy="2952900"/>
          </a:xfrm>
        </p:grpSpPr>
        <p:sp>
          <p:nvSpPr>
            <p:cNvPr id="2047" name="Google Shape;2047;p130"/>
            <p:cNvSpPr/>
            <p:nvPr/>
          </p:nvSpPr>
          <p:spPr>
            <a:xfrm>
              <a:off x="0" y="0"/>
              <a:ext cx="3905400" cy="2952900"/>
            </a:xfrm>
            <a:prstGeom prst="roundRect">
              <a:avLst>
                <a:gd fmla="val 258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130"/>
            <p:cNvSpPr txBox="1"/>
            <p:nvPr/>
          </p:nvSpPr>
          <p:spPr>
            <a:xfrm>
              <a:off x="228600" y="228600"/>
              <a:ext cx="3448200" cy="24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Purpose</a:t>
              </a:r>
              <a:endParaRPr b="1" sz="2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To get the number of elements in an array, you can use the built-in </a:t>
              </a:r>
              <a:r>
                <a:rPr b="1" lang="en" sz="17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length</a:t>
              </a:r>
              <a:r>
                <a:rPr b="0" lang="en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field.</a:t>
              </a:r>
              <a:endParaRPr b="0" sz="17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7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length</a:t>
              </a:r>
              <a:r>
                <a:rPr b="0" lang="en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property dynamically returns the total size (or capacity) of the allocated array.</a:t>
              </a:r>
              <a:endParaRPr b="0" sz="17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49" name="Google Shape;2049;p130"/>
          <p:cNvGrpSpPr/>
          <p:nvPr/>
        </p:nvGrpSpPr>
        <p:grpSpPr>
          <a:xfrm>
            <a:off x="4762500" y="1428750"/>
            <a:ext cx="3905400" cy="2952900"/>
            <a:chOff x="0" y="0"/>
            <a:chExt cx="3905400" cy="2952900"/>
          </a:xfrm>
        </p:grpSpPr>
        <p:sp>
          <p:nvSpPr>
            <p:cNvPr id="2050" name="Google Shape;2050;p130"/>
            <p:cNvSpPr/>
            <p:nvPr/>
          </p:nvSpPr>
          <p:spPr>
            <a:xfrm>
              <a:off x="0" y="0"/>
              <a:ext cx="3905400" cy="2952900"/>
            </a:xfrm>
            <a:prstGeom prst="roundRect">
              <a:avLst>
                <a:gd fmla="val 258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130"/>
            <p:cNvSpPr/>
            <p:nvPr/>
          </p:nvSpPr>
          <p:spPr>
            <a:xfrm>
              <a:off x="95250" y="123825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130"/>
            <p:cNvSpPr/>
            <p:nvPr/>
          </p:nvSpPr>
          <p:spPr>
            <a:xfrm>
              <a:off x="238125" y="123825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130"/>
            <p:cNvSpPr/>
            <p:nvPr/>
          </p:nvSpPr>
          <p:spPr>
            <a:xfrm>
              <a:off x="381000" y="123825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130"/>
            <p:cNvSpPr txBox="1"/>
            <p:nvPr/>
          </p:nvSpPr>
          <p:spPr>
            <a:xfrm>
              <a:off x="666750" y="76200"/>
              <a:ext cx="2571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Syntax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055" name="Google Shape;2055;p130"/>
            <p:cNvCxnSpPr/>
            <p:nvPr/>
          </p:nvCxnSpPr>
          <p:spPr>
            <a:xfrm>
              <a:off x="0" y="342900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56" name="Google Shape;2056;p130"/>
            <p:cNvSpPr txBox="1"/>
            <p:nvPr/>
          </p:nvSpPr>
          <p:spPr>
            <a:xfrm>
              <a:off x="228600" y="571500"/>
              <a:ext cx="3448200" cy="215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arrayName</a:t>
              </a:r>
              <a:r>
                <a:rPr b="1" lang="en" sz="18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.length</a:t>
              </a:r>
              <a:endParaRPr b="1" sz="18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1" name="Google Shape;2061;p131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062" name="Google Shape;2062;p131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131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For-Each Loop</a:t>
              </a:r>
              <a:endParaRPr b="1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64" name="Google Shape;2064;p131"/>
          <p:cNvGrpSpPr/>
          <p:nvPr/>
        </p:nvGrpSpPr>
        <p:grpSpPr>
          <a:xfrm>
            <a:off x="476250" y="1428750"/>
            <a:ext cx="3905400" cy="3238500"/>
            <a:chOff x="0" y="0"/>
            <a:chExt cx="3905400" cy="3238500"/>
          </a:xfrm>
        </p:grpSpPr>
        <p:sp>
          <p:nvSpPr>
            <p:cNvPr id="2065" name="Google Shape;2065;p131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66" name="Google Shape;2066;p131"/>
            <p:cNvGrpSpPr/>
            <p:nvPr/>
          </p:nvGrpSpPr>
          <p:grpSpPr>
            <a:xfrm>
              <a:off x="228600" y="228600"/>
              <a:ext cx="3448200" cy="2781300"/>
              <a:chOff x="0" y="0"/>
              <a:chExt cx="3448200" cy="2781300"/>
            </a:xfrm>
          </p:grpSpPr>
          <p:sp>
            <p:nvSpPr>
              <p:cNvPr id="2067" name="Google Shape;2067;p131"/>
              <p:cNvSpPr/>
              <p:nvPr/>
            </p:nvSpPr>
            <p:spPr>
              <a:xfrm>
                <a:off x="0" y="0"/>
                <a:ext cx="3448200" cy="2781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8" name="Google Shape;2068;p131"/>
              <p:cNvSpPr txBox="1"/>
              <p:nvPr/>
            </p:nvSpPr>
            <p:spPr>
              <a:xfrm>
                <a:off x="0" y="0"/>
                <a:ext cx="3448200" cy="278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Purpose</a:t>
                </a:r>
                <a:endParaRPr b="1" sz="2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The for-each loop is used to traverse arrays or collections in Java. It is easier to use than a simple for loop because you don't need to increment values or use subscript notation.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It works on the basis of elements instead of indices, returning each element one by one into the defined variable.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069" name="Google Shape;2069;p131"/>
          <p:cNvGrpSpPr/>
          <p:nvPr/>
        </p:nvGrpSpPr>
        <p:grpSpPr>
          <a:xfrm>
            <a:off x="4762500" y="1428750"/>
            <a:ext cx="3905400" cy="3238500"/>
            <a:chOff x="0" y="0"/>
            <a:chExt cx="3905400" cy="3238500"/>
          </a:xfrm>
        </p:grpSpPr>
        <p:sp>
          <p:nvSpPr>
            <p:cNvPr id="2070" name="Google Shape;2070;p131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131"/>
            <p:cNvSpPr/>
            <p:nvPr/>
          </p:nvSpPr>
          <p:spPr>
            <a:xfrm>
              <a:off x="142875" y="1143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131"/>
            <p:cNvSpPr/>
            <p:nvPr/>
          </p:nvSpPr>
          <p:spPr>
            <a:xfrm>
              <a:off x="285750" y="1143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131"/>
            <p:cNvSpPr/>
            <p:nvPr/>
          </p:nvSpPr>
          <p:spPr>
            <a:xfrm>
              <a:off x="428625" y="1143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74" name="Google Shape;2074;p131"/>
            <p:cNvGrpSpPr/>
            <p:nvPr/>
          </p:nvGrpSpPr>
          <p:grpSpPr>
            <a:xfrm>
              <a:off x="666750" y="66675"/>
              <a:ext cx="2571900" cy="190500"/>
              <a:chOff x="0" y="0"/>
              <a:chExt cx="2571900" cy="190500"/>
            </a:xfrm>
          </p:grpSpPr>
          <p:sp>
            <p:nvSpPr>
              <p:cNvPr id="2075" name="Google Shape;2075;p131"/>
              <p:cNvSpPr/>
              <p:nvPr/>
            </p:nvSpPr>
            <p:spPr>
              <a:xfrm>
                <a:off x="0" y="0"/>
                <a:ext cx="25719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6" name="Google Shape;2076;p131"/>
              <p:cNvSpPr txBox="1"/>
              <p:nvPr/>
            </p:nvSpPr>
            <p:spPr>
              <a:xfrm>
                <a:off x="0" y="0"/>
                <a:ext cx="2571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Syntax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cxnSp>
          <p:nvCxnSpPr>
            <p:cNvPr id="2077" name="Google Shape;2077;p131"/>
            <p:cNvCxnSpPr/>
            <p:nvPr/>
          </p:nvCxnSpPr>
          <p:spPr>
            <a:xfrm>
              <a:off x="0" y="342900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078" name="Google Shape;2078;p131"/>
            <p:cNvGrpSpPr/>
            <p:nvPr/>
          </p:nvGrpSpPr>
          <p:grpSpPr>
            <a:xfrm>
              <a:off x="228600" y="571500"/>
              <a:ext cx="3448200" cy="2438400"/>
              <a:chOff x="0" y="0"/>
              <a:chExt cx="3448200" cy="2438400"/>
            </a:xfrm>
          </p:grpSpPr>
          <p:sp>
            <p:nvSpPr>
              <p:cNvPr id="2079" name="Google Shape;2079;p131"/>
              <p:cNvSpPr/>
              <p:nvPr/>
            </p:nvSpPr>
            <p:spPr>
              <a:xfrm>
                <a:off x="0" y="0"/>
                <a:ext cx="3448200" cy="2438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0" name="Google Shape;2080;p131"/>
              <p:cNvSpPr txBox="1"/>
              <p:nvPr/>
            </p:nvSpPr>
            <p:spPr>
              <a:xfrm>
                <a:off x="0" y="0"/>
                <a:ext cx="3448200" cy="24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2563E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</a:t>
                </a:r>
                <a:r>
                  <a:rPr b="1" lang="en" sz="1600">
                    <a:solidFill>
                      <a:srgbClr val="0F172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(datatype var : arrayname) {</a:t>
                </a:r>
                <a:endParaRPr b="1" sz="16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190500" marR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statement</a:t>
                </a:r>
                <a:endParaRPr b="0" sz="16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0F172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1" sz="16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5" name="Google Shape;2085;p132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086" name="Google Shape;2086;p132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132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Example: For-Each Loop</a:t>
              </a:r>
              <a:endParaRPr b="1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88" name="Google Shape;2088;p132"/>
          <p:cNvGrpSpPr/>
          <p:nvPr/>
        </p:nvGrpSpPr>
        <p:grpSpPr>
          <a:xfrm>
            <a:off x="476250" y="1428750"/>
            <a:ext cx="3905400" cy="3238500"/>
            <a:chOff x="0" y="0"/>
            <a:chExt cx="3905400" cy="3238500"/>
          </a:xfrm>
        </p:grpSpPr>
        <p:sp>
          <p:nvSpPr>
            <p:cNvPr id="2089" name="Google Shape;2089;p132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132"/>
            <p:cNvSpPr/>
            <p:nvPr/>
          </p:nvSpPr>
          <p:spPr>
            <a:xfrm>
              <a:off x="142875" y="1143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132"/>
            <p:cNvSpPr/>
            <p:nvPr/>
          </p:nvSpPr>
          <p:spPr>
            <a:xfrm>
              <a:off x="285750" y="1143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132"/>
            <p:cNvSpPr/>
            <p:nvPr/>
          </p:nvSpPr>
          <p:spPr>
            <a:xfrm>
              <a:off x="428625" y="1143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132"/>
            <p:cNvSpPr txBox="1"/>
            <p:nvPr/>
          </p:nvSpPr>
          <p:spPr>
            <a:xfrm>
              <a:off x="666750" y="66675"/>
              <a:ext cx="2571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Arr.java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094" name="Google Shape;2094;p132"/>
            <p:cNvCxnSpPr/>
            <p:nvPr/>
          </p:nvCxnSpPr>
          <p:spPr>
            <a:xfrm>
              <a:off x="0" y="342900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095" name="Google Shape;2095;p132"/>
            <p:cNvPicPr preferRelativeResize="0"/>
            <p:nvPr/>
          </p:nvPicPr>
          <p:blipFill rotWithShape="1">
            <a:blip r:embed="rId3">
              <a:alphaModFix/>
            </a:blip>
            <a:srcRect b="2190" l="0" r="0" t="2199"/>
            <a:stretch/>
          </p:blipFill>
          <p:spPr>
            <a:xfrm>
              <a:off x="190500" y="428625"/>
              <a:ext cx="3524400" cy="2419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96" name="Google Shape;2096;p132"/>
          <p:cNvGrpSpPr/>
          <p:nvPr/>
        </p:nvGrpSpPr>
        <p:grpSpPr>
          <a:xfrm>
            <a:off x="4762500" y="1428750"/>
            <a:ext cx="3905400" cy="3238500"/>
            <a:chOff x="0" y="0"/>
            <a:chExt cx="3905400" cy="3238500"/>
          </a:xfrm>
        </p:grpSpPr>
        <p:sp>
          <p:nvSpPr>
            <p:cNvPr id="2097" name="Google Shape;2097;p132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132"/>
            <p:cNvSpPr/>
            <p:nvPr/>
          </p:nvSpPr>
          <p:spPr>
            <a:xfrm>
              <a:off x="142875" y="1143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132"/>
            <p:cNvSpPr/>
            <p:nvPr/>
          </p:nvSpPr>
          <p:spPr>
            <a:xfrm>
              <a:off x="285750" y="1143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132"/>
            <p:cNvSpPr/>
            <p:nvPr/>
          </p:nvSpPr>
          <p:spPr>
            <a:xfrm>
              <a:off x="428625" y="1143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132"/>
            <p:cNvSpPr txBox="1"/>
            <p:nvPr/>
          </p:nvSpPr>
          <p:spPr>
            <a:xfrm>
              <a:off x="666750" y="66675"/>
              <a:ext cx="2571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Terminal Output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102" name="Google Shape;2102;p132"/>
            <p:cNvCxnSpPr/>
            <p:nvPr/>
          </p:nvCxnSpPr>
          <p:spPr>
            <a:xfrm>
              <a:off x="0" y="342900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2103" name="Google Shape;2103;p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8250" y="1851075"/>
            <a:ext cx="3645824" cy="81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7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8" name="Google Shape;2108;p133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109" name="Google Shape;2109;p133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133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Multi-dimensional Array</a:t>
              </a:r>
              <a:endParaRPr b="1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11" name="Google Shape;2111;p133"/>
          <p:cNvGrpSpPr/>
          <p:nvPr/>
        </p:nvGrpSpPr>
        <p:grpSpPr>
          <a:xfrm>
            <a:off x="476250" y="1428750"/>
            <a:ext cx="3905400" cy="3238500"/>
            <a:chOff x="0" y="0"/>
            <a:chExt cx="3905400" cy="3238500"/>
          </a:xfrm>
        </p:grpSpPr>
        <p:sp>
          <p:nvSpPr>
            <p:cNvPr id="2112" name="Google Shape;2112;p133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133"/>
            <p:cNvSpPr txBox="1"/>
            <p:nvPr/>
          </p:nvSpPr>
          <p:spPr>
            <a:xfrm>
              <a:off x="228600" y="228600"/>
              <a:ext cx="34482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Concept</a:t>
              </a:r>
              <a:endParaRPr b="1" sz="2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multidimensional array is an array of arrays. That is, each element of a multidimensional array is an array itself.</a:t>
              </a:r>
              <a:endParaRPr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To access the elements of the </a:t>
              </a: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arr</a:t>
              </a:r>
              <a:r>
                <a:rPr lang="en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array, specify two indexes: one for the row array, and one for the element inside that array.</a:t>
              </a:r>
              <a:endParaRPr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14" name="Google Shape;2114;p133"/>
          <p:cNvGrpSpPr/>
          <p:nvPr/>
        </p:nvGrpSpPr>
        <p:grpSpPr>
          <a:xfrm>
            <a:off x="4762500" y="1428750"/>
            <a:ext cx="3905400" cy="3238500"/>
            <a:chOff x="0" y="0"/>
            <a:chExt cx="3905400" cy="3238500"/>
          </a:xfrm>
        </p:grpSpPr>
        <p:sp>
          <p:nvSpPr>
            <p:cNvPr id="2115" name="Google Shape;2115;p133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133"/>
            <p:cNvSpPr/>
            <p:nvPr/>
          </p:nvSpPr>
          <p:spPr>
            <a:xfrm>
              <a:off x="142875" y="123825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133"/>
            <p:cNvSpPr/>
            <p:nvPr/>
          </p:nvSpPr>
          <p:spPr>
            <a:xfrm>
              <a:off x="285750" y="123825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133"/>
            <p:cNvSpPr/>
            <p:nvPr/>
          </p:nvSpPr>
          <p:spPr>
            <a:xfrm>
              <a:off x="428625" y="123825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133"/>
            <p:cNvSpPr txBox="1"/>
            <p:nvPr/>
          </p:nvSpPr>
          <p:spPr>
            <a:xfrm>
              <a:off x="666750" y="66675"/>
              <a:ext cx="2571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Declaration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120" name="Google Shape;2120;p133"/>
            <p:cNvCxnSpPr/>
            <p:nvPr/>
          </p:nvCxnSpPr>
          <p:spPr>
            <a:xfrm>
              <a:off x="0" y="342900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21" name="Google Shape;2121;p133"/>
            <p:cNvSpPr txBox="1"/>
            <p:nvPr/>
          </p:nvSpPr>
          <p:spPr>
            <a:xfrm>
              <a:off x="228600" y="571500"/>
              <a:ext cx="3448200" cy="24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Syntax &amp; Initialization</a:t>
              </a:r>
              <a:endParaRPr b="0" sz="15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1" lang="en" sz="15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[][] arr = {</a:t>
              </a:r>
              <a:endParaRPr b="1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54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{1, 2, 3},</a:t>
              </a:r>
              <a:endParaRPr b="1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54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{4, 5, 6}</a:t>
              </a:r>
              <a:endParaRPr b="1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};</a:t>
              </a:r>
              <a:endParaRPr b="1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134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Multi-dimensional Array: For Loop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127" name="Google Shape;2127;p134"/>
          <p:cNvGrpSpPr/>
          <p:nvPr/>
        </p:nvGrpSpPr>
        <p:grpSpPr>
          <a:xfrm>
            <a:off x="476250" y="1428750"/>
            <a:ext cx="3905400" cy="3238500"/>
            <a:chOff x="0" y="0"/>
            <a:chExt cx="3905400" cy="3238500"/>
          </a:xfrm>
        </p:grpSpPr>
        <p:sp>
          <p:nvSpPr>
            <p:cNvPr id="2128" name="Google Shape;2128;p134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134"/>
            <p:cNvSpPr/>
            <p:nvPr/>
          </p:nvSpPr>
          <p:spPr>
            <a:xfrm>
              <a:off x="142875" y="1143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134"/>
            <p:cNvSpPr/>
            <p:nvPr/>
          </p:nvSpPr>
          <p:spPr>
            <a:xfrm>
              <a:off x="285750" y="1143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134"/>
            <p:cNvSpPr/>
            <p:nvPr/>
          </p:nvSpPr>
          <p:spPr>
            <a:xfrm>
              <a:off x="428625" y="1143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134"/>
            <p:cNvSpPr txBox="1"/>
            <p:nvPr/>
          </p:nvSpPr>
          <p:spPr>
            <a:xfrm>
              <a:off x="666750" y="66675"/>
              <a:ext cx="2571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Arr.java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133" name="Google Shape;2133;p134"/>
            <p:cNvCxnSpPr/>
            <p:nvPr/>
          </p:nvCxnSpPr>
          <p:spPr>
            <a:xfrm>
              <a:off x="0" y="342900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34" name="Google Shape;2134;p134"/>
          <p:cNvGrpSpPr/>
          <p:nvPr/>
        </p:nvGrpSpPr>
        <p:grpSpPr>
          <a:xfrm>
            <a:off x="4762500" y="1428750"/>
            <a:ext cx="3905400" cy="3238500"/>
            <a:chOff x="0" y="0"/>
            <a:chExt cx="3905400" cy="3238500"/>
          </a:xfrm>
        </p:grpSpPr>
        <p:sp>
          <p:nvSpPr>
            <p:cNvPr id="2135" name="Google Shape;2135;p134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134"/>
            <p:cNvSpPr/>
            <p:nvPr/>
          </p:nvSpPr>
          <p:spPr>
            <a:xfrm>
              <a:off x="142875" y="1143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134"/>
            <p:cNvSpPr/>
            <p:nvPr/>
          </p:nvSpPr>
          <p:spPr>
            <a:xfrm>
              <a:off x="285750" y="1143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134"/>
            <p:cNvSpPr/>
            <p:nvPr/>
          </p:nvSpPr>
          <p:spPr>
            <a:xfrm>
              <a:off x="428625" y="1143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134"/>
            <p:cNvSpPr txBox="1"/>
            <p:nvPr/>
          </p:nvSpPr>
          <p:spPr>
            <a:xfrm>
              <a:off x="666750" y="66675"/>
              <a:ext cx="2571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Terminal Output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140" name="Google Shape;2140;p134"/>
            <p:cNvCxnSpPr/>
            <p:nvPr/>
          </p:nvCxnSpPr>
          <p:spPr>
            <a:xfrm>
              <a:off x="0" y="342900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141" name="Google Shape;2141;p134"/>
            <p:cNvPicPr preferRelativeResize="0"/>
            <p:nvPr/>
          </p:nvPicPr>
          <p:blipFill rotWithShape="1">
            <a:blip r:embed="rId3">
              <a:alphaModFix/>
            </a:blip>
            <a:srcRect b="0" l="27702" r="27697" t="0"/>
            <a:stretch/>
          </p:blipFill>
          <p:spPr>
            <a:xfrm>
              <a:off x="190500" y="1095375"/>
              <a:ext cx="3524400" cy="1047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42" name="Google Shape;2142;p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100" y="1891125"/>
            <a:ext cx="3645000" cy="2658174"/>
          </a:xfrm>
          <a:prstGeom prst="rect">
            <a:avLst/>
          </a:prstGeom>
          <a:noFill/>
          <a:ln cap="flat" cmpd="sng" w="9525">
            <a:solidFill>
              <a:srgbClr val="2CA1B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43" name="Google Shape;2143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2850" y="1891125"/>
            <a:ext cx="3571249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p135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Multi-dimensional Array: For-Each Loop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149" name="Google Shape;2149;p135"/>
          <p:cNvGrpSpPr/>
          <p:nvPr/>
        </p:nvGrpSpPr>
        <p:grpSpPr>
          <a:xfrm>
            <a:off x="476250" y="1428750"/>
            <a:ext cx="3905400" cy="3238500"/>
            <a:chOff x="0" y="0"/>
            <a:chExt cx="3905400" cy="3238500"/>
          </a:xfrm>
        </p:grpSpPr>
        <p:sp>
          <p:nvSpPr>
            <p:cNvPr id="2150" name="Google Shape;2150;p135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135"/>
            <p:cNvSpPr/>
            <p:nvPr/>
          </p:nvSpPr>
          <p:spPr>
            <a:xfrm>
              <a:off x="142875" y="1143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135"/>
            <p:cNvSpPr/>
            <p:nvPr/>
          </p:nvSpPr>
          <p:spPr>
            <a:xfrm>
              <a:off x="285750" y="1143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135"/>
            <p:cNvSpPr/>
            <p:nvPr/>
          </p:nvSpPr>
          <p:spPr>
            <a:xfrm>
              <a:off x="428625" y="1143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135"/>
            <p:cNvSpPr txBox="1"/>
            <p:nvPr/>
          </p:nvSpPr>
          <p:spPr>
            <a:xfrm>
              <a:off x="666750" y="66675"/>
              <a:ext cx="2571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Arr.java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155" name="Google Shape;2155;p135"/>
            <p:cNvCxnSpPr/>
            <p:nvPr/>
          </p:nvCxnSpPr>
          <p:spPr>
            <a:xfrm>
              <a:off x="0" y="342900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56" name="Google Shape;2156;p135"/>
          <p:cNvGrpSpPr/>
          <p:nvPr/>
        </p:nvGrpSpPr>
        <p:grpSpPr>
          <a:xfrm>
            <a:off x="4762500" y="1428750"/>
            <a:ext cx="3905400" cy="3238500"/>
            <a:chOff x="0" y="0"/>
            <a:chExt cx="3905400" cy="3238500"/>
          </a:xfrm>
        </p:grpSpPr>
        <p:sp>
          <p:nvSpPr>
            <p:cNvPr id="2157" name="Google Shape;2157;p135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135"/>
            <p:cNvSpPr/>
            <p:nvPr/>
          </p:nvSpPr>
          <p:spPr>
            <a:xfrm>
              <a:off x="142875" y="1143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135"/>
            <p:cNvSpPr/>
            <p:nvPr/>
          </p:nvSpPr>
          <p:spPr>
            <a:xfrm>
              <a:off x="285750" y="1143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135"/>
            <p:cNvSpPr/>
            <p:nvPr/>
          </p:nvSpPr>
          <p:spPr>
            <a:xfrm>
              <a:off x="428625" y="1143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135"/>
            <p:cNvSpPr txBox="1"/>
            <p:nvPr/>
          </p:nvSpPr>
          <p:spPr>
            <a:xfrm>
              <a:off x="666750" y="66675"/>
              <a:ext cx="2571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Terminal Output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162" name="Google Shape;2162;p135"/>
            <p:cNvCxnSpPr/>
            <p:nvPr/>
          </p:nvCxnSpPr>
          <p:spPr>
            <a:xfrm>
              <a:off x="0" y="342900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2163" name="Google Shape;2163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525" y="1838325"/>
            <a:ext cx="3657600" cy="273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4" name="Google Shape;2164;p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5450" y="1895450"/>
            <a:ext cx="3763126" cy="131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8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p136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Jagged Array: Structure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0" name="Google Shape;2170;p136"/>
          <p:cNvSpPr txBox="1"/>
          <p:nvPr/>
        </p:nvSpPr>
        <p:spPr>
          <a:xfrm>
            <a:off x="476250" y="1428750"/>
            <a:ext cx="3524400" cy="31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Definition</a:t>
            </a:r>
            <a:endParaRPr b="0" sz="1800">
              <a:solidFill>
                <a:srgbClr val="1E293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jagged array is a multi-dimensional array where the member arrays can be of different sizes and lengths.</a:t>
            </a:r>
            <a:endParaRPr b="0"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KEY CHARACTERISTICS</a:t>
            </a:r>
            <a:endParaRPr b="0" sz="11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r>
              <a:rPr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Each row is an independent array</a:t>
            </a:r>
            <a:endParaRPr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r>
              <a:rPr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Optimizes memory for uneven datasets</a:t>
            </a:r>
            <a:endParaRPr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r>
              <a:rPr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Individually allocated row dimensions</a:t>
            </a:r>
            <a:endParaRPr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171" name="Google Shape;2171;p136"/>
          <p:cNvGrpSpPr/>
          <p:nvPr/>
        </p:nvGrpSpPr>
        <p:grpSpPr>
          <a:xfrm>
            <a:off x="4476750" y="1428750"/>
            <a:ext cx="4191000" cy="2476500"/>
            <a:chOff x="0" y="0"/>
            <a:chExt cx="4191000" cy="2476500"/>
          </a:xfrm>
        </p:grpSpPr>
        <p:sp>
          <p:nvSpPr>
            <p:cNvPr id="2172" name="Google Shape;2172;p136"/>
            <p:cNvSpPr/>
            <p:nvPr/>
          </p:nvSpPr>
          <p:spPr>
            <a:xfrm>
              <a:off x="0" y="0"/>
              <a:ext cx="4191000" cy="2476500"/>
            </a:xfrm>
            <a:prstGeom prst="roundRect">
              <a:avLst>
                <a:gd fmla="val 307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136"/>
            <p:cNvSpPr/>
            <p:nvPr/>
          </p:nvSpPr>
          <p:spPr>
            <a:xfrm>
              <a:off x="95250" y="123825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136"/>
            <p:cNvSpPr/>
            <p:nvPr/>
          </p:nvSpPr>
          <p:spPr>
            <a:xfrm>
              <a:off x="238125" y="123825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136"/>
            <p:cNvSpPr/>
            <p:nvPr/>
          </p:nvSpPr>
          <p:spPr>
            <a:xfrm>
              <a:off x="381000" y="123825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136"/>
            <p:cNvSpPr txBox="1"/>
            <p:nvPr/>
          </p:nvSpPr>
          <p:spPr>
            <a:xfrm>
              <a:off x="666750" y="76200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Memory Visualization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177" name="Google Shape;2177;p136"/>
            <p:cNvCxnSpPr/>
            <p:nvPr/>
          </p:nvCxnSpPr>
          <p:spPr>
            <a:xfrm>
              <a:off x="0" y="342900"/>
              <a:ext cx="4191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178" name="Google Shape;2178;p136"/>
            <p:cNvPicPr preferRelativeResize="0"/>
            <p:nvPr/>
          </p:nvPicPr>
          <p:blipFill rotWithShape="1">
            <a:blip r:embed="rId4">
              <a:alphaModFix/>
            </a:blip>
            <a:srcRect b="140" l="0" r="0" t="150"/>
            <a:stretch/>
          </p:blipFill>
          <p:spPr>
            <a:xfrm>
              <a:off x="142875" y="619125"/>
              <a:ext cx="3905400" cy="14763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82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3" name="Google Shape;2183;p137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184" name="Google Shape;2184;p137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137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Jagged Array: Code Implementation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186" name="Google Shape;2186;p137"/>
          <p:cNvGrpSpPr/>
          <p:nvPr/>
        </p:nvGrpSpPr>
        <p:grpSpPr>
          <a:xfrm>
            <a:off x="476250" y="1428750"/>
            <a:ext cx="4191000" cy="3238500"/>
            <a:chOff x="0" y="0"/>
            <a:chExt cx="4191000" cy="3238500"/>
          </a:xfrm>
        </p:grpSpPr>
        <p:sp>
          <p:nvSpPr>
            <p:cNvPr id="2187" name="Google Shape;2187;p137"/>
            <p:cNvSpPr/>
            <p:nvPr/>
          </p:nvSpPr>
          <p:spPr>
            <a:xfrm>
              <a:off x="0" y="0"/>
              <a:ext cx="41910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137"/>
            <p:cNvSpPr/>
            <p:nvPr/>
          </p:nvSpPr>
          <p:spPr>
            <a:xfrm>
              <a:off x="142875" y="1143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137"/>
            <p:cNvSpPr/>
            <p:nvPr/>
          </p:nvSpPr>
          <p:spPr>
            <a:xfrm>
              <a:off x="285750" y="1143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137"/>
            <p:cNvSpPr/>
            <p:nvPr/>
          </p:nvSpPr>
          <p:spPr>
            <a:xfrm>
              <a:off x="428625" y="1143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91" name="Google Shape;2191;p137"/>
            <p:cNvGrpSpPr/>
            <p:nvPr/>
          </p:nvGrpSpPr>
          <p:grpSpPr>
            <a:xfrm>
              <a:off x="666750" y="66675"/>
              <a:ext cx="2857500" cy="190500"/>
              <a:chOff x="0" y="0"/>
              <a:chExt cx="2857500" cy="190500"/>
            </a:xfrm>
          </p:grpSpPr>
          <p:sp>
            <p:nvSpPr>
              <p:cNvPr id="2192" name="Google Shape;2192;p137"/>
              <p:cNvSpPr/>
              <p:nvPr/>
            </p:nvSpPr>
            <p:spPr>
              <a:xfrm>
                <a:off x="0" y="0"/>
                <a:ext cx="28575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3" name="Google Shape;2193;p137"/>
              <p:cNvSpPr txBox="1"/>
              <p:nvPr/>
            </p:nvSpPr>
            <p:spPr>
              <a:xfrm>
                <a:off x="0" y="0"/>
                <a:ext cx="2857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Jaggedarray.java</a:t>
                </a:r>
                <a:endParaRPr b="1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cxnSp>
          <p:nvCxnSpPr>
            <p:cNvPr id="2194" name="Google Shape;2194;p137"/>
            <p:cNvCxnSpPr/>
            <p:nvPr/>
          </p:nvCxnSpPr>
          <p:spPr>
            <a:xfrm>
              <a:off x="0" y="342900"/>
              <a:ext cx="4191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95" name="Google Shape;2195;p137"/>
          <p:cNvGrpSpPr/>
          <p:nvPr/>
        </p:nvGrpSpPr>
        <p:grpSpPr>
          <a:xfrm>
            <a:off x="4953000" y="1428750"/>
            <a:ext cx="3714900" cy="3238500"/>
            <a:chOff x="0" y="0"/>
            <a:chExt cx="3714900" cy="3238500"/>
          </a:xfrm>
        </p:grpSpPr>
        <p:sp>
          <p:nvSpPr>
            <p:cNvPr id="2196" name="Google Shape;2196;p137"/>
            <p:cNvSpPr/>
            <p:nvPr/>
          </p:nvSpPr>
          <p:spPr>
            <a:xfrm>
              <a:off x="0" y="0"/>
              <a:ext cx="37149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137"/>
            <p:cNvSpPr txBox="1"/>
            <p:nvPr/>
          </p:nvSpPr>
          <p:spPr>
            <a:xfrm>
              <a:off x="0" y="0"/>
              <a:ext cx="3714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Code Walkthrough</a:t>
              </a:r>
              <a:endParaRPr b="0" sz="18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program demonstrates how to declare, allocate memory for, and traverse a jagged array in Java.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KEY STEPS IN THE CODE</a:t>
              </a:r>
              <a:endParaRPr b="0" sz="11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✦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Declaration: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int a[][] = new int[3][] defines a 2D array with 3 rows.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✦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Row Allocation: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Defines columns of sizes 2, 3, and 1 dynamically.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✦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Traversal: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Employs nested loops using .length to handle varied row sizes safely.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198" name="Google Shape;2198;p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950" y="1872325"/>
            <a:ext cx="4032051" cy="272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2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3" name="Google Shape;2203;p138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204" name="Google Shape;2204;p138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138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Jagged Array: Output</a:t>
              </a:r>
              <a:endParaRPr b="1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06" name="Google Shape;2206;p138"/>
          <p:cNvGrpSpPr/>
          <p:nvPr/>
        </p:nvGrpSpPr>
        <p:grpSpPr>
          <a:xfrm>
            <a:off x="476250" y="1428750"/>
            <a:ext cx="4191000" cy="3238500"/>
            <a:chOff x="0" y="0"/>
            <a:chExt cx="4191000" cy="3238500"/>
          </a:xfrm>
        </p:grpSpPr>
        <p:sp>
          <p:nvSpPr>
            <p:cNvPr id="2207" name="Google Shape;2207;p138"/>
            <p:cNvSpPr/>
            <p:nvPr/>
          </p:nvSpPr>
          <p:spPr>
            <a:xfrm>
              <a:off x="0" y="0"/>
              <a:ext cx="41910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138"/>
            <p:cNvSpPr/>
            <p:nvPr/>
          </p:nvSpPr>
          <p:spPr>
            <a:xfrm>
              <a:off x="142875" y="1143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138"/>
            <p:cNvSpPr/>
            <p:nvPr/>
          </p:nvSpPr>
          <p:spPr>
            <a:xfrm>
              <a:off x="285750" y="1143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138"/>
            <p:cNvSpPr/>
            <p:nvPr/>
          </p:nvSpPr>
          <p:spPr>
            <a:xfrm>
              <a:off x="428625" y="1143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138"/>
            <p:cNvSpPr txBox="1"/>
            <p:nvPr/>
          </p:nvSpPr>
          <p:spPr>
            <a:xfrm>
              <a:off x="666750" y="66675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Terminal Output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212" name="Google Shape;2212;p138"/>
            <p:cNvCxnSpPr/>
            <p:nvPr/>
          </p:nvCxnSpPr>
          <p:spPr>
            <a:xfrm>
              <a:off x="0" y="342900"/>
              <a:ext cx="4191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13" name="Google Shape;2213;p138"/>
          <p:cNvGrpSpPr/>
          <p:nvPr/>
        </p:nvGrpSpPr>
        <p:grpSpPr>
          <a:xfrm>
            <a:off x="4953000" y="1428750"/>
            <a:ext cx="3714900" cy="3238500"/>
            <a:chOff x="0" y="0"/>
            <a:chExt cx="3714900" cy="3238500"/>
          </a:xfrm>
        </p:grpSpPr>
        <p:sp>
          <p:nvSpPr>
            <p:cNvPr id="2214" name="Google Shape;2214;p138"/>
            <p:cNvSpPr/>
            <p:nvPr/>
          </p:nvSpPr>
          <p:spPr>
            <a:xfrm>
              <a:off x="0" y="0"/>
              <a:ext cx="37149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138"/>
            <p:cNvSpPr txBox="1"/>
            <p:nvPr/>
          </p:nvSpPr>
          <p:spPr>
            <a:xfrm>
              <a:off x="0" y="0"/>
              <a:ext cx="3714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Execution &amp; Results</a:t>
              </a:r>
              <a:endParaRPr b="0" sz="18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console output confirms the compilation process and demonstrates the behavior of the dynamically allocated rows.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KEY OBSERVATIONS</a:t>
              </a:r>
              <a:endParaRPr b="0" sz="11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✦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Compilation &amp; Run: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The code is compiled with </a:t>
              </a:r>
              <a:r>
                <a:rPr b="1"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javac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and run smoothly using the </a:t>
              </a:r>
              <a:r>
                <a:rPr b="1"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java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command.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✦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Console Input: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Values like row size and matrix inputs (10, 2, 1, 3, 4, 3) are provided sequentially.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✦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Formatted Display: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The jagged array is printed back with uneven columns (2, 3, and 1 elements respectively).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216" name="Google Shape;2216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800" y="1886550"/>
            <a:ext cx="4014200" cy="2674100"/>
          </a:xfrm>
          <a:prstGeom prst="rect">
            <a:avLst/>
          </a:prstGeom>
          <a:noFill/>
          <a:ln cap="flat" cmpd="sng" w="9525">
            <a:solidFill>
              <a:srgbClr val="2CA1B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139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222" name="Google Shape;2222;p139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139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Arrays: Advantages &amp; Disadvantages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224" name="Google Shape;2224;p139"/>
          <p:cNvGrpSpPr/>
          <p:nvPr/>
        </p:nvGrpSpPr>
        <p:grpSpPr>
          <a:xfrm>
            <a:off x="476250" y="1428750"/>
            <a:ext cx="3952800" cy="3238500"/>
            <a:chOff x="0" y="0"/>
            <a:chExt cx="3952800" cy="3238500"/>
          </a:xfrm>
        </p:grpSpPr>
        <p:sp>
          <p:nvSpPr>
            <p:cNvPr id="2225" name="Google Shape;2225;p139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0FDF4"/>
            </a:solidFill>
            <a:ln cap="flat" cmpd="sng" w="14300">
              <a:solidFill>
                <a:srgbClr val="DCFC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139"/>
            <p:cNvSpPr txBox="1"/>
            <p:nvPr/>
          </p:nvSpPr>
          <p:spPr>
            <a:xfrm>
              <a:off x="228600" y="228600"/>
              <a:ext cx="34956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15803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add_circle</a:t>
              </a:r>
              <a:r>
                <a:rPr b="1" lang="en" sz="18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Advantages</a:t>
              </a:r>
              <a:endParaRPr b="1" sz="18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rPr>
                <a:t>1. Code Optimization</a:t>
              </a:r>
              <a:endParaRPr b="1" sz="1600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F6212"/>
                  </a:solidFill>
                  <a:latin typeface="Inter"/>
                  <a:ea typeface="Inter"/>
                  <a:cs typeface="Inter"/>
                  <a:sym typeface="Inter"/>
                </a:rPr>
                <a:t>It makes the code optimized, allowing us to retrieve or sort the data with high efficiency.</a:t>
              </a:r>
              <a:endParaRPr b="0" sz="1500">
                <a:solidFill>
                  <a:srgbClr val="3F6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rPr>
                <a:t>2. Random Access</a:t>
              </a:r>
              <a:endParaRPr b="1" sz="1600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F6212"/>
                  </a:solidFill>
                  <a:latin typeface="Inter"/>
                  <a:ea typeface="Inter"/>
                  <a:cs typeface="Inter"/>
                  <a:sym typeface="Inter"/>
                </a:rPr>
                <a:t>We can instantly access or retrieve any data located at a specific index position.</a:t>
              </a:r>
              <a:endParaRPr b="0" sz="1500">
                <a:solidFill>
                  <a:srgbClr val="3F621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27" name="Google Shape;2227;p139"/>
          <p:cNvGrpSpPr/>
          <p:nvPr/>
        </p:nvGrpSpPr>
        <p:grpSpPr>
          <a:xfrm>
            <a:off x="4714875" y="1428750"/>
            <a:ext cx="3952800" cy="3238500"/>
            <a:chOff x="0" y="0"/>
            <a:chExt cx="3952800" cy="3238500"/>
          </a:xfrm>
        </p:grpSpPr>
        <p:sp>
          <p:nvSpPr>
            <p:cNvPr id="2228" name="Google Shape;2228;p139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FF1F2"/>
            </a:solidFill>
            <a:ln cap="flat" cmpd="sng" w="14300">
              <a:solidFill>
                <a:srgbClr val="FFE4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139"/>
            <p:cNvSpPr txBox="1"/>
            <p:nvPr/>
          </p:nvSpPr>
          <p:spPr>
            <a:xfrm>
              <a:off x="228600" y="228600"/>
              <a:ext cx="34956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B91C1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remove_circle</a:t>
              </a:r>
              <a:r>
                <a:rPr b="1" lang="en" sz="180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Disadvantages</a:t>
              </a:r>
              <a:endParaRPr b="1" sz="180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rPr>
                <a:t>1. Size Limit</a:t>
              </a:r>
              <a:endParaRPr b="1" sz="1700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We can store only a fixed size of elements. Once initialized, the array cannot grow in size at runtime.</a:t>
              </a:r>
              <a:endParaRPr b="0" sz="160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50">
                  <a:solidFill>
                    <a:srgbClr val="7F1D1D"/>
                  </a:solidFill>
                  <a:highlight>
                    <a:srgbClr val="FFE4E6"/>
                  </a:highlight>
                  <a:latin typeface="Inter"/>
                  <a:ea typeface="Inter"/>
                  <a:cs typeface="Inter"/>
                  <a:sym typeface="Inter"/>
                </a:rPr>
                <a:t>Java Solution:</a:t>
              </a:r>
              <a:r>
                <a:rPr b="0" lang="en" sz="1550">
                  <a:solidFill>
                    <a:srgbClr val="7F1D1D"/>
                  </a:solidFill>
                  <a:highlight>
                    <a:srgbClr val="FFE4E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 Use the Collection Framework (like ArrayList) which dynamically grows automatically.</a:t>
              </a:r>
              <a:endParaRPr b="0" sz="1550">
                <a:solidFill>
                  <a:srgbClr val="7F1D1D"/>
                </a:solidFill>
                <a:highlight>
                  <a:srgbClr val="FFE4E6"/>
                </a:highlight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4" name="Google Shape;2234;p140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235" name="Google Shape;2235;p140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140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String: Fundamentals</a:t>
              </a:r>
              <a:endParaRPr b="1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37" name="Google Shape;2237;p140"/>
          <p:cNvGrpSpPr/>
          <p:nvPr/>
        </p:nvGrpSpPr>
        <p:grpSpPr>
          <a:xfrm>
            <a:off x="476250" y="1333500"/>
            <a:ext cx="3952800" cy="3238500"/>
            <a:chOff x="0" y="0"/>
            <a:chExt cx="3952800" cy="3238500"/>
          </a:xfrm>
        </p:grpSpPr>
        <p:sp>
          <p:nvSpPr>
            <p:cNvPr id="2238" name="Google Shape;2238;p140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39" name="Google Shape;2239;p140"/>
            <p:cNvGrpSpPr/>
            <p:nvPr/>
          </p:nvGrpSpPr>
          <p:grpSpPr>
            <a:xfrm>
              <a:off x="228600" y="228600"/>
              <a:ext cx="3495600" cy="2781300"/>
              <a:chOff x="0" y="0"/>
              <a:chExt cx="3495600" cy="2781300"/>
            </a:xfrm>
          </p:grpSpPr>
          <p:sp>
            <p:nvSpPr>
              <p:cNvPr id="2240" name="Google Shape;2240;p140"/>
              <p:cNvSpPr/>
              <p:nvPr/>
            </p:nvSpPr>
            <p:spPr>
              <a:xfrm>
                <a:off x="0" y="0"/>
                <a:ext cx="3495600" cy="2781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1" name="Google Shape;2241;p140"/>
              <p:cNvSpPr txBox="1"/>
              <p:nvPr/>
            </p:nvSpPr>
            <p:spPr>
              <a:xfrm>
                <a:off x="0" y="0"/>
                <a:ext cx="3495600" cy="278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2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code</a:t>
                </a:r>
                <a:r>
                  <a:rPr b="1" lang="en" sz="18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Overview &amp; Implementation</a:t>
                </a:r>
                <a:endParaRPr b="1" sz="2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1. Fundamental Nature</a:t>
                </a:r>
                <a:endParaRPr b="1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Strings are very important in the world of programming languages as they are used to process long textual/symbolic information. They are considered fundamental data types in almost all languages.</a:t>
                </a:r>
                <a:endParaRPr b="0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2. Java Implementation</a:t>
                </a:r>
                <a:endParaRPr b="1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In java, string class is provided to work with strings along with the facility of character arrays.</a:t>
                </a:r>
                <a:endParaRPr b="0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242" name="Google Shape;2242;p140"/>
          <p:cNvGrpSpPr/>
          <p:nvPr/>
        </p:nvGrpSpPr>
        <p:grpSpPr>
          <a:xfrm>
            <a:off x="4714875" y="1333500"/>
            <a:ext cx="3952800" cy="3238500"/>
            <a:chOff x="0" y="0"/>
            <a:chExt cx="3952800" cy="3238500"/>
          </a:xfrm>
        </p:grpSpPr>
        <p:sp>
          <p:nvSpPr>
            <p:cNvPr id="2243" name="Google Shape;2243;p140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FF1F2"/>
            </a:solidFill>
            <a:ln cap="flat" cmpd="sng" w="14300">
              <a:solidFill>
                <a:srgbClr val="FFE4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44" name="Google Shape;2244;p140"/>
            <p:cNvGrpSpPr/>
            <p:nvPr/>
          </p:nvGrpSpPr>
          <p:grpSpPr>
            <a:xfrm>
              <a:off x="228600" y="228600"/>
              <a:ext cx="3495600" cy="2781300"/>
              <a:chOff x="0" y="0"/>
              <a:chExt cx="3495600" cy="2781300"/>
            </a:xfrm>
          </p:grpSpPr>
          <p:sp>
            <p:nvSpPr>
              <p:cNvPr id="2245" name="Google Shape;2245;p140"/>
              <p:cNvSpPr/>
              <p:nvPr/>
            </p:nvSpPr>
            <p:spPr>
              <a:xfrm>
                <a:off x="0" y="0"/>
                <a:ext cx="3495600" cy="2781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6" name="Google Shape;2246;p140"/>
              <p:cNvSpPr txBox="1"/>
              <p:nvPr/>
            </p:nvSpPr>
            <p:spPr>
              <a:xfrm>
                <a:off x="0" y="0"/>
                <a:ext cx="3495600" cy="278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200">
                    <a:solidFill>
                      <a:srgbClr val="E11D4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lock_clock</a:t>
                </a:r>
                <a:r>
                  <a:rPr b="1" lang="en" sz="1800">
                    <a:solidFill>
                      <a:srgbClr val="9F1239"/>
                    </a:solidFill>
                    <a:latin typeface="Inter"/>
                    <a:ea typeface="Inter"/>
                    <a:cs typeface="Inter"/>
                    <a:sym typeface="Inter"/>
                  </a:rPr>
                  <a:t>Core Feature</a:t>
                </a:r>
                <a:endParaRPr b="1" sz="2200">
                  <a:solidFill>
                    <a:srgbClr val="E11D4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BE123C"/>
                    </a:solidFill>
                    <a:latin typeface="Inter"/>
                    <a:ea typeface="Inter"/>
                    <a:cs typeface="Inter"/>
                    <a:sym typeface="Inter"/>
                  </a:rPr>
                  <a:t>Immutability</a:t>
                </a:r>
                <a:endParaRPr b="1" sz="1600">
                  <a:solidFill>
                    <a:srgbClr val="BE123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9F1239"/>
                    </a:solidFill>
                    <a:latin typeface="Inter"/>
                    <a:ea typeface="Inter"/>
                    <a:cs typeface="Inter"/>
                    <a:sym typeface="Inter"/>
                  </a:rPr>
                  <a:t>The strings are immutable as once an object of the String class is created &amp; initialized with some value, it cannot be changed.</a:t>
                </a:r>
                <a:endParaRPr b="0" sz="1350">
                  <a:solidFill>
                    <a:srgbClr val="9F123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9F1239"/>
                    </a:solidFill>
                    <a:highlight>
                      <a:srgbClr val="FFE4E6"/>
                    </a:highlight>
                    <a:latin typeface="Inter"/>
                    <a:ea typeface="Inter"/>
                    <a:cs typeface="Inter"/>
                    <a:sym typeface="Inter"/>
                  </a:rPr>
                  <a:t>Important Note:</a:t>
                </a:r>
                <a:r>
                  <a:rPr b="0" lang="en" sz="1250">
                    <a:solidFill>
                      <a:srgbClr val="E11D48"/>
                    </a:solidFill>
                    <a:latin typeface="Inter"/>
                    <a:ea typeface="Inter"/>
                    <a:cs typeface="Inter"/>
                    <a:sym typeface="Inter"/>
                  </a:rPr>
                  <a:t> String objects are constant and read-only once instantiated.</a:t>
                </a:r>
                <a:endParaRPr b="1" sz="1250">
                  <a:solidFill>
                    <a:srgbClr val="9F1239"/>
                  </a:solidFill>
                  <a:highlight>
                    <a:srgbClr val="FFE4E6"/>
                  </a:highlight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0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1" name="Google Shape;2251;p141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252" name="Google Shape;2252;p141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141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String: Objects &amp; Package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254" name="Google Shape;2254;p141"/>
          <p:cNvGrpSpPr/>
          <p:nvPr/>
        </p:nvGrpSpPr>
        <p:grpSpPr>
          <a:xfrm>
            <a:off x="476250" y="1333500"/>
            <a:ext cx="3952800" cy="3238500"/>
            <a:chOff x="0" y="0"/>
            <a:chExt cx="3952800" cy="3238500"/>
          </a:xfrm>
        </p:grpSpPr>
        <p:sp>
          <p:nvSpPr>
            <p:cNvPr id="2255" name="Google Shape;2255;p141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141"/>
            <p:cNvSpPr txBox="1"/>
            <p:nvPr/>
          </p:nvSpPr>
          <p:spPr>
            <a:xfrm>
              <a:off x="228600" y="228600"/>
              <a:ext cx="3495600" cy="2781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Objects &amp; Packages</a:t>
              </a:r>
              <a:endParaRPr b="1" sz="2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1. Handling String Data</a:t>
              </a:r>
              <a:endParaRPr b="1" sz="14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To handle string data in Java, we require objects of the String class.</a:t>
              </a:r>
              <a:endParaRPr b="1" sz="1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2. Automatic Import</a:t>
              </a:r>
              <a:endParaRPr b="1" sz="14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120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Stri</a:t>
              </a: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ng class is included in the </a:t>
              </a:r>
              <a:r>
                <a:rPr b="1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java.lang package</a:t>
              </a: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 Therefore each class can use the String class without importing any package.</a:t>
              </a:r>
              <a:endParaRPr b="1" sz="1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257" name="Google Shape;2257;p141"/>
          <p:cNvGrpSpPr/>
          <p:nvPr/>
        </p:nvGrpSpPr>
        <p:grpSpPr>
          <a:xfrm>
            <a:off x="4714875" y="1333500"/>
            <a:ext cx="3952800" cy="3238500"/>
            <a:chOff x="0" y="0"/>
            <a:chExt cx="3952800" cy="3238500"/>
          </a:xfrm>
        </p:grpSpPr>
        <p:sp>
          <p:nvSpPr>
            <p:cNvPr id="2258" name="Google Shape;2258;p141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0FDF4"/>
            </a:solidFill>
            <a:ln cap="flat" cmpd="sng" w="14300">
              <a:solidFill>
                <a:srgbClr val="DCFC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141"/>
            <p:cNvSpPr txBox="1"/>
            <p:nvPr/>
          </p:nvSpPr>
          <p:spPr>
            <a:xfrm>
              <a:off x="228600" y="228600"/>
              <a:ext cx="3495600" cy="2781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15803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r>
                <a:rPr b="1" lang="en" sz="18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Implementation &amp; Syntax</a:t>
              </a:r>
              <a:endParaRPr b="1" sz="220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rPr>
                <a:t>Syntax Example</a:t>
              </a:r>
              <a:endParaRPr b="1" sz="140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F6212"/>
                  </a:solidFill>
                  <a:latin typeface="Inter"/>
                  <a:ea typeface="Inter"/>
                  <a:cs typeface="Inter"/>
                  <a:sym typeface="Inter"/>
                </a:rPr>
                <a:t>We can initialize a String by assigning a sequence of characters wrapped in double quotes.</a:t>
              </a:r>
              <a:endParaRPr b="1" sz="120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n" sz="1400">
                  <a:solidFill>
                    <a:srgbClr val="14532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Example: String str = “Hello”</a:t>
              </a:r>
              <a:endParaRPr b="1" sz="1400">
                <a:solidFill>
                  <a:srgbClr val="15803D"/>
                </a:solidFill>
                <a:highlight>
                  <a:srgbClr val="DCFCE7"/>
                </a:highlight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3" name="Shape 2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4" name="Google Shape;2264;p142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265" name="Google Shape;2265;p142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142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Operation on String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267" name="Google Shape;2267;p142"/>
          <p:cNvGrpSpPr/>
          <p:nvPr/>
        </p:nvGrpSpPr>
        <p:grpSpPr>
          <a:xfrm>
            <a:off x="476250" y="1333500"/>
            <a:ext cx="3952800" cy="3238500"/>
            <a:chOff x="0" y="0"/>
            <a:chExt cx="3952800" cy="3238500"/>
          </a:xfrm>
        </p:grpSpPr>
        <p:sp>
          <p:nvSpPr>
            <p:cNvPr id="2268" name="Google Shape;2268;p142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69" name="Google Shape;2269;p142"/>
            <p:cNvGrpSpPr/>
            <p:nvPr/>
          </p:nvGrpSpPr>
          <p:grpSpPr>
            <a:xfrm>
              <a:off x="228600" y="228600"/>
              <a:ext cx="3495600" cy="2781300"/>
              <a:chOff x="0" y="0"/>
              <a:chExt cx="3495600" cy="2781300"/>
            </a:xfrm>
          </p:grpSpPr>
          <p:sp>
            <p:nvSpPr>
              <p:cNvPr id="2270" name="Google Shape;2270;p142"/>
              <p:cNvSpPr/>
              <p:nvPr/>
            </p:nvSpPr>
            <p:spPr>
              <a:xfrm>
                <a:off x="0" y="0"/>
                <a:ext cx="3495600" cy="2781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1" name="Google Shape;2271;p142"/>
              <p:cNvSpPr txBox="1"/>
              <p:nvPr/>
            </p:nvSpPr>
            <p:spPr>
              <a:xfrm>
                <a:off x="0" y="0"/>
                <a:ext cx="3495600" cy="278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2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settings</a:t>
                </a:r>
                <a:r>
                  <a:rPr b="1" lang="en" sz="18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 Overview &amp; Capabilities</a:t>
                </a:r>
                <a:endParaRPr b="1" sz="2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The string class in java provides various methods that enable you to perform various tasks like character extraction, conversion, case shifting, and comparison.</a:t>
                </a:r>
                <a:endParaRPr b="0" sz="13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Robust Manipulation</a:t>
                </a:r>
                <a:endParaRPr b="1" sz="12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These operations allow developers to handle text data with speed and high efficiency, ensuring data format consistency across applications.</a:t>
                </a:r>
                <a:endParaRPr b="0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272" name="Google Shape;2272;p142"/>
          <p:cNvGrpSpPr/>
          <p:nvPr/>
        </p:nvGrpSpPr>
        <p:grpSpPr>
          <a:xfrm>
            <a:off x="4714875" y="1333500"/>
            <a:ext cx="3952800" cy="3238500"/>
            <a:chOff x="0" y="0"/>
            <a:chExt cx="3952800" cy="3238500"/>
          </a:xfrm>
        </p:grpSpPr>
        <p:sp>
          <p:nvSpPr>
            <p:cNvPr id="2273" name="Google Shape;2273;p142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0FDF4"/>
            </a:solidFill>
            <a:ln cap="flat" cmpd="sng" w="14300">
              <a:solidFill>
                <a:srgbClr val="DCFC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4" name="Google Shape;2274;p142"/>
            <p:cNvGrpSpPr/>
            <p:nvPr/>
          </p:nvGrpSpPr>
          <p:grpSpPr>
            <a:xfrm>
              <a:off x="228600" y="228600"/>
              <a:ext cx="3495600" cy="2781300"/>
              <a:chOff x="0" y="0"/>
              <a:chExt cx="3495600" cy="2781300"/>
            </a:xfrm>
          </p:grpSpPr>
          <p:sp>
            <p:nvSpPr>
              <p:cNvPr id="2275" name="Google Shape;2275;p142"/>
              <p:cNvSpPr/>
              <p:nvPr/>
            </p:nvSpPr>
            <p:spPr>
              <a:xfrm>
                <a:off x="0" y="0"/>
                <a:ext cx="3495600" cy="2781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6" name="Google Shape;2276;p142"/>
              <p:cNvSpPr txBox="1"/>
              <p:nvPr/>
            </p:nvSpPr>
            <p:spPr>
              <a:xfrm>
                <a:off x="0" y="0"/>
                <a:ext cx="3495600" cy="278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200">
                    <a:solidFill>
                      <a:srgbClr val="15803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format_list_numbered</a:t>
                </a:r>
                <a:r>
                  <a:rPr b="1" lang="en" sz="1800">
                    <a:solidFill>
                      <a:srgbClr val="166534"/>
                    </a:solidFill>
                    <a:latin typeface="Inter"/>
                    <a:ea typeface="Inter"/>
                    <a:cs typeface="Inter"/>
                    <a:sym typeface="Inter"/>
                  </a:rPr>
                  <a:t> Common Tasks</a:t>
                </a:r>
                <a:endParaRPr b="1" sz="2200">
                  <a:solidFill>
                    <a:srgbClr val="15803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-301625" lvl="0" marL="457200" rtl="0" algn="l">
                  <a:spcBef>
                    <a:spcPts val="1200"/>
                  </a:spcBef>
                  <a:spcAft>
                    <a:spcPts val="0"/>
                  </a:spcAft>
                  <a:buClr>
                    <a:srgbClr val="14532D"/>
                  </a:buClr>
                  <a:buSzPts val="1150"/>
                  <a:buFont typeface="Inter"/>
                  <a:buChar char="●"/>
                </a:pPr>
                <a:r>
                  <a:rPr b="0" lang="en" sz="1150">
                    <a:solidFill>
                      <a:srgbClr val="14532D"/>
                    </a:solidFill>
                    <a:latin typeface="Inter"/>
                    <a:ea typeface="Inter"/>
                    <a:cs typeface="Inter"/>
                    <a:sym typeface="Inter"/>
                  </a:rPr>
                  <a:t>Convert a string into a character</a:t>
                </a:r>
                <a:endParaRPr b="0" sz="115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1625" lvl="0" marL="457200" rtl="0" algn="l">
                  <a:spcBef>
                    <a:spcPts val="525"/>
                  </a:spcBef>
                  <a:spcAft>
                    <a:spcPts val="0"/>
                  </a:spcAft>
                  <a:buClr>
                    <a:srgbClr val="14532D"/>
                  </a:buClr>
                  <a:buSzPts val="1150"/>
                  <a:buFont typeface="Inter"/>
                  <a:buChar char="●"/>
                </a:pPr>
                <a:r>
                  <a:rPr b="0" lang="en" sz="1150">
                    <a:solidFill>
                      <a:srgbClr val="14532D"/>
                    </a:solidFill>
                    <a:latin typeface="Inter"/>
                    <a:ea typeface="Inter"/>
                    <a:cs typeface="Inter"/>
                    <a:sym typeface="Inter"/>
                  </a:rPr>
                  <a:t>Convert numbers into strings</a:t>
                </a:r>
                <a:endParaRPr b="0" sz="115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1625" lvl="0" marL="457200" rtl="0" algn="l">
                  <a:spcBef>
                    <a:spcPts val="525"/>
                  </a:spcBef>
                  <a:spcAft>
                    <a:spcPts val="0"/>
                  </a:spcAft>
                  <a:buClr>
                    <a:srgbClr val="14532D"/>
                  </a:buClr>
                  <a:buSzPts val="1150"/>
                  <a:buFont typeface="Inter"/>
                  <a:buChar char="●"/>
                </a:pPr>
                <a:r>
                  <a:rPr b="0" lang="en" sz="1150">
                    <a:solidFill>
                      <a:srgbClr val="14532D"/>
                    </a:solidFill>
                    <a:latin typeface="Inter"/>
                    <a:ea typeface="Inter"/>
                    <a:cs typeface="Inter"/>
                    <a:sym typeface="Inter"/>
                  </a:rPr>
                  <a:t>Search strings</a:t>
                </a:r>
                <a:endParaRPr b="0" sz="115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1625" lvl="0" marL="457200" rtl="0" algn="l">
                  <a:spcBef>
                    <a:spcPts val="525"/>
                  </a:spcBef>
                  <a:spcAft>
                    <a:spcPts val="0"/>
                  </a:spcAft>
                  <a:buClr>
                    <a:srgbClr val="14532D"/>
                  </a:buClr>
                  <a:buSzPts val="1150"/>
                  <a:buFont typeface="Inter"/>
                  <a:buChar char="●"/>
                </a:pPr>
                <a:r>
                  <a:rPr b="0" lang="en" sz="1150">
                    <a:solidFill>
                      <a:srgbClr val="14532D"/>
                    </a:solidFill>
                    <a:latin typeface="Inter"/>
                    <a:ea typeface="Inter"/>
                    <a:cs typeface="Inter"/>
                    <a:sym typeface="Inter"/>
                  </a:rPr>
                  <a:t>Create substrings</a:t>
                </a:r>
                <a:endParaRPr b="0" sz="115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1625" lvl="0" marL="457200" rtl="0" algn="l">
                  <a:spcBef>
                    <a:spcPts val="525"/>
                  </a:spcBef>
                  <a:spcAft>
                    <a:spcPts val="0"/>
                  </a:spcAft>
                  <a:buClr>
                    <a:srgbClr val="14532D"/>
                  </a:buClr>
                  <a:buSzPts val="1150"/>
                  <a:buFont typeface="Inter"/>
                  <a:buChar char="●"/>
                </a:pPr>
                <a:r>
                  <a:rPr b="0" lang="en" sz="1150">
                    <a:solidFill>
                      <a:srgbClr val="14532D"/>
                    </a:solidFill>
                    <a:latin typeface="Inter"/>
                    <a:ea typeface="Inter"/>
                    <a:cs typeface="Inter"/>
                    <a:sym typeface="Inter"/>
                  </a:rPr>
                  <a:t>Change the case of string</a:t>
                </a:r>
                <a:endParaRPr b="0" sz="115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1625" lvl="0" marL="457200" rtl="0" algn="l">
                  <a:spcBef>
                    <a:spcPts val="525"/>
                  </a:spcBef>
                  <a:spcAft>
                    <a:spcPts val="0"/>
                  </a:spcAft>
                  <a:buClr>
                    <a:srgbClr val="14532D"/>
                  </a:buClr>
                  <a:buSzPts val="1150"/>
                  <a:buFont typeface="Inter"/>
                  <a:buChar char="●"/>
                </a:pPr>
                <a:r>
                  <a:rPr b="0" lang="en" sz="1150">
                    <a:solidFill>
                      <a:srgbClr val="14532D"/>
                    </a:solidFill>
                    <a:latin typeface="Inter"/>
                    <a:ea typeface="Inter"/>
                    <a:cs typeface="Inter"/>
                    <a:sym typeface="Inter"/>
                  </a:rPr>
                  <a:t>Get a string length</a:t>
                </a:r>
                <a:endParaRPr b="0" sz="115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1625" lvl="0" marL="457200" rtl="0" algn="l">
                  <a:spcBef>
                    <a:spcPts val="525"/>
                  </a:spcBef>
                  <a:spcAft>
                    <a:spcPts val="525"/>
                  </a:spcAft>
                  <a:buClr>
                    <a:srgbClr val="14532D"/>
                  </a:buClr>
                  <a:buSzPts val="1150"/>
                  <a:buFont typeface="Inter"/>
                  <a:buChar char="●"/>
                </a:pPr>
                <a:r>
                  <a:rPr b="0" lang="en" sz="1150">
                    <a:solidFill>
                      <a:srgbClr val="14532D"/>
                    </a:solidFill>
                    <a:latin typeface="Inter"/>
                    <a:ea typeface="Inter"/>
                    <a:cs typeface="Inter"/>
                    <a:sym typeface="Inter"/>
                  </a:rPr>
                  <a:t>Compare strings</a:t>
                </a:r>
                <a:endParaRPr b="0" sz="115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0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1" name="Google Shape;2281;p143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282" name="Google Shape;2282;p143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143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 Method: length()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284" name="Google Shape;2284;p143"/>
          <p:cNvGrpSpPr/>
          <p:nvPr/>
        </p:nvGrpSpPr>
        <p:grpSpPr>
          <a:xfrm>
            <a:off x="476250" y="1333500"/>
            <a:ext cx="3952800" cy="3238500"/>
            <a:chOff x="0" y="0"/>
            <a:chExt cx="3952800" cy="3238500"/>
          </a:xfrm>
        </p:grpSpPr>
        <p:sp>
          <p:nvSpPr>
            <p:cNvPr id="2285" name="Google Shape;2285;p143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143"/>
            <p:cNvSpPr txBox="1"/>
            <p:nvPr/>
          </p:nvSpPr>
          <p:spPr>
            <a:xfrm>
              <a:off x="228600" y="228600"/>
              <a:ext cx="34956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straighten</a:t>
              </a: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Method Overview</a:t>
              </a:r>
              <a:endParaRPr b="1" sz="2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1. Character Calculation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length() method returns the length of a string. It calculates all the characters, symbols &amp; numbers enclosed in double quotes (“”).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2. Whitespace Inclusion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All spaces and punctuation marks inside the string literals are accurately counted towards the final total length.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87" name="Google Shape;2287;p143"/>
          <p:cNvGrpSpPr/>
          <p:nvPr/>
        </p:nvGrpSpPr>
        <p:grpSpPr>
          <a:xfrm>
            <a:off x="4714875" y="1333500"/>
            <a:ext cx="3952800" cy="3238500"/>
            <a:chOff x="0" y="0"/>
            <a:chExt cx="3952800" cy="3238500"/>
          </a:xfrm>
        </p:grpSpPr>
        <p:sp>
          <p:nvSpPr>
            <p:cNvPr id="2288" name="Google Shape;2288;p143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0FDF4"/>
            </a:solidFill>
            <a:ln cap="flat" cmpd="sng" w="14300">
              <a:solidFill>
                <a:srgbClr val="DCFC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143"/>
            <p:cNvSpPr txBox="1"/>
            <p:nvPr/>
          </p:nvSpPr>
          <p:spPr>
            <a:xfrm>
              <a:off x="228600" y="228600"/>
              <a:ext cx="34956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15803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r>
                <a:rPr b="1" lang="en" sz="18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Return &amp; Syntax</a:t>
              </a:r>
              <a:endParaRPr b="1" sz="220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rPr>
                <a:t>Output Value</a:t>
              </a:r>
              <a:endParaRPr b="1" sz="1400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F6212"/>
                  </a:solidFill>
                  <a:latin typeface="Inter"/>
                  <a:ea typeface="Inter"/>
                  <a:cs typeface="Inter"/>
                  <a:sym typeface="Inter"/>
                </a:rPr>
                <a:t>The method returns an integer value representing the total count.</a:t>
              </a:r>
              <a:endParaRPr b="0" sz="1200">
                <a:solidFill>
                  <a:srgbClr val="3F621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rPr>
                <a:t>Syntax Example</a:t>
              </a:r>
              <a:endParaRPr b="1" sz="1400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4532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int length = str.length();</a:t>
              </a:r>
              <a:endParaRPr b="1" sz="1400">
                <a:solidFill>
                  <a:srgbClr val="14532D"/>
                </a:solidFill>
                <a:highlight>
                  <a:srgbClr val="DCFCE7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3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4" name="Google Shape;2294;p144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295" name="Google Shape;2295;p144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144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 Methods: Case Conversion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297" name="Google Shape;2297;p144"/>
          <p:cNvGrpSpPr/>
          <p:nvPr/>
        </p:nvGrpSpPr>
        <p:grpSpPr>
          <a:xfrm>
            <a:off x="476250" y="1333500"/>
            <a:ext cx="3952800" cy="3238500"/>
            <a:chOff x="0" y="0"/>
            <a:chExt cx="3952800" cy="3238500"/>
          </a:xfrm>
        </p:grpSpPr>
        <p:sp>
          <p:nvSpPr>
            <p:cNvPr id="2298" name="Google Shape;2298;p144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144"/>
            <p:cNvSpPr txBox="1"/>
            <p:nvPr/>
          </p:nvSpPr>
          <p:spPr>
            <a:xfrm>
              <a:off x="228600" y="228600"/>
              <a:ext cx="34956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arrow_downward</a:t>
              </a: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toLowerCase()</a:t>
              </a:r>
              <a:endParaRPr b="1" sz="2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toLowerCase() method returns a string after converting all uppercase letters of the invoking string into lowercase.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Syntax</a:t>
              </a:r>
              <a:endParaRPr b="1" sz="13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highlight>
                    <a:srgbClr val="E2E8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stringname.toLowerCase()</a:t>
              </a:r>
              <a:endParaRPr b="1" sz="1300">
                <a:solidFill>
                  <a:srgbClr val="0F172A"/>
                </a:solidFill>
                <a:highlight>
                  <a:srgbClr val="E2E8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300" name="Google Shape;2300;p144"/>
          <p:cNvGrpSpPr/>
          <p:nvPr/>
        </p:nvGrpSpPr>
        <p:grpSpPr>
          <a:xfrm>
            <a:off x="4714875" y="1333500"/>
            <a:ext cx="3952800" cy="3238500"/>
            <a:chOff x="0" y="0"/>
            <a:chExt cx="3952800" cy="3238500"/>
          </a:xfrm>
        </p:grpSpPr>
        <p:sp>
          <p:nvSpPr>
            <p:cNvPr id="2301" name="Google Shape;2301;p144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0FDF4"/>
            </a:solidFill>
            <a:ln cap="flat" cmpd="sng" w="14300">
              <a:solidFill>
                <a:srgbClr val="DCFC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144"/>
            <p:cNvSpPr txBox="1"/>
            <p:nvPr/>
          </p:nvSpPr>
          <p:spPr>
            <a:xfrm>
              <a:off x="228600" y="228600"/>
              <a:ext cx="34956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15803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arrow_upward</a:t>
              </a:r>
              <a:r>
                <a:rPr b="1" lang="en" sz="18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toUpperCase()</a:t>
              </a:r>
              <a:endParaRPr b="1" sz="220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The toUpperCase() method returns a string after converting all lowercase letters of the invoking string into Uppercase.</a:t>
              </a:r>
              <a:endParaRPr b="0" sz="13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rPr>
                <a:t>Syntax</a:t>
              </a:r>
              <a:endParaRPr b="1" sz="1350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4532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stringname.toUpperCase()</a:t>
              </a:r>
              <a:endParaRPr b="1" sz="1300">
                <a:solidFill>
                  <a:srgbClr val="14532D"/>
                </a:solidFill>
                <a:highlight>
                  <a:srgbClr val="DCFCE7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6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7" name="Google Shape;2307;p145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308" name="Google Shape;2308;p145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145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 Method: substring()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310" name="Google Shape;2310;p145"/>
          <p:cNvGrpSpPr/>
          <p:nvPr/>
        </p:nvGrpSpPr>
        <p:grpSpPr>
          <a:xfrm>
            <a:off x="476250" y="1333500"/>
            <a:ext cx="3952800" cy="3238500"/>
            <a:chOff x="0" y="0"/>
            <a:chExt cx="3952800" cy="3238500"/>
          </a:xfrm>
        </p:grpSpPr>
        <p:sp>
          <p:nvSpPr>
            <p:cNvPr id="2311" name="Google Shape;2311;p145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145"/>
            <p:cNvSpPr txBox="1"/>
            <p:nvPr/>
          </p:nvSpPr>
          <p:spPr>
            <a:xfrm>
              <a:off x="228600" y="228600"/>
              <a:ext cx="3495600" cy="2781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content_cut</a:t>
              </a: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Method Overview</a:t>
              </a:r>
              <a:endParaRPr b="1" sz="2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1. Single Parameter Form</a:t>
              </a:r>
              <a:endParaRPr b="1" sz="14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substring(int begin) method returns a new String instance that is a substring of the original.</a:t>
              </a:r>
              <a:endParaRPr b="1" sz="1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2. Extraction Range</a:t>
              </a:r>
              <a:endParaRPr b="1" sz="14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It begins at the index specified by the argument value and ends at the last character of the original string.</a:t>
              </a:r>
              <a:endParaRPr b="1" sz="1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313" name="Google Shape;2313;p145"/>
          <p:cNvGrpSpPr/>
          <p:nvPr/>
        </p:nvGrpSpPr>
        <p:grpSpPr>
          <a:xfrm>
            <a:off x="4714875" y="1333500"/>
            <a:ext cx="3952800" cy="3238500"/>
            <a:chOff x="0" y="0"/>
            <a:chExt cx="3952800" cy="3238500"/>
          </a:xfrm>
        </p:grpSpPr>
        <p:sp>
          <p:nvSpPr>
            <p:cNvPr id="2314" name="Google Shape;2314;p145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0FDF4"/>
            </a:solidFill>
            <a:ln cap="flat" cmpd="sng" w="14300">
              <a:solidFill>
                <a:srgbClr val="DCFC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145"/>
            <p:cNvSpPr txBox="1"/>
            <p:nvPr/>
          </p:nvSpPr>
          <p:spPr>
            <a:xfrm>
              <a:off x="228600" y="228600"/>
              <a:ext cx="3495600" cy="2781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15803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r>
                <a:rPr b="1" lang="en" sz="18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Syntax &amp; Example</a:t>
              </a:r>
              <a:endParaRPr b="1" sz="220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rPr>
                <a:t>Syntax</a:t>
              </a:r>
              <a:endParaRPr b="1" sz="140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4532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str.substring(int beginIndex)</a:t>
              </a:r>
              <a:endParaRPr b="1" sz="130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rPr>
                <a:t>Code Example</a:t>
              </a:r>
              <a:endParaRPr b="1" sz="140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15803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String str = "EDUCATION";</a:t>
              </a:r>
              <a:br>
                <a:rPr b="1" lang="en" sz="1250">
                  <a:solidFill>
                    <a:srgbClr val="15803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250">
                  <a:solidFill>
                    <a:srgbClr val="15803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str.substring(4); // "ATION"</a:t>
              </a:r>
              <a:endParaRPr b="1" sz="125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19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146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String Method: substring(begin, end)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321" name="Google Shape;2321;p146"/>
          <p:cNvGrpSpPr/>
          <p:nvPr/>
        </p:nvGrpSpPr>
        <p:grpSpPr>
          <a:xfrm>
            <a:off x="476250" y="1333500"/>
            <a:ext cx="3952800" cy="3238500"/>
            <a:chOff x="0" y="0"/>
            <a:chExt cx="3952800" cy="3238500"/>
          </a:xfrm>
        </p:grpSpPr>
        <p:sp>
          <p:nvSpPr>
            <p:cNvPr id="2322" name="Google Shape;2322;p146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146"/>
            <p:cNvSpPr txBox="1"/>
            <p:nvPr/>
          </p:nvSpPr>
          <p:spPr>
            <a:xfrm>
              <a:off x="228600" y="228600"/>
              <a:ext cx="34956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content_cut</a:t>
              </a: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Method Overview</a:t>
              </a:r>
              <a:endParaRPr b="1" sz="2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1. Two Parameter Form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substring(int begin, int end) method returns a new String containing a subset of the original characters.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2. Inclusive &amp; Exclusive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120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start index is inclusive, while the end index is exclusive. The extracted string length is always end - begin.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24" name="Google Shape;2324;p146"/>
          <p:cNvGrpSpPr/>
          <p:nvPr/>
        </p:nvGrpSpPr>
        <p:grpSpPr>
          <a:xfrm>
            <a:off x="4714875" y="1333500"/>
            <a:ext cx="3952800" cy="3238500"/>
            <a:chOff x="0" y="0"/>
            <a:chExt cx="3952800" cy="3238500"/>
          </a:xfrm>
        </p:grpSpPr>
        <p:sp>
          <p:nvSpPr>
            <p:cNvPr id="2325" name="Google Shape;2325;p146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0FDF4"/>
            </a:solidFill>
            <a:ln cap="flat" cmpd="sng" w="14300">
              <a:solidFill>
                <a:srgbClr val="DCFC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146"/>
            <p:cNvSpPr txBox="1"/>
            <p:nvPr/>
          </p:nvSpPr>
          <p:spPr>
            <a:xfrm>
              <a:off x="228600" y="228600"/>
              <a:ext cx="34956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15803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r>
                <a:rPr b="1" lang="en" sz="18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Syntax &amp; Example</a:t>
              </a:r>
              <a:endParaRPr b="1" sz="220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rPr>
                <a:t>Syntax</a:t>
              </a:r>
              <a:endParaRPr b="1" sz="1400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4532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str.substring(int begin, int end)</a:t>
              </a:r>
              <a:endParaRPr b="1" sz="130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rPr>
                <a:t>Code Example</a:t>
              </a:r>
              <a:endParaRPr b="1" sz="1400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15803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String str = "EDUCATION";</a:t>
              </a:r>
              <a:endParaRPr b="1" sz="125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15803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str.substring(3, 6); // "CAT"</a:t>
              </a:r>
              <a:endParaRPr b="1" sz="125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0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1" name="Google Shape;2331;p147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332" name="Google Shape;2332;p147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147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 Method: concat()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334" name="Google Shape;2334;p147"/>
          <p:cNvGrpSpPr/>
          <p:nvPr/>
        </p:nvGrpSpPr>
        <p:grpSpPr>
          <a:xfrm>
            <a:off x="476250" y="1333500"/>
            <a:ext cx="3952800" cy="3238500"/>
            <a:chOff x="0" y="0"/>
            <a:chExt cx="3952800" cy="3238500"/>
          </a:xfrm>
        </p:grpSpPr>
        <p:sp>
          <p:nvSpPr>
            <p:cNvPr id="2335" name="Google Shape;2335;p147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147"/>
            <p:cNvSpPr txBox="1"/>
            <p:nvPr/>
          </p:nvSpPr>
          <p:spPr>
            <a:xfrm>
              <a:off x="228600" y="228600"/>
              <a:ext cx="34956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add_circle</a:t>
              </a: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Method Overview</a:t>
              </a:r>
              <a:endParaRPr b="1" sz="2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1. Addition (+) Operator</a:t>
              </a:r>
              <a:endParaRPr b="1" sz="14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standard addition operator provides an intuitive and common way to concatenate multiple strings together.</a:t>
              </a:r>
              <a:endParaRPr b="1" sz="1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2. concat() Method</a:t>
              </a:r>
              <a:endParaRPr b="1" sz="14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explicit concat() method appends one string to the end of another, returning a newly combined string.</a:t>
              </a:r>
              <a:endParaRPr b="1" sz="1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337" name="Google Shape;2337;p147"/>
          <p:cNvGrpSpPr/>
          <p:nvPr/>
        </p:nvGrpSpPr>
        <p:grpSpPr>
          <a:xfrm>
            <a:off x="4714875" y="1333500"/>
            <a:ext cx="3952800" cy="3238500"/>
            <a:chOff x="0" y="0"/>
            <a:chExt cx="3952800" cy="3238500"/>
          </a:xfrm>
        </p:grpSpPr>
        <p:sp>
          <p:nvSpPr>
            <p:cNvPr id="2338" name="Google Shape;2338;p147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0FDF4"/>
            </a:solidFill>
            <a:ln cap="flat" cmpd="sng" w="14300">
              <a:solidFill>
                <a:srgbClr val="DCFC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147"/>
            <p:cNvSpPr txBox="1"/>
            <p:nvPr/>
          </p:nvSpPr>
          <p:spPr>
            <a:xfrm>
              <a:off x="228600" y="228600"/>
              <a:ext cx="34956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15803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r>
                <a:rPr b="1" lang="en" sz="18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Syntax &amp; Example</a:t>
              </a:r>
              <a:endParaRPr b="1" sz="220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rPr>
                <a:t>Syntax</a:t>
              </a:r>
              <a:endParaRPr b="1" sz="140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4532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str.concat(String str2)</a:t>
              </a:r>
              <a:endParaRPr b="1" sz="130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rPr>
                <a:t>Code Example</a:t>
              </a:r>
              <a:endParaRPr b="1" sz="140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15803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String str = "Hello";</a:t>
              </a:r>
              <a:endParaRPr b="1" sz="125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15803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String str1 = "Java";</a:t>
              </a:r>
              <a:endParaRPr b="1" sz="125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15803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 + str1; // "HelloJava"</a:t>
              </a:r>
              <a:endParaRPr b="1" sz="125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15803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str.concat(str1); // "HelloJava"</a:t>
              </a:r>
              <a:endParaRPr b="1" sz="125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4" name="Google Shape;2344;p148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345" name="Google Shape;2345;p148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148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 Methods: equals() &amp; equalsIgnoreCase()</a:t>
              </a:r>
              <a:endParaRPr b="1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47" name="Google Shape;2347;p148"/>
          <p:cNvGrpSpPr/>
          <p:nvPr/>
        </p:nvGrpSpPr>
        <p:grpSpPr>
          <a:xfrm>
            <a:off x="476250" y="1333500"/>
            <a:ext cx="3952800" cy="3238500"/>
            <a:chOff x="0" y="0"/>
            <a:chExt cx="3952800" cy="3238500"/>
          </a:xfrm>
        </p:grpSpPr>
        <p:sp>
          <p:nvSpPr>
            <p:cNvPr id="2348" name="Google Shape;2348;p148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49" name="Google Shape;2349;p148"/>
            <p:cNvGrpSpPr/>
            <p:nvPr/>
          </p:nvGrpSpPr>
          <p:grpSpPr>
            <a:xfrm>
              <a:off x="228600" y="228600"/>
              <a:ext cx="3495600" cy="2781300"/>
              <a:chOff x="0" y="0"/>
              <a:chExt cx="3495600" cy="2781300"/>
            </a:xfrm>
          </p:grpSpPr>
          <p:sp>
            <p:nvSpPr>
              <p:cNvPr id="2350" name="Google Shape;2350;p148"/>
              <p:cNvSpPr/>
              <p:nvPr/>
            </p:nvSpPr>
            <p:spPr>
              <a:xfrm>
                <a:off x="0" y="0"/>
                <a:ext cx="3495600" cy="2781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1" name="Google Shape;2351;p148"/>
              <p:cNvSpPr txBox="1"/>
              <p:nvPr/>
            </p:nvSpPr>
            <p:spPr>
              <a:xfrm>
                <a:off x="0" y="0"/>
                <a:ext cx="3495600" cy="278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2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swap_horiz</a:t>
                </a:r>
                <a:r>
                  <a:rPr b="1" lang="en" sz="18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Method Overview</a:t>
                </a:r>
                <a:endParaRPr b="1" sz="2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1. Purpose</a:t>
                </a:r>
                <a:endParaRPr b="1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These methods are used for comparing the content of two strings.</a:t>
                </a:r>
                <a:endParaRPr b="0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2. Case Sensitivity</a:t>
                </a:r>
                <a:endParaRPr b="1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equals()</a:t>
                </a:r>
                <a:r>
                  <a:rPr b="0" lang="en" sz="12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compares characters sequentially and requires exact case matches.</a:t>
                </a:r>
                <a:endParaRPr b="0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equalsIgnoreCase()</a:t>
                </a:r>
                <a:r>
                  <a:rPr b="0" lang="en" sz="12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performs the same comparison but ignores case differences.</a:t>
                </a:r>
                <a:endParaRPr b="0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352" name="Google Shape;2352;p148"/>
          <p:cNvGrpSpPr/>
          <p:nvPr/>
        </p:nvGrpSpPr>
        <p:grpSpPr>
          <a:xfrm>
            <a:off x="4714875" y="1333500"/>
            <a:ext cx="3952800" cy="3238500"/>
            <a:chOff x="0" y="0"/>
            <a:chExt cx="3952800" cy="3238500"/>
          </a:xfrm>
        </p:grpSpPr>
        <p:sp>
          <p:nvSpPr>
            <p:cNvPr id="2353" name="Google Shape;2353;p148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2352" name="adj"/>
              </a:avLst>
            </a:prstGeom>
            <a:solidFill>
              <a:srgbClr val="F0FDF4"/>
            </a:solidFill>
            <a:ln cap="flat" cmpd="sng" w="14300">
              <a:solidFill>
                <a:srgbClr val="DCFC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54" name="Google Shape;2354;p148"/>
            <p:cNvGrpSpPr/>
            <p:nvPr/>
          </p:nvGrpSpPr>
          <p:grpSpPr>
            <a:xfrm>
              <a:off x="228600" y="228600"/>
              <a:ext cx="3495600" cy="2781300"/>
              <a:chOff x="0" y="0"/>
              <a:chExt cx="3495600" cy="2781300"/>
            </a:xfrm>
          </p:grpSpPr>
          <p:sp>
            <p:nvSpPr>
              <p:cNvPr id="2355" name="Google Shape;2355;p148"/>
              <p:cNvSpPr/>
              <p:nvPr/>
            </p:nvSpPr>
            <p:spPr>
              <a:xfrm>
                <a:off x="0" y="0"/>
                <a:ext cx="3495600" cy="2781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148"/>
              <p:cNvSpPr txBox="1"/>
              <p:nvPr/>
            </p:nvSpPr>
            <p:spPr>
              <a:xfrm>
                <a:off x="0" y="0"/>
                <a:ext cx="3495600" cy="278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200">
                    <a:solidFill>
                      <a:srgbClr val="15803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code</a:t>
                </a:r>
                <a:r>
                  <a:rPr b="1" lang="en" sz="1800">
                    <a:solidFill>
                      <a:srgbClr val="166534"/>
                    </a:solidFill>
                    <a:latin typeface="Inter"/>
                    <a:ea typeface="Inter"/>
                    <a:cs typeface="Inter"/>
                    <a:sym typeface="Inter"/>
                  </a:rPr>
                  <a:t>Syntax &amp; Example</a:t>
                </a:r>
                <a:endParaRPr b="1" sz="2200">
                  <a:solidFill>
                    <a:srgbClr val="15803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4532D"/>
                    </a:solidFill>
                    <a:latin typeface="Inter"/>
                    <a:ea typeface="Inter"/>
                    <a:cs typeface="Inter"/>
                    <a:sym typeface="Inter"/>
                  </a:rPr>
                  <a:t>Syntax</a:t>
                </a:r>
                <a:endParaRPr b="1" sz="140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4532D"/>
                    </a:solidFill>
                    <a:highlight>
                      <a:srgbClr val="DCFCE7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str.equals(String str2)</a:t>
                </a:r>
                <a:br>
                  <a:rPr b="1" lang="en" sz="1200">
                    <a:solidFill>
                      <a:srgbClr val="14532D"/>
                    </a:solidFill>
                    <a:highlight>
                      <a:srgbClr val="DCFCE7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b="1" lang="en" sz="1200">
                    <a:solidFill>
                      <a:srgbClr val="14532D"/>
                    </a:solidFill>
                    <a:highlight>
                      <a:srgbClr val="DCFCE7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str.equalsIgnoreCase(String str2)</a:t>
                </a:r>
                <a:endParaRPr b="1" sz="1200">
                  <a:solidFill>
                    <a:srgbClr val="14532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4532D"/>
                    </a:solidFill>
                    <a:latin typeface="Inter"/>
                    <a:ea typeface="Inter"/>
                    <a:cs typeface="Inter"/>
                    <a:sym typeface="Inter"/>
                  </a:rPr>
                  <a:t>Code Example</a:t>
                </a:r>
                <a:endParaRPr b="1" sz="140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5803D"/>
                    </a:solidFill>
                    <a:highlight>
                      <a:srgbClr val="DCFCE7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String str = "Java is oopl";</a:t>
                </a:r>
                <a:endParaRPr b="1" sz="1100">
                  <a:solidFill>
                    <a:srgbClr val="15803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5803D"/>
                    </a:solidFill>
                    <a:highlight>
                      <a:srgbClr val="DCFCE7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String str1 = "JAVA IS OOPL";</a:t>
                </a:r>
                <a:endParaRPr b="1" sz="1100">
                  <a:solidFill>
                    <a:srgbClr val="15803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5803D"/>
                    </a:solidFill>
                    <a:highlight>
                      <a:srgbClr val="DCFCE7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str.equals(str1); // false</a:t>
                </a:r>
                <a:endParaRPr b="1" sz="1100">
                  <a:solidFill>
                    <a:srgbClr val="15803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5803D"/>
                    </a:solidFill>
                    <a:highlight>
                      <a:srgbClr val="DCFCE7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str.equalsIgnoreCase(str1); // true</a:t>
                </a:r>
                <a:endParaRPr b="1" sz="1100">
                  <a:solidFill>
                    <a:srgbClr val="15803D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1" name="Google Shape;2361;p149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362" name="Google Shape;2362;p149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149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 Methods: Code Example</a:t>
              </a:r>
              <a:endParaRPr b="1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64" name="Google Shape;2364;p149"/>
          <p:cNvGrpSpPr/>
          <p:nvPr/>
        </p:nvGrpSpPr>
        <p:grpSpPr>
          <a:xfrm>
            <a:off x="1047750" y="1333500"/>
            <a:ext cx="7048500" cy="3429000"/>
            <a:chOff x="0" y="0"/>
            <a:chExt cx="7048500" cy="3429000"/>
          </a:xfrm>
        </p:grpSpPr>
        <p:sp>
          <p:nvSpPr>
            <p:cNvPr id="2365" name="Google Shape;2365;p149"/>
            <p:cNvSpPr/>
            <p:nvPr/>
          </p:nvSpPr>
          <p:spPr>
            <a:xfrm>
              <a:off x="0" y="0"/>
              <a:ext cx="7048500" cy="3429000"/>
            </a:xfrm>
            <a:prstGeom prst="roundRect">
              <a:avLst>
                <a:gd fmla="val 222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149"/>
            <p:cNvSpPr/>
            <p:nvPr/>
          </p:nvSpPr>
          <p:spPr>
            <a:xfrm>
              <a:off x="0" y="0"/>
              <a:ext cx="7048500" cy="381000"/>
            </a:xfrm>
            <a:prstGeom prst="roundRect">
              <a:avLst>
                <a:gd fmla="val 20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149"/>
            <p:cNvSpPr/>
            <p:nvPr/>
          </p:nvSpPr>
          <p:spPr>
            <a:xfrm>
              <a:off x="0" y="190500"/>
              <a:ext cx="7048500" cy="1905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149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149"/>
            <p:cNvSpPr/>
            <p:nvPr/>
          </p:nvSpPr>
          <p:spPr>
            <a:xfrm>
              <a:off x="3238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149"/>
            <p:cNvSpPr/>
            <p:nvPr/>
          </p:nvSpPr>
          <p:spPr>
            <a:xfrm>
              <a:off x="51435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149"/>
            <p:cNvSpPr txBox="1"/>
            <p:nvPr/>
          </p:nvSpPr>
          <p:spPr>
            <a:xfrm>
              <a:off x="857250" y="0"/>
              <a:ext cx="533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Stringop.java</a:t>
              </a:r>
              <a:endParaRPr b="0" sz="11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2372" name="Google Shape;2372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1950" y="1769950"/>
            <a:ext cx="6804875" cy="287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6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p150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String Methods: Execution Output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378" name="Google Shape;2378;p150"/>
          <p:cNvGrpSpPr/>
          <p:nvPr/>
        </p:nvGrpSpPr>
        <p:grpSpPr>
          <a:xfrm>
            <a:off x="1047750" y="1333500"/>
            <a:ext cx="7048500" cy="3429000"/>
            <a:chOff x="0" y="0"/>
            <a:chExt cx="7048500" cy="3429000"/>
          </a:xfrm>
        </p:grpSpPr>
        <p:sp>
          <p:nvSpPr>
            <p:cNvPr id="2379" name="Google Shape;2379;p150"/>
            <p:cNvSpPr/>
            <p:nvPr/>
          </p:nvSpPr>
          <p:spPr>
            <a:xfrm>
              <a:off x="0" y="0"/>
              <a:ext cx="7048500" cy="3429000"/>
            </a:xfrm>
            <a:prstGeom prst="roundRect">
              <a:avLst>
                <a:gd fmla="val 222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150"/>
            <p:cNvSpPr/>
            <p:nvPr/>
          </p:nvSpPr>
          <p:spPr>
            <a:xfrm>
              <a:off x="0" y="0"/>
              <a:ext cx="7048500" cy="381000"/>
            </a:xfrm>
            <a:prstGeom prst="roundRect">
              <a:avLst>
                <a:gd fmla="val 20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150"/>
            <p:cNvSpPr/>
            <p:nvPr/>
          </p:nvSpPr>
          <p:spPr>
            <a:xfrm>
              <a:off x="0" y="190500"/>
              <a:ext cx="7048500" cy="1905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150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150"/>
            <p:cNvSpPr/>
            <p:nvPr/>
          </p:nvSpPr>
          <p:spPr>
            <a:xfrm>
              <a:off x="323850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150"/>
            <p:cNvSpPr/>
            <p:nvPr/>
          </p:nvSpPr>
          <p:spPr>
            <a:xfrm>
              <a:off x="514350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150"/>
            <p:cNvSpPr txBox="1"/>
            <p:nvPr/>
          </p:nvSpPr>
          <p:spPr>
            <a:xfrm>
              <a:off x="857250" y="0"/>
              <a:ext cx="5334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Terminal — Output</a:t>
              </a:r>
              <a:endParaRPr b="0" sz="11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2386" name="Google Shape;2386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7200" y="1795475"/>
            <a:ext cx="6818275" cy="278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0" name="Shape 2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1" name="Google Shape;2391;p151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StringBuffer Class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392" name="Google Shape;2392;p151"/>
          <p:cNvGrpSpPr/>
          <p:nvPr/>
        </p:nvGrpSpPr>
        <p:grpSpPr>
          <a:xfrm>
            <a:off x="476250" y="1428750"/>
            <a:ext cx="3905400" cy="3143400"/>
            <a:chOff x="0" y="0"/>
            <a:chExt cx="3905400" cy="3143400"/>
          </a:xfrm>
        </p:grpSpPr>
        <p:sp>
          <p:nvSpPr>
            <p:cNvPr id="2393" name="Google Shape;2393;p151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151"/>
            <p:cNvSpPr txBox="1"/>
            <p:nvPr/>
          </p:nvSpPr>
          <p:spPr>
            <a:xfrm>
              <a:off x="228600" y="228600"/>
              <a:ext cx="3448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OVERVIEW</a:t>
              </a:r>
              <a:endParaRPr b="0" sz="1018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203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StringBuffer</a:t>
              </a:r>
              <a:r>
                <a:rPr b="0" lang="en" sz="120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class provides the capability to create a sequence of characters with mutable (modifiable) attributes, offering an efficient alternative to immutable Strings.</a:t>
              </a:r>
              <a:endParaRPr b="0" sz="120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395" name="Google Shape;2395;p151"/>
            <p:cNvGrpSpPr/>
            <p:nvPr/>
          </p:nvGrpSpPr>
          <p:grpSpPr>
            <a:xfrm>
              <a:off x="228600" y="1524000"/>
              <a:ext cx="3448200" cy="1238400"/>
              <a:chOff x="0" y="0"/>
              <a:chExt cx="3448200" cy="1238400"/>
            </a:xfrm>
          </p:grpSpPr>
          <p:sp>
            <p:nvSpPr>
              <p:cNvPr id="2396" name="Google Shape;2396;p151"/>
              <p:cNvSpPr/>
              <p:nvPr/>
            </p:nvSpPr>
            <p:spPr>
              <a:xfrm>
                <a:off x="0" y="0"/>
                <a:ext cx="3448200" cy="1238400"/>
              </a:xfrm>
              <a:prstGeom prst="roundRect">
                <a:avLst>
                  <a:gd fmla="val 4615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7" name="Google Shape;2397;p151"/>
              <p:cNvSpPr txBox="1"/>
              <p:nvPr/>
            </p:nvSpPr>
            <p:spPr>
              <a:xfrm>
                <a:off x="152400" y="152400"/>
                <a:ext cx="3143400" cy="93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SYNTAX EXAMPLE</a:t>
                </a:r>
                <a:endParaRPr b="1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25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StringBuffer</a:t>
                </a:r>
                <a:r>
                  <a:rPr b="0" lang="en" sz="125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str = </a:t>
                </a:r>
                <a:r>
                  <a:rPr b="0" lang="en" sz="125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new</a:t>
                </a:r>
                <a:r>
                  <a:rPr b="0" lang="en" sz="125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0" lang="en" sz="125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StringBuffer</a:t>
                </a:r>
                <a:r>
                  <a:rPr b="0" lang="en" sz="125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();</a:t>
                </a:r>
                <a:endParaRPr b="0" sz="12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2398" name="Google Shape;2398;p151"/>
          <p:cNvGrpSpPr/>
          <p:nvPr/>
        </p:nvGrpSpPr>
        <p:grpSpPr>
          <a:xfrm>
            <a:off x="4762500" y="1428750"/>
            <a:ext cx="3905400" cy="3143400"/>
            <a:chOff x="0" y="0"/>
            <a:chExt cx="3905400" cy="3143400"/>
          </a:xfrm>
        </p:grpSpPr>
        <p:sp>
          <p:nvSpPr>
            <p:cNvPr id="2399" name="Google Shape;2399;p151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151"/>
            <p:cNvSpPr txBox="1"/>
            <p:nvPr/>
          </p:nvSpPr>
          <p:spPr>
            <a:xfrm>
              <a:off x="228600" y="228600"/>
              <a:ext cx="3448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COMMON METHODS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401" name="Google Shape;2401;p151"/>
            <p:cNvGrpSpPr/>
            <p:nvPr/>
          </p:nvGrpSpPr>
          <p:grpSpPr>
            <a:xfrm>
              <a:off x="228600" y="571500"/>
              <a:ext cx="1619100" cy="457200"/>
              <a:chOff x="0" y="0"/>
              <a:chExt cx="1619100" cy="457200"/>
            </a:xfrm>
          </p:grpSpPr>
          <p:sp>
            <p:nvSpPr>
              <p:cNvPr id="2402" name="Google Shape;2402;p151"/>
              <p:cNvSpPr/>
              <p:nvPr/>
            </p:nvSpPr>
            <p:spPr>
              <a:xfrm>
                <a:off x="0" y="0"/>
                <a:ext cx="16191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3" name="Google Shape;2403;p151"/>
              <p:cNvSpPr txBox="1"/>
              <p:nvPr/>
            </p:nvSpPr>
            <p:spPr>
              <a:xfrm>
                <a:off x="114300" y="0"/>
                <a:ext cx="13908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1.</a:t>
                </a:r>
                <a:r>
                  <a:rPr b="0" lang="en" sz="11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length()</a:t>
                </a:r>
                <a:endParaRPr b="0" sz="11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404" name="Google Shape;2404;p151"/>
            <p:cNvGrpSpPr/>
            <p:nvPr/>
          </p:nvGrpSpPr>
          <p:grpSpPr>
            <a:xfrm>
              <a:off x="228600" y="1143000"/>
              <a:ext cx="1619100" cy="457200"/>
              <a:chOff x="0" y="0"/>
              <a:chExt cx="1619100" cy="457200"/>
            </a:xfrm>
          </p:grpSpPr>
          <p:sp>
            <p:nvSpPr>
              <p:cNvPr id="2405" name="Google Shape;2405;p151"/>
              <p:cNvSpPr/>
              <p:nvPr/>
            </p:nvSpPr>
            <p:spPr>
              <a:xfrm>
                <a:off x="0" y="0"/>
                <a:ext cx="16191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6" name="Google Shape;2406;p151"/>
              <p:cNvSpPr txBox="1"/>
              <p:nvPr/>
            </p:nvSpPr>
            <p:spPr>
              <a:xfrm>
                <a:off x="114300" y="0"/>
                <a:ext cx="13908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2.</a:t>
                </a:r>
                <a:r>
                  <a:rPr b="0" lang="en" sz="11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capacity()</a:t>
                </a:r>
                <a:endParaRPr b="0" sz="11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407" name="Google Shape;2407;p151"/>
            <p:cNvGrpSpPr/>
            <p:nvPr/>
          </p:nvGrpSpPr>
          <p:grpSpPr>
            <a:xfrm>
              <a:off x="228600" y="1714500"/>
              <a:ext cx="1619100" cy="457200"/>
              <a:chOff x="0" y="0"/>
              <a:chExt cx="1619100" cy="457200"/>
            </a:xfrm>
          </p:grpSpPr>
          <p:sp>
            <p:nvSpPr>
              <p:cNvPr id="2408" name="Google Shape;2408;p151"/>
              <p:cNvSpPr/>
              <p:nvPr/>
            </p:nvSpPr>
            <p:spPr>
              <a:xfrm>
                <a:off x="0" y="0"/>
                <a:ext cx="16191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9" name="Google Shape;2409;p151"/>
              <p:cNvSpPr txBox="1"/>
              <p:nvPr/>
            </p:nvSpPr>
            <p:spPr>
              <a:xfrm>
                <a:off x="114300" y="0"/>
                <a:ext cx="13908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3.</a:t>
                </a:r>
                <a:r>
                  <a:rPr b="0" lang="en" sz="11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reverse()</a:t>
                </a:r>
                <a:endParaRPr b="0" sz="11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410" name="Google Shape;2410;p151"/>
            <p:cNvGrpSpPr/>
            <p:nvPr/>
          </p:nvGrpSpPr>
          <p:grpSpPr>
            <a:xfrm>
              <a:off x="228600" y="2286000"/>
              <a:ext cx="1619100" cy="457200"/>
              <a:chOff x="0" y="0"/>
              <a:chExt cx="1619100" cy="457200"/>
            </a:xfrm>
          </p:grpSpPr>
          <p:sp>
            <p:nvSpPr>
              <p:cNvPr id="2411" name="Google Shape;2411;p151"/>
              <p:cNvSpPr/>
              <p:nvPr/>
            </p:nvSpPr>
            <p:spPr>
              <a:xfrm>
                <a:off x="0" y="0"/>
                <a:ext cx="16191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2" name="Google Shape;2412;p151"/>
              <p:cNvSpPr txBox="1"/>
              <p:nvPr/>
            </p:nvSpPr>
            <p:spPr>
              <a:xfrm>
                <a:off x="114300" y="0"/>
                <a:ext cx="13908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4.</a:t>
                </a:r>
                <a:r>
                  <a:rPr b="0" lang="en" sz="11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append()</a:t>
                </a:r>
                <a:endParaRPr b="0" sz="11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413" name="Google Shape;2413;p151"/>
            <p:cNvGrpSpPr/>
            <p:nvPr/>
          </p:nvGrpSpPr>
          <p:grpSpPr>
            <a:xfrm>
              <a:off x="2057400" y="571500"/>
              <a:ext cx="1619100" cy="457200"/>
              <a:chOff x="0" y="0"/>
              <a:chExt cx="1619100" cy="457200"/>
            </a:xfrm>
          </p:grpSpPr>
          <p:sp>
            <p:nvSpPr>
              <p:cNvPr id="2414" name="Google Shape;2414;p151"/>
              <p:cNvSpPr/>
              <p:nvPr/>
            </p:nvSpPr>
            <p:spPr>
              <a:xfrm>
                <a:off x="0" y="0"/>
                <a:ext cx="16191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5" name="Google Shape;2415;p151"/>
              <p:cNvSpPr txBox="1"/>
              <p:nvPr/>
            </p:nvSpPr>
            <p:spPr>
              <a:xfrm>
                <a:off x="114300" y="0"/>
                <a:ext cx="13908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5.</a:t>
                </a:r>
                <a:r>
                  <a:rPr b="0" lang="en" sz="11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insert()</a:t>
                </a:r>
                <a:endParaRPr b="0" sz="11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416" name="Google Shape;2416;p151"/>
            <p:cNvGrpSpPr/>
            <p:nvPr/>
          </p:nvGrpSpPr>
          <p:grpSpPr>
            <a:xfrm>
              <a:off x="2057400" y="1143000"/>
              <a:ext cx="1619100" cy="457200"/>
              <a:chOff x="0" y="0"/>
              <a:chExt cx="1619100" cy="457200"/>
            </a:xfrm>
          </p:grpSpPr>
          <p:sp>
            <p:nvSpPr>
              <p:cNvPr id="2417" name="Google Shape;2417;p151"/>
              <p:cNvSpPr/>
              <p:nvPr/>
            </p:nvSpPr>
            <p:spPr>
              <a:xfrm>
                <a:off x="0" y="0"/>
                <a:ext cx="16191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8" name="Google Shape;2418;p151"/>
              <p:cNvSpPr txBox="1"/>
              <p:nvPr/>
            </p:nvSpPr>
            <p:spPr>
              <a:xfrm>
                <a:off x="114300" y="0"/>
                <a:ext cx="13908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6.</a:t>
                </a:r>
                <a:r>
                  <a:rPr b="0" lang="en" sz="11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delete()</a:t>
                </a:r>
                <a:endParaRPr b="0" sz="11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419" name="Google Shape;2419;p151"/>
            <p:cNvGrpSpPr/>
            <p:nvPr/>
          </p:nvGrpSpPr>
          <p:grpSpPr>
            <a:xfrm>
              <a:off x="2057400" y="1714500"/>
              <a:ext cx="1619100" cy="457200"/>
              <a:chOff x="0" y="0"/>
              <a:chExt cx="1619100" cy="457200"/>
            </a:xfrm>
          </p:grpSpPr>
          <p:sp>
            <p:nvSpPr>
              <p:cNvPr id="2420" name="Google Shape;2420;p151"/>
              <p:cNvSpPr/>
              <p:nvPr/>
            </p:nvSpPr>
            <p:spPr>
              <a:xfrm>
                <a:off x="0" y="0"/>
                <a:ext cx="16191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1" name="Google Shape;2421;p151"/>
              <p:cNvSpPr txBox="1"/>
              <p:nvPr/>
            </p:nvSpPr>
            <p:spPr>
              <a:xfrm>
                <a:off x="114300" y="0"/>
                <a:ext cx="13908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7.</a:t>
                </a:r>
                <a:r>
                  <a:rPr b="0" lang="en" sz="11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deleteCharAt()</a:t>
                </a:r>
                <a:endParaRPr b="0" sz="11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422" name="Google Shape;2422;p151"/>
            <p:cNvGrpSpPr/>
            <p:nvPr/>
          </p:nvGrpSpPr>
          <p:grpSpPr>
            <a:xfrm>
              <a:off x="2057400" y="2286000"/>
              <a:ext cx="1619100" cy="457200"/>
              <a:chOff x="0" y="0"/>
              <a:chExt cx="1619100" cy="457200"/>
            </a:xfrm>
          </p:grpSpPr>
          <p:sp>
            <p:nvSpPr>
              <p:cNvPr id="2423" name="Google Shape;2423;p151"/>
              <p:cNvSpPr/>
              <p:nvPr/>
            </p:nvSpPr>
            <p:spPr>
              <a:xfrm>
                <a:off x="0" y="0"/>
                <a:ext cx="16191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4" name="Google Shape;2424;p151"/>
              <p:cNvSpPr txBox="1"/>
              <p:nvPr/>
            </p:nvSpPr>
            <p:spPr>
              <a:xfrm>
                <a:off x="114300" y="0"/>
                <a:ext cx="13908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8.</a:t>
                </a:r>
                <a:r>
                  <a:rPr b="0" lang="en" sz="11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replace()</a:t>
                </a:r>
                <a:endParaRPr b="0" sz="11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8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p152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StringBuffer: length()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30" name="Google Shape;2430;p152"/>
          <p:cNvGrpSpPr/>
          <p:nvPr/>
        </p:nvGrpSpPr>
        <p:grpSpPr>
          <a:xfrm>
            <a:off x="476250" y="1428750"/>
            <a:ext cx="3905400" cy="3143400"/>
            <a:chOff x="0" y="0"/>
            <a:chExt cx="3905400" cy="3143400"/>
          </a:xfrm>
        </p:grpSpPr>
        <p:sp>
          <p:nvSpPr>
            <p:cNvPr id="2431" name="Google Shape;2431;p152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152"/>
            <p:cNvSpPr txBox="1"/>
            <p:nvPr/>
          </p:nvSpPr>
          <p:spPr>
            <a:xfrm>
              <a:off x="228600" y="228600"/>
              <a:ext cx="34482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METHOD OVERVIEW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defines the number of characters currently present in the StringBuffer.</a:t>
              </a:r>
              <a:endParaRPr b="0" sz="150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marR="3810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2563EB"/>
                  </a:solidFill>
                  <a:highlight>
                    <a:srgbClr val="F1F5F9"/>
                  </a:highlight>
                  <a:latin typeface="Inter"/>
                  <a:ea typeface="Inter"/>
                  <a:cs typeface="Inter"/>
                  <a:sym typeface="Inter"/>
                </a:rPr>
                <a:t>RETURN VALUE</a:t>
              </a:r>
              <a:endParaRPr b="1" sz="900">
                <a:solidFill>
                  <a:srgbClr val="2563EB"/>
                </a:solidFill>
                <a:highlight>
                  <a:srgbClr val="F1F5F9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34155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int </a:t>
              </a:r>
              <a:r>
                <a:rPr b="0"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- the total character count</a:t>
              </a:r>
              <a:endParaRPr b="0" sz="1300">
                <a:solidFill>
                  <a:srgbClr val="334155"/>
                </a:solidFill>
                <a:highlight>
                  <a:srgbClr val="F1F5F9"/>
                </a:highlight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433" name="Google Shape;2433;p152"/>
          <p:cNvGrpSpPr/>
          <p:nvPr/>
        </p:nvGrpSpPr>
        <p:grpSpPr>
          <a:xfrm>
            <a:off x="4667250" y="1428750"/>
            <a:ext cx="4000500" cy="3143400"/>
            <a:chOff x="0" y="0"/>
            <a:chExt cx="4000500" cy="3143400"/>
          </a:xfrm>
        </p:grpSpPr>
        <p:sp>
          <p:nvSpPr>
            <p:cNvPr id="2434" name="Google Shape;2434;p152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152"/>
            <p:cNvSpPr txBox="1"/>
            <p:nvPr/>
          </p:nvSpPr>
          <p:spPr>
            <a:xfrm>
              <a:off x="228600" y="228600"/>
              <a:ext cx="35433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CODE EXAMPLE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StringBuffer</a:t>
              </a:r>
              <a:r>
                <a:rPr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str = </a:t>
              </a:r>
              <a:r>
                <a:rPr b="1" lang="en" sz="1100">
                  <a:solidFill>
                    <a:srgbClr val="F43F5E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new</a:t>
              </a:r>
              <a:r>
                <a:rPr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100">
                  <a:solidFill>
                    <a:srgbClr val="F43F5E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StringBuffer</a:t>
              </a:r>
              <a:r>
                <a:rPr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" sz="11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"ContentWriter"</a:t>
              </a:r>
              <a:r>
                <a:rPr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sz="1100">
                <a:solidFill>
                  <a:srgbClr val="94A3B8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len = str.length();</a:t>
              </a:r>
              <a:endParaRPr sz="1100">
                <a:solidFill>
                  <a:srgbClr val="94A3B8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System</a:t>
              </a:r>
              <a:r>
                <a:rPr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.out.println(</a:t>
              </a:r>
              <a:r>
                <a:rPr lang="en" sz="11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"Length : "</a:t>
              </a:r>
              <a:r>
                <a:rPr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+ len);</a:t>
              </a:r>
              <a:endParaRPr sz="1100">
                <a:solidFill>
                  <a:srgbClr val="94A3B8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Output: </a:t>
              </a:r>
              <a:r>
                <a:rPr b="1" lang="en" sz="11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Length : 13</a:t>
              </a:r>
              <a:endParaRPr b="1" sz="1100">
                <a:solidFill>
                  <a:srgbClr val="38BDF8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9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0" name="Google Shape;2440;p153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441" name="Google Shape;2441;p153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153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StringBuffer: capacity()</a:t>
              </a:r>
              <a:endParaRPr b="1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43" name="Google Shape;2443;p153"/>
          <p:cNvGrpSpPr/>
          <p:nvPr/>
        </p:nvGrpSpPr>
        <p:grpSpPr>
          <a:xfrm>
            <a:off x="476250" y="1428750"/>
            <a:ext cx="3905400" cy="3143400"/>
            <a:chOff x="0" y="0"/>
            <a:chExt cx="3905400" cy="3143400"/>
          </a:xfrm>
        </p:grpSpPr>
        <p:sp>
          <p:nvSpPr>
            <p:cNvPr id="2444" name="Google Shape;2444;p153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153"/>
            <p:cNvSpPr txBox="1"/>
            <p:nvPr/>
          </p:nvSpPr>
          <p:spPr>
            <a:xfrm>
              <a:off x="228600" y="228600"/>
              <a:ext cx="34482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METHOD OVERVIEW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Defines the total allocated buffer space. This includes the reserved space and the length of the occupied string.</a:t>
              </a:r>
              <a:endParaRPr b="0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DEFAULT CAPACITY</a:t>
              </a:r>
              <a:endParaRPr b="1" sz="9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34155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16 characters</a:t>
              </a:r>
              <a:endParaRPr b="0" sz="1300">
                <a:solidFill>
                  <a:srgbClr val="334155"/>
                </a:solidFill>
                <a:highlight>
                  <a:srgbClr val="F1F5F9"/>
                </a:highlight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CAPACITY GROWTH FORMULA</a:t>
              </a:r>
              <a:endParaRPr b="1" sz="9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34155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(oldCapacity * 2) + 2</a:t>
              </a:r>
              <a:endParaRPr b="0" sz="1300">
                <a:solidFill>
                  <a:srgbClr val="334155"/>
                </a:solidFill>
                <a:highlight>
                  <a:srgbClr val="F1F5F9"/>
                </a:highlight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446" name="Google Shape;2446;p153"/>
          <p:cNvGrpSpPr/>
          <p:nvPr/>
        </p:nvGrpSpPr>
        <p:grpSpPr>
          <a:xfrm>
            <a:off x="4667250" y="1428750"/>
            <a:ext cx="4000500" cy="3143400"/>
            <a:chOff x="0" y="0"/>
            <a:chExt cx="4000500" cy="3143400"/>
          </a:xfrm>
        </p:grpSpPr>
        <p:sp>
          <p:nvSpPr>
            <p:cNvPr id="2447" name="Google Shape;2447;p153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153"/>
            <p:cNvSpPr txBox="1"/>
            <p:nvPr/>
          </p:nvSpPr>
          <p:spPr>
            <a:xfrm>
              <a:off x="228600" y="228600"/>
              <a:ext cx="35433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CODE EXAMPLE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StringBuffer</a:t>
              </a:r>
              <a:r>
                <a:rPr b="0"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str = </a:t>
              </a:r>
              <a:r>
                <a:rPr b="1" lang="en" sz="1100">
                  <a:solidFill>
                    <a:srgbClr val="F43F5E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new</a:t>
              </a:r>
              <a:r>
                <a:rPr b="0"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100">
                  <a:solidFill>
                    <a:srgbClr val="F43F5E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StringBuffer</a:t>
              </a:r>
              <a:r>
                <a:rPr b="0"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lang="en" sz="11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"ContentWriter"</a:t>
              </a:r>
              <a:r>
                <a:rPr b="0"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0" sz="1100">
                <a:solidFill>
                  <a:srgbClr val="94A3B8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0"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cap = str.capacity();</a:t>
              </a:r>
              <a:endParaRPr b="0" sz="1100">
                <a:solidFill>
                  <a:srgbClr val="94A3B8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System</a:t>
              </a:r>
              <a:r>
                <a:rPr b="0"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.out.println(</a:t>
              </a:r>
              <a:r>
                <a:rPr b="0" lang="en" sz="11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"Capacity : "</a:t>
              </a:r>
              <a:r>
                <a:rPr b="0"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+ cap);</a:t>
              </a:r>
              <a:endParaRPr b="0" sz="1100">
                <a:solidFill>
                  <a:srgbClr val="94A3B8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Output: Capacity : 29</a:t>
              </a:r>
              <a:endParaRPr b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2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3" name="Google Shape;2453;p154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454" name="Google Shape;2454;p154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154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StringBuffer: append()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456" name="Google Shape;2456;p154"/>
          <p:cNvGrpSpPr/>
          <p:nvPr/>
        </p:nvGrpSpPr>
        <p:grpSpPr>
          <a:xfrm>
            <a:off x="476250" y="1428750"/>
            <a:ext cx="3905400" cy="3143400"/>
            <a:chOff x="0" y="0"/>
            <a:chExt cx="3905400" cy="3143400"/>
          </a:xfrm>
        </p:grpSpPr>
        <p:sp>
          <p:nvSpPr>
            <p:cNvPr id="2457" name="Google Shape;2457;p154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154"/>
            <p:cNvSpPr txBox="1"/>
            <p:nvPr/>
          </p:nvSpPr>
          <p:spPr>
            <a:xfrm>
              <a:off x="228600" y="228600"/>
              <a:ext cx="34482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METHOD OVERVIEW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The append() method is used to append the specified string or representation of data at the end of the existing string.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SUPPORTED TYPES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1200"/>
                </a:spcAft>
                <a:buNone/>
              </a:pPr>
              <a:r>
                <a:rPr b="0" lang="en" sz="1200">
                  <a:solidFill>
                    <a:srgbClr val="334155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String, char, int, double, boolean, etc.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59" name="Google Shape;2459;p154"/>
          <p:cNvGrpSpPr/>
          <p:nvPr/>
        </p:nvGrpSpPr>
        <p:grpSpPr>
          <a:xfrm>
            <a:off x="4667250" y="1428750"/>
            <a:ext cx="4000500" cy="3143400"/>
            <a:chOff x="0" y="0"/>
            <a:chExt cx="4000500" cy="3143400"/>
          </a:xfrm>
        </p:grpSpPr>
        <p:sp>
          <p:nvSpPr>
            <p:cNvPr id="2460" name="Google Shape;2460;p154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154"/>
            <p:cNvSpPr txBox="1"/>
            <p:nvPr/>
          </p:nvSpPr>
          <p:spPr>
            <a:xfrm>
              <a:off x="228600" y="228600"/>
              <a:ext cx="35433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CODE EXAMPLE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StringBuffer</a:t>
              </a:r>
              <a:r>
                <a:rPr b="0"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str = </a:t>
              </a:r>
              <a:r>
                <a:rPr b="1" lang="en" sz="1100">
                  <a:solidFill>
                    <a:srgbClr val="F43F5E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new</a:t>
              </a:r>
              <a:r>
                <a:rPr b="1" lang="en" sz="1000">
                  <a:solidFill>
                    <a:srgbClr val="64748B"/>
                  </a:solidFill>
                  <a:highlight>
                    <a:srgbClr val="0F172A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1100">
                  <a:solidFill>
                    <a:srgbClr val="F43F5E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StringBuffer</a:t>
              </a:r>
              <a:r>
                <a:rPr b="0"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lang="en" sz="11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"Hello"</a:t>
              </a:r>
              <a:r>
                <a:rPr b="0"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1" sz="1000">
                <a:solidFill>
                  <a:srgbClr val="64748B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str.append(</a:t>
              </a:r>
              <a:r>
                <a:rPr b="0" lang="en" sz="11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"java"</a:t>
              </a:r>
              <a:r>
                <a:rPr b="0"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1" sz="1000">
                <a:solidFill>
                  <a:srgbClr val="64748B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System</a:t>
              </a:r>
              <a:r>
                <a:rPr b="0"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.out.println(str); </a:t>
              </a:r>
              <a:r>
                <a:rPr b="0"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Hellojava</a:t>
              </a:r>
              <a:endParaRPr b="1" sz="1000">
                <a:solidFill>
                  <a:srgbClr val="64748B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str.append(</a:t>
              </a:r>
              <a:r>
                <a:rPr b="0" lang="en" sz="11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b="0"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1" sz="1000">
                <a:solidFill>
                  <a:srgbClr val="64748B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120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System</a:t>
              </a:r>
              <a:r>
                <a:rPr b="0" lang="en" sz="1100">
                  <a:solidFill>
                    <a:srgbClr val="94A3B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.out.println(str); </a:t>
              </a:r>
              <a:r>
                <a:rPr b="0"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Hellojava0</a:t>
              </a:r>
              <a:endParaRPr b="1" sz="1000">
                <a:solidFill>
                  <a:srgbClr val="64748B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65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6" name="Google Shape;2466;p155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467" name="Google Shape;2467;p155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155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StringBuffer: insert()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469" name="Google Shape;2469;p155"/>
          <p:cNvGrpSpPr/>
          <p:nvPr/>
        </p:nvGrpSpPr>
        <p:grpSpPr>
          <a:xfrm>
            <a:off x="476250" y="1428750"/>
            <a:ext cx="3905400" cy="3143400"/>
            <a:chOff x="0" y="0"/>
            <a:chExt cx="3905400" cy="3143400"/>
          </a:xfrm>
        </p:grpSpPr>
        <p:sp>
          <p:nvSpPr>
            <p:cNvPr id="2470" name="Google Shape;2470;p155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71" name="Google Shape;2471;p155"/>
            <p:cNvGrpSpPr/>
            <p:nvPr/>
          </p:nvGrpSpPr>
          <p:grpSpPr>
            <a:xfrm>
              <a:off x="228600" y="228600"/>
              <a:ext cx="3448200" cy="2686200"/>
              <a:chOff x="0" y="0"/>
              <a:chExt cx="3448200" cy="2686200"/>
            </a:xfrm>
          </p:grpSpPr>
          <p:sp>
            <p:nvSpPr>
              <p:cNvPr id="2472" name="Google Shape;2472;p155"/>
              <p:cNvSpPr/>
              <p:nvPr/>
            </p:nvSpPr>
            <p:spPr>
              <a:xfrm>
                <a:off x="0" y="0"/>
                <a:ext cx="3448200" cy="2686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3" name="Google Shape;2473;p155"/>
              <p:cNvSpPr txBox="1"/>
              <p:nvPr/>
            </p:nvSpPr>
            <p:spPr>
              <a:xfrm>
                <a:off x="0" y="0"/>
                <a:ext cx="3448200" cy="268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METHOD OVERVIEW</a:t>
                </a:r>
                <a:endParaRPr b="1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The insert() method is used to insert the string into the previously defined string at a particular indexed position.</a:t>
                </a:r>
                <a:endParaRPr b="1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REQUIRED PARAMETERS</a:t>
                </a:r>
                <a:endParaRPr b="1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334155"/>
                    </a:solidFill>
                    <a:highlight>
                      <a:srgbClr val="F1F5F9"/>
                    </a:highlight>
                    <a:latin typeface="Inter SemiBold"/>
                    <a:ea typeface="Inter SemiBold"/>
                    <a:cs typeface="Inter SemiBold"/>
                    <a:sym typeface="Inter SemiBold"/>
                  </a:rPr>
                  <a:t>index</a:t>
                </a:r>
                <a:r>
                  <a:rPr b="0" lang="en" sz="13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 — position to insert</a:t>
                </a:r>
                <a:endParaRPr b="1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334155"/>
                    </a:solidFill>
                    <a:highlight>
                      <a:srgbClr val="F1F5F9"/>
                    </a:highlight>
                    <a:latin typeface="Inter SemiBold"/>
                    <a:ea typeface="Inter SemiBold"/>
                    <a:cs typeface="Inter SemiBold"/>
                    <a:sym typeface="Inter SemiBold"/>
                  </a:rPr>
                  <a:t>string</a:t>
                </a:r>
                <a:r>
                  <a:rPr b="0" lang="en" sz="13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 — value to be inserted</a:t>
                </a:r>
                <a:endParaRPr b="1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474" name="Google Shape;2474;p155"/>
          <p:cNvGrpSpPr/>
          <p:nvPr/>
        </p:nvGrpSpPr>
        <p:grpSpPr>
          <a:xfrm>
            <a:off x="4667250" y="1428750"/>
            <a:ext cx="4000500" cy="3143400"/>
            <a:chOff x="0" y="0"/>
            <a:chExt cx="4000500" cy="3143400"/>
          </a:xfrm>
        </p:grpSpPr>
        <p:sp>
          <p:nvSpPr>
            <p:cNvPr id="2475" name="Google Shape;2475;p155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76" name="Google Shape;2476;p155"/>
            <p:cNvGrpSpPr/>
            <p:nvPr/>
          </p:nvGrpSpPr>
          <p:grpSpPr>
            <a:xfrm>
              <a:off x="228600" y="228600"/>
              <a:ext cx="3543300" cy="2686200"/>
              <a:chOff x="0" y="0"/>
              <a:chExt cx="3543300" cy="2686200"/>
            </a:xfrm>
          </p:grpSpPr>
          <p:sp>
            <p:nvSpPr>
              <p:cNvPr id="2477" name="Google Shape;2477;p155"/>
              <p:cNvSpPr/>
              <p:nvPr/>
            </p:nvSpPr>
            <p:spPr>
              <a:xfrm>
                <a:off x="0" y="0"/>
                <a:ext cx="3543300" cy="2686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8" name="Google Shape;2478;p155"/>
              <p:cNvSpPr txBox="1"/>
              <p:nvPr/>
            </p:nvSpPr>
            <p:spPr>
              <a:xfrm>
                <a:off x="0" y="0"/>
                <a:ext cx="3543300" cy="268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CODE EXAMPLE</a:t>
                </a:r>
                <a:endParaRPr b="1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479" name="Google Shape;2479;p155"/>
            <p:cNvSpPr/>
            <p:nvPr/>
          </p:nvSpPr>
          <p:spPr>
            <a:xfrm>
              <a:off x="228600" y="723900"/>
              <a:ext cx="3543300" cy="2190900"/>
            </a:xfrm>
            <a:prstGeom prst="roundRect">
              <a:avLst>
                <a:gd fmla="val 260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155"/>
            <p:cNvSpPr txBox="1"/>
            <p:nvPr/>
          </p:nvSpPr>
          <p:spPr>
            <a:xfrm>
              <a:off x="381000" y="876300"/>
              <a:ext cx="3238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StringBuffer</a:t>
              </a:r>
              <a:r>
                <a:rPr lang="en" sz="100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sb =</a:t>
              </a:r>
              <a:r>
                <a:rPr lang="en" sz="100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new</a:t>
              </a:r>
              <a:r>
                <a:rPr lang="en" sz="100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StringBuffer</a:t>
              </a:r>
              <a:r>
                <a:rPr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 Welcome"</a:t>
              </a:r>
              <a:r>
                <a:rPr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sz="100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</a:t>
              </a:r>
              <a:r>
                <a:rPr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.out.println(sb);</a:t>
              </a:r>
              <a:endParaRPr sz="100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Output: Welcome</a:t>
              </a:r>
              <a:endParaRPr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sb.insert(</a:t>
              </a:r>
              <a:r>
                <a:rPr lang="en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8</a:t>
              </a:r>
              <a:r>
                <a:rPr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r>
                <a:rPr lang="en" sz="100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 to java"</a:t>
              </a:r>
              <a:r>
                <a:rPr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sz="100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</a:t>
              </a:r>
              <a:r>
                <a:rPr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.out.println(sb);</a:t>
              </a:r>
              <a:endParaRPr sz="100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Output: Welcome to java</a:t>
              </a:r>
              <a:endParaRPr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4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5" name="Google Shape;2485;p156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486" name="Google Shape;2486;p156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156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StringBuffer: reverse()</a:t>
              </a:r>
              <a:endParaRPr b="1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88" name="Google Shape;2488;p156"/>
          <p:cNvGrpSpPr/>
          <p:nvPr/>
        </p:nvGrpSpPr>
        <p:grpSpPr>
          <a:xfrm>
            <a:off x="476250" y="1428750"/>
            <a:ext cx="3905400" cy="3143400"/>
            <a:chOff x="0" y="0"/>
            <a:chExt cx="3905400" cy="3143400"/>
          </a:xfrm>
        </p:grpSpPr>
        <p:sp>
          <p:nvSpPr>
            <p:cNvPr id="2489" name="Google Shape;2489;p156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156"/>
            <p:cNvSpPr txBox="1"/>
            <p:nvPr/>
          </p:nvSpPr>
          <p:spPr>
            <a:xfrm>
              <a:off x="228600" y="228600"/>
              <a:ext cx="34482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METHOD OVERVIEW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200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The reverse() method reverses all the characters of the object of the StringBuffer class. And, as an output, this method returns or gives the reversed String object.</a:t>
              </a:r>
              <a:endParaRPr b="0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91" name="Google Shape;2491;p156"/>
          <p:cNvGrpSpPr/>
          <p:nvPr/>
        </p:nvGrpSpPr>
        <p:grpSpPr>
          <a:xfrm>
            <a:off x="4667250" y="1428750"/>
            <a:ext cx="4000500" cy="3143400"/>
            <a:chOff x="0" y="0"/>
            <a:chExt cx="4000500" cy="3143400"/>
          </a:xfrm>
        </p:grpSpPr>
        <p:sp>
          <p:nvSpPr>
            <p:cNvPr id="2492" name="Google Shape;2492;p156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156"/>
            <p:cNvSpPr txBox="1"/>
            <p:nvPr/>
          </p:nvSpPr>
          <p:spPr>
            <a:xfrm>
              <a:off x="228600" y="228600"/>
              <a:ext cx="3543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CODE EXAMPLE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94" name="Google Shape;2494;p156"/>
            <p:cNvSpPr/>
            <p:nvPr/>
          </p:nvSpPr>
          <p:spPr>
            <a:xfrm>
              <a:off x="228600" y="723900"/>
              <a:ext cx="3543300" cy="2190900"/>
            </a:xfrm>
            <a:prstGeom prst="roundRect">
              <a:avLst>
                <a:gd fmla="val 260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156"/>
            <p:cNvSpPr txBox="1"/>
            <p:nvPr/>
          </p:nvSpPr>
          <p:spPr>
            <a:xfrm>
              <a:off x="381000" y="772175"/>
              <a:ext cx="3238500" cy="200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StringBuffer 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sb =</a:t>
              </a: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new StringBuffer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lang="en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"Welcome to Java"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1" sz="10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.out.println(</a:t>
              </a:r>
              <a:r>
                <a:rPr b="0" lang="en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"Original String: "</a:t>
              </a: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+ sb);</a:t>
              </a:r>
              <a:endParaRPr b="0" sz="10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OUTPUT: Original String: Welcome to Java</a:t>
              </a:r>
              <a:endParaRPr sz="10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sb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.reverse();</a:t>
              </a:r>
              <a:endParaRPr b="1" sz="10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.out.println(</a:t>
              </a:r>
              <a:r>
                <a:rPr b="0" lang="en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"Reversed String: "</a:t>
              </a: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+ sb);</a:t>
              </a:r>
              <a:endParaRPr b="0" sz="10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OUTPUT: Reversed String: avaj ot emocleW </a:t>
              </a:r>
              <a:endParaRPr sz="10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9" name="Shape 2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0" name="Google Shape;2500;p157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501" name="Google Shape;2501;p157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157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StringBuffer: delete()</a:t>
              </a:r>
              <a:endParaRPr b="1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03" name="Google Shape;2503;p157"/>
          <p:cNvGrpSpPr/>
          <p:nvPr/>
        </p:nvGrpSpPr>
        <p:grpSpPr>
          <a:xfrm>
            <a:off x="476250" y="1428750"/>
            <a:ext cx="3905400" cy="3143400"/>
            <a:chOff x="0" y="0"/>
            <a:chExt cx="3905400" cy="3143400"/>
          </a:xfrm>
        </p:grpSpPr>
        <p:sp>
          <p:nvSpPr>
            <p:cNvPr id="2504" name="Google Shape;2504;p157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157"/>
            <p:cNvSpPr txBox="1"/>
            <p:nvPr/>
          </p:nvSpPr>
          <p:spPr>
            <a:xfrm>
              <a:off x="228600" y="228600"/>
              <a:ext cx="34482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METHOD OVERVIEW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The delete() method deletes a sequence of characters from the StringBuffer object.</a:t>
              </a:r>
              <a:endParaRPr b="0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SYNTAX / PARAMETERS</a:t>
              </a:r>
              <a:endParaRPr b="1" sz="9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34155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startIndex</a:t>
              </a:r>
              <a:r>
                <a:rPr b="0" lang="en" sz="13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— start index (inclusive)</a:t>
              </a:r>
              <a:endParaRPr b="0" sz="13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34155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endIndex</a:t>
              </a:r>
              <a:r>
                <a:rPr b="0" lang="en" sz="13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— end index (exclusive)</a:t>
              </a:r>
              <a:endParaRPr b="0" sz="13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506" name="Google Shape;2506;p157"/>
          <p:cNvGrpSpPr/>
          <p:nvPr/>
        </p:nvGrpSpPr>
        <p:grpSpPr>
          <a:xfrm>
            <a:off x="4667250" y="1428750"/>
            <a:ext cx="4000500" cy="3143400"/>
            <a:chOff x="0" y="0"/>
            <a:chExt cx="4000500" cy="3143400"/>
          </a:xfrm>
        </p:grpSpPr>
        <p:sp>
          <p:nvSpPr>
            <p:cNvPr id="2507" name="Google Shape;2507;p157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157"/>
            <p:cNvSpPr txBox="1"/>
            <p:nvPr/>
          </p:nvSpPr>
          <p:spPr>
            <a:xfrm>
              <a:off x="228600" y="228600"/>
              <a:ext cx="3543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CODE EXAMPLE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09" name="Google Shape;2509;p157"/>
            <p:cNvSpPr/>
            <p:nvPr/>
          </p:nvSpPr>
          <p:spPr>
            <a:xfrm>
              <a:off x="228600" y="723900"/>
              <a:ext cx="3543300" cy="2190900"/>
            </a:xfrm>
            <a:prstGeom prst="roundRect">
              <a:avLst>
                <a:gd fmla="val 260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157"/>
            <p:cNvSpPr txBox="1"/>
            <p:nvPr/>
          </p:nvSpPr>
          <p:spPr>
            <a:xfrm>
              <a:off x="381000" y="876300"/>
              <a:ext cx="3238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StringBuffer 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sb =</a:t>
              </a: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new StringBuffer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lang="en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"welcometojava"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1" sz="10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.out.println(sb);</a:t>
              </a:r>
              <a:endParaRPr b="1" sz="10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Output: welcometojava</a:t>
              </a:r>
              <a:endParaRPr b="0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sb.delete(</a:t>
              </a:r>
              <a:r>
                <a:rPr b="0" lang="en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1" sz="10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.out.println(sb);</a:t>
              </a:r>
              <a:endParaRPr b="1" sz="10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Output: ometojava</a:t>
              </a:r>
              <a:endParaRPr b="0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4" name="Shape 2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5" name="Google Shape;2515;p158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StringBuffer: deleteCharAt()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16" name="Google Shape;2516;p158"/>
          <p:cNvGrpSpPr/>
          <p:nvPr/>
        </p:nvGrpSpPr>
        <p:grpSpPr>
          <a:xfrm>
            <a:off x="476250" y="1428750"/>
            <a:ext cx="3905400" cy="3143400"/>
            <a:chOff x="0" y="0"/>
            <a:chExt cx="3905400" cy="3143400"/>
          </a:xfrm>
        </p:grpSpPr>
        <p:sp>
          <p:nvSpPr>
            <p:cNvPr id="2517" name="Google Shape;2517;p158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158"/>
            <p:cNvSpPr txBox="1"/>
            <p:nvPr/>
          </p:nvSpPr>
          <p:spPr>
            <a:xfrm>
              <a:off x="228600" y="228600"/>
              <a:ext cx="34482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Method Overview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The deleteCharAt() method deletes only the character at the specified index.</a:t>
              </a:r>
              <a:endParaRPr b="0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Syntax</a:t>
              </a:r>
              <a:endParaRPr b="1" sz="9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34155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sb.deleteCharAt(int index)</a:t>
              </a:r>
              <a:endParaRPr b="0" sz="1300">
                <a:solidFill>
                  <a:srgbClr val="334155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519" name="Google Shape;2519;p158"/>
          <p:cNvGrpSpPr/>
          <p:nvPr/>
        </p:nvGrpSpPr>
        <p:grpSpPr>
          <a:xfrm>
            <a:off x="4667250" y="1428750"/>
            <a:ext cx="4000500" cy="3143400"/>
            <a:chOff x="0" y="0"/>
            <a:chExt cx="4000500" cy="3143400"/>
          </a:xfrm>
        </p:grpSpPr>
        <p:sp>
          <p:nvSpPr>
            <p:cNvPr id="2520" name="Google Shape;2520;p158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158"/>
            <p:cNvSpPr txBox="1"/>
            <p:nvPr/>
          </p:nvSpPr>
          <p:spPr>
            <a:xfrm>
              <a:off x="228600" y="228600"/>
              <a:ext cx="3543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Code Example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22" name="Google Shape;2522;p158"/>
            <p:cNvSpPr/>
            <p:nvPr/>
          </p:nvSpPr>
          <p:spPr>
            <a:xfrm>
              <a:off x="228600" y="723900"/>
              <a:ext cx="3543300" cy="2190900"/>
            </a:xfrm>
            <a:prstGeom prst="roundRect">
              <a:avLst>
                <a:gd fmla="val 260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158"/>
            <p:cNvSpPr txBox="1"/>
            <p:nvPr/>
          </p:nvSpPr>
          <p:spPr>
            <a:xfrm>
              <a:off x="381000" y="866850"/>
              <a:ext cx="3238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StringBuffer 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sb =</a:t>
              </a: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new StringBuffer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lang="en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"Welcome to java"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1" sz="10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.out.println(sb);</a:t>
              </a:r>
              <a:endParaRPr b="1" sz="10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Output: Welcome to java</a:t>
              </a:r>
              <a:endParaRPr b="0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sb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.deleteCharAt(</a:t>
              </a:r>
              <a:r>
                <a:rPr b="0" lang="en" sz="10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7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1" sz="10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</a:t>
              </a:r>
              <a:r>
                <a:rPr b="0" lang="en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.out.println(sb);</a:t>
              </a:r>
              <a:endParaRPr b="1" sz="10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Output: Welcometo java</a:t>
              </a:r>
              <a:endParaRPr b="0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7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8" name="Google Shape;2528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29" name="Google Shape;2529;p159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530" name="Google Shape;2530;p159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159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StringBuffer: replace()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532" name="Google Shape;2532;p159"/>
          <p:cNvGrpSpPr/>
          <p:nvPr/>
        </p:nvGrpSpPr>
        <p:grpSpPr>
          <a:xfrm>
            <a:off x="476250" y="1428750"/>
            <a:ext cx="3905400" cy="3143400"/>
            <a:chOff x="0" y="0"/>
            <a:chExt cx="3905400" cy="3143400"/>
          </a:xfrm>
        </p:grpSpPr>
        <p:sp>
          <p:nvSpPr>
            <p:cNvPr id="2533" name="Google Shape;2533;p159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34" name="Google Shape;2534;p159"/>
            <p:cNvGrpSpPr/>
            <p:nvPr/>
          </p:nvGrpSpPr>
          <p:grpSpPr>
            <a:xfrm>
              <a:off x="228600" y="228600"/>
              <a:ext cx="3448200" cy="2686200"/>
              <a:chOff x="0" y="0"/>
              <a:chExt cx="3448200" cy="2686200"/>
            </a:xfrm>
          </p:grpSpPr>
          <p:sp>
            <p:nvSpPr>
              <p:cNvPr id="2535" name="Google Shape;2535;p159"/>
              <p:cNvSpPr/>
              <p:nvPr/>
            </p:nvSpPr>
            <p:spPr>
              <a:xfrm>
                <a:off x="0" y="0"/>
                <a:ext cx="3448200" cy="2686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6" name="Google Shape;2536;p159"/>
              <p:cNvSpPr txBox="1"/>
              <p:nvPr/>
            </p:nvSpPr>
            <p:spPr>
              <a:xfrm>
                <a:off x="0" y="0"/>
                <a:ext cx="3448200" cy="268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METHOD OVERVIEW</a:t>
                </a:r>
                <a:endParaRPr b="1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The replace() method replaces a sequence of characters with another sequence of characters.</a:t>
                </a:r>
                <a:endParaRPr b="1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40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SYNTAX / PARAMETERS</a:t>
                </a:r>
                <a:endParaRPr b="1" sz="9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334155"/>
                    </a:solidFill>
                    <a:highlight>
                      <a:srgbClr val="F1F5F9"/>
                    </a:highlight>
                    <a:latin typeface="Inter SemiBold"/>
                    <a:ea typeface="Inter SemiBold"/>
                    <a:cs typeface="Inter SemiBold"/>
                    <a:sym typeface="Inter SemiBold"/>
                  </a:rPr>
                  <a:t>startIndex</a:t>
                </a:r>
                <a:r>
                  <a:rPr b="0" lang="en" sz="13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 — start index (inclusive)</a:t>
                </a:r>
                <a:endParaRPr b="1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334155"/>
                    </a:solidFill>
                    <a:highlight>
                      <a:srgbClr val="F1F5F9"/>
                    </a:highlight>
                    <a:latin typeface="Inter SemiBold"/>
                    <a:ea typeface="Inter SemiBold"/>
                    <a:cs typeface="Inter SemiBold"/>
                    <a:sym typeface="Inter SemiBold"/>
                  </a:rPr>
                  <a:t>endIndex</a:t>
                </a:r>
                <a:r>
                  <a:rPr b="0" lang="en" sz="13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 — end index (exclusive)</a:t>
                </a:r>
                <a:endParaRPr b="1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334155"/>
                    </a:solidFill>
                    <a:highlight>
                      <a:srgbClr val="F1F5F9"/>
                    </a:highlight>
                    <a:latin typeface="Inter SemiBold"/>
                    <a:ea typeface="Inter SemiBold"/>
                    <a:cs typeface="Inter SemiBold"/>
                    <a:sym typeface="Inter SemiBold"/>
                  </a:rPr>
                  <a:t>str</a:t>
                </a:r>
                <a:r>
                  <a:rPr b="0" lang="en" sz="13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 — replacement string</a:t>
                </a:r>
                <a:endParaRPr b="1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537" name="Google Shape;2537;p159"/>
          <p:cNvGrpSpPr/>
          <p:nvPr/>
        </p:nvGrpSpPr>
        <p:grpSpPr>
          <a:xfrm>
            <a:off x="4667250" y="1428750"/>
            <a:ext cx="4000500" cy="3143400"/>
            <a:chOff x="0" y="0"/>
            <a:chExt cx="4000500" cy="3143400"/>
          </a:xfrm>
        </p:grpSpPr>
        <p:sp>
          <p:nvSpPr>
            <p:cNvPr id="2538" name="Google Shape;2538;p159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39" name="Google Shape;2539;p159"/>
            <p:cNvGrpSpPr/>
            <p:nvPr/>
          </p:nvGrpSpPr>
          <p:grpSpPr>
            <a:xfrm>
              <a:off x="228600" y="228600"/>
              <a:ext cx="3543300" cy="381000"/>
              <a:chOff x="0" y="0"/>
              <a:chExt cx="3543300" cy="381000"/>
            </a:xfrm>
          </p:grpSpPr>
          <p:sp>
            <p:nvSpPr>
              <p:cNvPr id="2540" name="Google Shape;2540;p159"/>
              <p:cNvSpPr/>
              <p:nvPr/>
            </p:nvSpPr>
            <p:spPr>
              <a:xfrm>
                <a:off x="0" y="0"/>
                <a:ext cx="35433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1" name="Google Shape;2541;p159"/>
              <p:cNvSpPr txBox="1"/>
              <p:nvPr/>
            </p:nvSpPr>
            <p:spPr>
              <a:xfrm>
                <a:off x="0" y="0"/>
                <a:ext cx="3543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CODE EXAMPLE</a:t>
                </a:r>
                <a:endParaRPr b="1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542" name="Google Shape;2542;p159"/>
            <p:cNvSpPr/>
            <p:nvPr/>
          </p:nvSpPr>
          <p:spPr>
            <a:xfrm>
              <a:off x="228600" y="723900"/>
              <a:ext cx="3543300" cy="2190900"/>
            </a:xfrm>
            <a:prstGeom prst="roundRect">
              <a:avLst>
                <a:gd fmla="val 260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43" name="Google Shape;2543;p159"/>
            <p:cNvGrpSpPr/>
            <p:nvPr/>
          </p:nvGrpSpPr>
          <p:grpSpPr>
            <a:xfrm>
              <a:off x="381000" y="876300"/>
              <a:ext cx="3238500" cy="1905000"/>
              <a:chOff x="0" y="0"/>
              <a:chExt cx="3238500" cy="1905000"/>
            </a:xfrm>
          </p:grpSpPr>
          <p:sp>
            <p:nvSpPr>
              <p:cNvPr id="2544" name="Google Shape;2544;p159"/>
              <p:cNvSpPr/>
              <p:nvPr/>
            </p:nvSpPr>
            <p:spPr>
              <a:xfrm>
                <a:off x="0" y="0"/>
                <a:ext cx="3238500" cy="1905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5" name="Google Shape;2545;p159"/>
              <p:cNvSpPr txBox="1"/>
              <p:nvPr/>
            </p:nvSpPr>
            <p:spPr>
              <a:xfrm>
                <a:off x="0" y="0"/>
                <a:ext cx="32385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StringBuffer </a:t>
                </a:r>
                <a:r>
                  <a:rPr b="0" lang="en" sz="10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sb =</a:t>
                </a: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new StringBuffer</a:t>
                </a:r>
                <a:r>
                  <a:rPr b="0" lang="en" sz="10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0" lang="en" sz="10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"Welcome to java"</a:t>
                </a:r>
                <a:r>
                  <a:rPr b="0" lang="en" sz="10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);</a:t>
                </a:r>
                <a:endParaRPr b="1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System</a:t>
                </a:r>
                <a:r>
                  <a:rPr b="0" lang="en" sz="10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.out.println(sb);</a:t>
                </a:r>
                <a:endParaRPr b="1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Output: Welcome to java</a:t>
                </a:r>
                <a:endParaRPr b="1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sb.replace(</a:t>
                </a:r>
                <a:r>
                  <a:rPr b="0" lang="en" sz="10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12</a:t>
                </a:r>
                <a:r>
                  <a:rPr b="0" lang="en" sz="10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0" lang="en" sz="10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15</a:t>
                </a:r>
                <a:r>
                  <a:rPr b="0" lang="en" sz="10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0" lang="en" sz="10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"Tutorial"</a:t>
                </a:r>
                <a:r>
                  <a:rPr b="0" lang="en" sz="10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);</a:t>
                </a:r>
                <a:endParaRPr b="1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System</a:t>
                </a:r>
                <a:r>
                  <a:rPr b="0" lang="en" sz="10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.out.println(sb);</a:t>
                </a:r>
                <a:endParaRPr b="1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Output: Welcome to jTutorial</a:t>
                </a:r>
                <a:endParaRPr b="1" sz="100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49" name="Shape 2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0" name="Google Shape;2550;p160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551" name="Google Shape;2551;p160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160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StringBuffer: Comprehensive Example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553" name="Google Shape;2553;p160"/>
          <p:cNvGrpSpPr/>
          <p:nvPr/>
        </p:nvGrpSpPr>
        <p:grpSpPr>
          <a:xfrm>
            <a:off x="476250" y="1428750"/>
            <a:ext cx="3905400" cy="3143400"/>
            <a:chOff x="0" y="0"/>
            <a:chExt cx="3905400" cy="3143400"/>
          </a:xfrm>
        </p:grpSpPr>
        <p:sp>
          <p:nvSpPr>
            <p:cNvPr id="2554" name="Google Shape;2554;p160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160"/>
            <p:cNvSpPr txBox="1"/>
            <p:nvPr/>
          </p:nvSpPr>
          <p:spPr>
            <a:xfrm>
              <a:off x="228600" y="228600"/>
              <a:ext cx="3448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CODE DEMONSTRATION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56" name="Google Shape;2556;p160"/>
            <p:cNvSpPr/>
            <p:nvPr/>
          </p:nvSpPr>
          <p:spPr>
            <a:xfrm>
              <a:off x="228600" y="723900"/>
              <a:ext cx="3448200" cy="2190900"/>
            </a:xfrm>
            <a:prstGeom prst="roundRect">
              <a:avLst>
                <a:gd fmla="val 260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160"/>
            <p:cNvSpPr txBox="1"/>
            <p:nvPr/>
          </p:nvSpPr>
          <p:spPr>
            <a:xfrm>
              <a:off x="381000" y="876300"/>
              <a:ext cx="3143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StringBuffer </a:t>
              </a: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sb = new</a:t>
              </a:r>
              <a:r>
                <a:rPr b="1" lang="en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StringBuffer</a:t>
              </a: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1" lang="en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"Hello"</a:t>
              </a: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1" sz="85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Demonstration of various methods</a:t>
              </a:r>
              <a:endParaRPr b="0" sz="8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sb.length(); </a:t>
              </a:r>
              <a:r>
                <a:rPr b="0" lang="en" sz="8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Returns 5</a:t>
              </a:r>
              <a:endParaRPr b="1" sz="85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sb.capacity(); </a:t>
              </a:r>
              <a:r>
                <a:rPr b="0" lang="en" sz="8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Returns 21</a:t>
              </a:r>
              <a:endParaRPr b="1" sz="85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sb.append(</a:t>
              </a:r>
              <a:r>
                <a:rPr b="1" lang="en" sz="85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 World"</a:t>
              </a: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1" sz="85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sb.insert(</a:t>
              </a:r>
              <a:r>
                <a:rPr b="1" lang="en" sz="85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11</a:t>
              </a: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1" lang="en" sz="85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", welcome to java"</a:t>
              </a: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1" sz="85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sb.delete(</a:t>
              </a:r>
              <a:r>
                <a:rPr b="1" lang="en" sz="85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11</a:t>
              </a: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1" lang="en" sz="85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27</a:t>
              </a: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1" sz="85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sb.deleteCharAt(</a:t>
              </a:r>
              <a:r>
                <a:rPr b="1" lang="en" sz="85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1" sz="85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sb.replace(</a:t>
              </a:r>
              <a:r>
                <a:rPr b="1" lang="en" sz="85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1" lang="en" sz="85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9</a:t>
              </a: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1" lang="en" sz="85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"Diksha"</a:t>
              </a: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1" sz="85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sb.reverse();</a:t>
              </a:r>
              <a:endParaRPr b="1" sz="85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558" name="Google Shape;2558;p160"/>
          <p:cNvGrpSpPr/>
          <p:nvPr/>
        </p:nvGrpSpPr>
        <p:grpSpPr>
          <a:xfrm>
            <a:off x="4667250" y="1428750"/>
            <a:ext cx="4000500" cy="3143400"/>
            <a:chOff x="0" y="0"/>
            <a:chExt cx="4000500" cy="3143400"/>
          </a:xfrm>
        </p:grpSpPr>
        <p:sp>
          <p:nvSpPr>
            <p:cNvPr id="2559" name="Google Shape;2559;p160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160"/>
            <p:cNvSpPr txBox="1"/>
            <p:nvPr/>
          </p:nvSpPr>
          <p:spPr>
            <a:xfrm>
              <a:off x="228600" y="228600"/>
              <a:ext cx="3543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CONSOLE OUTPUT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61" name="Google Shape;2561;p160"/>
            <p:cNvSpPr/>
            <p:nvPr/>
          </p:nvSpPr>
          <p:spPr>
            <a:xfrm>
              <a:off x="228600" y="723900"/>
              <a:ext cx="3543300" cy="2190900"/>
            </a:xfrm>
            <a:prstGeom prst="roundRect">
              <a:avLst>
                <a:gd fmla="val 260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160"/>
            <p:cNvSpPr txBox="1"/>
            <p:nvPr/>
          </p:nvSpPr>
          <p:spPr>
            <a:xfrm>
              <a:off x="381000" y="876300"/>
              <a:ext cx="3238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Length of String is:</a:t>
              </a:r>
              <a:r>
                <a:rPr b="1" lang="en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5</a:t>
              </a:r>
              <a:endParaRPr b="1" sz="85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Capacity of String is:</a:t>
              </a:r>
              <a:r>
                <a:rPr b="1" lang="en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21</a:t>
              </a:r>
              <a:endParaRPr b="1" sz="85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Appended String is:</a:t>
              </a:r>
              <a:r>
                <a:rPr b="1" lang="en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Hello World</a:t>
              </a:r>
              <a:endParaRPr b="1" sz="85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 after insert is:</a:t>
              </a:r>
              <a:r>
                <a:rPr b="1" lang="en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Hello World, welcome to java</a:t>
              </a:r>
              <a:endParaRPr b="1" sz="85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 after delete is:</a:t>
              </a:r>
              <a:r>
                <a:rPr b="1" lang="en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Hello Worlda</a:t>
              </a:r>
              <a:endParaRPr b="1" sz="85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Use of deleteCharAt:</a:t>
              </a:r>
              <a:r>
                <a:rPr b="1" lang="en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HelloWorlda</a:t>
              </a:r>
              <a:endParaRPr b="1" sz="85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 after replace is:</a:t>
              </a:r>
              <a:r>
                <a:rPr b="1" lang="en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HelloDikshada</a:t>
              </a:r>
              <a:endParaRPr b="1" sz="85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Reversed String:</a:t>
              </a:r>
              <a:r>
                <a:rPr b="1" lang="en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adahskiDolleH</a:t>
              </a:r>
              <a:endParaRPr b="1" sz="85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6" name="Shape 2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" name="Google Shape;2567;p161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38100" marR="381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Command Line Arguments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68" name="Google Shape;2568;p161"/>
          <p:cNvGrpSpPr/>
          <p:nvPr/>
        </p:nvGrpSpPr>
        <p:grpSpPr>
          <a:xfrm>
            <a:off x="476250" y="1428750"/>
            <a:ext cx="3905400" cy="3048000"/>
            <a:chOff x="0" y="0"/>
            <a:chExt cx="3905400" cy="3048000"/>
          </a:xfrm>
        </p:grpSpPr>
        <p:sp>
          <p:nvSpPr>
            <p:cNvPr id="2569" name="Google Shape;2569;p161"/>
            <p:cNvSpPr/>
            <p:nvPr/>
          </p:nvSpPr>
          <p:spPr>
            <a:xfrm>
              <a:off x="0" y="0"/>
              <a:ext cx="3905400" cy="3048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161"/>
            <p:cNvSpPr txBox="1"/>
            <p:nvPr/>
          </p:nvSpPr>
          <p:spPr>
            <a:xfrm>
              <a:off x="228600" y="228600"/>
              <a:ext cx="3448200" cy="25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KEY CONCEPT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Sometimes we need to pass information into a program while it is running.</a:t>
              </a:r>
              <a:endParaRPr b="0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This is accomplished by passing arguments directly to the </a:t>
              </a:r>
              <a:r>
                <a:rPr b="1" lang="en" sz="1300">
                  <a:solidFill>
                    <a:srgbClr val="334155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main()</a:t>
              </a:r>
              <a:r>
                <a:rPr b="0" lang="en" sz="13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method.</a:t>
              </a:r>
              <a:endParaRPr b="0" sz="13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71" name="Google Shape;2571;p161"/>
          <p:cNvGrpSpPr/>
          <p:nvPr/>
        </p:nvGrpSpPr>
        <p:grpSpPr>
          <a:xfrm>
            <a:off x="4667250" y="1428750"/>
            <a:ext cx="4000500" cy="3048000"/>
            <a:chOff x="0" y="0"/>
            <a:chExt cx="4000500" cy="3048000"/>
          </a:xfrm>
        </p:grpSpPr>
        <p:sp>
          <p:nvSpPr>
            <p:cNvPr id="2572" name="Google Shape;2572;p161"/>
            <p:cNvSpPr/>
            <p:nvPr/>
          </p:nvSpPr>
          <p:spPr>
            <a:xfrm>
              <a:off x="0" y="0"/>
              <a:ext cx="4000500" cy="3048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161"/>
            <p:cNvSpPr txBox="1"/>
            <p:nvPr/>
          </p:nvSpPr>
          <p:spPr>
            <a:xfrm>
              <a:off x="228600" y="228600"/>
              <a:ext cx="3543300" cy="25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STORAGE &amp; EXECUTION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The passed information is stored as strings in the command line's string array argument.</a:t>
              </a:r>
              <a:endParaRPr b="0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Execution Detail: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Arguments immediately follow the program's name on the command line during startup.</a:t>
              </a:r>
              <a:endParaRPr b="0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7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8" name="Google Shape;2578;p162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579" name="Google Shape;2579;p162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162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Command Line Arguments: Example 1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581" name="Google Shape;2581;p162"/>
          <p:cNvGrpSpPr/>
          <p:nvPr/>
        </p:nvGrpSpPr>
        <p:grpSpPr>
          <a:xfrm>
            <a:off x="476250" y="1428750"/>
            <a:ext cx="3905400" cy="3143400"/>
            <a:chOff x="0" y="0"/>
            <a:chExt cx="3905400" cy="3143400"/>
          </a:xfrm>
        </p:grpSpPr>
        <p:sp>
          <p:nvSpPr>
            <p:cNvPr id="2582" name="Google Shape;2582;p162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162"/>
            <p:cNvSpPr txBox="1"/>
            <p:nvPr/>
          </p:nvSpPr>
          <p:spPr>
            <a:xfrm>
              <a:off x="228600" y="228600"/>
              <a:ext cx="3448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CODE DEMONSTRATION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84" name="Google Shape;2584;p162"/>
            <p:cNvSpPr/>
            <p:nvPr/>
          </p:nvSpPr>
          <p:spPr>
            <a:xfrm>
              <a:off x="228600" y="723900"/>
              <a:ext cx="3448200" cy="2190900"/>
            </a:xfrm>
            <a:prstGeom prst="roundRect">
              <a:avLst>
                <a:gd fmla="val 260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585" name="Google Shape;2585;p162"/>
          <p:cNvPicPr preferRelativeResize="0"/>
          <p:nvPr/>
        </p:nvPicPr>
        <p:blipFill rotWithShape="1">
          <a:blip r:embed="rId4">
            <a:alphaModFix/>
          </a:blip>
          <a:srcRect b="80" l="0" r="0" t="90"/>
          <a:stretch/>
        </p:blipFill>
        <p:spPr>
          <a:xfrm>
            <a:off x="762000" y="2295525"/>
            <a:ext cx="3333900" cy="1724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6" name="Google Shape;2586;p162"/>
          <p:cNvGrpSpPr/>
          <p:nvPr/>
        </p:nvGrpSpPr>
        <p:grpSpPr>
          <a:xfrm>
            <a:off x="4667250" y="1428750"/>
            <a:ext cx="4000500" cy="3143400"/>
            <a:chOff x="0" y="0"/>
            <a:chExt cx="4000500" cy="3143400"/>
          </a:xfrm>
        </p:grpSpPr>
        <p:sp>
          <p:nvSpPr>
            <p:cNvPr id="2587" name="Google Shape;2587;p162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162"/>
            <p:cNvSpPr txBox="1"/>
            <p:nvPr/>
          </p:nvSpPr>
          <p:spPr>
            <a:xfrm>
              <a:off x="228600" y="228600"/>
              <a:ext cx="3543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CONSOLE OUTPUT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89" name="Google Shape;2589;p162"/>
            <p:cNvSpPr/>
            <p:nvPr/>
          </p:nvSpPr>
          <p:spPr>
            <a:xfrm>
              <a:off x="228600" y="723900"/>
              <a:ext cx="3543300" cy="2190900"/>
            </a:xfrm>
            <a:prstGeom prst="roundRect">
              <a:avLst>
                <a:gd fmla="val 260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590" name="Google Shape;2590;p1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5500" y="2223625"/>
            <a:ext cx="3412901" cy="17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4" name="Shape 2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5" name="Google Shape;2595;p163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Command Line Arguments: Example 2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596" name="Google Shape;2596;p163"/>
          <p:cNvGrpSpPr/>
          <p:nvPr/>
        </p:nvGrpSpPr>
        <p:grpSpPr>
          <a:xfrm>
            <a:off x="476250" y="1428750"/>
            <a:ext cx="3905400" cy="3143400"/>
            <a:chOff x="0" y="0"/>
            <a:chExt cx="3905400" cy="3143400"/>
          </a:xfrm>
        </p:grpSpPr>
        <p:sp>
          <p:nvSpPr>
            <p:cNvPr id="2597" name="Google Shape;2597;p163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163"/>
            <p:cNvSpPr txBox="1"/>
            <p:nvPr/>
          </p:nvSpPr>
          <p:spPr>
            <a:xfrm>
              <a:off x="228600" y="228600"/>
              <a:ext cx="3448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CODE DEMONSTRATION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99" name="Google Shape;2599;p163"/>
            <p:cNvSpPr/>
            <p:nvPr/>
          </p:nvSpPr>
          <p:spPr>
            <a:xfrm>
              <a:off x="228600" y="723900"/>
              <a:ext cx="3448200" cy="2190900"/>
            </a:xfrm>
            <a:prstGeom prst="roundRect">
              <a:avLst>
                <a:gd fmla="val 260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0" name="Google Shape;2600;p163"/>
          <p:cNvGrpSpPr/>
          <p:nvPr/>
        </p:nvGrpSpPr>
        <p:grpSpPr>
          <a:xfrm>
            <a:off x="4667250" y="1428750"/>
            <a:ext cx="4000500" cy="3143400"/>
            <a:chOff x="0" y="0"/>
            <a:chExt cx="4000500" cy="3143400"/>
          </a:xfrm>
        </p:grpSpPr>
        <p:sp>
          <p:nvSpPr>
            <p:cNvPr id="2601" name="Google Shape;2601;p163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163"/>
            <p:cNvSpPr txBox="1"/>
            <p:nvPr/>
          </p:nvSpPr>
          <p:spPr>
            <a:xfrm>
              <a:off x="228600" y="228600"/>
              <a:ext cx="3543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CONSOLE OUTPUT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03" name="Google Shape;2603;p163"/>
            <p:cNvSpPr/>
            <p:nvPr/>
          </p:nvSpPr>
          <p:spPr>
            <a:xfrm>
              <a:off x="228600" y="723900"/>
              <a:ext cx="3543300" cy="2190900"/>
            </a:xfrm>
            <a:prstGeom prst="roundRect">
              <a:avLst>
                <a:gd fmla="val 260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604" name="Google Shape;2604;p163"/>
          <p:cNvPicPr preferRelativeResize="0"/>
          <p:nvPr/>
        </p:nvPicPr>
        <p:blipFill rotWithShape="1">
          <a:blip r:embed="rId4">
            <a:alphaModFix/>
          </a:blip>
          <a:srcRect b="80" l="0" r="0" t="80"/>
          <a:stretch/>
        </p:blipFill>
        <p:spPr>
          <a:xfrm>
            <a:off x="704850" y="2486025"/>
            <a:ext cx="3448200" cy="15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5" name="Google Shape;2605;p163"/>
          <p:cNvPicPr preferRelativeResize="0"/>
          <p:nvPr/>
        </p:nvPicPr>
        <p:blipFill rotWithShape="1">
          <a:blip r:embed="rId5">
            <a:alphaModFix/>
          </a:blip>
          <a:srcRect b="160" l="0" r="0" t="150"/>
          <a:stretch/>
        </p:blipFill>
        <p:spPr>
          <a:xfrm>
            <a:off x="4895850" y="2962275"/>
            <a:ext cx="35433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9" name="Shape 2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0" name="Google Shape;2610;p164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Variable Arguments (varargs)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611" name="Google Shape;2611;p164"/>
          <p:cNvGrpSpPr/>
          <p:nvPr/>
        </p:nvGrpSpPr>
        <p:grpSpPr>
          <a:xfrm>
            <a:off x="476250" y="1428750"/>
            <a:ext cx="3905400" cy="3143400"/>
            <a:chOff x="0" y="0"/>
            <a:chExt cx="3905400" cy="3143400"/>
          </a:xfrm>
        </p:grpSpPr>
        <p:sp>
          <p:nvSpPr>
            <p:cNvPr id="2612" name="Google Shape;2612;p164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164"/>
            <p:cNvSpPr txBox="1"/>
            <p:nvPr/>
          </p:nvSpPr>
          <p:spPr>
            <a:xfrm>
              <a:off x="228600" y="228600"/>
              <a:ext cx="34482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Overview &amp; Purpose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Why use varargs?</a:t>
              </a:r>
              <a:endParaRPr b="0" sz="13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If we don't know how many arguments we will have to pass in the method, varargs is the better approach. It allows the method to accept zero or multiple arguments.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Alternative</a:t>
              </a:r>
              <a:endParaRPr b="0" sz="13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Before varargs, we had to use overloaded methods or pass parameters as arrays, which was not considered ideal due to maintenance overhead.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14" name="Google Shape;2614;p164"/>
          <p:cNvGrpSpPr/>
          <p:nvPr/>
        </p:nvGrpSpPr>
        <p:grpSpPr>
          <a:xfrm>
            <a:off x="4667250" y="1428750"/>
            <a:ext cx="4000500" cy="3143400"/>
            <a:chOff x="0" y="0"/>
            <a:chExt cx="4000500" cy="3143400"/>
          </a:xfrm>
        </p:grpSpPr>
        <p:sp>
          <p:nvSpPr>
            <p:cNvPr id="2615" name="Google Shape;2615;p164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164"/>
            <p:cNvSpPr txBox="1"/>
            <p:nvPr/>
          </p:nvSpPr>
          <p:spPr>
            <a:xfrm>
              <a:off x="228600" y="228600"/>
              <a:ext cx="3543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Syntax &amp; Structure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17" name="Google Shape;2617;p164"/>
            <p:cNvSpPr/>
            <p:nvPr/>
          </p:nvSpPr>
          <p:spPr>
            <a:xfrm>
              <a:off x="228600" y="723900"/>
              <a:ext cx="3543300" cy="2190900"/>
            </a:xfrm>
            <a:prstGeom prst="roundRect">
              <a:avLst>
                <a:gd fmla="val 260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164"/>
            <p:cNvSpPr txBox="1"/>
            <p:nvPr/>
          </p:nvSpPr>
          <p:spPr>
            <a:xfrm>
              <a:off x="419100" y="914400"/>
              <a:ext cx="31623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Method Declaration Syntax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returntype</a:t>
              </a:r>
              <a:r>
                <a:rPr b="1" lang="en" sz="13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method_name(</a:t>
              </a:r>
              <a:r>
                <a:rPr b="1" lang="en" sz="13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datatype...</a:t>
              </a:r>
              <a:r>
                <a:rPr b="1" lang="en" sz="13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value)</a:t>
              </a:r>
              <a:endParaRPr b="1" sz="13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The ellipsis (...) identifies that an arbitrary number of arguments (including zero) can be passed.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2" name="Shape 2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3" name="Google Shape;2623;p165"/>
          <p:cNvSpPr txBox="1"/>
          <p:nvPr>
            <p:ph type="title"/>
          </p:nvPr>
        </p:nvSpPr>
        <p:spPr>
          <a:xfrm>
            <a:off x="476250" y="38100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i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i="0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Rules for Defining Varargs</a:t>
            </a:r>
            <a:endParaRPr b="0" i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624" name="Google Shape;2624;p165"/>
          <p:cNvGrpSpPr/>
          <p:nvPr/>
        </p:nvGrpSpPr>
        <p:grpSpPr>
          <a:xfrm>
            <a:off x="476250" y="1428750"/>
            <a:ext cx="3905400" cy="3143400"/>
            <a:chOff x="0" y="0"/>
            <a:chExt cx="3905400" cy="3143400"/>
          </a:xfrm>
        </p:grpSpPr>
        <p:sp>
          <p:nvSpPr>
            <p:cNvPr id="2625" name="Google Shape;2625;p165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26" name="Google Shape;2626;p165"/>
            <p:cNvGrpSpPr/>
            <p:nvPr/>
          </p:nvGrpSpPr>
          <p:grpSpPr>
            <a:xfrm>
              <a:off x="228600" y="228600"/>
              <a:ext cx="3448200" cy="2686200"/>
              <a:chOff x="0" y="0"/>
              <a:chExt cx="3448200" cy="2686200"/>
            </a:xfrm>
          </p:grpSpPr>
          <p:sp>
            <p:nvSpPr>
              <p:cNvPr id="2627" name="Google Shape;2627;p165"/>
              <p:cNvSpPr/>
              <p:nvPr/>
            </p:nvSpPr>
            <p:spPr>
              <a:xfrm>
                <a:off x="0" y="0"/>
                <a:ext cx="3448200" cy="2686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8" name="Google Shape;2628;p165"/>
              <p:cNvSpPr txBox="1"/>
              <p:nvPr/>
            </p:nvSpPr>
            <p:spPr>
              <a:xfrm>
                <a:off x="0" y="0"/>
                <a:ext cx="3448200" cy="268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COMPILER CONSTRAINTS</a:t>
                </a:r>
                <a:endParaRPr b="1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33415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Strict Compilation Rules</a:t>
                </a:r>
                <a:endParaRPr b="1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1200"/>
                  </a:spcBef>
                  <a:spcAft>
                    <a:spcPts val="0"/>
                  </a:spcAft>
                  <a:buClr>
                    <a:srgbClr val="475569"/>
                  </a:buClr>
                  <a:buSzPts val="1100"/>
                  <a:buFont typeface="Inter"/>
                  <a:buChar char="●"/>
                </a:pPr>
                <a:r>
                  <a:rPr b="0" lang="en" sz="11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Single Varargs Parameter:</a:t>
                </a:r>
                <a:br>
                  <a:rPr b="0" lang="en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r>
                  <a:rPr b="0" lang="en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There can be at most </a:t>
                </a:r>
                <a:r>
                  <a:rPr b="0" lang="en" sz="110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one</a:t>
                </a:r>
                <a:r>
                  <a:rPr b="0" lang="en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variable argument parameter in any method signature.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1200"/>
                  </a:spcBef>
                  <a:spcAft>
                    <a:spcPts val="900"/>
                  </a:spcAft>
                  <a:buClr>
                    <a:srgbClr val="475569"/>
                  </a:buClr>
                  <a:buSzPts val="1100"/>
                  <a:buFont typeface="Inter"/>
                  <a:buChar char="●"/>
                </a:pPr>
                <a:r>
                  <a:rPr b="0" lang="en" sz="11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Must Be Last:</a:t>
                </a:r>
                <a:br>
                  <a:rPr b="0" lang="en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r>
                  <a:rPr b="0" lang="en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The variable argument parameter (varargs) must always be the </a:t>
                </a:r>
                <a:r>
                  <a:rPr b="0" lang="en" sz="110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last argument</a:t>
                </a:r>
                <a:r>
                  <a:rPr b="0" lang="en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in the method.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629" name="Google Shape;2629;p165"/>
          <p:cNvGrpSpPr/>
          <p:nvPr/>
        </p:nvGrpSpPr>
        <p:grpSpPr>
          <a:xfrm>
            <a:off x="4667250" y="1428750"/>
            <a:ext cx="4000500" cy="3143400"/>
            <a:chOff x="0" y="0"/>
            <a:chExt cx="4000500" cy="3143400"/>
          </a:xfrm>
        </p:grpSpPr>
        <p:sp>
          <p:nvSpPr>
            <p:cNvPr id="2630" name="Google Shape;2630;p165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31" name="Google Shape;2631;p165"/>
            <p:cNvGrpSpPr/>
            <p:nvPr/>
          </p:nvGrpSpPr>
          <p:grpSpPr>
            <a:xfrm>
              <a:off x="228600" y="228600"/>
              <a:ext cx="3543300" cy="381000"/>
              <a:chOff x="0" y="0"/>
              <a:chExt cx="3543300" cy="381000"/>
            </a:xfrm>
          </p:grpSpPr>
          <p:sp>
            <p:nvSpPr>
              <p:cNvPr id="2632" name="Google Shape;2632;p165"/>
              <p:cNvSpPr/>
              <p:nvPr/>
            </p:nvSpPr>
            <p:spPr>
              <a:xfrm>
                <a:off x="0" y="0"/>
                <a:ext cx="35433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3" name="Google Shape;2633;p165"/>
              <p:cNvSpPr txBox="1"/>
              <p:nvPr/>
            </p:nvSpPr>
            <p:spPr>
              <a:xfrm>
                <a:off x="0" y="0"/>
                <a:ext cx="3543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CODE VALIDATION</a:t>
                </a:r>
                <a:endParaRPr b="1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634" name="Google Shape;2634;p165"/>
            <p:cNvSpPr/>
            <p:nvPr/>
          </p:nvSpPr>
          <p:spPr>
            <a:xfrm>
              <a:off x="228600" y="723900"/>
              <a:ext cx="3543300" cy="2190900"/>
            </a:xfrm>
            <a:prstGeom prst="roundRect">
              <a:avLst>
                <a:gd fmla="val 260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35" name="Google Shape;2635;p165"/>
            <p:cNvGrpSpPr/>
            <p:nvPr/>
          </p:nvGrpSpPr>
          <p:grpSpPr>
            <a:xfrm>
              <a:off x="381000" y="876300"/>
              <a:ext cx="3238500" cy="1905000"/>
              <a:chOff x="0" y="0"/>
              <a:chExt cx="3238500" cy="1905000"/>
            </a:xfrm>
          </p:grpSpPr>
          <p:sp>
            <p:nvSpPr>
              <p:cNvPr id="2636" name="Google Shape;2636;p165"/>
              <p:cNvSpPr/>
              <p:nvPr/>
            </p:nvSpPr>
            <p:spPr>
              <a:xfrm>
                <a:off x="0" y="0"/>
                <a:ext cx="3238500" cy="1905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7" name="Google Shape;2637;p165"/>
              <p:cNvSpPr txBox="1"/>
              <p:nvPr/>
            </p:nvSpPr>
            <p:spPr>
              <a:xfrm>
                <a:off x="0" y="0"/>
                <a:ext cx="32385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EF4444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ERROR: Multiple varargs</a:t>
                </a:r>
                <a:endParaRPr b="1" sz="950">
                  <a:solidFill>
                    <a:srgbClr val="EF4444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void xyz(String... a, String b...)</a:t>
                </a:r>
                <a:endParaRPr b="1" sz="10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EF4444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ERROR: Varargs not last</a:t>
                </a:r>
                <a:endParaRPr b="1" sz="950">
                  <a:solidFill>
                    <a:srgbClr val="EF4444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void xyz(String... a, int b)</a:t>
                </a:r>
                <a:endParaRPr b="1" sz="10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VALID: Correct syntax</a:t>
                </a:r>
                <a:endParaRPr b="1" sz="9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void xyz(int a, String... b)</a:t>
                </a:r>
                <a:endParaRPr b="1" sz="10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1" name="Shape 2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2" name="Google Shape;2642;p166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643" name="Google Shape;2643;p166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166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Example-3 : CLA using varargs</a:t>
              </a:r>
              <a:endParaRPr b="1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45" name="Google Shape;2645;p166"/>
          <p:cNvGrpSpPr/>
          <p:nvPr/>
        </p:nvGrpSpPr>
        <p:grpSpPr>
          <a:xfrm>
            <a:off x="476250" y="1428750"/>
            <a:ext cx="3905400" cy="3143400"/>
            <a:chOff x="0" y="0"/>
            <a:chExt cx="3905400" cy="3143400"/>
          </a:xfrm>
        </p:grpSpPr>
        <p:sp>
          <p:nvSpPr>
            <p:cNvPr id="2646" name="Google Shape;2646;p166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166"/>
            <p:cNvSpPr txBox="1"/>
            <p:nvPr/>
          </p:nvSpPr>
          <p:spPr>
            <a:xfrm>
              <a:off x="228600" y="228600"/>
              <a:ext cx="3448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SOURCE CODE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48" name="Google Shape;2648;p166"/>
            <p:cNvSpPr/>
            <p:nvPr/>
          </p:nvSpPr>
          <p:spPr>
            <a:xfrm>
              <a:off x="228600" y="723900"/>
              <a:ext cx="3448200" cy="2190900"/>
            </a:xfrm>
            <a:prstGeom prst="roundRect">
              <a:avLst>
                <a:gd fmla="val 260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166"/>
            <p:cNvSpPr txBox="1"/>
            <p:nvPr/>
          </p:nvSpPr>
          <p:spPr>
            <a:xfrm>
              <a:off x="419100" y="914400"/>
              <a:ext cx="30672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 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 {</a:t>
              </a:r>
              <a:endParaRPr b="1" sz="110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static void 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main(</a:t>
              </a:r>
              <a:r>
                <a:rPr b="1" lang="en" sz="11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String... 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args) {</a:t>
              </a:r>
              <a:endParaRPr b="1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</a:t>
              </a: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(String s: args) {</a:t>
              </a:r>
              <a:endParaRPr b="1" sz="110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System.out.println(s);</a:t>
              </a:r>
              <a:endParaRPr b="1" sz="11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11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11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11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650" name="Google Shape;2650;p166"/>
          <p:cNvGrpSpPr/>
          <p:nvPr/>
        </p:nvGrpSpPr>
        <p:grpSpPr>
          <a:xfrm>
            <a:off x="4667250" y="1428750"/>
            <a:ext cx="4000500" cy="3143400"/>
            <a:chOff x="0" y="0"/>
            <a:chExt cx="4000500" cy="3143400"/>
          </a:xfrm>
        </p:grpSpPr>
        <p:sp>
          <p:nvSpPr>
            <p:cNvPr id="2651" name="Google Shape;2651;p166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166"/>
            <p:cNvSpPr txBox="1"/>
            <p:nvPr/>
          </p:nvSpPr>
          <p:spPr>
            <a:xfrm>
              <a:off x="228600" y="228600"/>
              <a:ext cx="3543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CONSOLE OUTPUT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53" name="Google Shape;2653;p166"/>
            <p:cNvSpPr/>
            <p:nvPr/>
          </p:nvSpPr>
          <p:spPr>
            <a:xfrm>
              <a:off x="228600" y="723900"/>
              <a:ext cx="3543300" cy="2190900"/>
            </a:xfrm>
            <a:prstGeom prst="roundRect">
              <a:avLst>
                <a:gd fmla="val 260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166"/>
            <p:cNvSpPr txBox="1"/>
            <p:nvPr/>
          </p:nvSpPr>
          <p:spPr>
            <a:xfrm>
              <a:off x="419100" y="914400"/>
              <a:ext cx="31623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Compile the program</a:t>
              </a:r>
              <a:endParaRPr b="1" sz="10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 javac cla.java</a:t>
              </a:r>
              <a:endParaRPr b="1" sz="10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Run with command line arguments</a:t>
              </a:r>
              <a:endParaRPr b="1" sz="10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 java Cla Hello 10 14.3</a:t>
              </a:r>
              <a:endParaRPr b="1" sz="10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Hello</a:t>
              </a:r>
              <a:endParaRPr b="1" sz="105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</a:t>
              </a:r>
              <a:endParaRPr b="1" sz="105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14.3</a:t>
              </a:r>
              <a:endParaRPr b="1" sz="105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8" name="Shape 2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9" name="Google Shape;2659;p167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Wrapper Class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660" name="Google Shape;2660;p167"/>
          <p:cNvGrpSpPr/>
          <p:nvPr/>
        </p:nvGrpSpPr>
        <p:grpSpPr>
          <a:xfrm>
            <a:off x="476250" y="1428750"/>
            <a:ext cx="3905400" cy="3143400"/>
            <a:chOff x="0" y="0"/>
            <a:chExt cx="3905400" cy="3143400"/>
          </a:xfrm>
        </p:grpSpPr>
        <p:sp>
          <p:nvSpPr>
            <p:cNvPr id="2661" name="Google Shape;2661;p167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167"/>
            <p:cNvSpPr txBox="1"/>
            <p:nvPr/>
          </p:nvSpPr>
          <p:spPr>
            <a:xfrm>
              <a:off x="228600" y="228600"/>
              <a:ext cx="34482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OBJECT CONVERSION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Bridging Primitives &amp; Objects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63500" lvl="0" marL="142875" marR="0" rtl="0" algn="l">
                <a:spcBef>
                  <a:spcPts val="1200"/>
                </a:spcBef>
                <a:spcAft>
                  <a:spcPts val="0"/>
                </a:spcAft>
                <a:buClr>
                  <a:srgbClr val="64748B"/>
                </a:buClr>
                <a:buSzPts val="1000"/>
                <a:buFont typeface="Inter"/>
                <a:buChar char="●"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Type Conversion:</a:t>
              </a:r>
              <a:b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Used to convert primitive types into class objects to enable object-oriented features.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63500" lvl="0" marL="142875" marR="0" rtl="0" algn="l">
                <a:spcBef>
                  <a:spcPts val="1200"/>
                </a:spcBef>
                <a:spcAft>
                  <a:spcPts val="0"/>
                </a:spcAft>
                <a:buClr>
                  <a:srgbClr val="64748B"/>
                </a:buClr>
                <a:buSzPts val="1000"/>
                <a:buFont typeface="Inter"/>
                <a:buChar char="●"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Generics Compatibility:</a:t>
              </a:r>
              <a:b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Generic classes only work with objects. Wrapper classes let you use primitives with generics.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63" name="Google Shape;2663;p167"/>
          <p:cNvGrpSpPr/>
          <p:nvPr/>
        </p:nvGrpSpPr>
        <p:grpSpPr>
          <a:xfrm>
            <a:off x="4667250" y="1428750"/>
            <a:ext cx="4000500" cy="3143400"/>
            <a:chOff x="0" y="0"/>
            <a:chExt cx="4000500" cy="3143400"/>
          </a:xfrm>
        </p:grpSpPr>
        <p:sp>
          <p:nvSpPr>
            <p:cNvPr id="2664" name="Google Shape;2664;p167"/>
            <p:cNvSpPr/>
            <p:nvPr/>
          </p:nvSpPr>
          <p:spPr>
            <a:xfrm>
              <a:off x="0" y="0"/>
              <a:ext cx="4000500" cy="31434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167"/>
            <p:cNvSpPr txBox="1"/>
            <p:nvPr/>
          </p:nvSpPr>
          <p:spPr>
            <a:xfrm>
              <a:off x="228600" y="228600"/>
              <a:ext cx="3543300" cy="26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SYSTEM INTEGRATION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Type Mapping &amp; Package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63500" lvl="0" marL="142875" marR="0" rtl="0" algn="l">
                <a:spcBef>
                  <a:spcPts val="1200"/>
                </a:spcBef>
                <a:spcAft>
                  <a:spcPts val="0"/>
                </a:spcAft>
                <a:buClr>
                  <a:srgbClr val="64748B"/>
                </a:buClr>
                <a:buSzPts val="1000"/>
                <a:buFont typeface="Inter"/>
                <a:buChar char="●"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One-to-One Mapping:</a:t>
              </a:r>
              <a:b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Each primitive type in Java has a unique corresponding wrapper class (e.g., int to Integer).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63500" lvl="0" marL="142875" marR="0" rtl="0" algn="l">
                <a:spcBef>
                  <a:spcPts val="1200"/>
                </a:spcBef>
                <a:spcAft>
                  <a:spcPts val="0"/>
                </a:spcAft>
                <a:buClr>
                  <a:srgbClr val="64748B"/>
                </a:buClr>
                <a:buSzPts val="1000"/>
                <a:buFont typeface="Inter"/>
                <a:buChar char="●"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Standard Package:</a:t>
              </a:r>
              <a:b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All wrapper classes belong to the </a:t>
              </a: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java.lang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package, meaning they are imported automatically.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9" name="Shape 2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0" name="Google Shape;2670;p168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Wrapper Class Mappings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671" name="Google Shape;2671;p168"/>
          <p:cNvSpPr/>
          <p:nvPr/>
        </p:nvSpPr>
        <p:spPr>
          <a:xfrm>
            <a:off x="476250" y="1428750"/>
            <a:ext cx="3905400" cy="314340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672" name="Google Shape;2672;p168"/>
          <p:cNvGraphicFramePr/>
          <p:nvPr/>
        </p:nvGraphicFramePr>
        <p:xfrm>
          <a:off x="70485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{C75DE77E-582F-48B9-99DE-893D65EC9C9C}</a:tableStyleId>
              </a:tblPr>
              <a:tblGrid>
                <a:gridCol w="1724025"/>
                <a:gridCol w="1724025"/>
              </a:tblGrid>
              <a:tr h="5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>
                          <a:solidFill>
                            <a:srgbClr val="94A3B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PRIMITIVE</a:t>
                      </a:r>
                      <a:endParaRPr b="0" sz="900">
                        <a:solidFill>
                          <a:srgbClr val="94A3B8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57150" marB="57150" marR="0" marL="0">
                    <a:lnB cap="flat" cmpd="sng" w="1905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>
                          <a:solidFill>
                            <a:srgbClr val="94A3B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WRAPPER CLASS</a:t>
                      </a:r>
                      <a:endParaRPr b="0" sz="900">
                        <a:solidFill>
                          <a:srgbClr val="94A3B8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57150" marB="57150" marR="0" marL="0">
                    <a:lnB cap="flat" cmpd="sng" w="1905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47556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boolean</a:t>
                      </a:r>
                      <a:endParaRPr b="1" sz="1200">
                        <a:solidFill>
                          <a:srgbClr val="475569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0" marB="95250" marR="0" marL="0">
                    <a:lnT cap="flat" cmpd="sng" w="1905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563E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Boolean</a:t>
                      </a:r>
                      <a:endParaRPr b="1" sz="1200">
                        <a:solidFill>
                          <a:srgbClr val="2563EB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0" marB="95250" marR="0" marL="0">
                    <a:lnT cap="flat" cmpd="sng" w="1905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47556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char</a:t>
                      </a:r>
                      <a:endParaRPr b="1" sz="1200">
                        <a:solidFill>
                          <a:srgbClr val="475569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0" marB="95250" marR="0" marL="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563E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Character</a:t>
                      </a:r>
                      <a:endParaRPr b="1" sz="1200">
                        <a:solidFill>
                          <a:srgbClr val="2563EB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0" marB="95250" marR="0" marL="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47556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byte</a:t>
                      </a:r>
                      <a:endParaRPr b="1" sz="1200">
                        <a:solidFill>
                          <a:srgbClr val="475569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0" marB="95250" marR="0" marL="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563E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Byte</a:t>
                      </a:r>
                      <a:endParaRPr b="1" sz="1200">
                        <a:solidFill>
                          <a:srgbClr val="2563EB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0" marB="95250" marR="0" marL="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47556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short</a:t>
                      </a:r>
                      <a:endParaRPr b="1" sz="1200">
                        <a:solidFill>
                          <a:srgbClr val="475569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0" marB="95250" marR="0" marL="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563E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Short</a:t>
                      </a:r>
                      <a:endParaRPr b="1" sz="1200">
                        <a:solidFill>
                          <a:srgbClr val="2563EB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0" marB="95250" marR="0" marL="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2673" name="Google Shape;2673;p168"/>
          <p:cNvSpPr/>
          <p:nvPr/>
        </p:nvSpPr>
        <p:spPr>
          <a:xfrm>
            <a:off x="4667250" y="1428750"/>
            <a:ext cx="4000500" cy="314340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674" name="Google Shape;2674;p168"/>
          <p:cNvGraphicFramePr/>
          <p:nvPr/>
        </p:nvGraphicFramePr>
        <p:xfrm>
          <a:off x="489585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{C75DE77E-582F-48B9-99DE-893D65EC9C9C}</a:tableStyleId>
              </a:tblPr>
              <a:tblGrid>
                <a:gridCol w="1771650"/>
                <a:gridCol w="1771650"/>
              </a:tblGrid>
              <a:tr h="5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>
                          <a:solidFill>
                            <a:srgbClr val="94A3B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PRIMITIVE</a:t>
                      </a:r>
                      <a:endParaRPr b="0" sz="900">
                        <a:solidFill>
                          <a:srgbClr val="94A3B8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57150" marB="57150" marR="0" marL="0">
                    <a:lnB cap="flat" cmpd="sng" w="1905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>
                          <a:solidFill>
                            <a:srgbClr val="94A3B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WRAPPER CLASS</a:t>
                      </a:r>
                      <a:endParaRPr b="0" sz="900">
                        <a:solidFill>
                          <a:srgbClr val="94A3B8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57150" marB="57150" marR="0" marL="0">
                    <a:lnB cap="flat" cmpd="sng" w="1905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47556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endParaRPr b="1" sz="1200">
                        <a:solidFill>
                          <a:srgbClr val="475569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0" marB="95250" marR="0" marL="0">
                    <a:lnT cap="flat" cmpd="sng" w="1905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563E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Integer</a:t>
                      </a:r>
                      <a:endParaRPr b="1" sz="1200">
                        <a:solidFill>
                          <a:srgbClr val="2563EB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0" marB="95250" marR="0" marL="0">
                    <a:lnT cap="flat" cmpd="sng" w="1905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47556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</a:t>
                      </a:r>
                      <a:endParaRPr b="1" sz="1200">
                        <a:solidFill>
                          <a:srgbClr val="475569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0" marB="95250" marR="0" marL="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563E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</a:t>
                      </a:r>
                      <a:endParaRPr b="1" sz="1200">
                        <a:solidFill>
                          <a:srgbClr val="2563EB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0" marB="95250" marR="0" marL="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47556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float</a:t>
                      </a:r>
                      <a:endParaRPr b="1" sz="1200">
                        <a:solidFill>
                          <a:srgbClr val="475569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0" marB="95250" marR="0" marL="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563E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Float</a:t>
                      </a:r>
                      <a:endParaRPr b="1" sz="1200">
                        <a:solidFill>
                          <a:srgbClr val="2563EB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0" marB="95250" marR="0" marL="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47556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double</a:t>
                      </a:r>
                      <a:endParaRPr b="1" sz="1200">
                        <a:solidFill>
                          <a:srgbClr val="475569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0" marB="95250" marR="0" marL="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563E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Double</a:t>
                      </a:r>
                      <a:endParaRPr b="1" sz="1200">
                        <a:solidFill>
                          <a:srgbClr val="2563EB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0" marB="95250" marR="0" marL="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8" name="Shape 2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Google Shape;2679;p169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Need of Wrapper Class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0" name="Google Shape;2680;p169"/>
          <p:cNvSpPr/>
          <p:nvPr/>
        </p:nvSpPr>
        <p:spPr>
          <a:xfrm>
            <a:off x="476250" y="1428750"/>
            <a:ext cx="2571900" cy="3143400"/>
          </a:xfrm>
          <a:prstGeom prst="roundRect">
            <a:avLst>
              <a:gd fmla="val 296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1" name="Google Shape;2681;p169"/>
          <p:cNvSpPr txBox="1"/>
          <p:nvPr/>
        </p:nvSpPr>
        <p:spPr>
          <a:xfrm>
            <a:off x="666750" y="1619250"/>
            <a:ext cx="21909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OBJECT REPRESENTATION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Bridging the Gap</a:t>
            </a:r>
            <a:endParaRPr b="0" sz="1300">
              <a:solidFill>
                <a:srgbClr val="33415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Primitive Wrapping</a:t>
            </a: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Allows primitive types to be used where objects are strictly required, such as in java.util utility classes.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Bidirectional Methods</a:t>
            </a: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Provides built-in utility methods to easily wrap values into objects and unwrap them back.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2" name="Google Shape;2682;p169"/>
          <p:cNvSpPr/>
          <p:nvPr/>
        </p:nvSpPr>
        <p:spPr>
          <a:xfrm>
            <a:off x="3286125" y="1428750"/>
            <a:ext cx="2571900" cy="3143400"/>
          </a:xfrm>
          <a:prstGeom prst="roundRect">
            <a:avLst>
              <a:gd fmla="val 296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3" name="Google Shape;2683;p169"/>
          <p:cNvSpPr txBox="1"/>
          <p:nvPr/>
        </p:nvSpPr>
        <p:spPr>
          <a:xfrm>
            <a:off x="3476625" y="1619250"/>
            <a:ext cx="21909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COLLECTION FRAMEWORK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Structures</a:t>
            </a:r>
            <a:endParaRPr b="0" sz="1300">
              <a:solidFill>
                <a:srgbClr val="33415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Object-Only Storage</a:t>
            </a: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Collections like ArrayList only store object references, preventing direct use of primitives.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String Parsing</a:t>
            </a: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Enables robust object creation and conversion from alternative types like Strings.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4" name="Google Shape;2684;p169"/>
          <p:cNvSpPr/>
          <p:nvPr/>
        </p:nvSpPr>
        <p:spPr>
          <a:xfrm>
            <a:off x="6096000" y="1428750"/>
            <a:ext cx="2571900" cy="3143400"/>
          </a:xfrm>
          <a:prstGeom prst="roundRect">
            <a:avLst>
              <a:gd fmla="val 296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169"/>
          <p:cNvSpPr txBox="1"/>
          <p:nvPr/>
        </p:nvSpPr>
        <p:spPr>
          <a:xfrm>
            <a:off x="6286500" y="1619250"/>
            <a:ext cx="21909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CONCURRENCY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Thread Control</a:t>
            </a:r>
            <a:endParaRPr b="0" sz="1300">
              <a:solidFill>
                <a:srgbClr val="33415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Locking &amp; Synchronization</a:t>
            </a: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Required in multithreading synchronization to lock shared resources, as locking mechanisms natively require object references rather than primitive types.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89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170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Wrapper Class Creation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1" name="Google Shape;2691;p170"/>
          <p:cNvSpPr/>
          <p:nvPr/>
        </p:nvSpPr>
        <p:spPr>
          <a:xfrm>
            <a:off x="476250" y="1524000"/>
            <a:ext cx="2476500" cy="2952900"/>
          </a:xfrm>
          <a:prstGeom prst="roundRect">
            <a:avLst>
              <a:gd fmla="val 30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170"/>
          <p:cNvSpPr txBox="1"/>
          <p:nvPr/>
        </p:nvSpPr>
        <p:spPr>
          <a:xfrm>
            <a:off x="666750" y="1714500"/>
            <a:ext cx="20955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METHOD 01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Class Constructor</a:t>
            </a:r>
            <a:endParaRPr b="1" sz="15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DEPRECATED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Using wrapper class constructor to instantiate a wrapper object by passing the value.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3" name="Google Shape;2693;p170"/>
          <p:cNvSpPr/>
          <p:nvPr/>
        </p:nvSpPr>
        <p:spPr>
          <a:xfrm>
            <a:off x="3333750" y="1524000"/>
            <a:ext cx="2476500" cy="2952900"/>
          </a:xfrm>
          <a:prstGeom prst="roundRect">
            <a:avLst>
              <a:gd fmla="val 30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p170"/>
          <p:cNvSpPr txBox="1"/>
          <p:nvPr/>
        </p:nvSpPr>
        <p:spPr>
          <a:xfrm>
            <a:off x="3524250" y="1714500"/>
            <a:ext cx="20955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METHOD 02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Direct Assignment</a:t>
            </a:r>
            <a:endParaRPr b="1" sz="15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Creating wrapper object directly by assigning values, using wrapper class only.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5" name="Google Shape;2695;p170"/>
          <p:cNvSpPr/>
          <p:nvPr/>
        </p:nvSpPr>
        <p:spPr>
          <a:xfrm>
            <a:off x="6191250" y="1524000"/>
            <a:ext cx="2476500" cy="2952900"/>
          </a:xfrm>
          <a:prstGeom prst="roundRect">
            <a:avLst>
              <a:gd fmla="val 30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p170"/>
          <p:cNvSpPr txBox="1"/>
          <p:nvPr/>
        </p:nvSpPr>
        <p:spPr>
          <a:xfrm>
            <a:off x="6381750" y="1714500"/>
            <a:ext cx="20955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METHOD 03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valueOf() Method</a:t>
            </a:r>
            <a:endParaRPr b="1" sz="15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Using the static valueOf() factory method to efficiently obtain a wrapper class instance.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0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1" name="Google Shape;2701;p171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702" name="Google Shape;2702;p171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171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Using Wrapper Class Constructor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2704" name="Google Shape;2704;p171"/>
          <p:cNvSpPr/>
          <p:nvPr/>
        </p:nvSpPr>
        <p:spPr>
          <a:xfrm>
            <a:off x="476250" y="1428750"/>
            <a:ext cx="3952800" cy="3238500"/>
          </a:xfrm>
          <a:prstGeom prst="roundRect">
            <a:avLst>
              <a:gd fmla="val 23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05" name="Google Shape;2705;p171"/>
          <p:cNvGrpSpPr/>
          <p:nvPr/>
        </p:nvGrpSpPr>
        <p:grpSpPr>
          <a:xfrm>
            <a:off x="666750" y="1619250"/>
            <a:ext cx="3571800" cy="2857500"/>
            <a:chOff x="0" y="0"/>
            <a:chExt cx="3571800" cy="2857500"/>
          </a:xfrm>
        </p:grpSpPr>
        <p:sp>
          <p:nvSpPr>
            <p:cNvPr id="2706" name="Google Shape;2706;p171"/>
            <p:cNvSpPr/>
            <p:nvPr/>
          </p:nvSpPr>
          <p:spPr>
            <a:xfrm>
              <a:off x="0" y="0"/>
              <a:ext cx="35718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171"/>
            <p:cNvSpPr txBox="1"/>
            <p:nvPr/>
          </p:nvSpPr>
          <p:spPr>
            <a:xfrm>
              <a:off x="0" y="0"/>
              <a:ext cx="35718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METHOD 01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Class Constructor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We can create a wrapper object using the wrapper class and its constructor by passing the value to it.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Syntax:</a:t>
              </a:r>
              <a:endParaRPr b="1" sz="1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ClassName object = new ClassName(argument);</a:t>
              </a:r>
              <a:endParaRPr b="1" sz="1050">
                <a:solidFill>
                  <a:srgbClr val="2563EB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Example:</a:t>
              </a:r>
              <a:endParaRPr b="1" sz="1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Integer number = new Integer(58);</a:t>
              </a:r>
              <a:endParaRPr b="1" sz="1050">
                <a:solidFill>
                  <a:srgbClr val="2563EB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2708" name="Google Shape;2708;p171"/>
          <p:cNvSpPr/>
          <p:nvPr/>
        </p:nvSpPr>
        <p:spPr>
          <a:xfrm>
            <a:off x="4714875" y="1428750"/>
            <a:ext cx="3952800" cy="3238500"/>
          </a:xfrm>
          <a:prstGeom prst="roundRect">
            <a:avLst>
              <a:gd fmla="val 23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09" name="Google Shape;2709;p171"/>
          <p:cNvGrpSpPr/>
          <p:nvPr/>
        </p:nvGrpSpPr>
        <p:grpSpPr>
          <a:xfrm>
            <a:off x="4905375" y="1619250"/>
            <a:ext cx="3571800" cy="2857500"/>
            <a:chOff x="0" y="0"/>
            <a:chExt cx="3571800" cy="2857500"/>
          </a:xfrm>
        </p:grpSpPr>
        <p:sp>
          <p:nvSpPr>
            <p:cNvPr id="2710" name="Google Shape;2710;p171"/>
            <p:cNvSpPr/>
            <p:nvPr/>
          </p:nvSpPr>
          <p:spPr>
            <a:xfrm>
              <a:off x="0" y="0"/>
              <a:ext cx="35718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171"/>
            <p:cNvSpPr txBox="1"/>
            <p:nvPr/>
          </p:nvSpPr>
          <p:spPr>
            <a:xfrm>
              <a:off x="0" y="0"/>
              <a:ext cx="35718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STATUS &amp; WARNINGS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Usage Status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F444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DEPRECATED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However, the way of creating an instance of </a:t>
              </a:r>
              <a:r>
                <a:rPr b="0" lang="en" sz="1100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wrapper classes using constructor is deprecated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as of the latest version of JDK.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This is because each time new memory is allocated in the heap when we create an object with the help of the constructor.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Also, the </a:t>
              </a:r>
              <a:r>
                <a:rPr b="0" lang="en" sz="1100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constructor Character(char) has been deprecated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since JDK version 9.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15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p172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Using Wrapper Class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717" name="Google Shape;2717;p172"/>
          <p:cNvSpPr/>
          <p:nvPr/>
        </p:nvSpPr>
        <p:spPr>
          <a:xfrm>
            <a:off x="476250" y="1428750"/>
            <a:ext cx="3952800" cy="3238500"/>
          </a:xfrm>
          <a:prstGeom prst="roundRect">
            <a:avLst>
              <a:gd fmla="val 23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8" name="Google Shape;2718;p172"/>
          <p:cNvSpPr txBox="1"/>
          <p:nvPr/>
        </p:nvSpPr>
        <p:spPr>
          <a:xfrm>
            <a:off x="666750" y="1619250"/>
            <a:ext cx="35718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CONCEPT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Direct Assignment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can create without using constructor as well by using the wrapper class instead of the primitive type to create a wrapper object without passing the value to the constructor.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Accessing Values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 get the value, we can print the particular object.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9" name="Google Shape;2719;p172"/>
          <p:cNvSpPr/>
          <p:nvPr/>
        </p:nvSpPr>
        <p:spPr>
          <a:xfrm>
            <a:off x="4714875" y="1428750"/>
            <a:ext cx="3952800" cy="3238500"/>
          </a:xfrm>
          <a:prstGeom prst="roundRect">
            <a:avLst>
              <a:gd fmla="val 23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0" name="Google Shape;2720;p172"/>
          <p:cNvSpPr txBox="1"/>
          <p:nvPr/>
        </p:nvSpPr>
        <p:spPr>
          <a:xfrm>
            <a:off x="4905375" y="1619250"/>
            <a:ext cx="35718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CODE STRUCTURE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Syntax &amp; Example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Syntax: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563EB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rPr>
              <a:t>ClassName object = value;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563EB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rPr>
              <a:t>Integer intValue = 10;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563EB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rPr>
              <a:t>System.out.println(intValue);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4" name="Shape 2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5" name="Google Shape;2725;p173"/>
          <p:cNvGrpSpPr/>
          <p:nvPr/>
        </p:nvGrpSpPr>
        <p:grpSpPr>
          <a:xfrm>
            <a:off x="476250" y="381000"/>
            <a:ext cx="8191500" cy="762000"/>
            <a:chOff x="0" y="0"/>
            <a:chExt cx="8191500" cy="762000"/>
          </a:xfrm>
        </p:grpSpPr>
        <p:sp>
          <p:nvSpPr>
            <p:cNvPr id="2726" name="Google Shape;2726;p173"/>
            <p:cNvSpPr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173"/>
            <p:cNvSpPr txBox="1"/>
            <p:nvPr/>
          </p:nvSpPr>
          <p:spPr>
            <a:xfrm>
              <a:off x="0" y="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09 / Language Fundamentals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Using valueOf() Method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2728" name="Google Shape;2728;p173"/>
          <p:cNvSpPr/>
          <p:nvPr/>
        </p:nvSpPr>
        <p:spPr>
          <a:xfrm>
            <a:off x="476250" y="1428750"/>
            <a:ext cx="3952800" cy="3238500"/>
          </a:xfrm>
          <a:prstGeom prst="roundRect">
            <a:avLst>
              <a:gd fmla="val 23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9" name="Google Shape;2729;p173"/>
          <p:cNvGrpSpPr/>
          <p:nvPr/>
        </p:nvGrpSpPr>
        <p:grpSpPr>
          <a:xfrm>
            <a:off x="666750" y="1619250"/>
            <a:ext cx="3571800" cy="2857500"/>
            <a:chOff x="0" y="0"/>
            <a:chExt cx="3571800" cy="2857500"/>
          </a:xfrm>
        </p:grpSpPr>
        <p:sp>
          <p:nvSpPr>
            <p:cNvPr id="2730" name="Google Shape;2730;p173"/>
            <p:cNvSpPr/>
            <p:nvPr/>
          </p:nvSpPr>
          <p:spPr>
            <a:xfrm>
              <a:off x="0" y="0"/>
              <a:ext cx="35718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173"/>
            <p:cNvSpPr txBox="1"/>
            <p:nvPr/>
          </p:nvSpPr>
          <p:spPr>
            <a:xfrm>
              <a:off x="0" y="0"/>
              <a:ext cx="35718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METHOD 02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Static Factory Method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By using valueOf Static method, a Wrapper object can be created.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732" name="Google Shape;2732;p173"/>
          <p:cNvSpPr/>
          <p:nvPr/>
        </p:nvSpPr>
        <p:spPr>
          <a:xfrm>
            <a:off x="4714875" y="1428750"/>
            <a:ext cx="3952800" cy="3238500"/>
          </a:xfrm>
          <a:prstGeom prst="roundRect">
            <a:avLst>
              <a:gd fmla="val 23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33" name="Google Shape;2733;p173"/>
          <p:cNvGrpSpPr/>
          <p:nvPr/>
        </p:nvGrpSpPr>
        <p:grpSpPr>
          <a:xfrm>
            <a:off x="4905375" y="1619250"/>
            <a:ext cx="3571800" cy="2857500"/>
            <a:chOff x="0" y="0"/>
            <a:chExt cx="3571800" cy="2857500"/>
          </a:xfrm>
        </p:grpSpPr>
        <p:sp>
          <p:nvSpPr>
            <p:cNvPr id="2734" name="Google Shape;2734;p173"/>
            <p:cNvSpPr/>
            <p:nvPr/>
          </p:nvSpPr>
          <p:spPr>
            <a:xfrm>
              <a:off x="0" y="0"/>
              <a:ext cx="35718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173"/>
            <p:cNvSpPr txBox="1"/>
            <p:nvPr/>
          </p:nvSpPr>
          <p:spPr>
            <a:xfrm>
              <a:off x="0" y="0"/>
              <a:ext cx="35718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CODE STRUCTURE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Syntax &amp; Example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Syntax: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ClassName object = ClassName.valueOf(argument);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Example: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int a= 10;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Integer num= Integer.valueOf(a);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9" name="Shape 2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0" name="Google Shape;2740;p174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Wrapper Class Methods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741" name="Google Shape;2741;p174"/>
          <p:cNvSpPr/>
          <p:nvPr/>
        </p:nvSpPr>
        <p:spPr>
          <a:xfrm>
            <a:off x="476250" y="1428750"/>
            <a:ext cx="3952800" cy="3238500"/>
          </a:xfrm>
          <a:prstGeom prst="roundRect">
            <a:avLst>
              <a:gd fmla="val 23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2" name="Google Shape;2742;p174"/>
          <p:cNvSpPr txBox="1"/>
          <p:nvPr/>
        </p:nvSpPr>
        <p:spPr>
          <a:xfrm>
            <a:off x="666750" y="1619250"/>
            <a:ext cx="35718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typeValue()</a:t>
            </a:r>
            <a:endParaRPr b="1" sz="1150">
              <a:solidFill>
                <a:srgbClr val="2563E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Converts the value of this Number object to the specified primitive data type returned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compareTo()</a:t>
            </a:r>
            <a:endParaRPr b="1" sz="1150">
              <a:solidFill>
                <a:srgbClr val="2563E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Compares this Number object to the argument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equals()</a:t>
            </a:r>
            <a:endParaRPr b="1" sz="1150">
              <a:solidFill>
                <a:srgbClr val="2563E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Determines whether this Number object is equal to the argument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valueOf()</a:t>
            </a:r>
            <a:endParaRPr b="1" sz="1150">
              <a:solidFill>
                <a:srgbClr val="2563E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Returns an Integer object holding the value of the specified primitive data type value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toString()</a:t>
            </a:r>
            <a:endParaRPr b="1" sz="1150">
              <a:solidFill>
                <a:srgbClr val="2563E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Returns a String object representing the value of specified Integer type argument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3" name="Google Shape;2743;p174"/>
          <p:cNvSpPr/>
          <p:nvPr/>
        </p:nvSpPr>
        <p:spPr>
          <a:xfrm>
            <a:off x="4714875" y="1428750"/>
            <a:ext cx="3952800" cy="3238500"/>
          </a:xfrm>
          <a:prstGeom prst="roundRect">
            <a:avLst>
              <a:gd fmla="val 23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4" name="Google Shape;2744;p174"/>
          <p:cNvSpPr txBox="1"/>
          <p:nvPr/>
        </p:nvSpPr>
        <p:spPr>
          <a:xfrm>
            <a:off x="4905375" y="1619250"/>
            <a:ext cx="35718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parseInt()</a:t>
            </a:r>
            <a:endParaRPr b="1" sz="1150">
              <a:solidFill>
                <a:srgbClr val="2563E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Returns an Integer type value of a specified String representation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decode()</a:t>
            </a:r>
            <a:endParaRPr b="1" sz="1150">
              <a:solidFill>
                <a:srgbClr val="2563E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Decodes a String into an integer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min()</a:t>
            </a:r>
            <a:endParaRPr b="1" sz="1150">
              <a:solidFill>
                <a:srgbClr val="2563E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Returns the smaller value after comparison of the two arguments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max()</a:t>
            </a:r>
            <a:endParaRPr b="1" sz="1150">
              <a:solidFill>
                <a:srgbClr val="2563E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Returns the larger value after comparison of the two arguments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round()</a:t>
            </a:r>
            <a:endParaRPr b="1" sz="1150">
              <a:solidFill>
                <a:srgbClr val="2563E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Returns the closest round off long or int value as per the method return type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8" name="Shape 2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9" name="Google Shape;2749;p175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Autoboxing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50" name="Google Shape;2750;p175"/>
          <p:cNvSpPr/>
          <p:nvPr/>
        </p:nvSpPr>
        <p:spPr>
          <a:xfrm>
            <a:off x="476250" y="1428750"/>
            <a:ext cx="3952800" cy="3238500"/>
          </a:xfrm>
          <a:prstGeom prst="roundRect">
            <a:avLst>
              <a:gd fmla="val 23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1" name="Google Shape;2751;p175"/>
          <p:cNvSpPr txBox="1"/>
          <p:nvPr/>
        </p:nvSpPr>
        <p:spPr>
          <a:xfrm>
            <a:off x="666750" y="1619250"/>
            <a:ext cx="35718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CONCEPT DEFINITION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Autoboxing is when the Java compiler performs the automatic conversion of the primitive data types to the object of their corresponding wrapper classes.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 example, converting an </a:t>
            </a:r>
            <a:r>
              <a:rPr b="0" i="1" lang="en" sz="115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</a:t>
            </a:r>
            <a:r>
              <a:rPr b="0" lang="en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</a:t>
            </a:r>
            <a:r>
              <a:rPr b="0" i="1" lang="en" sz="115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Integer</a:t>
            </a:r>
            <a:r>
              <a:rPr b="0" lang="en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a </a:t>
            </a:r>
            <a:r>
              <a:rPr b="0" i="1" lang="en" sz="115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double</a:t>
            </a:r>
            <a:r>
              <a:rPr b="0" lang="en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</a:t>
            </a:r>
            <a:r>
              <a:rPr b="0" i="1" lang="en" sz="115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Double</a:t>
            </a:r>
            <a:r>
              <a:rPr b="0" lang="en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etc.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EXPLICIT CONVERSION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 explicitly convert primitive to object we use the </a:t>
            </a:r>
            <a:r>
              <a:rPr b="1" lang="en" sz="1150">
                <a:solidFill>
                  <a:srgbClr val="2563E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rPr>
              <a:t>valueOf()</a:t>
            </a:r>
            <a:r>
              <a:rPr b="0" lang="en" sz="115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method.</a:t>
            </a:r>
            <a:endParaRPr b="0" sz="115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752" name="Google Shape;2752;p175"/>
          <p:cNvSpPr/>
          <p:nvPr/>
        </p:nvSpPr>
        <p:spPr>
          <a:xfrm>
            <a:off x="4714875" y="1428750"/>
            <a:ext cx="3952800" cy="3238500"/>
          </a:xfrm>
          <a:prstGeom prst="roundRect">
            <a:avLst>
              <a:gd fmla="val 23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3" name="Google Shape;2753;p175"/>
          <p:cNvSpPr txBox="1"/>
          <p:nvPr/>
        </p:nvSpPr>
        <p:spPr>
          <a:xfrm>
            <a:off x="4905375" y="1619250"/>
            <a:ext cx="35718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COMPILER BEHAVIOR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Java compiler applies autoboxing when a primitive value is:</a:t>
            </a:r>
            <a:endParaRPr b="1" sz="12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Inter"/>
              <a:buChar char="●"/>
            </a:pP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Passed as a parameter to a method that expects an object of the corresponding wrapper class.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Inter"/>
              <a:buChar char="●"/>
            </a:pP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Assigned to a variable of the corresponding wrapper class.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7" name="Shape 2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8" name="Google Shape;2758;p176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Autoboxing: Example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759" name="Google Shape;2759;p176"/>
          <p:cNvSpPr/>
          <p:nvPr/>
        </p:nvSpPr>
        <p:spPr>
          <a:xfrm>
            <a:off x="476250" y="1238250"/>
            <a:ext cx="8191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0" name="Google Shape;2760;p176"/>
          <p:cNvSpPr/>
          <p:nvPr/>
        </p:nvSpPr>
        <p:spPr>
          <a:xfrm>
            <a:off x="476250" y="1238250"/>
            <a:ext cx="8191500" cy="333300"/>
          </a:xfrm>
          <a:prstGeom prst="roundRect">
            <a:avLst>
              <a:gd fmla="val 2285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1" name="Google Shape;2761;p176"/>
          <p:cNvSpPr/>
          <p:nvPr/>
        </p:nvSpPr>
        <p:spPr>
          <a:xfrm>
            <a:off x="476250" y="1381125"/>
            <a:ext cx="8191500" cy="190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62" name="Google Shape;2762;p176"/>
          <p:cNvCxnSpPr/>
          <p:nvPr/>
        </p:nvCxnSpPr>
        <p:spPr>
          <a:xfrm>
            <a:off x="476250" y="1571625"/>
            <a:ext cx="819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3" name="Google Shape;2763;p176"/>
          <p:cNvSpPr/>
          <p:nvPr/>
        </p:nvSpPr>
        <p:spPr>
          <a:xfrm>
            <a:off x="619125" y="1362075"/>
            <a:ext cx="95400" cy="95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4" name="Google Shape;2764;p176"/>
          <p:cNvSpPr/>
          <p:nvPr/>
        </p:nvSpPr>
        <p:spPr>
          <a:xfrm>
            <a:off x="762000" y="1362075"/>
            <a:ext cx="95400" cy="95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5" name="Google Shape;2765;p176"/>
          <p:cNvSpPr/>
          <p:nvPr/>
        </p:nvSpPr>
        <p:spPr>
          <a:xfrm>
            <a:off x="904875" y="1362075"/>
            <a:ext cx="95400" cy="95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6" name="Google Shape;2766;p176"/>
          <p:cNvSpPr txBox="1"/>
          <p:nvPr/>
        </p:nvSpPr>
        <p:spPr>
          <a:xfrm>
            <a:off x="1143000" y="1323975"/>
            <a:ext cx="142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Autobox.java</a:t>
            </a:r>
            <a:endParaRPr b="1" sz="1000">
              <a:solidFill>
                <a:srgbClr val="64748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767" name="Google Shape;2767;p1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250" y="1571625"/>
            <a:ext cx="8191500" cy="309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71" name="Shape 2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2" name="Google Shape;2772;p177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Autoboxing: Example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773" name="Google Shape;2773;p177"/>
          <p:cNvSpPr/>
          <p:nvPr/>
        </p:nvSpPr>
        <p:spPr>
          <a:xfrm>
            <a:off x="476250" y="1714500"/>
            <a:ext cx="8191500" cy="22860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4" name="Google Shape;2774;p177"/>
          <p:cNvSpPr/>
          <p:nvPr/>
        </p:nvSpPr>
        <p:spPr>
          <a:xfrm>
            <a:off x="476250" y="1714500"/>
            <a:ext cx="8191500" cy="333300"/>
          </a:xfrm>
          <a:prstGeom prst="roundRect">
            <a:avLst>
              <a:gd fmla="val 22856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5" name="Google Shape;2775;p177"/>
          <p:cNvSpPr/>
          <p:nvPr/>
        </p:nvSpPr>
        <p:spPr>
          <a:xfrm>
            <a:off x="476250" y="1857375"/>
            <a:ext cx="8191500" cy="190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76" name="Google Shape;2776;p177"/>
          <p:cNvCxnSpPr/>
          <p:nvPr/>
        </p:nvCxnSpPr>
        <p:spPr>
          <a:xfrm>
            <a:off x="476250" y="2047875"/>
            <a:ext cx="819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7" name="Google Shape;2777;p177"/>
          <p:cNvSpPr/>
          <p:nvPr/>
        </p:nvSpPr>
        <p:spPr>
          <a:xfrm>
            <a:off x="619125" y="1838325"/>
            <a:ext cx="95400" cy="95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8" name="Google Shape;2778;p177"/>
          <p:cNvSpPr/>
          <p:nvPr/>
        </p:nvSpPr>
        <p:spPr>
          <a:xfrm>
            <a:off x="762000" y="1838325"/>
            <a:ext cx="95400" cy="95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9" name="Google Shape;2779;p177"/>
          <p:cNvSpPr/>
          <p:nvPr/>
        </p:nvSpPr>
        <p:spPr>
          <a:xfrm>
            <a:off x="904875" y="1838325"/>
            <a:ext cx="95400" cy="95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0" name="Google Shape;2780;p177"/>
          <p:cNvSpPr txBox="1"/>
          <p:nvPr/>
        </p:nvSpPr>
        <p:spPr>
          <a:xfrm>
            <a:off x="1143000" y="1800225"/>
            <a:ext cx="14289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Console Output</a:t>
            </a:r>
            <a:endParaRPr b="1" sz="1000">
              <a:solidFill>
                <a:srgbClr val="64748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781" name="Google Shape;2781;p177"/>
          <p:cNvPicPr preferRelativeResize="0"/>
          <p:nvPr/>
        </p:nvPicPr>
        <p:blipFill rotWithShape="1">
          <a:blip r:embed="rId4">
            <a:alphaModFix/>
          </a:blip>
          <a:srcRect b="0" l="1305" r="1295" t="0"/>
          <a:stretch/>
        </p:blipFill>
        <p:spPr>
          <a:xfrm>
            <a:off x="476250" y="2343150"/>
            <a:ext cx="8191500" cy="13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85" name="Shape 2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6" name="Google Shape;2786;p178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Auto-Unboxing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787" name="Google Shape;2787;p178"/>
          <p:cNvGrpSpPr/>
          <p:nvPr/>
        </p:nvGrpSpPr>
        <p:grpSpPr>
          <a:xfrm>
            <a:off x="476250" y="1333500"/>
            <a:ext cx="3905400" cy="3238500"/>
            <a:chOff x="0" y="0"/>
            <a:chExt cx="3905400" cy="3238500"/>
          </a:xfrm>
        </p:grpSpPr>
        <p:sp>
          <p:nvSpPr>
            <p:cNvPr id="2788" name="Google Shape;2788;p178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178"/>
            <p:cNvSpPr txBox="1"/>
            <p:nvPr/>
          </p:nvSpPr>
          <p:spPr>
            <a:xfrm>
              <a:off x="0" y="0"/>
              <a:ext cx="39054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What is Unboxing?</a:t>
              </a:r>
              <a:endParaRPr b="1" sz="14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Unboxing is automatically converting an object of a wrapper type (Integer, for example) to its corresponding primitive (int) value.</a:t>
              </a:r>
              <a:endParaRPr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Explicit Conversion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To explicitly convert object to corresponding primitive type we use </a:t>
              </a:r>
              <a:r>
                <a:rPr b="1" lang="en" sz="11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xxxValue()</a:t>
              </a: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method.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90" name="Google Shape;2790;p178"/>
          <p:cNvGrpSpPr/>
          <p:nvPr/>
        </p:nvGrpSpPr>
        <p:grpSpPr>
          <a:xfrm>
            <a:off x="4762500" y="1333500"/>
            <a:ext cx="3905400" cy="3238500"/>
            <a:chOff x="0" y="0"/>
            <a:chExt cx="3905400" cy="3238500"/>
          </a:xfrm>
        </p:grpSpPr>
        <p:sp>
          <p:nvSpPr>
            <p:cNvPr id="2791" name="Google Shape;2791;p178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178"/>
            <p:cNvSpPr txBox="1"/>
            <p:nvPr/>
          </p:nvSpPr>
          <p:spPr>
            <a:xfrm>
              <a:off x="0" y="0"/>
              <a:ext cx="39054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Automatic Unboxing</a:t>
              </a:r>
              <a:endParaRPr b="1" sz="14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Java compiler applies unboxing when an object of a wrapper class is:</a:t>
              </a:r>
              <a:endParaRPr b="0" sz="115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•</a:t>
              </a: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Passed as a parameter to a method that expects a value of the corresponding primitive type.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•</a:t>
              </a: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Assigned to a variable of the corresponding primitive type.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6" name="Shape 2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7" name="Google Shape;2797;p179"/>
          <p:cNvSpPr txBox="1"/>
          <p:nvPr>
            <p:ph type="title"/>
          </p:nvPr>
        </p:nvSpPr>
        <p:spPr>
          <a:xfrm>
            <a:off x="476250" y="38100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Auto-Unboxing: Example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8" name="Google Shape;2798;p179"/>
          <p:cNvSpPr/>
          <p:nvPr/>
        </p:nvSpPr>
        <p:spPr>
          <a:xfrm>
            <a:off x="666750" y="1333500"/>
            <a:ext cx="7810500" cy="3476700"/>
          </a:xfrm>
          <a:prstGeom prst="roundRect">
            <a:avLst>
              <a:gd fmla="val 219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9" name="Google Shape;2799;p179"/>
          <p:cNvSpPr/>
          <p:nvPr/>
        </p:nvSpPr>
        <p:spPr>
          <a:xfrm>
            <a:off x="666750" y="1333500"/>
            <a:ext cx="7810500" cy="333300"/>
          </a:xfrm>
          <a:prstGeom prst="roundRect">
            <a:avLst>
              <a:gd fmla="val 2285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0" name="Google Shape;2800;p179"/>
          <p:cNvSpPr/>
          <p:nvPr/>
        </p:nvSpPr>
        <p:spPr>
          <a:xfrm>
            <a:off x="666750" y="1524000"/>
            <a:ext cx="7810500" cy="142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01" name="Google Shape;2801;p179"/>
          <p:cNvCxnSpPr/>
          <p:nvPr/>
        </p:nvCxnSpPr>
        <p:spPr>
          <a:xfrm>
            <a:off x="666750" y="1666875"/>
            <a:ext cx="7810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2" name="Google Shape;2802;p179"/>
          <p:cNvSpPr/>
          <p:nvPr/>
        </p:nvSpPr>
        <p:spPr>
          <a:xfrm>
            <a:off x="809625" y="1447800"/>
            <a:ext cx="95400" cy="95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3" name="Google Shape;2803;p179"/>
          <p:cNvSpPr/>
          <p:nvPr/>
        </p:nvSpPr>
        <p:spPr>
          <a:xfrm>
            <a:off x="952500" y="1447800"/>
            <a:ext cx="95400" cy="95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4" name="Google Shape;2804;p179"/>
          <p:cNvSpPr/>
          <p:nvPr/>
        </p:nvSpPr>
        <p:spPr>
          <a:xfrm>
            <a:off x="1095375" y="1447800"/>
            <a:ext cx="95400" cy="95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05" name="Google Shape;2805;p179"/>
          <p:cNvGrpSpPr/>
          <p:nvPr/>
        </p:nvGrpSpPr>
        <p:grpSpPr>
          <a:xfrm>
            <a:off x="1285875" y="1400175"/>
            <a:ext cx="1905000" cy="238200"/>
            <a:chOff x="0" y="0"/>
            <a:chExt cx="1905000" cy="238200"/>
          </a:xfrm>
        </p:grpSpPr>
        <p:sp>
          <p:nvSpPr>
            <p:cNvPr id="2806" name="Google Shape;2806;p179"/>
            <p:cNvSpPr/>
            <p:nvPr/>
          </p:nvSpPr>
          <p:spPr>
            <a:xfrm>
              <a:off x="0" y="0"/>
              <a:ext cx="19050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179"/>
            <p:cNvSpPr txBox="1"/>
            <p:nvPr/>
          </p:nvSpPr>
          <p:spPr>
            <a:xfrm>
              <a:off x="0" y="0"/>
              <a:ext cx="1905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Autounbox.java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2808" name="Google Shape;2808;p1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50" y="1638375"/>
            <a:ext cx="7810501" cy="317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12" name="Shape 2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3" name="Google Shape;2813;p180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Auto-Unboxing: Example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814" name="Google Shape;2814;p180"/>
          <p:cNvGrpSpPr/>
          <p:nvPr/>
        </p:nvGrpSpPr>
        <p:grpSpPr>
          <a:xfrm>
            <a:off x="666750" y="1333500"/>
            <a:ext cx="7810500" cy="3286200"/>
            <a:chOff x="0" y="0"/>
            <a:chExt cx="7810500" cy="3286200"/>
          </a:xfrm>
        </p:grpSpPr>
        <p:sp>
          <p:nvSpPr>
            <p:cNvPr id="2815" name="Google Shape;2815;p180"/>
            <p:cNvSpPr/>
            <p:nvPr/>
          </p:nvSpPr>
          <p:spPr>
            <a:xfrm>
              <a:off x="0" y="0"/>
              <a:ext cx="7810500" cy="3286200"/>
            </a:xfrm>
            <a:prstGeom prst="roundRect">
              <a:avLst>
                <a:gd fmla="val 231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180"/>
            <p:cNvSpPr/>
            <p:nvPr/>
          </p:nvSpPr>
          <p:spPr>
            <a:xfrm>
              <a:off x="0" y="0"/>
              <a:ext cx="7810500" cy="333300"/>
            </a:xfrm>
            <a:prstGeom prst="roundRect">
              <a:avLst>
                <a:gd fmla="val 22857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180"/>
            <p:cNvSpPr/>
            <p:nvPr/>
          </p:nvSpPr>
          <p:spPr>
            <a:xfrm>
              <a:off x="0" y="190500"/>
              <a:ext cx="7810500" cy="1428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18" name="Google Shape;2818;p180"/>
            <p:cNvCxnSpPr/>
            <p:nvPr/>
          </p:nvCxnSpPr>
          <p:spPr>
            <a:xfrm>
              <a:off x="0" y="333375"/>
              <a:ext cx="7810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19" name="Google Shape;2819;p180"/>
            <p:cNvSpPr/>
            <p:nvPr/>
          </p:nvSpPr>
          <p:spPr>
            <a:xfrm>
              <a:off x="142875" y="119063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180"/>
            <p:cNvSpPr/>
            <p:nvPr/>
          </p:nvSpPr>
          <p:spPr>
            <a:xfrm>
              <a:off x="285750" y="119063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180"/>
            <p:cNvSpPr/>
            <p:nvPr/>
          </p:nvSpPr>
          <p:spPr>
            <a:xfrm>
              <a:off x="428625" y="119063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180"/>
            <p:cNvSpPr txBox="1"/>
            <p:nvPr/>
          </p:nvSpPr>
          <p:spPr>
            <a:xfrm>
              <a:off x="666750" y="0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OUTPUT</a:t>
              </a:r>
              <a:endParaRPr b="1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2823" name="Google Shape;2823;p1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50" y="2253250"/>
            <a:ext cx="7810500" cy="18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7" name="Shape 2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8" name="Google Shape;2828;p181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toString() Method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829" name="Google Shape;2829;p181"/>
          <p:cNvGrpSpPr/>
          <p:nvPr/>
        </p:nvGrpSpPr>
        <p:grpSpPr>
          <a:xfrm>
            <a:off x="476250" y="1524000"/>
            <a:ext cx="3905400" cy="2952900"/>
            <a:chOff x="0" y="0"/>
            <a:chExt cx="3905400" cy="2952900"/>
          </a:xfrm>
        </p:grpSpPr>
        <p:sp>
          <p:nvSpPr>
            <p:cNvPr id="2830" name="Google Shape;2830;p181"/>
            <p:cNvSpPr/>
            <p:nvPr/>
          </p:nvSpPr>
          <p:spPr>
            <a:xfrm>
              <a:off x="0" y="0"/>
              <a:ext cx="3905400" cy="2952900"/>
            </a:xfrm>
            <a:prstGeom prst="roundRect">
              <a:avLst>
                <a:gd fmla="val 258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181"/>
            <p:cNvSpPr/>
            <p:nvPr/>
          </p:nvSpPr>
          <p:spPr>
            <a:xfrm>
              <a:off x="228600" y="228600"/>
              <a:ext cx="1238400" cy="247800"/>
            </a:xfrm>
            <a:prstGeom prst="roundRect">
              <a:avLst>
                <a:gd fmla="val 5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181"/>
            <p:cNvSpPr txBox="1"/>
            <p:nvPr/>
          </p:nvSpPr>
          <p:spPr>
            <a:xfrm>
              <a:off x="0" y="0"/>
              <a:ext cx="3905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Core Purpose</a:t>
              </a:r>
              <a:endParaRPr b="1" sz="9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 Representation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toString() method returns the String representation of the object.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33" name="Google Shape;2833;p181"/>
          <p:cNvGrpSpPr/>
          <p:nvPr/>
        </p:nvGrpSpPr>
        <p:grpSpPr>
          <a:xfrm>
            <a:off x="4762500" y="1524000"/>
            <a:ext cx="3905400" cy="2952900"/>
            <a:chOff x="0" y="0"/>
            <a:chExt cx="3905400" cy="2952900"/>
          </a:xfrm>
        </p:grpSpPr>
        <p:sp>
          <p:nvSpPr>
            <p:cNvPr id="2834" name="Google Shape;2834;p181"/>
            <p:cNvSpPr/>
            <p:nvPr/>
          </p:nvSpPr>
          <p:spPr>
            <a:xfrm>
              <a:off x="0" y="0"/>
              <a:ext cx="3905400" cy="2952900"/>
            </a:xfrm>
            <a:prstGeom prst="roundRect">
              <a:avLst>
                <a:gd fmla="val 258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181"/>
            <p:cNvSpPr/>
            <p:nvPr/>
          </p:nvSpPr>
          <p:spPr>
            <a:xfrm>
              <a:off x="228600" y="228600"/>
              <a:ext cx="1428900" cy="247800"/>
            </a:xfrm>
            <a:prstGeom prst="roundRect">
              <a:avLst>
                <a:gd fmla="val 50000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181"/>
            <p:cNvSpPr txBox="1"/>
            <p:nvPr/>
          </p:nvSpPr>
          <p:spPr>
            <a:xfrm>
              <a:off x="0" y="0"/>
              <a:ext cx="3905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16A34A"/>
                  </a:solidFill>
                  <a:latin typeface="Inter"/>
                  <a:ea typeface="Inter"/>
                  <a:cs typeface="Inter"/>
                  <a:sym typeface="Inter"/>
                </a:rPr>
                <a:t>Compiler Behavior</a:t>
              </a:r>
              <a:endParaRPr b="1" sz="900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Automatic Invocation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If you print any object, Java compiler internally invokes the toString() method on the object.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So overriding the toString() method, returns the desired output, it can be the state of an object etc. depending on your implementation.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40" name="Shape 2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1" name="Google Shape;2841;p182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toString() Method: Example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842" name="Google Shape;2842;p182"/>
          <p:cNvGrpSpPr/>
          <p:nvPr/>
        </p:nvGrpSpPr>
        <p:grpSpPr>
          <a:xfrm>
            <a:off x="666750" y="1285875"/>
            <a:ext cx="7810500" cy="1952700"/>
            <a:chOff x="0" y="0"/>
            <a:chExt cx="7810500" cy="1952700"/>
          </a:xfrm>
        </p:grpSpPr>
        <p:sp>
          <p:nvSpPr>
            <p:cNvPr id="2843" name="Google Shape;2843;p182"/>
            <p:cNvSpPr/>
            <p:nvPr/>
          </p:nvSpPr>
          <p:spPr>
            <a:xfrm>
              <a:off x="0" y="0"/>
              <a:ext cx="7810500" cy="1952700"/>
            </a:xfrm>
            <a:prstGeom prst="roundRect">
              <a:avLst>
                <a:gd fmla="val 390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182"/>
            <p:cNvSpPr/>
            <p:nvPr/>
          </p:nvSpPr>
          <p:spPr>
            <a:xfrm>
              <a:off x="0" y="0"/>
              <a:ext cx="7810500" cy="333300"/>
            </a:xfrm>
            <a:prstGeom prst="roundRect">
              <a:avLst>
                <a:gd fmla="val 22857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182"/>
            <p:cNvSpPr/>
            <p:nvPr/>
          </p:nvSpPr>
          <p:spPr>
            <a:xfrm>
              <a:off x="0" y="190500"/>
              <a:ext cx="7810500" cy="1428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46" name="Google Shape;2846;p182"/>
            <p:cNvCxnSpPr/>
            <p:nvPr/>
          </p:nvCxnSpPr>
          <p:spPr>
            <a:xfrm>
              <a:off x="0" y="333375"/>
              <a:ext cx="7810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47" name="Google Shape;2847;p182"/>
            <p:cNvSpPr/>
            <p:nvPr/>
          </p:nvSpPr>
          <p:spPr>
            <a:xfrm>
              <a:off x="95250" y="119063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182"/>
            <p:cNvSpPr/>
            <p:nvPr/>
          </p:nvSpPr>
          <p:spPr>
            <a:xfrm>
              <a:off x="238125" y="119063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182"/>
            <p:cNvSpPr/>
            <p:nvPr/>
          </p:nvSpPr>
          <p:spPr>
            <a:xfrm>
              <a:off x="381000" y="119063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182"/>
            <p:cNvSpPr txBox="1"/>
            <p:nvPr/>
          </p:nvSpPr>
          <p:spPr>
            <a:xfrm>
              <a:off x="666750" y="0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JAVA CODE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51" name="Google Shape;2851;p182"/>
          <p:cNvGrpSpPr/>
          <p:nvPr/>
        </p:nvGrpSpPr>
        <p:grpSpPr>
          <a:xfrm>
            <a:off x="666750" y="3381375"/>
            <a:ext cx="7810500" cy="1285800"/>
            <a:chOff x="0" y="0"/>
            <a:chExt cx="7810500" cy="1285800"/>
          </a:xfrm>
        </p:grpSpPr>
        <p:sp>
          <p:nvSpPr>
            <p:cNvPr id="2852" name="Google Shape;2852;p182"/>
            <p:cNvSpPr/>
            <p:nvPr/>
          </p:nvSpPr>
          <p:spPr>
            <a:xfrm>
              <a:off x="0" y="0"/>
              <a:ext cx="7810500" cy="12858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182"/>
            <p:cNvSpPr/>
            <p:nvPr/>
          </p:nvSpPr>
          <p:spPr>
            <a:xfrm>
              <a:off x="0" y="0"/>
              <a:ext cx="7810500" cy="333300"/>
            </a:xfrm>
            <a:prstGeom prst="roundRect">
              <a:avLst>
                <a:gd fmla="val 22857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182"/>
            <p:cNvSpPr/>
            <p:nvPr/>
          </p:nvSpPr>
          <p:spPr>
            <a:xfrm>
              <a:off x="0" y="190500"/>
              <a:ext cx="7810500" cy="1428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55" name="Google Shape;2855;p182"/>
            <p:cNvCxnSpPr/>
            <p:nvPr/>
          </p:nvCxnSpPr>
          <p:spPr>
            <a:xfrm>
              <a:off x="0" y="333375"/>
              <a:ext cx="7810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56" name="Google Shape;2856;p182"/>
            <p:cNvSpPr/>
            <p:nvPr/>
          </p:nvSpPr>
          <p:spPr>
            <a:xfrm>
              <a:off x="95250" y="119063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182"/>
            <p:cNvSpPr/>
            <p:nvPr/>
          </p:nvSpPr>
          <p:spPr>
            <a:xfrm>
              <a:off x="238125" y="119063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182"/>
            <p:cNvSpPr/>
            <p:nvPr/>
          </p:nvSpPr>
          <p:spPr>
            <a:xfrm>
              <a:off x="381000" y="119063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182"/>
            <p:cNvSpPr txBox="1"/>
            <p:nvPr/>
          </p:nvSpPr>
          <p:spPr>
            <a:xfrm>
              <a:off x="666750" y="0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TERMINAL OUTPUT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2860" name="Google Shape;2860;p182"/>
            <p:cNvPicPr preferRelativeResize="0"/>
            <p:nvPr/>
          </p:nvPicPr>
          <p:blipFill rotWithShape="1">
            <a:blip r:embed="rId4">
              <a:alphaModFix/>
            </a:blip>
            <a:srcRect b="38804" l="0" r="0" t="116"/>
            <a:stretch/>
          </p:blipFill>
          <p:spPr>
            <a:xfrm>
              <a:off x="95250" y="381000"/>
              <a:ext cx="7620000" cy="857400"/>
            </a:xfrm>
            <a:prstGeom prst="roundRect">
              <a:avLst>
                <a:gd fmla="val 4444" name="adj"/>
              </a:avLst>
            </a:prstGeom>
            <a:noFill/>
            <a:ln>
              <a:noFill/>
            </a:ln>
          </p:spPr>
        </p:pic>
      </p:grpSp>
      <p:pic>
        <p:nvPicPr>
          <p:cNvPr id="2861" name="Google Shape;2861;p1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50" y="1641850"/>
            <a:ext cx="7810499" cy="159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65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6" name="Google Shape;2866;p183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parseXXX() Method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867" name="Google Shape;2867;p183"/>
          <p:cNvGrpSpPr/>
          <p:nvPr/>
        </p:nvGrpSpPr>
        <p:grpSpPr>
          <a:xfrm>
            <a:off x="476250" y="1428750"/>
            <a:ext cx="3143400" cy="3048000"/>
            <a:chOff x="0" y="0"/>
            <a:chExt cx="3143400" cy="3048000"/>
          </a:xfrm>
        </p:grpSpPr>
        <p:sp>
          <p:nvSpPr>
            <p:cNvPr id="2868" name="Google Shape;2868;p183"/>
            <p:cNvSpPr/>
            <p:nvPr/>
          </p:nvSpPr>
          <p:spPr>
            <a:xfrm>
              <a:off x="0" y="0"/>
              <a:ext cx="3143400" cy="3048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183"/>
            <p:cNvSpPr/>
            <p:nvPr/>
          </p:nvSpPr>
          <p:spPr>
            <a:xfrm>
              <a:off x="228600" y="228600"/>
              <a:ext cx="1238400" cy="247800"/>
            </a:xfrm>
            <a:prstGeom prst="roundRect">
              <a:avLst>
                <a:gd fmla="val 5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183"/>
            <p:cNvSpPr txBox="1"/>
            <p:nvPr/>
          </p:nvSpPr>
          <p:spPr>
            <a:xfrm>
              <a:off x="0" y="0"/>
              <a:ext cx="3143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Core Purpose</a:t>
              </a:r>
              <a:endParaRPr b="1" sz="9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String Conversion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parseXXX() method is use to convert String to a primitive type.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71" name="Google Shape;2871;p183"/>
          <p:cNvGrpSpPr/>
          <p:nvPr/>
        </p:nvGrpSpPr>
        <p:grpSpPr>
          <a:xfrm>
            <a:off x="3905250" y="1428750"/>
            <a:ext cx="4762500" cy="3048000"/>
            <a:chOff x="0" y="0"/>
            <a:chExt cx="4762500" cy="3048000"/>
          </a:xfrm>
        </p:grpSpPr>
        <p:sp>
          <p:nvSpPr>
            <p:cNvPr id="2872" name="Google Shape;2872;p183"/>
            <p:cNvSpPr/>
            <p:nvPr/>
          </p:nvSpPr>
          <p:spPr>
            <a:xfrm>
              <a:off x="0" y="0"/>
              <a:ext cx="4762500" cy="3048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183"/>
            <p:cNvSpPr/>
            <p:nvPr/>
          </p:nvSpPr>
          <p:spPr>
            <a:xfrm>
              <a:off x="0" y="0"/>
              <a:ext cx="4762500" cy="333300"/>
            </a:xfrm>
            <a:prstGeom prst="roundRect">
              <a:avLst>
                <a:gd fmla="val 22857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183"/>
            <p:cNvSpPr/>
            <p:nvPr/>
          </p:nvSpPr>
          <p:spPr>
            <a:xfrm>
              <a:off x="0" y="190500"/>
              <a:ext cx="4762500" cy="1428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75" name="Google Shape;2875;p183"/>
            <p:cNvCxnSpPr/>
            <p:nvPr/>
          </p:nvCxnSpPr>
          <p:spPr>
            <a:xfrm>
              <a:off x="0" y="333375"/>
              <a:ext cx="4762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76" name="Google Shape;2876;p183"/>
            <p:cNvSpPr/>
            <p:nvPr/>
          </p:nvSpPr>
          <p:spPr>
            <a:xfrm>
              <a:off x="142875" y="119063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183"/>
            <p:cNvSpPr/>
            <p:nvPr/>
          </p:nvSpPr>
          <p:spPr>
            <a:xfrm>
              <a:off x="285750" y="119063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183"/>
            <p:cNvSpPr/>
            <p:nvPr/>
          </p:nvSpPr>
          <p:spPr>
            <a:xfrm>
              <a:off x="428625" y="119063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183"/>
            <p:cNvSpPr txBox="1"/>
            <p:nvPr/>
          </p:nvSpPr>
          <p:spPr>
            <a:xfrm>
              <a:off x="666750" y="0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JAVA CODE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880" name="Google Shape;2880;p1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5250" y="1792500"/>
            <a:ext cx="4762499" cy="259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84" name="Shape 2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5" name="Google Shape;2885;p184"/>
          <p:cNvSpPr txBox="1"/>
          <p:nvPr/>
        </p:nvSpPr>
        <p:spPr>
          <a:xfrm>
            <a:off x="476250" y="381000"/>
            <a:ext cx="8191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09 / Language Fundamentals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parseXXX() Method: Example</a:t>
            </a:r>
            <a:endParaRPr b="0" sz="100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886" name="Google Shape;2886;p184"/>
          <p:cNvGrpSpPr/>
          <p:nvPr/>
        </p:nvGrpSpPr>
        <p:grpSpPr>
          <a:xfrm>
            <a:off x="666750" y="1524000"/>
            <a:ext cx="7810500" cy="2476500"/>
            <a:chOff x="0" y="0"/>
            <a:chExt cx="7810500" cy="2476500"/>
          </a:xfrm>
        </p:grpSpPr>
        <p:sp>
          <p:nvSpPr>
            <p:cNvPr id="2887" name="Google Shape;2887;p184"/>
            <p:cNvSpPr/>
            <p:nvPr/>
          </p:nvSpPr>
          <p:spPr>
            <a:xfrm>
              <a:off x="0" y="0"/>
              <a:ext cx="7810500" cy="2476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184"/>
            <p:cNvSpPr/>
            <p:nvPr/>
          </p:nvSpPr>
          <p:spPr>
            <a:xfrm>
              <a:off x="0" y="0"/>
              <a:ext cx="7810500" cy="333300"/>
            </a:xfrm>
            <a:prstGeom prst="roundRect">
              <a:avLst>
                <a:gd fmla="val 22857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184"/>
            <p:cNvSpPr/>
            <p:nvPr/>
          </p:nvSpPr>
          <p:spPr>
            <a:xfrm>
              <a:off x="0" y="190500"/>
              <a:ext cx="7810500" cy="1428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90" name="Google Shape;2890;p184"/>
            <p:cNvCxnSpPr/>
            <p:nvPr/>
          </p:nvCxnSpPr>
          <p:spPr>
            <a:xfrm>
              <a:off x="0" y="333375"/>
              <a:ext cx="7810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91" name="Google Shape;2891;p184"/>
            <p:cNvSpPr/>
            <p:nvPr/>
          </p:nvSpPr>
          <p:spPr>
            <a:xfrm>
              <a:off x="95250" y="119063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184"/>
            <p:cNvSpPr/>
            <p:nvPr/>
          </p:nvSpPr>
          <p:spPr>
            <a:xfrm>
              <a:off x="238125" y="119063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184"/>
            <p:cNvSpPr/>
            <p:nvPr/>
          </p:nvSpPr>
          <p:spPr>
            <a:xfrm>
              <a:off x="381000" y="119063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184"/>
            <p:cNvSpPr txBox="1"/>
            <p:nvPr/>
          </p:nvSpPr>
          <p:spPr>
            <a:xfrm>
              <a:off x="666750" y="0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TERMINAL OUTPUT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895" name="Google Shape;2895;p1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700" y="2059538"/>
            <a:ext cx="7878550" cy="140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