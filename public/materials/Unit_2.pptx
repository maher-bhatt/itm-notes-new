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embeddedFontLst>
    <p:embeddedFont>
      <p:font typeface="Inter SemiBold"/>
      <p:regular r:id="rId56"/>
      <p:bold r:id="rId57"/>
      <p:italic r:id="rId58"/>
      <p:boldItalic r:id="rId59"/>
    </p:embeddedFont>
    <p:embeddedFont>
      <p:font typeface="Inter"/>
      <p:bold r:id="rId60"/>
      <p:boldItalic r:id="rId61"/>
    </p:embeddedFont>
    <p:embeddedFont>
      <p:font typeface="Inter ExtraBold"/>
      <p:bold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InterExtraBold-bold.fntdata"/><Relationship Id="rId61" Type="http://schemas.openxmlformats.org/officeDocument/2006/relationships/font" Target="fonts/Inter-boldItalic.fntdata"/><Relationship Id="rId20" Type="http://schemas.openxmlformats.org/officeDocument/2006/relationships/slide" Target="slides/slide15.xml"/><Relationship Id="rId63" Type="http://schemas.openxmlformats.org/officeDocument/2006/relationships/font" Target="fonts/InterExtraBold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Inter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InterSemiBold-bold.fntdata"/><Relationship Id="rId12" Type="http://schemas.openxmlformats.org/officeDocument/2006/relationships/slide" Target="slides/slide7.xml"/><Relationship Id="rId56" Type="http://schemas.openxmlformats.org/officeDocument/2006/relationships/font" Target="fonts/InterSemiBold-regular.fntdata"/><Relationship Id="rId15" Type="http://schemas.openxmlformats.org/officeDocument/2006/relationships/slide" Target="slides/slide10.xml"/><Relationship Id="rId59" Type="http://schemas.openxmlformats.org/officeDocument/2006/relationships/font" Target="fonts/InterSemiBold-boldItalic.fntdata"/><Relationship Id="rId14" Type="http://schemas.openxmlformats.org/officeDocument/2006/relationships/slide" Target="slides/slide9.xml"/><Relationship Id="rId58" Type="http://schemas.openxmlformats.org/officeDocument/2006/relationships/font" Target="fonts/InterSemiBold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70017630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70017630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b708c63c6b0966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b708c63c6b0966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b708c63c6b09665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b708c63c6b0966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b708c63c6b09665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b708c63c6b09665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b708c63c6b09665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b708c63c6b09665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b708c63c6b09665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b708c63c6b09665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b708c63c6b09665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b708c63c6b09665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b708c63c6b09665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b708c63c6b09665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b708c63c6b09665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hb708c63c6b09665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b708c63c6b09665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hb708c63c6b09665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b708c63c6b09665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hb708c63c6b09665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b708c63c6b09665_0_1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b708c63c6b09665_0_1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b708c63c6b09665_0_1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b708c63c6b09665_0_1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b708c63c6b09665_0_1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hb708c63c6b09665_0_1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b708c63c6b09665_0_1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hb708c63c6b09665_0_1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b708c63c6b09665_0_1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hb708c63c6b09665_0_1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b708c63c6b09665_0_2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hb708c63c6b09665_0_2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b708c63c6b09665_0_2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hb708c63c6b09665_0_2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hb708c63c6b09665_0_2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hb708c63c6b09665_0_2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b708c63c6b09665_0_2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b708c63c6b09665_0_2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b708c63c6b09665_0_2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hb708c63c6b09665_0_2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hb708c63c6b09665_0_2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hb708c63c6b09665_0_2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hb708c63c6b09665_0_2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hb708c63c6b09665_0_2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hb708c63c6b09665_0_3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hb708c63c6b09665_0_3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hb708c63c6b09665_0_3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hb708c63c6b09665_0_3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hb708c63c6b09665_0_3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hb708c63c6b09665_0_3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hb708c63c6b09665_0_3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hb708c63c6b09665_0_3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hb708c63c6b09665_0_3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hb708c63c6b09665_0_3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hb708c63c6b09665_0_3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hb708c63c6b09665_0_3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b70017630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fb7001763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hb708c63c6b09665_0_3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hb708c63c6b09665_0_3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hb708c63c6b09665_0_4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hb708c63c6b09665_0_4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hb708c63c6b09665_0_4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hb708c63c6b09665_0_4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hb708c63c6b09665_0_4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hb708c63c6b09665_0_4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hb708c63c6b09665_0_4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hb708c63c6b09665_0_4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hb708c63c6b09665_0_4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hb708c63c6b09665_0_4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hb708c63c6b09665_0_4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hb708c63c6b09665_0_4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hb708c63c6b09665_0_4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hb708c63c6b09665_0_4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hb708c63c6b09665_0_4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hb708c63c6b09665_0_4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hb708c63c6b09665_0_5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hb708c63c6b09665_0_5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hb708c63c6b09665_0_5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hb708c63c6b09665_0_5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hb708c63c6b09665_0_5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hb708c63c6b09665_0_5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hb708c63c6b09665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hb708c63c6b09665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hb708c63c6b09665_0_5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hb708c63c6b09665_0_5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hb708c63c6b09665_0_5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hb708c63c6b09665_0_5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hb708c63c6b09665_0_5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hb708c63c6b09665_0_5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hb708c63c6b09665_0_6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hb708c63c6b09665_0_6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hb708c63c6b09665_0_6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hb708c63c6b09665_0_6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hb708c63c6b09665_0_6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hb708c63c6b09665_0_6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hb708c63c6b09665_0_6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hb708c63c6b09665_0_6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Relationship Id="rId4" Type="http://schemas.openxmlformats.org/officeDocument/2006/relationships/image" Target="../media/image42.png"/><Relationship Id="rId5" Type="http://schemas.openxmlformats.org/officeDocument/2006/relationships/image" Target="../media/image3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71500" y="428625"/>
            <a:ext cx="80010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0284C7"/>
                </a:solidFill>
                <a:highlight>
                  <a:srgbClr val="E2E8F0"/>
                </a:highlight>
                <a:latin typeface="Inter"/>
                <a:ea typeface="Inter"/>
                <a:cs typeface="Inter"/>
                <a:sym typeface="Inter"/>
              </a:rPr>
              <a:t>Unit 02 Overview</a:t>
            </a:r>
            <a:endParaRPr b="1" i="0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0" i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Classes, Objects &amp; Methods</a:t>
            </a:r>
            <a:endParaRPr b="1" i="0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571500" y="1381125"/>
            <a:ext cx="2514600" cy="3238500"/>
            <a:chOff x="0" y="0"/>
            <a:chExt cx="2514600" cy="3238500"/>
          </a:xfrm>
        </p:grpSpPr>
        <p:sp>
          <p:nvSpPr>
            <p:cNvPr id="56" name="Google Shape;56;p13"/>
            <p:cNvSpPr/>
            <p:nvPr/>
          </p:nvSpPr>
          <p:spPr>
            <a:xfrm>
              <a:off x="0" y="0"/>
              <a:ext cx="2514600" cy="3238500"/>
            </a:xfrm>
            <a:prstGeom prst="roundRect">
              <a:avLst>
                <a:gd fmla="val 606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190500" y="228600"/>
              <a:ext cx="2133600" cy="27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Section 01</a:t>
              </a:r>
              <a:endParaRPr b="1" i="0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Core Fundamentals</a:t>
              </a:r>
              <a:endParaRPr b="1" i="0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0284C7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Class &amp; Object</a:t>
              </a:r>
              <a:endParaRPr b="1" i="0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284C7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Object Reference</a:t>
              </a:r>
              <a:endParaRPr b="1" i="0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284C7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new Operator</a:t>
              </a:r>
              <a:endParaRPr b="1" i="0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284C7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this Keyword</a:t>
              </a:r>
              <a:endParaRPr b="1" i="0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0284C7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static Keyword</a:t>
              </a:r>
              <a:endParaRPr b="1" i="0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" name="Google Shape;59;p13"/>
          <p:cNvGrpSpPr/>
          <p:nvPr/>
        </p:nvGrpSpPr>
        <p:grpSpPr>
          <a:xfrm>
            <a:off x="3314700" y="1381125"/>
            <a:ext cx="2514600" cy="3238500"/>
            <a:chOff x="0" y="0"/>
            <a:chExt cx="2514600" cy="3238500"/>
          </a:xfrm>
        </p:grpSpPr>
        <p:sp>
          <p:nvSpPr>
            <p:cNvPr id="60" name="Google Shape;60;p13"/>
            <p:cNvSpPr/>
            <p:nvPr/>
          </p:nvSpPr>
          <p:spPr>
            <a:xfrm>
              <a:off x="0" y="0"/>
              <a:ext cx="2514600" cy="3238500"/>
            </a:xfrm>
            <a:prstGeom prst="roundRect">
              <a:avLst>
                <a:gd fmla="val 606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9333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190500" y="228600"/>
              <a:ext cx="2133600" cy="27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9333EA"/>
                  </a:solidFill>
                  <a:latin typeface="Inter"/>
                  <a:ea typeface="Inter"/>
                  <a:cs typeface="Inter"/>
                  <a:sym typeface="Inter"/>
                </a:rPr>
                <a:t>Section 02</a:t>
              </a:r>
              <a:endParaRPr b="1" i="0" sz="1100">
                <a:solidFill>
                  <a:srgbClr val="9333E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Methods &amp; Logic</a:t>
              </a:r>
              <a:endParaRPr b="1" i="0" sz="1100">
                <a:solidFill>
                  <a:srgbClr val="9333E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9333EA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Constructors</a:t>
              </a:r>
              <a:endParaRPr b="1" i="0" sz="1100">
                <a:solidFill>
                  <a:srgbClr val="9333E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333EA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Constructor Overloading</a:t>
              </a:r>
              <a:endParaRPr b="1" i="0" sz="1100">
                <a:solidFill>
                  <a:srgbClr val="9333E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333EA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Method Overloading</a:t>
              </a:r>
              <a:endParaRPr b="1" i="0" sz="1100">
                <a:solidFill>
                  <a:srgbClr val="9333E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333EA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Recursion</a:t>
              </a:r>
              <a:endParaRPr b="1" i="0" sz="1100">
                <a:solidFill>
                  <a:srgbClr val="9333E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333EA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Object Passing &amp; Return</a:t>
              </a:r>
              <a:endParaRPr b="1" i="0" sz="1100">
                <a:solidFill>
                  <a:srgbClr val="9333E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9333EA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finalize() Method</a:t>
              </a:r>
              <a:endParaRPr b="1" i="0" sz="1100">
                <a:solidFill>
                  <a:srgbClr val="9333E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6057900" y="1381125"/>
            <a:ext cx="2514600" cy="3238500"/>
            <a:chOff x="0" y="0"/>
            <a:chExt cx="2514600" cy="3238500"/>
          </a:xfrm>
        </p:grpSpPr>
        <p:sp>
          <p:nvSpPr>
            <p:cNvPr id="64" name="Google Shape;64;p13"/>
            <p:cNvSpPr/>
            <p:nvPr/>
          </p:nvSpPr>
          <p:spPr>
            <a:xfrm>
              <a:off x="0" y="0"/>
              <a:ext cx="2514600" cy="3238500"/>
            </a:xfrm>
            <a:prstGeom prst="roundRect">
              <a:avLst>
                <a:gd fmla="val 606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190500" y="228600"/>
              <a:ext cx="2133600" cy="27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Section 03</a:t>
              </a:r>
              <a:endParaRPr b="1" i="0" sz="11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Scope &amp; Architecture</a:t>
              </a:r>
              <a:endParaRPr b="1" i="0" sz="11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059669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Access Control</a:t>
              </a:r>
              <a:endParaRPr b="1" i="0" sz="11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59669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Access Modifiers</a:t>
              </a:r>
              <a:endParaRPr b="1" i="0" sz="11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59669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Nested Classes</a:t>
              </a:r>
              <a:endParaRPr b="1" i="0" sz="11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59669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Inner Classes</a:t>
              </a:r>
              <a:endParaRPr b="1" i="0" sz="11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059669"/>
                </a:buClr>
                <a:buSzPts val="1100"/>
                <a:buFont typeface="Inter"/>
                <a:buChar char="●"/>
              </a:pPr>
              <a:r>
                <a:rPr b="0" i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Anonymous Inner Classes</a:t>
              </a:r>
              <a:endParaRPr b="1" i="0" sz="11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Object-Oriented Programming (OOP)</a:t>
            </a:r>
            <a:endParaRPr b="0" sz="2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72" name="Google Shape;72;p14"/>
          <p:cNvGrpSpPr/>
          <p:nvPr/>
        </p:nvGrpSpPr>
        <p:grpSpPr>
          <a:xfrm>
            <a:off x="571500" y="1143000"/>
            <a:ext cx="8001000" cy="1143000"/>
            <a:chOff x="0" y="0"/>
            <a:chExt cx="8001000" cy="1143000"/>
          </a:xfrm>
        </p:grpSpPr>
        <p:sp>
          <p:nvSpPr>
            <p:cNvPr id="73" name="Google Shape;73;p14"/>
            <p:cNvSpPr/>
            <p:nvPr/>
          </p:nvSpPr>
          <p:spPr>
            <a:xfrm>
              <a:off x="0" y="0"/>
              <a:ext cx="8001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0" y="0"/>
              <a:ext cx="80010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228600" y="171450"/>
              <a:ext cx="36195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Concept</a:t>
              </a:r>
              <a:endParaRPr b="1" sz="12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 programming paradigm centered around </a:t>
              </a:r>
              <a:r>
                <a:rPr b="1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"objects"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—structuring code into instances of defined classes.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76" name="Google Shape;76;p14"/>
            <p:cNvCxnSpPr/>
            <p:nvPr/>
          </p:nvCxnSpPr>
          <p:spPr>
            <a:xfrm>
              <a:off x="4095750" y="190500"/>
              <a:ext cx="0" cy="7620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" name="Google Shape;77;p14"/>
            <p:cNvSpPr txBox="1"/>
            <p:nvPr/>
          </p:nvSpPr>
          <p:spPr>
            <a:xfrm>
              <a:off x="4324350" y="171450"/>
              <a:ext cx="34482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The Blueprint</a:t>
              </a:r>
              <a:endParaRPr b="1" sz="12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 </a:t>
              </a:r>
              <a:r>
                <a:rPr b="1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class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acts as a template for creating objects that share common attributes (properties) and behaviors (methods).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8" name="Google Shape;78;p14"/>
          <p:cNvSpPr txBox="1"/>
          <p:nvPr/>
        </p:nvSpPr>
        <p:spPr>
          <a:xfrm>
            <a:off x="571500" y="24574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Four Basic Principles of OOP:</a:t>
            </a:r>
            <a:endParaRPr b="1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9" name="Google Shape;79;p14"/>
          <p:cNvGrpSpPr/>
          <p:nvPr/>
        </p:nvGrpSpPr>
        <p:grpSpPr>
          <a:xfrm>
            <a:off x="571500" y="2781300"/>
            <a:ext cx="1886100" cy="1828800"/>
            <a:chOff x="0" y="0"/>
            <a:chExt cx="1886100" cy="1828800"/>
          </a:xfrm>
        </p:grpSpPr>
        <p:sp>
          <p:nvSpPr>
            <p:cNvPr id="80" name="Google Shape;80;p14"/>
            <p:cNvSpPr/>
            <p:nvPr/>
          </p:nvSpPr>
          <p:spPr>
            <a:xfrm>
              <a:off x="0" y="0"/>
              <a:ext cx="1886100" cy="18288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0" y="0"/>
              <a:ext cx="18861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152400" y="152400"/>
              <a:ext cx="15813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0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Encapsulation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Bundling data and methods into a single class unit to restrict direct internal access.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2609850" y="2781300"/>
            <a:ext cx="1886100" cy="1828800"/>
            <a:chOff x="0" y="0"/>
            <a:chExt cx="1886100" cy="1828800"/>
          </a:xfrm>
        </p:grpSpPr>
        <p:sp>
          <p:nvSpPr>
            <p:cNvPr id="84" name="Google Shape;84;p14"/>
            <p:cNvSpPr/>
            <p:nvPr/>
          </p:nvSpPr>
          <p:spPr>
            <a:xfrm>
              <a:off x="0" y="0"/>
              <a:ext cx="1886100" cy="18288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0" y="0"/>
              <a:ext cx="1886100" cy="38100"/>
            </a:xfrm>
            <a:prstGeom prst="roundRect">
              <a:avLst>
                <a:gd fmla="val 50000" name="adj"/>
              </a:avLst>
            </a:prstGeom>
            <a:solidFill>
              <a:srgbClr val="9333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152400" y="152400"/>
              <a:ext cx="15813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333E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000">
                <a:solidFill>
                  <a:srgbClr val="9333E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Inheritance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Deriving new classes from existing superclasses to promote reusable code structure.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" name="Google Shape;87;p14"/>
          <p:cNvGrpSpPr/>
          <p:nvPr/>
        </p:nvGrpSpPr>
        <p:grpSpPr>
          <a:xfrm>
            <a:off x="4648200" y="2781300"/>
            <a:ext cx="1886100" cy="1828800"/>
            <a:chOff x="0" y="0"/>
            <a:chExt cx="1886100" cy="1828800"/>
          </a:xfrm>
        </p:grpSpPr>
        <p:sp>
          <p:nvSpPr>
            <p:cNvPr id="88" name="Google Shape;88;p14"/>
            <p:cNvSpPr/>
            <p:nvPr/>
          </p:nvSpPr>
          <p:spPr>
            <a:xfrm>
              <a:off x="0" y="0"/>
              <a:ext cx="1886100" cy="18288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0" y="0"/>
              <a:ext cx="18861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152400" y="152400"/>
              <a:ext cx="15813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10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Abstraction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Hiding complex implementation details to present only essential functionality.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6686550" y="2781300"/>
            <a:ext cx="1886100" cy="1828800"/>
            <a:chOff x="0" y="0"/>
            <a:chExt cx="1886100" cy="1828800"/>
          </a:xfrm>
        </p:grpSpPr>
        <p:sp>
          <p:nvSpPr>
            <p:cNvPr id="92" name="Google Shape;92;p14"/>
            <p:cNvSpPr/>
            <p:nvPr/>
          </p:nvSpPr>
          <p:spPr>
            <a:xfrm>
              <a:off x="0" y="0"/>
              <a:ext cx="1886100" cy="18288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0" y="0"/>
              <a:ext cx="1886100" cy="3810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 txBox="1"/>
            <p:nvPr/>
          </p:nvSpPr>
          <p:spPr>
            <a:xfrm>
              <a:off x="152400" y="152400"/>
              <a:ext cx="15813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10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Polymorphism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Enabling different objects to execute custom behaviors through a shared interface.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CORE CONCEPTS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OOP Principles</a:t>
            </a:r>
            <a:endParaRPr b="0" sz="2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00" name="Google Shape;100;p15"/>
          <p:cNvGrpSpPr/>
          <p:nvPr/>
        </p:nvGrpSpPr>
        <p:grpSpPr>
          <a:xfrm>
            <a:off x="571500" y="1238250"/>
            <a:ext cx="3886200" cy="3333900"/>
            <a:chOff x="0" y="0"/>
            <a:chExt cx="3886200" cy="3333900"/>
          </a:xfrm>
        </p:grpSpPr>
        <p:sp>
          <p:nvSpPr>
            <p:cNvPr id="101" name="Google Shape;101;p15"/>
            <p:cNvSpPr/>
            <p:nvPr/>
          </p:nvSpPr>
          <p:spPr>
            <a:xfrm>
              <a:off x="0" y="0"/>
              <a:ext cx="38862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0" y="0"/>
              <a:ext cx="38862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228600" y="228600"/>
              <a:ext cx="34290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Encapsulation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Encapsulation refers to the practice of bundling data (attributes) and the methods (functions) that operate on that data into a single unit called a class.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This provides data hiding and allows for controlled access to the internal state of objects. By encapsulating data, you can control how it's manipulated and prevent unintended interference.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4686300" y="1238250"/>
            <a:ext cx="3886200" cy="3333900"/>
            <a:chOff x="0" y="0"/>
            <a:chExt cx="3886200" cy="3333900"/>
          </a:xfrm>
        </p:grpSpPr>
        <p:sp>
          <p:nvSpPr>
            <p:cNvPr id="105" name="Google Shape;105;p15"/>
            <p:cNvSpPr/>
            <p:nvPr/>
          </p:nvSpPr>
          <p:spPr>
            <a:xfrm>
              <a:off x="0" y="0"/>
              <a:ext cx="38862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0" y="0"/>
              <a:ext cx="3886200" cy="38100"/>
            </a:xfrm>
            <a:prstGeom prst="roundRect">
              <a:avLst>
                <a:gd fmla="val 50000" name="adj"/>
              </a:avLst>
            </a:prstGeom>
            <a:solidFill>
              <a:srgbClr val="9333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228600" y="228600"/>
              <a:ext cx="34290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333E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100">
                <a:solidFill>
                  <a:srgbClr val="9333E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Inheritance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Inheritance allows you to create a new class (subclass or derived class) that inherits attributes and behaviors from an existing class (superclass or base class).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This promotes code reuse and allows you to create specialized classes based on a more general template.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CORE CONCEPTS</a:t>
            </a:r>
            <a:endParaRPr b="1" i="0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OOP Principles</a:t>
            </a:r>
            <a:endParaRPr b="1" i="0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3" name="Google Shape;113;p16"/>
          <p:cNvGrpSpPr/>
          <p:nvPr/>
        </p:nvGrpSpPr>
        <p:grpSpPr>
          <a:xfrm>
            <a:off x="571500" y="1238250"/>
            <a:ext cx="3886200" cy="3333900"/>
            <a:chOff x="0" y="0"/>
            <a:chExt cx="3886200" cy="33339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38862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0" y="0"/>
              <a:ext cx="38862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228600" y="228600"/>
              <a:ext cx="3429000" cy="287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i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Abstraction</a:t>
              </a:r>
              <a:endParaRPr b="0" i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Abstraction involves simplifying complex reality by modeling classes based on their essential characteristics.</a:t>
              </a:r>
              <a:endParaRPr b="0" i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It allows you to focus on the necessary features while hiding unnecessary details. Abstraction helps manage complexity and makes code more manageable.</a:t>
              </a:r>
              <a:endParaRPr b="0" i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686300" y="1238250"/>
            <a:ext cx="3886200" cy="3333900"/>
            <a:chOff x="0" y="0"/>
            <a:chExt cx="3886200" cy="33339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38862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0" y="0"/>
              <a:ext cx="3886200" cy="3810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228600" y="228600"/>
              <a:ext cx="3429000" cy="287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i="0" sz="11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Polymorphism</a:t>
              </a:r>
              <a:endParaRPr b="0" i="0" sz="11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Polymorphism means the ability of objects of different classes to be treated as objects of a common superclass.</a:t>
              </a:r>
              <a:endParaRPr b="0" i="0" sz="11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It allows you to define a single interface or method signature that multiple classes can implement in their own way. This promotes flexibility and extensibility in your code.</a:t>
              </a:r>
              <a:endParaRPr b="0" i="0" sz="11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7"/>
          <p:cNvGrpSpPr/>
          <p:nvPr/>
        </p:nvGrpSpPr>
        <p:grpSpPr>
          <a:xfrm>
            <a:off x="571500" y="381000"/>
            <a:ext cx="8001000" cy="666900"/>
            <a:chOff x="0" y="0"/>
            <a:chExt cx="8001000" cy="666900"/>
          </a:xfrm>
        </p:grpSpPr>
        <p:sp>
          <p:nvSpPr>
            <p:cNvPr id="126" name="Google Shape;126;p17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CONCEPTS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Encapsulation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571500" y="1238250"/>
            <a:ext cx="2514600" cy="3333900"/>
            <a:chOff x="0" y="0"/>
            <a:chExt cx="2514600" cy="33339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2514600" cy="33339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190500" y="228600"/>
              <a:ext cx="21336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Bundling Unit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Encapsulation is one of the four fundamental OOP concepts.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It is the wrapping of Data and Methods into a single unit (called a class).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32" name="Google Shape;132;p17"/>
          <p:cNvGrpSpPr/>
          <p:nvPr/>
        </p:nvGrpSpPr>
        <p:grpSpPr>
          <a:xfrm>
            <a:off x="3314700" y="1238250"/>
            <a:ext cx="2514600" cy="3333900"/>
            <a:chOff x="0" y="0"/>
            <a:chExt cx="2514600" cy="3333900"/>
          </a:xfrm>
        </p:grpSpPr>
        <p:sp>
          <p:nvSpPr>
            <p:cNvPr id="133" name="Google Shape;133;p17"/>
            <p:cNvSpPr/>
            <p:nvPr/>
          </p:nvSpPr>
          <p:spPr>
            <a:xfrm>
              <a:off x="0" y="0"/>
              <a:ext cx="2514600" cy="33339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190500" y="228600"/>
              <a:ext cx="21336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Access Control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It is the technique of making class fields </a:t>
              </a:r>
              <a:r>
                <a:rPr b="0" lang="en" sz="11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private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Controlled access to these internal fields is provided exclusively via </a:t>
              </a:r>
              <a:r>
                <a:rPr b="0" lang="en" sz="11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public methods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6057900" y="1238250"/>
            <a:ext cx="2514600" cy="3333900"/>
            <a:chOff x="0" y="0"/>
            <a:chExt cx="2514600" cy="3333900"/>
          </a:xfrm>
        </p:grpSpPr>
        <p:sp>
          <p:nvSpPr>
            <p:cNvPr id="137" name="Google Shape;137;p17"/>
            <p:cNvSpPr/>
            <p:nvPr/>
          </p:nvSpPr>
          <p:spPr>
            <a:xfrm>
              <a:off x="0" y="0"/>
              <a:ext cx="2514600" cy="33339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9333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190500" y="228600"/>
              <a:ext cx="21336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333E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1100">
                <a:solidFill>
                  <a:srgbClr val="9333E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 Hiding</a:t>
              </a:r>
              <a:endParaRPr b="0" sz="1100">
                <a:solidFill>
                  <a:srgbClr val="9333E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Private fields cannot be accessed by external code, protecting class variables from direct exposure.</a:t>
              </a:r>
              <a:endParaRPr b="0" sz="1100">
                <a:solidFill>
                  <a:srgbClr val="9333E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Due to this security mechanism, encapsulation is commonly termed </a:t>
              </a:r>
              <a:r>
                <a:rPr b="1" lang="en" sz="1100">
                  <a:solidFill>
                    <a:srgbClr val="9333EA"/>
                  </a:solidFill>
                  <a:latin typeface="Inter"/>
                  <a:ea typeface="Inter"/>
                  <a:cs typeface="Inter"/>
                  <a:sym typeface="Inter"/>
                </a:rPr>
                <a:t>data hiding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9333E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CORE CONCEPTS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Encapsulation Overview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5" name="Google Shape;145;p18"/>
          <p:cNvGrpSpPr/>
          <p:nvPr/>
        </p:nvGrpSpPr>
        <p:grpSpPr>
          <a:xfrm>
            <a:off x="571500" y="1238250"/>
            <a:ext cx="3886200" cy="3333900"/>
            <a:chOff x="0" y="0"/>
            <a:chExt cx="3886200" cy="3333900"/>
          </a:xfrm>
        </p:grpSpPr>
        <p:sp>
          <p:nvSpPr>
            <p:cNvPr id="146" name="Google Shape;146;p18"/>
            <p:cNvSpPr/>
            <p:nvPr/>
          </p:nvSpPr>
          <p:spPr>
            <a:xfrm>
              <a:off x="0" y="0"/>
              <a:ext cx="38862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0" y="0"/>
              <a:ext cx="38862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228600" y="228600"/>
              <a:ext cx="3429000" cy="287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Protective Barrier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Encapsulation can be described as a protective barrier that prevents code and data from being randomly accessed by other code defined outside the class.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Access to the data and code is tightly controlled by an </a:t>
              </a:r>
              <a:r>
                <a:rPr b="0" lang="en" sz="11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interface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49" name="Google Shape;149;p18"/>
          <p:cNvGrpSpPr/>
          <p:nvPr/>
        </p:nvGrpSpPr>
        <p:grpSpPr>
          <a:xfrm>
            <a:off x="4686300" y="1238250"/>
            <a:ext cx="3886200" cy="3333900"/>
            <a:chOff x="0" y="0"/>
            <a:chExt cx="3886200" cy="3333900"/>
          </a:xfrm>
        </p:grpSpPr>
        <p:sp>
          <p:nvSpPr>
            <p:cNvPr id="150" name="Google Shape;150;p18"/>
            <p:cNvSpPr/>
            <p:nvPr/>
          </p:nvSpPr>
          <p:spPr>
            <a:xfrm>
              <a:off x="0" y="0"/>
              <a:ext cx="38862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0" y="0"/>
              <a:ext cx="38862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228600" y="228600"/>
              <a:ext cx="3429000" cy="287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Key Advantages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main benefit of encapsulation is the ability to modify implemented code without breaking the code of others who use our code.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With this feature Encapsulation gives </a:t>
              </a:r>
              <a:r>
                <a:rPr b="0" lang="en" sz="11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maintainability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lang="en" sz="11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flexibility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0" lang="en" sz="11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extensibility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to our code.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/>
        </p:nvSpPr>
        <p:spPr>
          <a:xfrm>
            <a:off x="571500" y="3429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CORE CONCEPTS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Encapsulation Architecture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8" name="Google Shape;158;p19"/>
          <p:cNvGrpSpPr/>
          <p:nvPr/>
        </p:nvGrpSpPr>
        <p:grpSpPr>
          <a:xfrm>
            <a:off x="571500" y="1143000"/>
            <a:ext cx="3771900" cy="3619500"/>
            <a:chOff x="0" y="0"/>
            <a:chExt cx="3771900" cy="3619500"/>
          </a:xfrm>
        </p:grpSpPr>
        <p:sp>
          <p:nvSpPr>
            <p:cNvPr id="159" name="Google Shape;159;p19"/>
            <p:cNvSpPr/>
            <p:nvPr/>
          </p:nvSpPr>
          <p:spPr>
            <a:xfrm>
              <a:off x="0" y="0"/>
              <a:ext cx="37719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0" y="0"/>
              <a:ext cx="37719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228600" y="171450"/>
              <a:ext cx="3314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Class Structure &amp; Scope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10" r="20" t="0"/>
          <a:stretch/>
        </p:blipFill>
        <p:spPr>
          <a:xfrm>
            <a:off x="1381125" y="1981200"/>
            <a:ext cx="2143200" cy="2590800"/>
          </a:xfrm>
          <a:prstGeom prst="roundRect">
            <a:avLst>
              <a:gd fmla="val 3555" name="adj"/>
            </a:avLst>
          </a:prstGeom>
          <a:noFill/>
          <a:ln>
            <a:noFill/>
          </a:ln>
        </p:spPr>
      </p:pic>
      <p:grpSp>
        <p:nvGrpSpPr>
          <p:cNvPr id="163" name="Google Shape;163;p19"/>
          <p:cNvGrpSpPr/>
          <p:nvPr/>
        </p:nvGrpSpPr>
        <p:grpSpPr>
          <a:xfrm>
            <a:off x="4572000" y="1143000"/>
            <a:ext cx="4000500" cy="3619500"/>
            <a:chOff x="0" y="0"/>
            <a:chExt cx="4000500" cy="3619500"/>
          </a:xfrm>
        </p:grpSpPr>
        <p:sp>
          <p:nvSpPr>
            <p:cNvPr id="164" name="Google Shape;164;p19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228600" y="171450"/>
              <a:ext cx="3543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Access Control &amp; Interface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167" name="Google Shape;167;p19"/>
          <p:cNvPicPr preferRelativeResize="0"/>
          <p:nvPr/>
        </p:nvPicPr>
        <p:blipFill rotWithShape="1">
          <a:blip r:embed="rId5">
            <a:alphaModFix/>
          </a:blip>
          <a:srcRect b="3244" l="0" r="0" t="3254"/>
          <a:stretch/>
        </p:blipFill>
        <p:spPr>
          <a:xfrm>
            <a:off x="4800600" y="1924050"/>
            <a:ext cx="3543300" cy="2648100"/>
          </a:xfrm>
          <a:prstGeom prst="roundRect">
            <a:avLst>
              <a:gd fmla="val 287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571500" y="3429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CORE CONCEPTS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Encapsulation Code Example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3" name="Google Shape;173;p20"/>
          <p:cNvGrpSpPr/>
          <p:nvPr/>
        </p:nvGrpSpPr>
        <p:grpSpPr>
          <a:xfrm>
            <a:off x="571500" y="1143000"/>
            <a:ext cx="3886200" cy="3619500"/>
            <a:chOff x="0" y="0"/>
            <a:chExt cx="3886200" cy="3619500"/>
          </a:xfrm>
        </p:grpSpPr>
        <p:sp>
          <p:nvSpPr>
            <p:cNvPr id="174" name="Google Shape;174;p20"/>
            <p:cNvSpPr/>
            <p:nvPr/>
          </p:nvSpPr>
          <p:spPr>
            <a:xfrm>
              <a:off x="0" y="0"/>
              <a:ext cx="38862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0" y="0"/>
              <a:ext cx="38862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228600" y="171450"/>
              <a:ext cx="34290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Encapsulated Class Definition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4686300" y="1143000"/>
            <a:ext cx="3886200" cy="3619500"/>
            <a:chOff x="0" y="0"/>
            <a:chExt cx="3886200" cy="3619500"/>
          </a:xfrm>
        </p:grpSpPr>
        <p:sp>
          <p:nvSpPr>
            <p:cNvPr id="178" name="Google Shape;178;p20"/>
            <p:cNvSpPr/>
            <p:nvPr/>
          </p:nvSpPr>
          <p:spPr>
            <a:xfrm>
              <a:off x="0" y="0"/>
              <a:ext cx="38862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0" y="0"/>
              <a:ext cx="38862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228600" y="171450"/>
              <a:ext cx="34290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Main Execution &amp; Access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950" y="1745625"/>
            <a:ext cx="3694325" cy="287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2238" y="1745625"/>
            <a:ext cx="3694325" cy="287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1"/>
          <p:cNvGrpSpPr/>
          <p:nvPr/>
        </p:nvGrpSpPr>
        <p:grpSpPr>
          <a:xfrm>
            <a:off x="571500" y="342900"/>
            <a:ext cx="8001000" cy="666900"/>
            <a:chOff x="0" y="0"/>
            <a:chExt cx="8001000" cy="666900"/>
          </a:xfrm>
        </p:grpSpPr>
        <p:sp>
          <p:nvSpPr>
            <p:cNvPr id="188" name="Google Shape;188;p21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CONCEPTS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Inheritance Architecture</a:t>
              </a:r>
              <a:endParaRPr b="0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90" name="Google Shape;190;p21"/>
          <p:cNvGrpSpPr/>
          <p:nvPr/>
        </p:nvGrpSpPr>
        <p:grpSpPr>
          <a:xfrm>
            <a:off x="571500" y="1190625"/>
            <a:ext cx="2514600" cy="3429000"/>
            <a:chOff x="0" y="0"/>
            <a:chExt cx="2514600" cy="3429000"/>
          </a:xfrm>
        </p:grpSpPr>
        <p:sp>
          <p:nvSpPr>
            <p:cNvPr id="191" name="Google Shape;191;p21"/>
            <p:cNvSpPr/>
            <p:nvPr/>
          </p:nvSpPr>
          <p:spPr>
            <a:xfrm>
              <a:off x="0" y="0"/>
              <a:ext cx="2514600" cy="34290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1"/>
            <p:cNvSpPr txBox="1"/>
            <p:nvPr/>
          </p:nvSpPr>
          <p:spPr>
            <a:xfrm>
              <a:off x="228600" y="228600"/>
              <a:ext cx="20574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1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Core Definition</a:t>
              </a:r>
              <a:endParaRPr b="1" sz="17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Inheritance is the mechanism by which one object acquires the properties and behaviors of another object.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It organizes information into a structured, manageable hierarchical order.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4" name="Google Shape;194;p21"/>
          <p:cNvGrpSpPr/>
          <p:nvPr/>
        </p:nvGrpSpPr>
        <p:grpSpPr>
          <a:xfrm>
            <a:off x="3314700" y="1190625"/>
            <a:ext cx="2514600" cy="3429000"/>
            <a:chOff x="0" y="0"/>
            <a:chExt cx="2514600" cy="3429000"/>
          </a:xfrm>
        </p:grpSpPr>
        <p:sp>
          <p:nvSpPr>
            <p:cNvPr id="195" name="Google Shape;195;p21"/>
            <p:cNvSpPr/>
            <p:nvPr/>
          </p:nvSpPr>
          <p:spPr>
            <a:xfrm>
              <a:off x="0" y="0"/>
              <a:ext cx="2514600" cy="34290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1"/>
            <p:cNvSpPr txBox="1"/>
            <p:nvPr/>
          </p:nvSpPr>
          <p:spPr>
            <a:xfrm>
              <a:off x="228600" y="228600"/>
              <a:ext cx="20574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1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Key Keywords</a:t>
              </a:r>
              <a:endParaRPr b="1" sz="17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When implementing inheritance, the primary keywords utilized are: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extends</a:t>
              </a:r>
              <a:endParaRPr b="1" sz="12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implements</a:t>
              </a:r>
              <a:endParaRPr b="1" sz="12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21"/>
          <p:cNvGrpSpPr/>
          <p:nvPr/>
        </p:nvGrpSpPr>
        <p:grpSpPr>
          <a:xfrm>
            <a:off x="6057900" y="1190625"/>
            <a:ext cx="2514600" cy="3429000"/>
            <a:chOff x="0" y="0"/>
            <a:chExt cx="2514600" cy="3429000"/>
          </a:xfrm>
        </p:grpSpPr>
        <p:sp>
          <p:nvSpPr>
            <p:cNvPr id="199" name="Google Shape;199;p21"/>
            <p:cNvSpPr/>
            <p:nvPr/>
          </p:nvSpPr>
          <p:spPr>
            <a:xfrm>
              <a:off x="0" y="0"/>
              <a:ext cx="2514600" cy="34290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1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1"/>
            <p:cNvSpPr txBox="1"/>
            <p:nvPr/>
          </p:nvSpPr>
          <p:spPr>
            <a:xfrm>
              <a:off x="228600" y="228600"/>
              <a:ext cx="20574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11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IS-A Relationship</a:t>
              </a:r>
              <a:endParaRPr b="1" sz="17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These keywords determine whether one object is an </a:t>
              </a: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IS-A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type of another.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Through this relationship, objects acquire and reuse existing properties from parent classes.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/>
        </p:nvSpPr>
        <p:spPr>
          <a:xfrm>
            <a:off x="571500" y="3429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CORE CONCEPTS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Example: </a:t>
            </a: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Vehicle Abstraction Hierarchy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6888" y="2181225"/>
            <a:ext cx="5610300" cy="590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22"/>
          <p:cNvGrpSpPr/>
          <p:nvPr/>
        </p:nvGrpSpPr>
        <p:grpSpPr>
          <a:xfrm>
            <a:off x="3238500" y="1143000"/>
            <a:ext cx="2667000" cy="1047900"/>
            <a:chOff x="0" y="0"/>
            <a:chExt cx="2667000" cy="1047900"/>
          </a:xfrm>
        </p:grpSpPr>
        <p:sp>
          <p:nvSpPr>
            <p:cNvPr id="209" name="Google Shape;209;p22"/>
            <p:cNvSpPr/>
            <p:nvPr/>
          </p:nvSpPr>
          <p:spPr>
            <a:xfrm>
              <a:off x="0" y="0"/>
              <a:ext cx="2667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0" y="0"/>
              <a:ext cx="26670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 txBox="1"/>
            <p:nvPr/>
          </p:nvSpPr>
          <p:spPr>
            <a:xfrm>
              <a:off x="190500" y="171450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ABSTRACT CLASS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Vehicle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Base class definition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2" name="Google Shape;212;p22"/>
          <p:cNvGrpSpPr/>
          <p:nvPr/>
        </p:nvGrpSpPr>
        <p:grpSpPr>
          <a:xfrm>
            <a:off x="571500" y="2762250"/>
            <a:ext cx="2381400" cy="1809600"/>
            <a:chOff x="0" y="0"/>
            <a:chExt cx="2381400" cy="1809600"/>
          </a:xfrm>
        </p:grpSpPr>
        <p:sp>
          <p:nvSpPr>
            <p:cNvPr id="213" name="Google Shape;213;p22"/>
            <p:cNvSpPr/>
            <p:nvPr/>
          </p:nvSpPr>
          <p:spPr>
            <a:xfrm>
              <a:off x="0" y="0"/>
              <a:ext cx="23814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2"/>
            <p:cNvSpPr/>
            <p:nvPr/>
          </p:nvSpPr>
          <p:spPr>
            <a:xfrm>
              <a:off x="0" y="0"/>
              <a:ext cx="23814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2"/>
            <p:cNvSpPr txBox="1"/>
            <p:nvPr/>
          </p:nvSpPr>
          <p:spPr>
            <a:xfrm>
              <a:off x="190500" y="190500"/>
              <a:ext cx="2000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CONCRETE CLASS</a:t>
              </a:r>
              <a:endParaRPr b="0" sz="10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Car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Extends </a:t>
              </a: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Vehicle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base behaviors with specific passenger car implementation.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6" name="Google Shape;216;p22"/>
          <p:cNvGrpSpPr/>
          <p:nvPr/>
        </p:nvGrpSpPr>
        <p:grpSpPr>
          <a:xfrm>
            <a:off x="3381375" y="2762250"/>
            <a:ext cx="2381400" cy="1809600"/>
            <a:chOff x="0" y="0"/>
            <a:chExt cx="2381400" cy="1809600"/>
          </a:xfrm>
        </p:grpSpPr>
        <p:sp>
          <p:nvSpPr>
            <p:cNvPr id="217" name="Google Shape;217;p22"/>
            <p:cNvSpPr/>
            <p:nvPr/>
          </p:nvSpPr>
          <p:spPr>
            <a:xfrm>
              <a:off x="0" y="0"/>
              <a:ext cx="23814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0" y="0"/>
              <a:ext cx="23814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2"/>
            <p:cNvSpPr txBox="1"/>
            <p:nvPr/>
          </p:nvSpPr>
          <p:spPr>
            <a:xfrm>
              <a:off x="190500" y="190500"/>
              <a:ext cx="2000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CONCRETE CLASS</a:t>
              </a:r>
              <a:endParaRPr b="0" sz="10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Bus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Inherits core properties while adding mass transit capability logic.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0" name="Google Shape;220;p22"/>
          <p:cNvGrpSpPr/>
          <p:nvPr/>
        </p:nvGrpSpPr>
        <p:grpSpPr>
          <a:xfrm>
            <a:off x="6191250" y="2762250"/>
            <a:ext cx="2381400" cy="1809600"/>
            <a:chOff x="0" y="0"/>
            <a:chExt cx="2381400" cy="1809600"/>
          </a:xfrm>
        </p:grpSpPr>
        <p:sp>
          <p:nvSpPr>
            <p:cNvPr id="221" name="Google Shape;221;p22"/>
            <p:cNvSpPr/>
            <p:nvPr/>
          </p:nvSpPr>
          <p:spPr>
            <a:xfrm>
              <a:off x="0" y="0"/>
              <a:ext cx="23814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0" y="0"/>
              <a:ext cx="2381400" cy="381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190500" y="190500"/>
              <a:ext cx="2000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CONCRETE CLASS</a:t>
              </a:r>
              <a:endParaRPr b="0" sz="10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Truck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Specializes the abstract hierarchy for heavy cargo transport.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/>
        </p:nvSpPr>
        <p:spPr>
          <a:xfrm>
            <a:off x="571500" y="3429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CORE CONCEPTS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Example: Java Class Inheritance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9" name="Google Shape;229;p23"/>
          <p:cNvGrpSpPr/>
          <p:nvPr/>
        </p:nvGrpSpPr>
        <p:grpSpPr>
          <a:xfrm>
            <a:off x="571500" y="1190625"/>
            <a:ext cx="3905400" cy="3429000"/>
            <a:chOff x="0" y="0"/>
            <a:chExt cx="3905400" cy="3429000"/>
          </a:xfrm>
        </p:grpSpPr>
        <p:sp>
          <p:nvSpPr>
            <p:cNvPr id="230" name="Google Shape;230;p23"/>
            <p:cNvSpPr/>
            <p:nvPr/>
          </p:nvSpPr>
          <p:spPr>
            <a:xfrm>
              <a:off x="0" y="0"/>
              <a:ext cx="3905400" cy="3429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3"/>
            <p:cNvSpPr/>
            <p:nvPr/>
          </p:nvSpPr>
          <p:spPr>
            <a:xfrm>
              <a:off x="142875" y="142875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295275" y="142875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3"/>
            <p:cNvSpPr/>
            <p:nvPr/>
          </p:nvSpPr>
          <p:spPr>
            <a:xfrm>
              <a:off x="447675" y="142875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3"/>
            <p:cNvSpPr txBox="1"/>
            <p:nvPr/>
          </p:nvSpPr>
          <p:spPr>
            <a:xfrm>
              <a:off x="666750" y="114300"/>
              <a:ext cx="304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ParentChildExample.java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235" name="Google Shape;235;p23"/>
            <p:cNvCxnSpPr/>
            <p:nvPr/>
          </p:nvCxnSpPr>
          <p:spPr>
            <a:xfrm>
              <a:off x="0" y="3429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6" name="Google Shape;236;p23"/>
            <p:cNvSpPr txBox="1"/>
            <p:nvPr/>
          </p:nvSpPr>
          <p:spPr>
            <a:xfrm>
              <a:off x="190500" y="457200"/>
              <a:ext cx="3524400" cy="2819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50" u="none" strike="noStrike">
                  <a:solidFill>
                    <a:srgbClr val="E11D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 </a:t>
              </a:r>
              <a:r>
                <a:rPr b="1" i="0" lang="en" sz="1050" u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Parent</a:t>
              </a: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 u="none" strike="noStrike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parentName;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 u="none" strike="noStrike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familyName;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" sz="1050" u="none" strike="noStrike">
                  <a:solidFill>
                    <a:srgbClr val="E11D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 </a:t>
              </a:r>
              <a:r>
                <a:rPr b="1" i="0" lang="en" sz="1050" u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Child</a:t>
              </a:r>
              <a:r>
                <a:rPr b="1" i="0" lang="en" sz="1050" u="none" strike="noStrike">
                  <a:solidFill>
                    <a:srgbClr val="E11D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extends </a:t>
              </a:r>
              <a:r>
                <a:rPr b="1" i="0" lang="en" sz="1050" u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Parent</a:t>
              </a: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 u="none" strike="noStrike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childName;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 u="none" strike="noStrike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childAge;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" sz="1050" u="none" strike="noStrike">
                  <a:solidFill>
                    <a:srgbClr val="E11D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b="1" i="0" lang="en" sz="1050" u="none" strike="noStrike">
                  <a:solidFill>
                    <a:srgbClr val="E11D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" sz="1050" u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printMyName</a:t>
              </a: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 {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 u="none" strike="noStrike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 u="none" strike="noStrike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"My name is"</a:t>
              </a: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childName +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 u="none" strike="noStrike">
                  <a:solidFill>
                    <a:srgbClr val="16A3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 "</a:t>
              </a: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</a:t>
              </a:r>
              <a:r>
                <a:rPr b="1" i="0" lang="en" sz="1050" u="none" strike="noStrike">
                  <a:solidFill>
                    <a:srgbClr val="D9770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familyName</a:t>
              </a: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50" u="none" strike="noStrike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i="0" sz="1050" u="none" strike="noStrike">
                <a:solidFill>
                  <a:srgbClr val="E11D4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37" name="Google Shape;237;p23"/>
          <p:cNvGrpSpPr/>
          <p:nvPr/>
        </p:nvGrpSpPr>
        <p:grpSpPr>
          <a:xfrm>
            <a:off x="4667250" y="1190625"/>
            <a:ext cx="3905400" cy="1619100"/>
            <a:chOff x="0" y="0"/>
            <a:chExt cx="3905400" cy="1619100"/>
          </a:xfrm>
        </p:grpSpPr>
        <p:sp>
          <p:nvSpPr>
            <p:cNvPr id="238" name="Google Shape;238;p23"/>
            <p:cNvSpPr/>
            <p:nvPr/>
          </p:nvSpPr>
          <p:spPr>
            <a:xfrm>
              <a:off x="0" y="0"/>
              <a:ext cx="39054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3"/>
            <p:cNvSpPr txBox="1"/>
            <p:nvPr/>
          </p:nvSpPr>
          <p:spPr>
            <a:xfrm>
              <a:off x="228600" y="190500"/>
              <a:ext cx="3448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SUPERCLASS (BASE)</a:t>
              </a:r>
              <a:endParaRPr b="0" sz="10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Parent Class</a:t>
              </a:r>
              <a:endParaRPr b="0" sz="10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Defines base fields shared across family members:</a:t>
              </a:r>
              <a:endParaRPr b="0" sz="10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1000"/>
                <a:buFont typeface="Courier New"/>
                <a:buChar char="●"/>
              </a:pP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parentName</a:t>
              </a: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: String</a:t>
              </a:r>
              <a:endParaRPr b="0" sz="10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0F172A"/>
                </a:buClr>
                <a:buSzPts val="1000"/>
                <a:buFont typeface="Courier New"/>
                <a:buChar char="●"/>
              </a:pP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familyName</a:t>
              </a: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: String</a:t>
              </a:r>
              <a:endParaRPr b="0" sz="10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41" name="Google Shape;241;p23"/>
          <p:cNvGrpSpPr/>
          <p:nvPr/>
        </p:nvGrpSpPr>
        <p:grpSpPr>
          <a:xfrm>
            <a:off x="4667250" y="3000375"/>
            <a:ext cx="3905400" cy="1619100"/>
            <a:chOff x="0" y="0"/>
            <a:chExt cx="3905400" cy="1619100"/>
          </a:xfrm>
        </p:grpSpPr>
        <p:sp>
          <p:nvSpPr>
            <p:cNvPr id="242" name="Google Shape;242;p23"/>
            <p:cNvSpPr/>
            <p:nvPr/>
          </p:nvSpPr>
          <p:spPr>
            <a:xfrm>
              <a:off x="0" y="0"/>
              <a:ext cx="39054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3"/>
            <p:cNvSpPr txBox="1"/>
            <p:nvPr/>
          </p:nvSpPr>
          <p:spPr>
            <a:xfrm>
              <a:off x="228600" y="190500"/>
              <a:ext cx="3448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SUBCLASS (DERIVED)</a:t>
              </a:r>
              <a:endParaRPr b="0" sz="10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Child extends Parent</a:t>
              </a:r>
              <a:endParaRPr b="0" sz="10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Inherits base properties and adds specific logic:</a:t>
              </a:r>
              <a:endParaRPr b="0" sz="10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Adds </a:t>
              </a:r>
              <a:r>
                <a:rPr b="1" lang="en" sz="1000">
                  <a:solidFill>
                    <a:srgbClr val="0596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childName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1000">
                  <a:solidFill>
                    <a:srgbClr val="0596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childAge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attributes.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en" sz="1000">
                  <a:solidFill>
                    <a:srgbClr val="0596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printMyName()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directly accesses inherited </a:t>
              </a:r>
              <a:r>
                <a:rPr b="1" lang="en" sz="1000">
                  <a:solidFill>
                    <a:srgbClr val="D9770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familyName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/>
        </p:nvSpPr>
        <p:spPr>
          <a:xfrm>
            <a:off x="571500" y="3429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CORE CONCEPTS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Abstraction in 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0" name="Google Shape;250;p24"/>
          <p:cNvGrpSpPr/>
          <p:nvPr/>
        </p:nvGrpSpPr>
        <p:grpSpPr>
          <a:xfrm>
            <a:off x="571500" y="1238250"/>
            <a:ext cx="1905000" cy="3333900"/>
            <a:chOff x="0" y="0"/>
            <a:chExt cx="1905000" cy="3333900"/>
          </a:xfrm>
        </p:grpSpPr>
        <p:sp>
          <p:nvSpPr>
            <p:cNvPr id="251" name="Google Shape;251;p24"/>
            <p:cNvSpPr/>
            <p:nvPr/>
          </p:nvSpPr>
          <p:spPr>
            <a:xfrm>
              <a:off x="0" y="0"/>
              <a:ext cx="1905000" cy="33339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4"/>
            <p:cNvSpPr txBox="1"/>
            <p:nvPr/>
          </p:nvSpPr>
          <p:spPr>
            <a:xfrm>
              <a:off x="190500" y="228600"/>
              <a:ext cx="15240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Essential Features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Providing essential features while hiding internal implementation details is the core foundation of Abstraction.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4" name="Google Shape;254;p24"/>
          <p:cNvGrpSpPr/>
          <p:nvPr/>
        </p:nvGrpSpPr>
        <p:grpSpPr>
          <a:xfrm>
            <a:off x="2619375" y="1238250"/>
            <a:ext cx="1905000" cy="3333900"/>
            <a:chOff x="0" y="0"/>
            <a:chExt cx="1905000" cy="3333900"/>
          </a:xfrm>
        </p:grpSpPr>
        <p:sp>
          <p:nvSpPr>
            <p:cNvPr id="255" name="Google Shape;255;p24"/>
            <p:cNvSpPr/>
            <p:nvPr/>
          </p:nvSpPr>
          <p:spPr>
            <a:xfrm>
              <a:off x="0" y="0"/>
              <a:ext cx="1905000" cy="33339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4"/>
            <p:cNvSpPr txBox="1"/>
            <p:nvPr/>
          </p:nvSpPr>
          <p:spPr>
            <a:xfrm>
              <a:off x="190500" y="228600"/>
              <a:ext cx="15240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SECURITY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Encapsulated Safety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Enhances internal implementation safely without affecting external systems, providing crucial security boundaries.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8" name="Google Shape;258;p24"/>
          <p:cNvGrpSpPr/>
          <p:nvPr/>
        </p:nvGrpSpPr>
        <p:grpSpPr>
          <a:xfrm>
            <a:off x="4667250" y="1238250"/>
            <a:ext cx="1905000" cy="3333900"/>
            <a:chOff x="0" y="0"/>
            <a:chExt cx="1905000" cy="3333900"/>
          </a:xfrm>
        </p:grpSpPr>
        <p:sp>
          <p:nvSpPr>
            <p:cNvPr id="259" name="Google Shape;259;p24"/>
            <p:cNvSpPr/>
            <p:nvPr/>
          </p:nvSpPr>
          <p:spPr>
            <a:xfrm>
              <a:off x="0" y="0"/>
              <a:ext cx="1905000" cy="33339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4"/>
            <p:cNvSpPr txBox="1"/>
            <p:nvPr/>
          </p:nvSpPr>
          <p:spPr>
            <a:xfrm>
              <a:off x="190500" y="228600"/>
              <a:ext cx="15240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DATA RELEVANCE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Selective Exposure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Classes contain extensive data, but abstraction ensures users are only exposed to the subset they actually need.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2" name="Google Shape;262;p24"/>
          <p:cNvGrpSpPr/>
          <p:nvPr/>
        </p:nvGrpSpPr>
        <p:grpSpPr>
          <a:xfrm>
            <a:off x="6715125" y="1238250"/>
            <a:ext cx="1905000" cy="3333900"/>
            <a:chOff x="0" y="0"/>
            <a:chExt cx="1905000" cy="3333900"/>
          </a:xfrm>
        </p:grpSpPr>
        <p:sp>
          <p:nvSpPr>
            <p:cNvPr id="263" name="Google Shape;263;p24"/>
            <p:cNvSpPr/>
            <p:nvPr/>
          </p:nvSpPr>
          <p:spPr>
            <a:xfrm>
              <a:off x="0" y="0"/>
              <a:ext cx="1905000" cy="33339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4"/>
            <p:cNvSpPr txBox="1"/>
            <p:nvPr/>
          </p:nvSpPr>
          <p:spPr>
            <a:xfrm>
              <a:off x="190500" y="228600"/>
              <a:ext cx="15240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04. USER EXPERIENCE</a:t>
              </a:r>
              <a:endParaRPr b="0" sz="9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Tailored Data Views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Every user receives a personalized view specific to their requirements, preventing confusion from clutter.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5"/>
          <p:cNvGrpSpPr/>
          <p:nvPr/>
        </p:nvGrpSpPr>
        <p:grpSpPr>
          <a:xfrm>
            <a:off x="571500" y="342900"/>
            <a:ext cx="8001000" cy="666900"/>
            <a:chOff x="0" y="0"/>
            <a:chExt cx="8001000" cy="666900"/>
          </a:xfrm>
        </p:grpSpPr>
        <p:sp>
          <p:nvSpPr>
            <p:cNvPr id="271" name="Google Shape;271;p25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5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CONCEPTS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Example: Abstract Bank Class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3" name="Google Shape;273;p25"/>
          <p:cNvGrpSpPr/>
          <p:nvPr/>
        </p:nvGrpSpPr>
        <p:grpSpPr>
          <a:xfrm>
            <a:off x="571500" y="1190625"/>
            <a:ext cx="3905400" cy="3429000"/>
            <a:chOff x="0" y="0"/>
            <a:chExt cx="3905400" cy="3429000"/>
          </a:xfrm>
        </p:grpSpPr>
        <p:sp>
          <p:nvSpPr>
            <p:cNvPr id="274" name="Google Shape;274;p25"/>
            <p:cNvSpPr/>
            <p:nvPr/>
          </p:nvSpPr>
          <p:spPr>
            <a:xfrm>
              <a:off x="0" y="0"/>
              <a:ext cx="3905400" cy="3429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142875" y="142875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295275" y="142875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447675" y="142875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8" name="Google Shape;278;p25"/>
            <p:cNvGrpSpPr/>
            <p:nvPr/>
          </p:nvGrpSpPr>
          <p:grpSpPr>
            <a:xfrm>
              <a:off x="666750" y="114300"/>
              <a:ext cx="3048000" cy="190500"/>
              <a:chOff x="0" y="0"/>
              <a:chExt cx="3048000" cy="190500"/>
            </a:xfrm>
          </p:grpSpPr>
          <p:sp>
            <p:nvSpPr>
              <p:cNvPr id="279" name="Google Shape;279;p25"/>
              <p:cNvSpPr/>
              <p:nvPr/>
            </p:nvSpPr>
            <p:spPr>
              <a:xfrm>
                <a:off x="0" y="0"/>
                <a:ext cx="30480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5"/>
              <p:cNvSpPr txBox="1"/>
              <p:nvPr/>
            </p:nvSpPr>
            <p:spPr>
              <a:xfrm>
                <a:off x="0" y="0"/>
                <a:ext cx="3048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Bank.java</a:t>
                </a:r>
                <a:endParaRPr b="0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cxnSp>
          <p:nvCxnSpPr>
            <p:cNvPr id="281" name="Google Shape;281;p25"/>
            <p:cNvCxnSpPr/>
            <p:nvPr/>
          </p:nvCxnSpPr>
          <p:spPr>
            <a:xfrm>
              <a:off x="0" y="3429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82" name="Google Shape;282;p25"/>
            <p:cNvGrpSpPr/>
            <p:nvPr/>
          </p:nvGrpSpPr>
          <p:grpSpPr>
            <a:xfrm>
              <a:off x="190500" y="457200"/>
              <a:ext cx="3524400" cy="2819400"/>
              <a:chOff x="0" y="0"/>
              <a:chExt cx="3524400" cy="2819400"/>
            </a:xfrm>
          </p:grpSpPr>
          <p:sp>
            <p:nvSpPr>
              <p:cNvPr id="283" name="Google Shape;283;p25"/>
              <p:cNvSpPr/>
              <p:nvPr/>
            </p:nvSpPr>
            <p:spPr>
              <a:xfrm>
                <a:off x="0" y="0"/>
                <a:ext cx="3524400" cy="2819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5"/>
              <p:cNvSpPr txBox="1"/>
              <p:nvPr/>
            </p:nvSpPr>
            <p:spPr>
              <a:xfrm>
                <a:off x="0" y="0"/>
                <a:ext cx="3524400" cy="281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11D4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public abstract class </a:t>
                </a:r>
                <a:r>
                  <a:rPr b="1" lang="en" sz="1000">
                    <a:solidFill>
                      <a:srgbClr val="2563E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Bank</a:t>
                </a:r>
                <a:r>
                  <a:rPr b="0" lang="en" sz="1000">
                    <a:solidFill>
                      <a:srgbClr val="334155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{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11D4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private int </a:t>
                </a:r>
                <a:r>
                  <a:rPr b="0" lang="en" sz="1000">
                    <a:solidFill>
                      <a:srgbClr val="0284C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accno</a:t>
                </a:r>
                <a:r>
                  <a:rPr b="0" lang="en" sz="1000">
                    <a:solidFill>
                      <a:srgbClr val="334155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11D4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private </a:t>
                </a:r>
                <a:r>
                  <a:rPr b="0" lang="en" sz="1000">
                    <a:solidFill>
                      <a:srgbClr val="0284C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String name</a:t>
                </a:r>
                <a:r>
                  <a:rPr b="0" lang="en" sz="1000">
                    <a:solidFill>
                      <a:srgbClr val="334155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11D4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private float </a:t>
                </a:r>
                <a:r>
                  <a:rPr b="0" lang="en" sz="1000">
                    <a:solidFill>
                      <a:srgbClr val="0284C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balance</a:t>
                </a:r>
                <a:r>
                  <a:rPr b="0" lang="en" sz="1000">
                    <a:solidFill>
                      <a:srgbClr val="334155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11D4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private float </a:t>
                </a:r>
                <a:r>
                  <a:rPr b="0" lang="en" sz="1000">
                    <a:solidFill>
                      <a:srgbClr val="0284C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loan</a:t>
                </a:r>
                <a:r>
                  <a:rPr b="0" lang="en" sz="1000">
                    <a:solidFill>
                      <a:srgbClr val="334155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11D4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 </a:t>
                </a:r>
                <a:r>
                  <a:rPr b="1" lang="en" sz="1000">
                    <a:solidFill>
                      <a:srgbClr val="2563E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display_to_cler</a:t>
                </a:r>
                <a:r>
                  <a:rPr b="0" lang="en" sz="1000">
                    <a:solidFill>
                      <a:srgbClr val="334155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() {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7556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System.out.println(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6A34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"Accno = "</a:t>
                </a:r>
                <a:r>
                  <a:rPr b="0" lang="en" sz="1000">
                    <a:solidFill>
                      <a:srgbClr val="334155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+ accno);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7556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System.out.println(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6A34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"Name = "</a:t>
                </a:r>
                <a:r>
                  <a:rPr b="0" lang="en" sz="1000">
                    <a:solidFill>
                      <a:srgbClr val="334155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+ name);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34155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34155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0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285" name="Google Shape;285;p25"/>
          <p:cNvGrpSpPr/>
          <p:nvPr/>
        </p:nvGrpSpPr>
        <p:grpSpPr>
          <a:xfrm>
            <a:off x="4667250" y="1190625"/>
            <a:ext cx="3905400" cy="1619100"/>
            <a:chOff x="0" y="0"/>
            <a:chExt cx="3905400" cy="1619100"/>
          </a:xfrm>
        </p:grpSpPr>
        <p:sp>
          <p:nvSpPr>
            <p:cNvPr id="286" name="Google Shape;286;p25"/>
            <p:cNvSpPr/>
            <p:nvPr/>
          </p:nvSpPr>
          <p:spPr>
            <a:xfrm>
              <a:off x="0" y="0"/>
              <a:ext cx="39054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8" name="Google Shape;288;p25"/>
            <p:cNvGrpSpPr/>
            <p:nvPr/>
          </p:nvGrpSpPr>
          <p:grpSpPr>
            <a:xfrm>
              <a:off x="228600" y="190500"/>
              <a:ext cx="3448200" cy="1238400"/>
              <a:chOff x="0" y="0"/>
              <a:chExt cx="3448200" cy="1238400"/>
            </a:xfrm>
          </p:grpSpPr>
          <p:sp>
            <p:nvSpPr>
              <p:cNvPr id="289" name="Google Shape;289;p25"/>
              <p:cNvSpPr/>
              <p:nvPr/>
            </p:nvSpPr>
            <p:spPr>
              <a:xfrm>
                <a:off x="0" y="0"/>
                <a:ext cx="34482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5"/>
              <p:cNvSpPr txBox="1"/>
              <p:nvPr/>
            </p:nvSpPr>
            <p:spPr>
              <a:xfrm>
                <a:off x="0" y="0"/>
                <a:ext cx="34482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25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ABSTRACT CLASS (BASE)</a:t>
                </a:r>
                <a:endParaRPr b="0" sz="925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48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Bank Class Template</a:t>
                </a:r>
                <a:endParaRPr b="0" sz="925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71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Defines base structure for derived bank account types:</a:t>
                </a:r>
                <a:endParaRPr b="0" sz="925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-287338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0284C7"/>
                  </a:buClr>
                  <a:buSzPts val="925"/>
                  <a:buFont typeface="Inter"/>
                  <a:buChar char="●"/>
                </a:pPr>
                <a:r>
                  <a:rPr b="1" lang="en" sz="925">
                    <a:solidFill>
                      <a:srgbClr val="0284C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public abstract class Bank</a:t>
                </a:r>
                <a:endParaRPr b="0" sz="925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-287338" lvl="0" marL="457200" rtl="0" algn="l">
                  <a:spcBef>
                    <a:spcPts val="300"/>
                  </a:spcBef>
                  <a:spcAft>
                    <a:spcPts val="0"/>
                  </a:spcAft>
                  <a:buClr>
                    <a:srgbClr val="0284C7"/>
                  </a:buClr>
                  <a:buSzPts val="925"/>
                  <a:buFont typeface="Inter"/>
                  <a:buChar char="●"/>
                </a:pPr>
                <a:r>
                  <a:rPr b="0" lang="en" sz="92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Cannot be directly instantiated without subclassing</a:t>
                </a:r>
                <a:endParaRPr b="0" sz="925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  <p:grpSp>
        <p:nvGrpSpPr>
          <p:cNvPr id="291" name="Google Shape;291;p25"/>
          <p:cNvGrpSpPr/>
          <p:nvPr/>
        </p:nvGrpSpPr>
        <p:grpSpPr>
          <a:xfrm>
            <a:off x="4667250" y="3000375"/>
            <a:ext cx="3905400" cy="1619100"/>
            <a:chOff x="0" y="0"/>
            <a:chExt cx="3905400" cy="1619100"/>
          </a:xfrm>
        </p:grpSpPr>
        <p:sp>
          <p:nvSpPr>
            <p:cNvPr id="292" name="Google Shape;292;p25"/>
            <p:cNvSpPr/>
            <p:nvPr/>
          </p:nvSpPr>
          <p:spPr>
            <a:xfrm>
              <a:off x="0" y="0"/>
              <a:ext cx="39054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4" name="Google Shape;294;p25"/>
            <p:cNvGrpSpPr/>
            <p:nvPr/>
          </p:nvGrpSpPr>
          <p:grpSpPr>
            <a:xfrm>
              <a:off x="228600" y="190500"/>
              <a:ext cx="3448200" cy="1238400"/>
              <a:chOff x="0" y="0"/>
              <a:chExt cx="3448200" cy="1238400"/>
            </a:xfrm>
          </p:grpSpPr>
          <p:sp>
            <p:nvSpPr>
              <p:cNvPr id="295" name="Google Shape;295;p25"/>
              <p:cNvSpPr/>
              <p:nvPr/>
            </p:nvSpPr>
            <p:spPr>
              <a:xfrm>
                <a:off x="0" y="0"/>
                <a:ext cx="34482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5"/>
              <p:cNvSpPr txBox="1"/>
              <p:nvPr/>
            </p:nvSpPr>
            <p:spPr>
              <a:xfrm>
                <a:off x="0" y="0"/>
                <a:ext cx="34482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59669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ENCAPSULATION &amp; METHODS</a:t>
                </a:r>
                <a:endParaRPr b="0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Data Protection &amp; Access</a:t>
                </a:r>
                <a:endParaRPr b="0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Restricts direct access to member variables:</a:t>
                </a:r>
                <a:endParaRPr b="0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-29210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059669"/>
                  </a:buClr>
                  <a:buSzPts val="1000"/>
                  <a:buFont typeface="Inter"/>
                  <a:buChar char="●"/>
                </a:pPr>
                <a:r>
                  <a:rPr b="1" lang="en" sz="1000">
                    <a:solidFill>
                      <a:srgbClr val="05966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private</a:t>
                </a:r>
                <a:r>
                  <a:rPr b="0" lang="en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fields: accno, name, balance, loan</a:t>
                </a:r>
                <a:endParaRPr b="0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-292100" lvl="0" marL="457200" rtl="0" algn="l">
                  <a:spcBef>
                    <a:spcPts val="300"/>
                  </a:spcBef>
                  <a:spcAft>
                    <a:spcPts val="0"/>
                  </a:spcAft>
                  <a:buClr>
                    <a:srgbClr val="059669"/>
                  </a:buClr>
                  <a:buSzPts val="1000"/>
                  <a:buFont typeface="Inter"/>
                  <a:buChar char="●"/>
                </a:pPr>
                <a:r>
                  <a:rPr b="1" lang="en" sz="1000">
                    <a:solidFill>
                      <a:srgbClr val="05966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display_to_cler()</a:t>
                </a:r>
                <a:r>
                  <a:rPr b="0" lang="en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prints account info</a:t>
                </a:r>
                <a:endParaRPr b="0" sz="10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26"/>
          <p:cNvGrpSpPr/>
          <p:nvPr/>
        </p:nvGrpSpPr>
        <p:grpSpPr>
          <a:xfrm>
            <a:off x="571500" y="342900"/>
            <a:ext cx="8001000" cy="666900"/>
            <a:chOff x="0" y="0"/>
            <a:chExt cx="8001000" cy="666900"/>
          </a:xfrm>
        </p:grpSpPr>
        <p:sp>
          <p:nvSpPr>
            <p:cNvPr id="302" name="Google Shape;302;p26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6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CONCEPTS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Polymorphism in OOP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4" name="Google Shape;304;p26"/>
          <p:cNvGrpSpPr/>
          <p:nvPr/>
        </p:nvGrpSpPr>
        <p:grpSpPr>
          <a:xfrm>
            <a:off x="571500" y="1238250"/>
            <a:ext cx="2476500" cy="3333900"/>
            <a:chOff x="0" y="0"/>
            <a:chExt cx="2476500" cy="3333900"/>
          </a:xfrm>
        </p:grpSpPr>
        <p:sp>
          <p:nvSpPr>
            <p:cNvPr id="305" name="Google Shape;305;p26"/>
            <p:cNvSpPr/>
            <p:nvPr/>
          </p:nvSpPr>
          <p:spPr>
            <a:xfrm>
              <a:off x="0" y="0"/>
              <a:ext cx="2476500" cy="33339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6"/>
            <p:cNvSpPr txBox="1"/>
            <p:nvPr/>
          </p:nvSpPr>
          <p:spPr>
            <a:xfrm>
              <a:off x="190500" y="228600"/>
              <a:ext cx="20955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Multiple Forms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Polymorphism is the ability of an object to take on many forms. The most common use in OOP occurs when a parent class reference is used to refer to a child class object.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08" name="Google Shape;308;p26"/>
          <p:cNvGrpSpPr/>
          <p:nvPr/>
        </p:nvGrpSpPr>
        <p:grpSpPr>
          <a:xfrm>
            <a:off x="3333750" y="1238250"/>
            <a:ext cx="2476500" cy="3333900"/>
            <a:chOff x="0" y="0"/>
            <a:chExt cx="2476500" cy="3333900"/>
          </a:xfrm>
        </p:grpSpPr>
        <p:sp>
          <p:nvSpPr>
            <p:cNvPr id="309" name="Google Shape;309;p26"/>
            <p:cNvSpPr/>
            <p:nvPr/>
          </p:nvSpPr>
          <p:spPr>
            <a:xfrm>
              <a:off x="0" y="0"/>
              <a:ext cx="2476500" cy="33339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 txBox="1"/>
            <p:nvPr/>
          </p:nvSpPr>
          <p:spPr>
            <a:xfrm>
              <a:off x="190500" y="228600"/>
              <a:ext cx="20955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IS-A TEST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Object Polymorphism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Any Java object passing more than one IS-A test is considered polymorphic. All Java objects pass the IS-A test for their own type and for the class Object.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12" name="Google Shape;312;p26"/>
          <p:cNvGrpSpPr/>
          <p:nvPr/>
        </p:nvGrpSpPr>
        <p:grpSpPr>
          <a:xfrm>
            <a:off x="6096000" y="1238250"/>
            <a:ext cx="2476500" cy="3333900"/>
            <a:chOff x="0" y="0"/>
            <a:chExt cx="2476500" cy="3333900"/>
          </a:xfrm>
        </p:grpSpPr>
        <p:sp>
          <p:nvSpPr>
            <p:cNvPr id="313" name="Google Shape;313;p26"/>
            <p:cNvSpPr/>
            <p:nvPr/>
          </p:nvSpPr>
          <p:spPr>
            <a:xfrm>
              <a:off x="0" y="0"/>
              <a:ext cx="2476500" cy="33339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6"/>
            <p:cNvSpPr txBox="1"/>
            <p:nvPr/>
          </p:nvSpPr>
          <p:spPr>
            <a:xfrm>
              <a:off x="190500" y="228600"/>
              <a:ext cx="20955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REFERENCES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Type Immutability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Access to an object is only through a reference variable of a single type. Once declared, the type of a reference variable cannot be changed.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/>
          <p:nvPr>
            <p:ph type="title"/>
          </p:nvPr>
        </p:nvSpPr>
        <p:spPr>
          <a:xfrm>
            <a:off x="571500" y="3429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CORE CONCEPTS</a:t>
            </a:r>
            <a:endParaRPr b="1" i="0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Example: Shape Hierarchy</a:t>
            </a:r>
            <a:endParaRPr b="1" i="0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1" name="Google Shape;321;p27"/>
          <p:cNvGrpSpPr/>
          <p:nvPr/>
        </p:nvGrpSpPr>
        <p:grpSpPr>
          <a:xfrm>
            <a:off x="2524125" y="1514475"/>
            <a:ext cx="4095900" cy="342975"/>
            <a:chOff x="2524125" y="1514475"/>
            <a:chExt cx="4095900" cy="342975"/>
          </a:xfrm>
        </p:grpSpPr>
        <p:cxnSp>
          <p:nvCxnSpPr>
            <p:cNvPr id="322" name="Google Shape;322;p27"/>
            <p:cNvCxnSpPr/>
            <p:nvPr/>
          </p:nvCxnSpPr>
          <p:spPr>
            <a:xfrm>
              <a:off x="4572000" y="1514475"/>
              <a:ext cx="0" cy="180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3" name="Google Shape;323;p27"/>
            <p:cNvCxnSpPr/>
            <p:nvPr/>
          </p:nvCxnSpPr>
          <p:spPr>
            <a:xfrm>
              <a:off x="2524125" y="1695450"/>
              <a:ext cx="40959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" name="Google Shape;324;p27"/>
            <p:cNvCxnSpPr/>
            <p:nvPr/>
          </p:nvCxnSpPr>
          <p:spPr>
            <a:xfrm>
              <a:off x="2524125" y="1695450"/>
              <a:ext cx="0" cy="162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" name="Google Shape;325;p27"/>
            <p:cNvCxnSpPr/>
            <p:nvPr/>
          </p:nvCxnSpPr>
          <p:spPr>
            <a:xfrm>
              <a:off x="6619875" y="1695450"/>
              <a:ext cx="0" cy="162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26" name="Google Shape;326;p27"/>
          <p:cNvGrpSpPr/>
          <p:nvPr/>
        </p:nvGrpSpPr>
        <p:grpSpPr>
          <a:xfrm>
            <a:off x="3619500" y="1095375"/>
            <a:ext cx="1905000" cy="419100"/>
            <a:chOff x="0" y="0"/>
            <a:chExt cx="1905000" cy="419100"/>
          </a:xfrm>
        </p:grpSpPr>
        <p:sp>
          <p:nvSpPr>
            <p:cNvPr id="327" name="Google Shape;327;p27"/>
            <p:cNvSpPr/>
            <p:nvPr/>
          </p:nvSpPr>
          <p:spPr>
            <a:xfrm>
              <a:off x="0" y="0"/>
              <a:ext cx="1905000" cy="419100"/>
            </a:xfrm>
            <a:prstGeom prst="roundRect">
              <a:avLst>
                <a:gd fmla="val 18181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7"/>
            <p:cNvSpPr txBox="1"/>
            <p:nvPr/>
          </p:nvSpPr>
          <p:spPr>
            <a:xfrm>
              <a:off x="0" y="0"/>
              <a:ext cx="1905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Shape</a:t>
              </a:r>
              <a:endParaRPr b="1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9" name="Google Shape;329;p27"/>
          <p:cNvGrpSpPr/>
          <p:nvPr/>
        </p:nvGrpSpPr>
        <p:grpSpPr>
          <a:xfrm>
            <a:off x="571500" y="1857375"/>
            <a:ext cx="3905400" cy="2905200"/>
            <a:chOff x="0" y="0"/>
            <a:chExt cx="3905400" cy="2905200"/>
          </a:xfrm>
        </p:grpSpPr>
        <p:sp>
          <p:nvSpPr>
            <p:cNvPr id="330" name="Google Shape;330;p27"/>
            <p:cNvSpPr/>
            <p:nvPr/>
          </p:nvSpPr>
          <p:spPr>
            <a:xfrm>
              <a:off x="0" y="0"/>
              <a:ext cx="3905400" cy="2905200"/>
            </a:xfrm>
            <a:prstGeom prst="roundRect">
              <a:avLst>
                <a:gd fmla="val 3934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7"/>
            <p:cNvSpPr txBox="1"/>
            <p:nvPr/>
          </p:nvSpPr>
          <p:spPr>
            <a:xfrm>
              <a:off x="0" y="0"/>
              <a:ext cx="3905400" cy="29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CATEGORY 01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2-D Shape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Circle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Rectangle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└─ Square </a:t>
              </a:r>
              <a:r>
                <a:rPr b="0" lang="en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(Derived)</a:t>
              </a:r>
              <a:endParaRPr b="0" sz="95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Triangle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└─ Equilateral Triangle </a:t>
              </a:r>
              <a:r>
                <a:rPr b="0" lang="en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(Derived)</a:t>
              </a:r>
              <a:endParaRPr b="0" sz="95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33" name="Google Shape;333;p27"/>
          <p:cNvGrpSpPr/>
          <p:nvPr/>
        </p:nvGrpSpPr>
        <p:grpSpPr>
          <a:xfrm>
            <a:off x="4667250" y="1857375"/>
            <a:ext cx="3905400" cy="2905200"/>
            <a:chOff x="0" y="0"/>
            <a:chExt cx="3905400" cy="2905200"/>
          </a:xfrm>
        </p:grpSpPr>
        <p:sp>
          <p:nvSpPr>
            <p:cNvPr id="334" name="Google Shape;334;p27"/>
            <p:cNvSpPr/>
            <p:nvPr/>
          </p:nvSpPr>
          <p:spPr>
            <a:xfrm>
              <a:off x="0" y="0"/>
              <a:ext cx="3905400" cy="2905200"/>
            </a:xfrm>
            <a:prstGeom prst="roundRect">
              <a:avLst>
                <a:gd fmla="val 3934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7"/>
            <p:cNvSpPr txBox="1"/>
            <p:nvPr/>
          </p:nvSpPr>
          <p:spPr>
            <a:xfrm>
              <a:off x="0" y="0"/>
              <a:ext cx="3905400" cy="29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CATEGORY 02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3-D Shape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Sphere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Cube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"/>
          <p:cNvSpPr txBox="1"/>
          <p:nvPr/>
        </p:nvSpPr>
        <p:spPr>
          <a:xfrm>
            <a:off x="571500" y="3429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POLYMORPHISM IN JAVA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Method Overloading Examples</a:t>
            </a:r>
            <a:endParaRPr b="0" sz="2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42" name="Google Shape;342;p28"/>
          <p:cNvGrpSpPr/>
          <p:nvPr/>
        </p:nvGrpSpPr>
        <p:grpSpPr>
          <a:xfrm>
            <a:off x="571500" y="1200150"/>
            <a:ext cx="8001000" cy="571500"/>
            <a:chOff x="0" y="0"/>
            <a:chExt cx="8001000" cy="571500"/>
          </a:xfrm>
        </p:grpSpPr>
        <p:sp>
          <p:nvSpPr>
            <p:cNvPr id="343" name="Google Shape;343;p28"/>
            <p:cNvSpPr/>
            <p:nvPr/>
          </p:nvSpPr>
          <p:spPr>
            <a:xfrm>
              <a:off x="0" y="0"/>
              <a:ext cx="8001000" cy="571500"/>
            </a:xfrm>
            <a:prstGeom prst="roundRect">
              <a:avLst>
                <a:gd fmla="val 16666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0" y="0"/>
              <a:ext cx="57300" cy="571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8"/>
            <p:cNvSpPr txBox="1"/>
            <p:nvPr/>
          </p:nvSpPr>
          <p:spPr>
            <a:xfrm>
              <a:off x="228600" y="0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</a:t>
              </a:r>
              <a:r>
                <a:rPr b="1" lang="en" sz="15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add</a:t>
              </a: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(int a, int b)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2 PARAMETERS (INT, INT)</a:t>
              </a:r>
              <a:endParaRPr b="1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6" name="Google Shape;346;p28"/>
          <p:cNvGrpSpPr/>
          <p:nvPr/>
        </p:nvGrpSpPr>
        <p:grpSpPr>
          <a:xfrm>
            <a:off x="571500" y="1885950"/>
            <a:ext cx="8001000" cy="571500"/>
            <a:chOff x="0" y="0"/>
            <a:chExt cx="8001000" cy="571500"/>
          </a:xfrm>
        </p:grpSpPr>
        <p:sp>
          <p:nvSpPr>
            <p:cNvPr id="347" name="Google Shape;347;p28"/>
            <p:cNvSpPr/>
            <p:nvPr/>
          </p:nvSpPr>
          <p:spPr>
            <a:xfrm>
              <a:off x="0" y="0"/>
              <a:ext cx="8001000" cy="571500"/>
            </a:xfrm>
            <a:prstGeom prst="roundRect">
              <a:avLst>
                <a:gd fmla="val 16666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0" y="0"/>
              <a:ext cx="57300" cy="5715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8"/>
            <p:cNvSpPr txBox="1"/>
            <p:nvPr/>
          </p:nvSpPr>
          <p:spPr>
            <a:xfrm>
              <a:off x="228600" y="0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 </a:t>
              </a:r>
              <a:r>
                <a:rPr b="1" lang="en" sz="1500">
                  <a:solidFill>
                    <a:srgbClr val="0596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add</a:t>
              </a: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(float a, int b)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2 PARAMETERS (FLOAT, INT)</a:t>
              </a:r>
              <a:endParaRPr b="1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0" name="Google Shape;350;p28"/>
          <p:cNvGrpSpPr/>
          <p:nvPr/>
        </p:nvGrpSpPr>
        <p:grpSpPr>
          <a:xfrm>
            <a:off x="571500" y="2571750"/>
            <a:ext cx="8001000" cy="571500"/>
            <a:chOff x="0" y="0"/>
            <a:chExt cx="8001000" cy="571500"/>
          </a:xfrm>
        </p:grpSpPr>
        <p:sp>
          <p:nvSpPr>
            <p:cNvPr id="351" name="Google Shape;351;p28"/>
            <p:cNvSpPr/>
            <p:nvPr/>
          </p:nvSpPr>
          <p:spPr>
            <a:xfrm>
              <a:off x="0" y="0"/>
              <a:ext cx="8001000" cy="571500"/>
            </a:xfrm>
            <a:prstGeom prst="roundRect">
              <a:avLst>
                <a:gd fmla="val 16666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0" y="0"/>
              <a:ext cx="57300" cy="5715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8"/>
            <p:cNvSpPr txBox="1"/>
            <p:nvPr/>
          </p:nvSpPr>
          <p:spPr>
            <a:xfrm>
              <a:off x="228600" y="0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 </a:t>
              </a:r>
              <a:r>
                <a:rPr b="1" lang="en" sz="1500">
                  <a:solidFill>
                    <a:srgbClr val="0596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add</a:t>
              </a: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(int a, float b)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2 PARAMETERS (INT, FLOAT)</a:t>
              </a:r>
              <a:endParaRPr b="1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4" name="Google Shape;354;p28"/>
          <p:cNvGrpSpPr/>
          <p:nvPr/>
        </p:nvGrpSpPr>
        <p:grpSpPr>
          <a:xfrm>
            <a:off x="571500" y="3257550"/>
            <a:ext cx="8001000" cy="571500"/>
            <a:chOff x="0" y="0"/>
            <a:chExt cx="8001000" cy="571500"/>
          </a:xfrm>
        </p:grpSpPr>
        <p:sp>
          <p:nvSpPr>
            <p:cNvPr id="355" name="Google Shape;355;p28"/>
            <p:cNvSpPr/>
            <p:nvPr/>
          </p:nvSpPr>
          <p:spPr>
            <a:xfrm>
              <a:off x="0" y="0"/>
              <a:ext cx="8001000" cy="571500"/>
            </a:xfrm>
            <a:prstGeom prst="roundRect">
              <a:avLst>
                <a:gd fmla="val 16666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0" y="0"/>
              <a:ext cx="57300" cy="5715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8"/>
            <p:cNvSpPr txBox="1"/>
            <p:nvPr/>
          </p:nvSpPr>
          <p:spPr>
            <a:xfrm>
              <a:off x="228600" y="0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 </a:t>
              </a:r>
              <a:r>
                <a:rPr b="1" lang="en" sz="1500">
                  <a:solidFill>
                    <a:srgbClr val="7C3AE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add</a:t>
              </a: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(float a)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 PARAMETER (FLOAT)</a:t>
              </a:r>
              <a:endParaRPr b="1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8" name="Google Shape;358;p28"/>
          <p:cNvGrpSpPr/>
          <p:nvPr/>
        </p:nvGrpSpPr>
        <p:grpSpPr>
          <a:xfrm>
            <a:off x="571500" y="3943350"/>
            <a:ext cx="8001000" cy="571500"/>
            <a:chOff x="0" y="0"/>
            <a:chExt cx="8001000" cy="571500"/>
          </a:xfrm>
        </p:grpSpPr>
        <p:sp>
          <p:nvSpPr>
            <p:cNvPr id="359" name="Google Shape;359;p28"/>
            <p:cNvSpPr/>
            <p:nvPr/>
          </p:nvSpPr>
          <p:spPr>
            <a:xfrm>
              <a:off x="0" y="0"/>
              <a:ext cx="8001000" cy="571500"/>
            </a:xfrm>
            <a:prstGeom prst="roundRect">
              <a:avLst>
                <a:gd fmla="val 16666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0" y="0"/>
              <a:ext cx="57300" cy="5715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8"/>
            <p:cNvSpPr txBox="1"/>
            <p:nvPr/>
          </p:nvSpPr>
          <p:spPr>
            <a:xfrm>
              <a:off x="228600" y="0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</a:t>
              </a:r>
              <a:r>
                <a:rPr b="1" lang="en" sz="1500">
                  <a:solidFill>
                    <a:srgbClr val="D9770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add</a:t>
              </a:r>
              <a:r>
                <a:rPr b="1" lang="en" sz="15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(int a)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 PARAMETER (INT)</a:t>
              </a:r>
              <a:endParaRPr b="1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Classes &amp; Objects</a:t>
            </a:r>
            <a:endParaRPr b="0" sz="2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67" name="Google Shape;367;p29"/>
          <p:cNvGrpSpPr/>
          <p:nvPr/>
        </p:nvGrpSpPr>
        <p:grpSpPr>
          <a:xfrm>
            <a:off x="571500" y="1285875"/>
            <a:ext cx="3905400" cy="3381300"/>
            <a:chOff x="0" y="0"/>
            <a:chExt cx="3905400" cy="3381300"/>
          </a:xfrm>
        </p:grpSpPr>
        <p:sp>
          <p:nvSpPr>
            <p:cNvPr id="368" name="Google Shape;368;p29"/>
            <p:cNvSpPr/>
            <p:nvPr/>
          </p:nvSpPr>
          <p:spPr>
            <a:xfrm>
              <a:off x="0" y="0"/>
              <a:ext cx="39054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9"/>
            <p:cNvSpPr txBox="1"/>
            <p:nvPr/>
          </p:nvSpPr>
          <p:spPr>
            <a:xfrm>
              <a:off x="0" y="0"/>
              <a:ext cx="39054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CONCEPT 01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Class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 template or blueprint that describes the behaviors and states that objects of its type support.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Inter"/>
                  <a:ea typeface="Inter"/>
                  <a:cs typeface="Inter"/>
                  <a:sym typeface="Inter"/>
                </a:rPr>
                <a:t>Key Characteristics:</a:t>
              </a:r>
              <a:endParaRPr b="1" sz="1000">
                <a:solidFill>
                  <a:srgbClr val="0F172A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475569"/>
                  </a:solidFill>
                  <a:highlight>
                    <a:srgbClr val="F8FAFC"/>
                  </a:highlight>
                  <a:latin typeface="Inter"/>
                  <a:ea typeface="Inter"/>
                  <a:cs typeface="Inter"/>
                  <a:sym typeface="Inter"/>
                </a:rPr>
                <a:t>Serves as a structural design / blueprint</a:t>
              </a:r>
              <a:endParaRPr sz="1000">
                <a:solidFill>
                  <a:srgbClr val="475569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475569"/>
                  </a:solidFill>
                  <a:highlight>
                    <a:srgbClr val="F8FAFC"/>
                  </a:highlight>
                  <a:latin typeface="Inter"/>
                  <a:ea typeface="Inter"/>
                  <a:cs typeface="Inter"/>
                  <a:sym typeface="Inter"/>
                </a:rPr>
                <a:t>Defines attributes &amp; methods</a:t>
              </a:r>
              <a:endParaRPr sz="1000">
                <a:solidFill>
                  <a:srgbClr val="475569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475569"/>
                  </a:solidFill>
                  <a:highlight>
                    <a:srgbClr val="F8FAFC"/>
                  </a:highlight>
                  <a:latin typeface="Inter"/>
                  <a:ea typeface="Inter"/>
                  <a:cs typeface="Inter"/>
                  <a:sym typeface="Inter"/>
                </a:rPr>
                <a:t>Does not consume memory until instantiated</a:t>
              </a:r>
              <a:endParaRPr sz="1000">
                <a:solidFill>
                  <a:srgbClr val="475569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1" name="Google Shape;371;p29"/>
          <p:cNvGrpSpPr/>
          <p:nvPr/>
        </p:nvGrpSpPr>
        <p:grpSpPr>
          <a:xfrm>
            <a:off x="4667250" y="1285875"/>
            <a:ext cx="3905400" cy="3381300"/>
            <a:chOff x="0" y="0"/>
            <a:chExt cx="3905400" cy="3381300"/>
          </a:xfrm>
        </p:grpSpPr>
        <p:sp>
          <p:nvSpPr>
            <p:cNvPr id="372" name="Google Shape;372;p29"/>
            <p:cNvSpPr/>
            <p:nvPr/>
          </p:nvSpPr>
          <p:spPr>
            <a:xfrm>
              <a:off x="0" y="0"/>
              <a:ext cx="39054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0" y="0"/>
              <a:ext cx="3905400" cy="47700"/>
            </a:xfrm>
            <a:prstGeom prst="roundRect">
              <a:avLst>
                <a:gd fmla="val 4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9"/>
            <p:cNvSpPr txBox="1"/>
            <p:nvPr/>
          </p:nvSpPr>
          <p:spPr>
            <a:xfrm>
              <a:off x="0" y="0"/>
              <a:ext cx="39054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CONCEPT 02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Object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 real-world instance of a class having distinct states and behaviors.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Example: Dog Object</a:t>
              </a:r>
              <a:endParaRPr b="1" sz="1000">
                <a:solidFill>
                  <a:srgbClr val="0F172A"/>
                </a:solidFill>
                <a:highlight>
                  <a:srgbClr val="F0FDF4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66534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States:</a:t>
              </a:r>
              <a:r>
                <a:rPr lang="en" sz="1000">
                  <a:solidFill>
                    <a:srgbClr val="166534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 Color, Name, Breed</a:t>
              </a:r>
              <a:endParaRPr sz="1000">
                <a:solidFill>
                  <a:srgbClr val="166534"/>
                </a:solidFill>
                <a:highlight>
                  <a:srgbClr val="F0FDF4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66534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Behaviors:</a:t>
              </a:r>
              <a:r>
                <a:rPr lang="en" sz="1000">
                  <a:solidFill>
                    <a:srgbClr val="166534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 Wagging, Barking, Eating</a:t>
              </a:r>
              <a:endParaRPr sz="1000">
                <a:solidFill>
                  <a:srgbClr val="166534"/>
                </a:solidFill>
                <a:highlight>
                  <a:srgbClr val="F0FDF4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0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Class Definition &amp; Concepts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80" name="Google Shape;380;p30"/>
          <p:cNvGrpSpPr/>
          <p:nvPr/>
        </p:nvGrpSpPr>
        <p:grpSpPr>
          <a:xfrm>
            <a:off x="571500" y="1285875"/>
            <a:ext cx="2552700" cy="3381300"/>
            <a:chOff x="0" y="0"/>
            <a:chExt cx="2552700" cy="3381300"/>
          </a:xfrm>
        </p:grpSpPr>
        <p:sp>
          <p:nvSpPr>
            <p:cNvPr id="381" name="Google Shape;381;p30"/>
            <p:cNvSpPr/>
            <p:nvPr/>
          </p:nvSpPr>
          <p:spPr>
            <a:xfrm>
              <a:off x="0" y="0"/>
              <a:ext cx="2552700" cy="3381300"/>
            </a:xfrm>
            <a:prstGeom prst="roundRect">
              <a:avLst>
                <a:gd fmla="val 447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0" y="0"/>
              <a:ext cx="2552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0"/>
            <p:cNvSpPr txBox="1"/>
            <p:nvPr/>
          </p:nvSpPr>
          <p:spPr>
            <a:xfrm>
              <a:off x="0" y="0"/>
              <a:ext cx="25527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PILLAR 01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Object Blueprint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 programming language construct used as a master template to instantiate objects.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highlight>
                    <a:srgbClr val="F0F9FF"/>
                  </a:highlight>
                  <a:latin typeface="Inter"/>
                  <a:ea typeface="Inter"/>
                  <a:cs typeface="Inter"/>
                  <a:sym typeface="Inter"/>
                </a:rPr>
                <a:t>Core Functions: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284C7"/>
                </a:buClr>
                <a:buSzPts val="900"/>
                <a:buFont typeface="Inter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Acts as a structural blueprint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284C7"/>
                </a:buClr>
                <a:buSzPts val="900"/>
                <a:buFont typeface="Inter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Defines shared attributes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284C7"/>
                </a:buClr>
                <a:buSzPts val="900"/>
                <a:buFont typeface="Inter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Defines common methods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84" name="Google Shape;384;p30"/>
          <p:cNvGrpSpPr/>
          <p:nvPr/>
        </p:nvGrpSpPr>
        <p:grpSpPr>
          <a:xfrm>
            <a:off x="3295650" y="1285875"/>
            <a:ext cx="2552700" cy="3381300"/>
            <a:chOff x="0" y="0"/>
            <a:chExt cx="2552700" cy="3381300"/>
          </a:xfrm>
        </p:grpSpPr>
        <p:sp>
          <p:nvSpPr>
            <p:cNvPr id="385" name="Google Shape;385;p30"/>
            <p:cNvSpPr/>
            <p:nvPr/>
          </p:nvSpPr>
          <p:spPr>
            <a:xfrm>
              <a:off x="0" y="0"/>
              <a:ext cx="2552700" cy="3381300"/>
            </a:xfrm>
            <a:prstGeom prst="roundRect">
              <a:avLst>
                <a:gd fmla="val 447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0" y="0"/>
              <a:ext cx="2552700" cy="47700"/>
            </a:xfrm>
            <a:prstGeom prst="roundRect">
              <a:avLst>
                <a:gd fmla="val 4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0"/>
            <p:cNvSpPr txBox="1"/>
            <p:nvPr/>
          </p:nvSpPr>
          <p:spPr>
            <a:xfrm>
              <a:off x="0" y="0"/>
              <a:ext cx="25527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5966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PILLAR 02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Abstraction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An abstract representation of real-world concepts within software systems.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Models Entities Such As: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59669"/>
                </a:buClr>
                <a:buSzPts val="900"/>
                <a:buFont typeface="Inter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Person (e.g., User, Employee)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59669"/>
                </a:buClr>
                <a:buSzPts val="900"/>
                <a:buFont typeface="Inter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Place (e.g., Location, Store)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59669"/>
                </a:buClr>
                <a:buSzPts val="900"/>
                <a:buFont typeface="Inter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Thing (e.g., Account, Product)</a:t>
              </a:r>
              <a:endParaRPr b="0" sz="900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88" name="Google Shape;388;p30"/>
          <p:cNvGrpSpPr/>
          <p:nvPr/>
        </p:nvGrpSpPr>
        <p:grpSpPr>
          <a:xfrm>
            <a:off x="6019800" y="1285875"/>
            <a:ext cx="2552700" cy="3381300"/>
            <a:chOff x="0" y="0"/>
            <a:chExt cx="2552700" cy="3381300"/>
          </a:xfrm>
        </p:grpSpPr>
        <p:sp>
          <p:nvSpPr>
            <p:cNvPr id="389" name="Google Shape;389;p30"/>
            <p:cNvSpPr/>
            <p:nvPr/>
          </p:nvSpPr>
          <p:spPr>
            <a:xfrm>
              <a:off x="0" y="0"/>
              <a:ext cx="2552700" cy="3381300"/>
            </a:xfrm>
            <a:prstGeom prst="roundRect">
              <a:avLst>
                <a:gd fmla="val 447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0" y="0"/>
              <a:ext cx="2552700" cy="47700"/>
            </a:xfrm>
            <a:prstGeom prst="roundRect">
              <a:avLst>
                <a:gd fmla="val 4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0"/>
            <p:cNvSpPr txBox="1"/>
            <p:nvPr/>
          </p:nvSpPr>
          <p:spPr>
            <a:xfrm>
              <a:off x="0" y="0"/>
              <a:ext cx="25527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PILLAR 03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Encapsulation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Bundles data placeholders and executable code into a single logical unit.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highlight>
                    <a:srgbClr val="F3E8FF"/>
                  </a:highlight>
                  <a:latin typeface="Inter"/>
                  <a:ea typeface="Inter"/>
                  <a:cs typeface="Inter"/>
                  <a:sym typeface="Inter"/>
                </a:rPr>
                <a:t>Core Components: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7C3AED"/>
                </a:buClr>
                <a:buSzPts val="900"/>
                <a:buFont typeface="Inter"/>
                <a:buChar char="●"/>
              </a:pPr>
              <a:r>
                <a:rPr b="1" lang="en" sz="1000">
                  <a:solidFill>
                    <a:srgbClr val="6B21A8"/>
                  </a:solidFill>
                  <a:latin typeface="Inter"/>
                  <a:ea typeface="Inter"/>
                  <a:cs typeface="Inter"/>
                  <a:sym typeface="Inter"/>
                </a:rPr>
                <a:t>State: 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Member variables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7C3AED"/>
                </a:buClr>
                <a:buSzPts val="900"/>
                <a:buFont typeface="Inter"/>
                <a:buChar char="●"/>
              </a:pPr>
              <a:r>
                <a:rPr b="1" lang="en" sz="1000">
                  <a:solidFill>
                    <a:srgbClr val="6B21A8"/>
                  </a:solidFill>
                  <a:latin typeface="Inter"/>
                  <a:ea typeface="Inter"/>
                  <a:cs typeface="Inter"/>
                  <a:sym typeface="Inter"/>
                </a:rPr>
                <a:t>Behavior: 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Reusable methods</a:t>
              </a:r>
              <a:endParaRPr b="0" sz="9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31"/>
          <p:cNvGrpSpPr/>
          <p:nvPr/>
        </p:nvGrpSpPr>
        <p:grpSpPr>
          <a:xfrm>
            <a:off x="571500" y="381000"/>
            <a:ext cx="8001000" cy="666900"/>
            <a:chOff x="0" y="0"/>
            <a:chExt cx="8001000" cy="666900"/>
          </a:xfrm>
        </p:grpSpPr>
        <p:sp>
          <p:nvSpPr>
            <p:cNvPr id="397" name="Google Shape;397;p31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1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Class Syntax Structure</a:t>
              </a:r>
              <a:endParaRPr b="0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99" name="Google Shape;399;p31"/>
          <p:cNvGrpSpPr/>
          <p:nvPr/>
        </p:nvGrpSpPr>
        <p:grpSpPr>
          <a:xfrm>
            <a:off x="571500" y="1285875"/>
            <a:ext cx="4762500" cy="3381300"/>
            <a:chOff x="0" y="0"/>
            <a:chExt cx="4762500" cy="3381300"/>
          </a:xfrm>
        </p:grpSpPr>
        <p:sp>
          <p:nvSpPr>
            <p:cNvPr id="400" name="Google Shape;400;p31"/>
            <p:cNvSpPr/>
            <p:nvPr/>
          </p:nvSpPr>
          <p:spPr>
            <a:xfrm>
              <a:off x="0" y="0"/>
              <a:ext cx="4762500" cy="3381300"/>
            </a:xfrm>
            <a:prstGeom prst="roundRect">
              <a:avLst>
                <a:gd fmla="val 3379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1"/>
            <p:cNvSpPr/>
            <p:nvPr/>
          </p:nvSpPr>
          <p:spPr>
            <a:xfrm>
              <a:off x="0" y="0"/>
              <a:ext cx="4762500" cy="342900"/>
            </a:xfrm>
            <a:prstGeom prst="roundRect">
              <a:avLst>
                <a:gd fmla="val 33333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1"/>
            <p:cNvSpPr/>
            <p:nvPr/>
          </p:nvSpPr>
          <p:spPr>
            <a:xfrm>
              <a:off x="0" y="228600"/>
              <a:ext cx="4762500" cy="1143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1"/>
            <p:cNvSpPr/>
            <p:nvPr/>
          </p:nvSpPr>
          <p:spPr>
            <a:xfrm>
              <a:off x="142875" y="123825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1"/>
            <p:cNvSpPr/>
            <p:nvPr/>
          </p:nvSpPr>
          <p:spPr>
            <a:xfrm>
              <a:off x="295275" y="123825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1"/>
            <p:cNvSpPr/>
            <p:nvPr/>
          </p:nvSpPr>
          <p:spPr>
            <a:xfrm>
              <a:off x="447675" y="123825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1"/>
            <p:cNvSpPr txBox="1"/>
            <p:nvPr/>
          </p:nvSpPr>
          <p:spPr>
            <a:xfrm>
              <a:off x="666750" y="76200"/>
              <a:ext cx="381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ClassDeclaration.java</a:t>
              </a:r>
              <a:endParaRPr b="0" i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07" name="Google Shape;407;p31"/>
            <p:cNvSpPr txBox="1"/>
            <p:nvPr/>
          </p:nvSpPr>
          <p:spPr>
            <a:xfrm>
              <a:off x="228600" y="495300"/>
              <a:ext cx="43053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class </a:t>
              </a:r>
              <a:r>
                <a:rPr b="1" i="0" lang="en" sz="1100">
                  <a:solidFill>
                    <a:srgbClr val="B45309"/>
                  </a:solidFill>
                  <a:latin typeface="Consolas"/>
                  <a:ea typeface="Consolas"/>
                  <a:cs typeface="Consolas"/>
                  <a:sym typeface="Consolas"/>
                </a:rPr>
                <a:t>classname</a:t>
              </a:r>
              <a:r>
                <a:rPr b="0" i="0" lang="en" sz="11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b="1" i="0" sz="1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286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0" lang="en" sz="9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State / Variables</a:t>
              </a:r>
              <a:endParaRPr b="1" i="0" sz="95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286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type</a:t>
              </a:r>
              <a:r>
                <a:rPr b="0" i="0" lang="en" sz="11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instance_variable1;</a:t>
              </a:r>
              <a:endParaRPr b="1" i="0" sz="1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28600" marR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i="0" lang="en" sz="9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Method 1 Definition</a:t>
              </a:r>
              <a:endParaRPr b="1" i="0" sz="95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286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type</a:t>
              </a:r>
              <a:r>
                <a:rPr b="0" i="0" lang="en" sz="11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methodname1(parameter_list) {</a:t>
              </a:r>
              <a:endParaRPr b="1" i="0" sz="1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4572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body of method</a:t>
              </a:r>
              <a:endParaRPr b="1" i="0" sz="1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286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1" i="0" sz="1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28600" marR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i="0" lang="en" sz="9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Method 2 Definition</a:t>
              </a:r>
              <a:endParaRPr b="1" i="0" sz="95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286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type</a:t>
              </a:r>
              <a:r>
                <a:rPr b="0" i="0" lang="en" sz="11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methodname2(argument_list) {</a:t>
              </a:r>
              <a:endParaRPr b="1" i="0" sz="1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4572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body of method</a:t>
              </a:r>
              <a:endParaRPr b="1" i="0" sz="1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286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1" i="0" sz="1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450"/>
                </a:spcAft>
                <a:buNone/>
              </a:pPr>
              <a:r>
                <a:rPr b="0" i="0" lang="en" sz="11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1" i="0" sz="11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08" name="Google Shape;408;p31"/>
          <p:cNvGrpSpPr/>
          <p:nvPr/>
        </p:nvGrpSpPr>
        <p:grpSpPr>
          <a:xfrm>
            <a:off x="5524500" y="1285875"/>
            <a:ext cx="3048000" cy="3381300"/>
            <a:chOff x="0" y="0"/>
            <a:chExt cx="3048000" cy="3381300"/>
          </a:xfrm>
        </p:grpSpPr>
        <p:sp>
          <p:nvSpPr>
            <p:cNvPr id="409" name="Google Shape;409;p31"/>
            <p:cNvSpPr/>
            <p:nvPr/>
          </p:nvSpPr>
          <p:spPr>
            <a:xfrm>
              <a:off x="0" y="0"/>
              <a:ext cx="3048000" cy="33813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0" y="0"/>
              <a:ext cx="30480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1"/>
            <p:cNvSpPr txBox="1"/>
            <p:nvPr/>
          </p:nvSpPr>
          <p:spPr>
            <a:xfrm>
              <a:off x="0" y="0"/>
              <a:ext cx="30480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BREAKDOWN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Elements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1. Class Name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Defines the identifier used to instantiate objects from this template.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2. Instance Variables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Hold the attribute state unique to each instance created from the class.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3. Class Methods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Contain executable statements that define the behaviors and operations.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2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Declaring a Class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17" name="Google Shape;417;p32"/>
          <p:cNvGrpSpPr/>
          <p:nvPr/>
        </p:nvGrpSpPr>
        <p:grpSpPr>
          <a:xfrm>
            <a:off x="571500" y="1238250"/>
            <a:ext cx="3905400" cy="3429000"/>
            <a:chOff x="0" y="0"/>
            <a:chExt cx="3905400" cy="3429000"/>
          </a:xfrm>
        </p:grpSpPr>
        <p:sp>
          <p:nvSpPr>
            <p:cNvPr id="418" name="Google Shape;418;p32"/>
            <p:cNvSpPr/>
            <p:nvPr/>
          </p:nvSpPr>
          <p:spPr>
            <a:xfrm>
              <a:off x="0" y="0"/>
              <a:ext cx="39054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0" y="0"/>
              <a:ext cx="3905400" cy="362100"/>
            </a:xfrm>
            <a:custGeom>
              <a:rect b="b" l="l" r="r" t="t"/>
              <a:pathLst>
                <a:path extrusionOk="0" h="120000" w="120000">
                  <a:moveTo>
                    <a:pt x="0" y="37895"/>
                  </a:moveTo>
                  <a:cubicBezTo>
                    <a:pt x="0" y="27845"/>
                    <a:pt x="370" y="18206"/>
                    <a:pt x="1029" y="11099"/>
                  </a:cubicBezTo>
                  <a:cubicBezTo>
                    <a:pt x="1687" y="3993"/>
                    <a:pt x="2581" y="0"/>
                    <a:pt x="3512" y="0"/>
                  </a:cubicBezTo>
                  <a:lnTo>
                    <a:pt x="116488" y="0"/>
                  </a:lnTo>
                  <a:cubicBezTo>
                    <a:pt x="118428" y="1"/>
                    <a:pt x="120000" y="16967"/>
                    <a:pt x="120000" y="3789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2"/>
            <p:cNvSpPr/>
            <p:nvPr/>
          </p:nvSpPr>
          <p:spPr>
            <a:xfrm>
              <a:off x="104775" y="13335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2"/>
            <p:cNvSpPr/>
            <p:nvPr/>
          </p:nvSpPr>
          <p:spPr>
            <a:xfrm>
              <a:off x="257175" y="13335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2"/>
            <p:cNvSpPr/>
            <p:nvPr/>
          </p:nvSpPr>
          <p:spPr>
            <a:xfrm>
              <a:off x="409575" y="13335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2"/>
            <p:cNvSpPr txBox="1"/>
            <p:nvPr/>
          </p:nvSpPr>
          <p:spPr>
            <a:xfrm>
              <a:off x="647700" y="85725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GeneralSyntax.java</a:t>
              </a:r>
              <a:endParaRPr b="0" sz="9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24" name="Google Shape;424;p32"/>
            <p:cNvSpPr txBox="1"/>
            <p:nvPr/>
          </p:nvSpPr>
          <p:spPr>
            <a:xfrm>
              <a:off x="190500" y="495300"/>
              <a:ext cx="3524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1" lang="en" sz="1050">
                  <a:solidFill>
                    <a:srgbClr val="B45309"/>
                  </a:solidFill>
                  <a:latin typeface="Consolas"/>
                  <a:ea typeface="Consolas"/>
                  <a:cs typeface="Consolas"/>
                  <a:sym typeface="Consolas"/>
                </a:rPr>
                <a:t>classname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State / Variables</a:t>
              </a:r>
              <a:endParaRPr b="0" i="1" sz="10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7C3AED"/>
                  </a:solidFill>
                  <a:latin typeface="Consolas"/>
                  <a:ea typeface="Consolas"/>
                  <a:cs typeface="Consolas"/>
                  <a:sym typeface="Consolas"/>
                </a:rPr>
                <a:t>type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instance_variable1;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7C3AED"/>
                  </a:solidFill>
                  <a:latin typeface="Consolas"/>
                  <a:ea typeface="Consolas"/>
                  <a:cs typeface="Consolas"/>
                  <a:sym typeface="Consolas"/>
                </a:rPr>
                <a:t>type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instance_variable2;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Method Definitions</a:t>
              </a:r>
              <a:endParaRPr b="0" i="1" sz="10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7C3AED"/>
                  </a:solidFill>
                  <a:latin typeface="Consolas"/>
                  <a:ea typeface="Consolas"/>
                  <a:cs typeface="Consolas"/>
                  <a:sym typeface="Consolas"/>
                </a:rPr>
                <a:t>type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method1(</a:t>
              </a:r>
              <a:r>
                <a:rPr b="0" lang="en" sz="105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params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4064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// body of method</a:t>
              </a:r>
              <a:endParaRPr b="0" i="1" sz="10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7C3AED"/>
                  </a:solidFill>
                  <a:latin typeface="Consolas"/>
                  <a:ea typeface="Consolas"/>
                  <a:cs typeface="Consolas"/>
                  <a:sym typeface="Consolas"/>
                </a:rPr>
                <a:t>type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method2(</a:t>
              </a:r>
              <a:r>
                <a:rPr b="0" lang="en" sz="105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params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4064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// body of method</a:t>
              </a:r>
              <a:endParaRPr b="0" i="1" sz="10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25" name="Google Shape;425;p32"/>
          <p:cNvGrpSpPr/>
          <p:nvPr/>
        </p:nvGrpSpPr>
        <p:grpSpPr>
          <a:xfrm>
            <a:off x="4667250" y="1238250"/>
            <a:ext cx="3905400" cy="3429000"/>
            <a:chOff x="0" y="0"/>
            <a:chExt cx="3905400" cy="3429000"/>
          </a:xfrm>
        </p:grpSpPr>
        <p:sp>
          <p:nvSpPr>
            <p:cNvPr id="426" name="Google Shape;426;p32"/>
            <p:cNvSpPr/>
            <p:nvPr/>
          </p:nvSpPr>
          <p:spPr>
            <a:xfrm>
              <a:off x="0" y="0"/>
              <a:ext cx="39054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2"/>
            <p:cNvSpPr/>
            <p:nvPr/>
          </p:nvSpPr>
          <p:spPr>
            <a:xfrm>
              <a:off x="0" y="0"/>
              <a:ext cx="3905400" cy="362100"/>
            </a:xfrm>
            <a:custGeom>
              <a:rect b="b" l="l" r="r" t="t"/>
              <a:pathLst>
                <a:path extrusionOk="0" h="120000" w="120000">
                  <a:moveTo>
                    <a:pt x="0" y="37895"/>
                  </a:moveTo>
                  <a:cubicBezTo>
                    <a:pt x="0" y="27845"/>
                    <a:pt x="370" y="18206"/>
                    <a:pt x="1029" y="11099"/>
                  </a:cubicBezTo>
                  <a:cubicBezTo>
                    <a:pt x="1687" y="3993"/>
                    <a:pt x="2581" y="0"/>
                    <a:pt x="3512" y="0"/>
                  </a:cubicBezTo>
                  <a:lnTo>
                    <a:pt x="116488" y="0"/>
                  </a:lnTo>
                  <a:cubicBezTo>
                    <a:pt x="118428" y="1"/>
                    <a:pt x="120000" y="16967"/>
                    <a:pt x="120000" y="3789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2"/>
            <p:cNvSpPr/>
            <p:nvPr/>
          </p:nvSpPr>
          <p:spPr>
            <a:xfrm>
              <a:off x="104775" y="13335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2"/>
            <p:cNvSpPr/>
            <p:nvPr/>
          </p:nvSpPr>
          <p:spPr>
            <a:xfrm>
              <a:off x="257175" y="13335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409575" y="13335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2"/>
            <p:cNvSpPr txBox="1"/>
            <p:nvPr/>
          </p:nvSpPr>
          <p:spPr>
            <a:xfrm>
              <a:off x="647700" y="85725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Dog.java</a:t>
              </a:r>
              <a:endParaRPr b="0" sz="9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32" name="Google Shape;432;p32"/>
            <p:cNvSpPr txBox="1"/>
            <p:nvPr/>
          </p:nvSpPr>
          <p:spPr>
            <a:xfrm>
              <a:off x="190500" y="495300"/>
              <a:ext cx="3524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public class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1" lang="en" sz="1050">
                  <a:solidFill>
                    <a:srgbClr val="B45309"/>
                  </a:solidFill>
                  <a:latin typeface="Consolas"/>
                  <a:ea typeface="Consolas"/>
                  <a:cs typeface="Consolas"/>
                  <a:sym typeface="Consolas"/>
                </a:rPr>
                <a:t>Dog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Instance Variables</a:t>
              </a:r>
              <a:endParaRPr b="0" i="1" sz="10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String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breed;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age;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String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color;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Methods (Behavior)</a:t>
              </a:r>
              <a:endParaRPr b="0" i="1" sz="10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7C3AED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barking() { ... }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7C3AED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hungry() { ... }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2032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7C3AED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sleeping() { ... }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0" sz="10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3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Understanding Objects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38" name="Google Shape;438;p33"/>
          <p:cNvGrpSpPr/>
          <p:nvPr/>
        </p:nvGrpSpPr>
        <p:grpSpPr>
          <a:xfrm>
            <a:off x="571500" y="1285875"/>
            <a:ext cx="2514600" cy="3381300"/>
            <a:chOff x="0" y="0"/>
            <a:chExt cx="2514600" cy="3381300"/>
          </a:xfrm>
        </p:grpSpPr>
        <p:sp>
          <p:nvSpPr>
            <p:cNvPr id="439" name="Google Shape;439;p33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3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3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Real-Time Entity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Instance of a Class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 Object is a real-time entity and an instance of a class. It possesses distinct properties and can perform specific actions.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2" name="Google Shape;442;p33"/>
          <p:cNvGrpSpPr/>
          <p:nvPr/>
        </p:nvGrpSpPr>
        <p:grpSpPr>
          <a:xfrm>
            <a:off x="3314700" y="1285875"/>
            <a:ext cx="2514600" cy="3381300"/>
            <a:chOff x="0" y="0"/>
            <a:chExt cx="2514600" cy="3381300"/>
          </a:xfrm>
        </p:grpSpPr>
        <p:sp>
          <p:nvSpPr>
            <p:cNvPr id="443" name="Google Shape;443;p33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3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3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COMPOSITION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State &amp; Action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Variables &amp; Methods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Objects contain variables (state) and methods (behavior). Objects exhibiting similar properties and actions are grouped together under one class.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6" name="Google Shape;446;p33"/>
          <p:cNvGrpSpPr/>
          <p:nvPr/>
        </p:nvGrpSpPr>
        <p:grpSpPr>
          <a:xfrm>
            <a:off x="6057900" y="1285875"/>
            <a:ext cx="2514600" cy="3381300"/>
            <a:chOff x="0" y="0"/>
            <a:chExt cx="2514600" cy="3381300"/>
          </a:xfrm>
        </p:grpSpPr>
        <p:sp>
          <p:nvSpPr>
            <p:cNvPr id="447" name="Google Shape;447;p33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3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3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CONCEPTUAL MODEL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Real-World Analogy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Blueprint vs. House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“To give a real world analogy, a house is constructed according to a specification.”</a:t>
              </a:r>
              <a:endParaRPr b="0" i="1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class serves as the architectural specification, whereas the house itself is the physical object.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34"/>
          <p:cNvGrpSpPr/>
          <p:nvPr/>
        </p:nvGrpSpPr>
        <p:grpSpPr>
          <a:xfrm>
            <a:off x="571500" y="381000"/>
            <a:ext cx="8001000" cy="666900"/>
            <a:chOff x="0" y="0"/>
            <a:chExt cx="8001000" cy="666900"/>
          </a:xfrm>
        </p:grpSpPr>
        <p:sp>
          <p:nvSpPr>
            <p:cNvPr id="455" name="Google Shape;455;p34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4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Creating Objects Using </a:t>
              </a:r>
              <a:r>
                <a:rPr b="0"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new</a:t>
              </a: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Operator</a:t>
              </a:r>
              <a:endParaRPr b="0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457" name="Google Shape;457;p34"/>
          <p:cNvGrpSpPr/>
          <p:nvPr/>
        </p:nvGrpSpPr>
        <p:grpSpPr>
          <a:xfrm>
            <a:off x="571500" y="1285875"/>
            <a:ext cx="2514600" cy="3381300"/>
            <a:chOff x="0" y="0"/>
            <a:chExt cx="2514600" cy="3381300"/>
          </a:xfrm>
        </p:grpSpPr>
        <p:sp>
          <p:nvSpPr>
            <p:cNvPr id="458" name="Google Shape;458;p34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4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STEP 01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Declare Variable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Reference Declaration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 access properties and methods, declare a variable of that class type. This variable does not define an object yet—it simply holds a reference.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1" name="Google Shape;461;p34"/>
          <p:cNvGrpSpPr/>
          <p:nvPr/>
        </p:nvGrpSpPr>
        <p:grpSpPr>
          <a:xfrm>
            <a:off x="3314700" y="1285875"/>
            <a:ext cx="2514600" cy="3381300"/>
            <a:chOff x="0" y="0"/>
            <a:chExt cx="2514600" cy="3381300"/>
          </a:xfrm>
        </p:grpSpPr>
        <p:sp>
          <p:nvSpPr>
            <p:cNvPr id="462" name="Google Shape;462;p34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4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4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STEP 02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Allocate Memory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10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 Operator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Acquire an actual physical copy of the object using the </a:t>
              </a: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new operator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It dynamically allocates memory and returns its address reference.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5" name="Google Shape;465;p34"/>
          <p:cNvGrpSpPr/>
          <p:nvPr/>
        </p:nvGrpSpPr>
        <p:grpSpPr>
          <a:xfrm>
            <a:off x="6057900" y="1285875"/>
            <a:ext cx="2514600" cy="3381300"/>
            <a:chOff x="0" y="0"/>
            <a:chExt cx="2514600" cy="3381300"/>
          </a:xfrm>
        </p:grpSpPr>
        <p:sp>
          <p:nvSpPr>
            <p:cNvPr id="466" name="Google Shape;466;p34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4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STEP 03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Store Reference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Dynamic Link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memory address reference is stored in the variable. Consequently, in Java, all class objects are dynamically allocated.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5"/>
          <p:cNvSpPr txBox="1"/>
          <p:nvPr>
            <p:ph type="title"/>
          </p:nvPr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i="0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</a:t>
            </a:r>
            <a:r>
              <a:rPr b="0" i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new</a:t>
            </a:r>
            <a:r>
              <a:rPr b="0" i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Operator in Java</a:t>
            </a:r>
            <a:endParaRPr b="1" i="0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74" name="Google Shape;474;p35"/>
          <p:cNvGrpSpPr/>
          <p:nvPr/>
        </p:nvGrpSpPr>
        <p:grpSpPr>
          <a:xfrm>
            <a:off x="571500" y="1285875"/>
            <a:ext cx="2514600" cy="3381300"/>
            <a:chOff x="0" y="0"/>
            <a:chExt cx="2514600" cy="3381300"/>
          </a:xfrm>
        </p:grpSpPr>
        <p:sp>
          <p:nvSpPr>
            <p:cNvPr id="475" name="Google Shape;475;p35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5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METHOD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Object Creation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Most Common Approach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Using the </a:t>
              </a: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new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keyword is the primary and most basic way to create objects in Java.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8" name="Google Shape;478;p35"/>
          <p:cNvGrpSpPr/>
          <p:nvPr/>
        </p:nvGrpSpPr>
        <p:grpSpPr>
          <a:xfrm>
            <a:off x="3314700" y="1285875"/>
            <a:ext cx="2514600" cy="3381300"/>
            <a:chOff x="0" y="0"/>
            <a:chExt cx="2514600" cy="3381300"/>
          </a:xfrm>
        </p:grpSpPr>
        <p:sp>
          <p:nvSpPr>
            <p:cNvPr id="479" name="Google Shape;479;p35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5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5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FLEXIBILITY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Constructor Call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Supports All Signatures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Invokes any desired constructor during creation, supporting no-argument or parameterized constructors.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2" name="Google Shape;482;p35"/>
          <p:cNvGrpSpPr/>
          <p:nvPr/>
        </p:nvGrpSpPr>
        <p:grpSpPr>
          <a:xfrm>
            <a:off x="6057900" y="1285875"/>
            <a:ext cx="2514600" cy="3381300"/>
            <a:chOff x="0" y="0"/>
            <a:chExt cx="2514600" cy="3381300"/>
          </a:xfrm>
        </p:grpSpPr>
        <p:sp>
          <p:nvSpPr>
            <p:cNvPr id="483" name="Google Shape;483;p35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5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5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EXAMPLE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Instantiation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Basic Statement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mybox = </a:t>
              </a:r>
              <a:r>
                <a:rPr b="1" lang="en" sz="1100">
                  <a:solidFill>
                    <a:srgbClr val="F43F5E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b="1" lang="en" sz="1100">
                  <a:solidFill>
                    <a:srgbClr val="38BDF8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 Box();</a:t>
              </a:r>
              <a:endParaRPr b="1" sz="1100">
                <a:solidFill>
                  <a:srgbClr val="38BDF8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Allocates memory dynamically for a new </a:t>
              </a:r>
              <a:r>
                <a:rPr b="0" lang="en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Box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object.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6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Declaring &amp; Instantiating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Objects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91" name="Google Shape;491;p36"/>
          <p:cNvGrpSpPr/>
          <p:nvPr/>
        </p:nvGrpSpPr>
        <p:grpSpPr>
          <a:xfrm>
            <a:off x="571500" y="1285875"/>
            <a:ext cx="3857700" cy="3381300"/>
            <a:chOff x="0" y="0"/>
            <a:chExt cx="3857700" cy="3381300"/>
          </a:xfrm>
        </p:grpSpPr>
        <p:sp>
          <p:nvSpPr>
            <p:cNvPr id="492" name="Google Shape;492;p36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6"/>
            <p:cNvSpPr txBox="1"/>
            <p:nvPr/>
          </p:nvSpPr>
          <p:spPr>
            <a:xfrm>
              <a:off x="0" y="0"/>
              <a:ext cx="38577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BREAKDOWN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Declaration Steps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1. Declare Reference Variable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highlight>
                    <a:srgbClr val="F1F5F9"/>
                  </a:highlight>
                  <a:latin typeface="Consolas"/>
                  <a:ea typeface="Consolas"/>
                  <a:cs typeface="Consolas"/>
                  <a:sym typeface="Consolas"/>
                </a:rPr>
                <a:t>Box mybox;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Creates a reference variable that initially holds </a:t>
              </a:r>
              <a:r>
                <a:rPr b="1" lang="en" sz="95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null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2. Allocate Memory &amp; Assign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highlight>
                    <a:srgbClr val="F1F5F9"/>
                  </a:highlight>
                  <a:latin typeface="Consolas"/>
                  <a:ea typeface="Consolas"/>
                  <a:cs typeface="Consolas"/>
                  <a:sym typeface="Consolas"/>
                </a:rPr>
                <a:t>mybox = new Box();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Allocates physical memory for the Box object and points mybox to it.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Combined Shortcut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highlight>
                    <a:srgbClr val="E0F2FE"/>
                  </a:highlight>
                  <a:latin typeface="Consolas"/>
                  <a:ea typeface="Consolas"/>
                  <a:cs typeface="Consolas"/>
                  <a:sym typeface="Consolas"/>
                </a:rPr>
                <a:t>Box mybox = new Box();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495" name="Google Shape;495;p36"/>
          <p:cNvGrpSpPr/>
          <p:nvPr/>
        </p:nvGrpSpPr>
        <p:grpSpPr>
          <a:xfrm>
            <a:off x="4714875" y="1285875"/>
            <a:ext cx="3857700" cy="3381300"/>
            <a:chOff x="0" y="0"/>
            <a:chExt cx="3857700" cy="3381300"/>
          </a:xfrm>
        </p:grpSpPr>
        <p:sp>
          <p:nvSpPr>
            <p:cNvPr id="496" name="Google Shape;496;p36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6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6"/>
            <p:cNvSpPr txBox="1"/>
            <p:nvPr/>
          </p:nvSpPr>
          <p:spPr>
            <a:xfrm>
              <a:off x="0" y="0"/>
              <a:ext cx="3857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MEMORY MODEL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65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Statement vs. Effect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499" name="Google Shape;49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2525" y="1967550"/>
            <a:ext cx="3713949" cy="26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7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Example of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Class &amp; Object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05" name="Google Shape;505;p37"/>
          <p:cNvGrpSpPr/>
          <p:nvPr/>
        </p:nvGrpSpPr>
        <p:grpSpPr>
          <a:xfrm>
            <a:off x="571500" y="1285875"/>
            <a:ext cx="2514600" cy="3381300"/>
            <a:chOff x="0" y="0"/>
            <a:chExt cx="2514600" cy="3381300"/>
          </a:xfrm>
        </p:grpSpPr>
        <p:sp>
          <p:nvSpPr>
            <p:cNvPr id="506" name="Google Shape;506;p37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7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CLASS 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Class Structure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Instance Variables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43F5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" sz="9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1" lang="en" sz="95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Box</a:t>
              </a:r>
              <a:r>
                <a:rPr b="0" lang="en" sz="9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b="0" sz="95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double</a:t>
              </a:r>
              <a:r>
                <a:rPr b="0" lang="en" sz="90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 width;</a:t>
              </a:r>
              <a:endParaRPr b="0" sz="9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double</a:t>
              </a:r>
              <a:r>
                <a:rPr b="0" lang="en" sz="90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 height;</a:t>
              </a:r>
              <a:endParaRPr b="0" sz="9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double</a:t>
              </a:r>
              <a:r>
                <a:rPr b="0" lang="en" sz="90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 depth;</a:t>
              </a:r>
              <a:endParaRPr b="0" sz="9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b="0" sz="95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Defines template attributes that belong to each instance of the class.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09" name="Google Shape;509;p37"/>
          <p:cNvGrpSpPr/>
          <p:nvPr/>
        </p:nvGrpSpPr>
        <p:grpSpPr>
          <a:xfrm>
            <a:off x="3314700" y="1285875"/>
            <a:ext cx="2514600" cy="3381300"/>
            <a:chOff x="0" y="0"/>
            <a:chExt cx="2514600" cy="3381300"/>
          </a:xfrm>
        </p:grpSpPr>
        <p:sp>
          <p:nvSpPr>
            <p:cNvPr id="510" name="Google Shape;510;p37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7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MEMORY ALLOCATION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new Operator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Dynamic Allocation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b="1" lang="en" sz="1050">
                  <a:solidFill>
                    <a:srgbClr val="F43F5E"/>
                  </a:solidFill>
                  <a:latin typeface="Consolas"/>
                  <a:ea typeface="Consolas"/>
                  <a:cs typeface="Consolas"/>
                  <a:sym typeface="Consolas"/>
                </a:rPr>
                <a:t> Box();</a:t>
              </a:r>
              <a:endParaRPr b="1" sz="105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80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9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new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operator dynamically allocates memory for an object at runtime.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13" name="Google Shape;513;p37"/>
          <p:cNvGrpSpPr/>
          <p:nvPr/>
        </p:nvGrpSpPr>
        <p:grpSpPr>
          <a:xfrm>
            <a:off x="6057900" y="1285875"/>
            <a:ext cx="2514600" cy="3381300"/>
            <a:chOff x="0" y="0"/>
            <a:chExt cx="2514600" cy="3381300"/>
          </a:xfrm>
        </p:grpSpPr>
        <p:sp>
          <p:nvSpPr>
            <p:cNvPr id="514" name="Google Shape;514;p37"/>
            <p:cNvSpPr/>
            <p:nvPr/>
          </p:nvSpPr>
          <p:spPr>
            <a:xfrm>
              <a:off x="0" y="0"/>
              <a:ext cx="2514600" cy="3381300"/>
            </a:xfrm>
            <a:prstGeom prst="roundRect">
              <a:avLst>
                <a:gd fmla="val 4545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0" y="0"/>
              <a:ext cx="25146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7"/>
            <p:cNvSpPr txBox="1"/>
            <p:nvPr/>
          </p:nvSpPr>
          <p:spPr>
            <a:xfrm>
              <a:off x="0" y="0"/>
              <a:ext cx="25146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INSTANTIATION SYNTAX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Object Instance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Combined Statement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Box </a:t>
              </a:r>
              <a:r>
                <a:rPr b="1" lang="en" sz="900">
                  <a:solidFill>
                    <a:srgbClr val="F43F5E"/>
                  </a:solidFill>
                  <a:latin typeface="Consolas"/>
                  <a:ea typeface="Consolas"/>
                  <a:cs typeface="Consolas"/>
                  <a:sym typeface="Consolas"/>
                </a:rPr>
                <a:t>mybox</a:t>
              </a:r>
              <a:r>
                <a:rPr b="1" lang="en" sz="90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b="1" lang="en" sz="90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b="1" lang="en" sz="90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 Box();</a:t>
              </a:r>
              <a:endParaRPr b="1" sz="9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mybox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is an instance (object) of class </a:t>
              </a:r>
              <a:r>
                <a:rPr b="1" lang="en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holding a reference to the created object.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8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Difference Between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Classes &amp; Objects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22" name="Google Shape;522;p38"/>
          <p:cNvGrpSpPr/>
          <p:nvPr/>
        </p:nvGrpSpPr>
        <p:grpSpPr>
          <a:xfrm>
            <a:off x="571500" y="1285875"/>
            <a:ext cx="3857700" cy="3381300"/>
            <a:chOff x="0" y="0"/>
            <a:chExt cx="3857700" cy="3381300"/>
          </a:xfrm>
        </p:grpSpPr>
        <p:sp>
          <p:nvSpPr>
            <p:cNvPr id="523" name="Google Shape;523;p38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8"/>
            <p:cNvSpPr txBox="1"/>
            <p:nvPr/>
          </p:nvSpPr>
          <p:spPr>
            <a:xfrm>
              <a:off x="0" y="0"/>
              <a:ext cx="38577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CONCEPTUAL BLUEPRINT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Classes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Existence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Classes have </a:t>
              </a: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logical existence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 They act as a theoretical template or specification without taking up physical memory on their own.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Real-World Analogy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Furniture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itself does not have any physical existence—it is an abstract concept representing a category.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26" name="Google Shape;526;p38"/>
          <p:cNvGrpSpPr/>
          <p:nvPr/>
        </p:nvGrpSpPr>
        <p:grpSpPr>
          <a:xfrm>
            <a:off x="4714875" y="1285875"/>
            <a:ext cx="3857700" cy="3381300"/>
            <a:chOff x="0" y="0"/>
            <a:chExt cx="3857700" cy="3381300"/>
          </a:xfrm>
        </p:grpSpPr>
        <p:sp>
          <p:nvSpPr>
            <p:cNvPr id="527" name="Google Shape;527;p38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8"/>
            <p:cNvSpPr txBox="1"/>
            <p:nvPr/>
          </p:nvSpPr>
          <p:spPr>
            <a:xfrm>
              <a:off x="0" y="0"/>
              <a:ext cx="38577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CONCRETE INSTANCE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Objects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Core Existence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Objects have </a:t>
              </a: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physical existence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 An object is a real instance created dynamically in memory based on its class specification.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Real-World Analogy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Chair, Table, etc.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do have physical existence as tangible objects created under the furniture category.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9"/>
          <p:cNvSpPr txBox="1"/>
          <p:nvPr>
            <p:ph type="title"/>
          </p:nvPr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Access Controls &amp;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Modifiers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35" name="Google Shape;535;p39"/>
          <p:cNvGrpSpPr/>
          <p:nvPr/>
        </p:nvGrpSpPr>
        <p:grpSpPr>
          <a:xfrm>
            <a:off x="571500" y="1285875"/>
            <a:ext cx="1828800" cy="3381300"/>
            <a:chOff x="0" y="0"/>
            <a:chExt cx="1828800" cy="3381300"/>
          </a:xfrm>
        </p:grpSpPr>
        <p:sp>
          <p:nvSpPr>
            <p:cNvPr id="536" name="Google Shape;536;p39"/>
            <p:cNvSpPr/>
            <p:nvPr/>
          </p:nvSpPr>
          <p:spPr>
            <a:xfrm>
              <a:off x="0" y="0"/>
              <a:ext cx="1828800" cy="33813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0" y="0"/>
              <a:ext cx="18288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9"/>
            <p:cNvSpPr txBox="1"/>
            <p:nvPr/>
          </p:nvSpPr>
          <p:spPr>
            <a:xfrm>
              <a:off x="0" y="0"/>
              <a:ext cx="18288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52400" spcFirstLastPara="1" rIns="1524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CONCEPT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Access Control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Who Can Access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Decides </a:t>
              </a:r>
              <a:r>
                <a:rPr b="1" lang="en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who can access variables, methods, and classes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in Java.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2628900" y="1285875"/>
            <a:ext cx="1828800" cy="3381300"/>
            <a:chOff x="0" y="0"/>
            <a:chExt cx="1828800" cy="3381300"/>
          </a:xfrm>
        </p:grpSpPr>
        <p:sp>
          <p:nvSpPr>
            <p:cNvPr id="540" name="Google Shape;540;p39"/>
            <p:cNvSpPr/>
            <p:nvPr/>
          </p:nvSpPr>
          <p:spPr>
            <a:xfrm>
              <a:off x="0" y="0"/>
              <a:ext cx="1828800" cy="33813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0" y="0"/>
              <a:ext cx="18288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9"/>
            <p:cNvSpPr txBox="1"/>
            <p:nvPr/>
          </p:nvSpPr>
          <p:spPr>
            <a:xfrm>
              <a:off x="0" y="0"/>
              <a:ext cx="18288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52400" spcFirstLastPara="1" rIns="1524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MECHANICS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Specifiers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Access Determination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How and where a member of a class is accessed is determined by the </a:t>
              </a:r>
              <a:r>
                <a:rPr b="1" lang="en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access specifiers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43" name="Google Shape;543;p39"/>
          <p:cNvGrpSpPr/>
          <p:nvPr/>
        </p:nvGrpSpPr>
        <p:grpSpPr>
          <a:xfrm>
            <a:off x="4686300" y="1285875"/>
            <a:ext cx="1828800" cy="3381300"/>
            <a:chOff x="0" y="0"/>
            <a:chExt cx="1828800" cy="3381300"/>
          </a:xfrm>
        </p:grpSpPr>
        <p:sp>
          <p:nvSpPr>
            <p:cNvPr id="544" name="Google Shape;544;p39"/>
            <p:cNvSpPr/>
            <p:nvPr/>
          </p:nvSpPr>
          <p:spPr>
            <a:xfrm>
              <a:off x="0" y="0"/>
              <a:ext cx="1828800" cy="33813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9"/>
            <p:cNvSpPr/>
            <p:nvPr/>
          </p:nvSpPr>
          <p:spPr>
            <a:xfrm>
              <a:off x="0" y="0"/>
              <a:ext cx="18288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9"/>
            <p:cNvSpPr txBox="1"/>
            <p:nvPr/>
          </p:nvSpPr>
          <p:spPr>
            <a:xfrm>
              <a:off x="0" y="0"/>
              <a:ext cx="18288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52400" spcFirstLastPara="1" rIns="1524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VISIBILITY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Member Scope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Class Boundaries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Members have visibility in the </a:t>
              </a:r>
              <a:r>
                <a:rPr b="1" lang="en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same class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or </a:t>
              </a:r>
              <a:r>
                <a:rPr b="1" lang="en" sz="9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other classes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based on accessibility.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47" name="Google Shape;547;p39"/>
          <p:cNvGrpSpPr/>
          <p:nvPr/>
        </p:nvGrpSpPr>
        <p:grpSpPr>
          <a:xfrm>
            <a:off x="6743700" y="1285875"/>
            <a:ext cx="1828800" cy="3381300"/>
            <a:chOff x="0" y="0"/>
            <a:chExt cx="1828800" cy="3381300"/>
          </a:xfrm>
        </p:grpSpPr>
        <p:sp>
          <p:nvSpPr>
            <p:cNvPr id="548" name="Google Shape;548;p39"/>
            <p:cNvSpPr/>
            <p:nvPr/>
          </p:nvSpPr>
          <p:spPr>
            <a:xfrm>
              <a:off x="0" y="0"/>
              <a:ext cx="1828800" cy="3381300"/>
            </a:xfrm>
            <a:prstGeom prst="roundRect">
              <a:avLst>
                <a:gd fmla="val 6250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0" y="0"/>
              <a:ext cx="18288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9"/>
            <p:cNvSpPr txBox="1"/>
            <p:nvPr/>
          </p:nvSpPr>
          <p:spPr>
            <a:xfrm>
              <a:off x="0" y="0"/>
              <a:ext cx="18288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52400" spcFirstLastPara="1" rIns="1524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IMPLEMENTATION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Modifiers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Tooling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 implement access control in Java, we use </a:t>
              </a:r>
              <a:r>
                <a:rPr b="1" lang="en" sz="9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Access Modifiers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40"/>
          <p:cNvGrpSpPr/>
          <p:nvPr/>
        </p:nvGrpSpPr>
        <p:grpSpPr>
          <a:xfrm>
            <a:off x="571500" y="381000"/>
            <a:ext cx="8001000" cy="666900"/>
            <a:chOff x="0" y="0"/>
            <a:chExt cx="8001000" cy="666900"/>
          </a:xfrm>
        </p:grpSpPr>
        <p:sp>
          <p:nvSpPr>
            <p:cNvPr id="556" name="Google Shape;556;p40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0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Access Specifiers: </a:t>
              </a:r>
              <a:r>
                <a:rPr b="0"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Public &amp; Private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571500" y="1285875"/>
            <a:ext cx="3857700" cy="3381300"/>
            <a:chOff x="0" y="0"/>
            <a:chExt cx="3857700" cy="3381300"/>
          </a:xfrm>
        </p:grpSpPr>
        <p:sp>
          <p:nvSpPr>
            <p:cNvPr id="559" name="Google Shape;559;p40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0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0"/>
            <p:cNvSpPr txBox="1"/>
            <p:nvPr/>
          </p:nvSpPr>
          <p:spPr>
            <a:xfrm>
              <a:off x="0" y="0"/>
              <a:ext cx="38577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UNRESTRICTED ACCESS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public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Global Scope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When a class member is declared with </a:t>
              </a: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public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it can be accessed from anywhere in the program.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Usage Intent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Public classes, methods, or fields are used only if you explicitly want to offer unrestricted access to these members.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62" name="Google Shape;562;p40"/>
          <p:cNvGrpSpPr/>
          <p:nvPr/>
        </p:nvGrpSpPr>
        <p:grpSpPr>
          <a:xfrm>
            <a:off x="4714875" y="1285875"/>
            <a:ext cx="3857700" cy="3381300"/>
            <a:chOff x="0" y="0"/>
            <a:chExt cx="3857700" cy="3381300"/>
          </a:xfrm>
        </p:grpSpPr>
        <p:sp>
          <p:nvSpPr>
            <p:cNvPr id="563" name="Google Shape;563;p40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0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0"/>
            <p:cNvSpPr txBox="1"/>
            <p:nvPr/>
          </p:nvSpPr>
          <p:spPr>
            <a:xfrm>
              <a:off x="0" y="0"/>
              <a:ext cx="38577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RESTRICTED ACCESS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private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Encapsulated Scope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You can access private methods and fields </a:t>
              </a: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only within the same class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to which they belong.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Subclass Boundaries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Private members are not visible within subclasses and are strictly </a:t>
              </a: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not inherited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by subclasses.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1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i="0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0" i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Access Specifiers: </a:t>
            </a:r>
            <a:r>
              <a:rPr b="0" i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Protected &amp; Default</a:t>
            </a:r>
            <a:endParaRPr b="1" i="0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71" name="Google Shape;571;p41"/>
          <p:cNvGrpSpPr/>
          <p:nvPr/>
        </p:nvGrpSpPr>
        <p:grpSpPr>
          <a:xfrm>
            <a:off x="571500" y="1285875"/>
            <a:ext cx="3857700" cy="3381300"/>
            <a:chOff x="0" y="0"/>
            <a:chExt cx="3857700" cy="3381300"/>
          </a:xfrm>
        </p:grpSpPr>
        <p:sp>
          <p:nvSpPr>
            <p:cNvPr id="572" name="Google Shape;572;p41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1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1"/>
            <p:cNvSpPr txBox="1"/>
            <p:nvPr/>
          </p:nvSpPr>
          <p:spPr>
            <a:xfrm>
              <a:off x="0" y="0"/>
              <a:ext cx="3857700" cy="33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SUBCLASS &amp; PACKAGE SCOPE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protected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Subclass &amp; Package Access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You can access protected methods and fields from within the same class, its subclasses, and classes of the same package, but not from other packages.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Declaration Restriction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b="0" i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protected access specifier cannot be used with class declarations.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75" name="Google Shape;575;p41"/>
          <p:cNvGrpSpPr/>
          <p:nvPr/>
        </p:nvGrpSpPr>
        <p:grpSpPr>
          <a:xfrm>
            <a:off x="4714875" y="1285875"/>
            <a:ext cx="3857700" cy="3381300"/>
            <a:chOff x="0" y="0"/>
            <a:chExt cx="3857700" cy="3381300"/>
          </a:xfrm>
        </p:grpSpPr>
        <p:sp>
          <p:nvSpPr>
            <p:cNvPr id="576" name="Google Shape;576;p41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1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1"/>
            <p:cNvSpPr txBox="1"/>
            <p:nvPr/>
          </p:nvSpPr>
          <p:spPr>
            <a:xfrm>
              <a:off x="0" y="0"/>
              <a:ext cx="3857700" cy="33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PACKAGE-ONLY SCOPE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Default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Implicit Assignment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If you do not specify any access specifier while declaring a class, method, or field, it is considered with the default access specifier.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Package Accessibility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b="0" i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Accessible from within the same package to which they belong, but strictly not accessible outside the package.</a:t>
              </a:r>
              <a:endParaRPr b="0" i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584" name="Google Shape;584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0038" lvl="0" marL="457200" rtl="0" algn="just">
              <a:spcBef>
                <a:spcPts val="100"/>
              </a:spcBef>
              <a:spcAft>
                <a:spcPts val="0"/>
              </a:spcAft>
              <a:buSzPct val="102857"/>
              <a:buFont typeface="Arial"/>
              <a:buChar char="●"/>
            </a:pPr>
            <a:r>
              <a:rPr lang="en" sz="1750">
                <a:solidFill>
                  <a:srgbClr val="DA1F28"/>
                </a:solidFill>
                <a:latin typeface="Arial"/>
                <a:ea typeface="Arial"/>
                <a:cs typeface="Arial"/>
                <a:sym typeface="Arial"/>
              </a:rPr>
              <a:t>¨</a:t>
            </a:r>
            <a:r>
              <a:rPr lang="en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Java method is a collection of statements that are grouped together to perform an operation.</a:t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8" lvl="0" marL="457200" rtl="0" algn="just">
              <a:spcBef>
                <a:spcPts val="0"/>
              </a:spcBef>
              <a:spcAft>
                <a:spcPts val="0"/>
              </a:spcAft>
              <a:buSzPct val="102857"/>
              <a:buFont typeface="Arial"/>
              <a:buChar char="●"/>
            </a:pPr>
            <a:r>
              <a:rPr lang="en" sz="1750">
                <a:solidFill>
                  <a:srgbClr val="DA1F28"/>
                </a:solidFill>
                <a:latin typeface="Arial"/>
                <a:ea typeface="Arial"/>
                <a:cs typeface="Arial"/>
                <a:sym typeface="Arial"/>
              </a:rPr>
              <a:t>¨</a:t>
            </a:r>
            <a:r>
              <a:rPr lang="en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you call the System.out.println method, for example, the system actually executes several statements in order to display a message on the console.</a:t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8" lvl="0" marL="457200" rtl="0" algn="just">
              <a:spcBef>
                <a:spcPts val="0"/>
              </a:spcBef>
              <a:spcAft>
                <a:spcPts val="0"/>
              </a:spcAft>
              <a:buSzPct val="62069"/>
              <a:buFont typeface="Arial"/>
              <a:buChar char="●"/>
            </a:pPr>
            <a:r>
              <a:rPr lang="en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the general form of a method:</a:t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rtl="0" algn="just">
              <a:spcBef>
                <a:spcPts val="700"/>
              </a:spcBef>
              <a:spcAft>
                <a:spcPts val="0"/>
              </a:spcAft>
              <a:buNone/>
            </a:pPr>
            <a:r>
              <a:rPr i="1" lang="en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name(parameter-list) {</a:t>
            </a:r>
            <a:endParaRPr i="1"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37160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/  body of method</a:t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3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Methods: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Definition &amp; Syntax</a:t>
            </a:r>
            <a:endParaRPr b="0" sz="2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90" name="Google Shape;590;p43"/>
          <p:cNvGrpSpPr/>
          <p:nvPr/>
        </p:nvGrpSpPr>
        <p:grpSpPr>
          <a:xfrm>
            <a:off x="571500" y="1285875"/>
            <a:ext cx="3857700" cy="3381300"/>
            <a:chOff x="0" y="0"/>
            <a:chExt cx="3857700" cy="3381300"/>
          </a:xfrm>
        </p:grpSpPr>
        <p:sp>
          <p:nvSpPr>
            <p:cNvPr id="591" name="Google Shape;591;p43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3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3"/>
            <p:cNvSpPr txBox="1"/>
            <p:nvPr/>
          </p:nvSpPr>
          <p:spPr>
            <a:xfrm>
              <a:off x="228600" y="228600"/>
              <a:ext cx="34005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CONCEPT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What is a Method?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Definition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 Java method is a collection of statements that are grouped together to perform an operation.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Practical Example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When you call </a:t>
              </a: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System.out.println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for example, the system actually executes several statements in order to display a message on the console.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4" name="Google Shape;594;p43"/>
          <p:cNvGrpSpPr/>
          <p:nvPr/>
        </p:nvGrpSpPr>
        <p:grpSpPr>
          <a:xfrm>
            <a:off x="4714875" y="1285875"/>
            <a:ext cx="3857700" cy="3381300"/>
            <a:chOff x="0" y="0"/>
            <a:chExt cx="3857700" cy="3381300"/>
          </a:xfrm>
        </p:grpSpPr>
        <p:sp>
          <p:nvSpPr>
            <p:cNvPr id="595" name="Google Shape;595;p43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3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3"/>
            <p:cNvSpPr txBox="1"/>
            <p:nvPr/>
          </p:nvSpPr>
          <p:spPr>
            <a:xfrm>
              <a:off x="228600" y="228600"/>
              <a:ext cx="3400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STRUCTURE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General Form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598" name="Google Shape;598;p43"/>
            <p:cNvSpPr/>
            <p:nvPr/>
          </p:nvSpPr>
          <p:spPr>
            <a:xfrm>
              <a:off x="228600" y="838200"/>
              <a:ext cx="3400500" cy="952500"/>
            </a:xfrm>
            <a:prstGeom prst="roundRect">
              <a:avLst>
                <a:gd fmla="val 80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3"/>
            <p:cNvSpPr txBox="1"/>
            <p:nvPr/>
          </p:nvSpPr>
          <p:spPr>
            <a:xfrm>
              <a:off x="381000" y="971550"/>
              <a:ext cx="3095700" cy="6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type</a:t>
              </a:r>
              <a:r>
                <a:rPr b="1" i="0" lang="en" sz="1100">
                  <a:solidFill>
                    <a:srgbClr val="B4530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</a:t>
              </a:r>
              <a:r>
                <a:rPr b="0" i="0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" sz="11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parameter-list</a:t>
              </a:r>
              <a:r>
                <a:rPr b="0" i="0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{</a:t>
              </a:r>
              <a:endParaRPr b="1" i="0" sz="1100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body of method</a:t>
              </a:r>
              <a:endParaRPr b="1" i="0" sz="1100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i="0" sz="1100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00" name="Google Shape;600;p43"/>
            <p:cNvSpPr txBox="1"/>
            <p:nvPr/>
          </p:nvSpPr>
          <p:spPr>
            <a:xfrm>
              <a:off x="228600" y="1924050"/>
              <a:ext cx="3400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Key Components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type: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Return data type (or void)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name: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Identifier used to call the method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parameter-list: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Sequence of input parameters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4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Methods: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Overview &amp; Rules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06" name="Google Shape;606;p44"/>
          <p:cNvGrpSpPr/>
          <p:nvPr/>
        </p:nvGrpSpPr>
        <p:grpSpPr>
          <a:xfrm>
            <a:off x="571500" y="1285875"/>
            <a:ext cx="3857700" cy="3381300"/>
            <a:chOff x="0" y="0"/>
            <a:chExt cx="3857700" cy="3381300"/>
          </a:xfrm>
        </p:grpSpPr>
        <p:sp>
          <p:nvSpPr>
            <p:cNvPr id="607" name="Google Shape;607;p44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4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4"/>
            <p:cNvSpPr txBox="1"/>
            <p:nvPr/>
          </p:nvSpPr>
          <p:spPr>
            <a:xfrm>
              <a:off x="228600" y="228600"/>
              <a:ext cx="34005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CONCEPT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What is a Method?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OOP Context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word method is commonly used in object-oriented programming.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Function Analogy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It is similar to a function in any other programming language.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0" name="Google Shape;610;p44"/>
          <p:cNvGrpSpPr/>
          <p:nvPr/>
        </p:nvGrpSpPr>
        <p:grpSpPr>
          <a:xfrm>
            <a:off x="4714875" y="1285875"/>
            <a:ext cx="3857700" cy="3381300"/>
            <a:chOff x="0" y="0"/>
            <a:chExt cx="3857700" cy="3381300"/>
          </a:xfrm>
        </p:grpSpPr>
        <p:sp>
          <p:nvSpPr>
            <p:cNvPr id="611" name="Google Shape;611;p44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4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4"/>
            <p:cNvSpPr txBox="1"/>
            <p:nvPr/>
          </p:nvSpPr>
          <p:spPr>
            <a:xfrm>
              <a:off x="228600" y="228600"/>
              <a:ext cx="34005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DECLARATION &amp; CONVENTION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Naming &amp; Scope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Declaration Scope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Name of method can be declared outside the class.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Naming Convention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All methods have a name that starts with a lowercase character.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5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Methods: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Syntax Rules &amp; Parameters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19" name="Google Shape;619;p45"/>
          <p:cNvGrpSpPr/>
          <p:nvPr/>
        </p:nvGrpSpPr>
        <p:grpSpPr>
          <a:xfrm>
            <a:off x="571500" y="1285875"/>
            <a:ext cx="3857700" cy="3381300"/>
            <a:chOff x="0" y="0"/>
            <a:chExt cx="3857700" cy="3381300"/>
          </a:xfrm>
        </p:grpSpPr>
        <p:sp>
          <p:nvSpPr>
            <p:cNvPr id="620" name="Google Shape;620;p45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5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5"/>
            <p:cNvSpPr txBox="1"/>
            <p:nvPr/>
          </p:nvSpPr>
          <p:spPr>
            <a:xfrm>
              <a:off x="228600" y="228600"/>
              <a:ext cx="34005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RETURN TYPE &amp; NAMING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Type &amp; Identifier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Data Type Specifier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Specifies the type of data returned by the method. This can be any valid type, including custom class types. If no value is returned, return type must be </a:t>
              </a: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Method Name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Specified by </a:t>
              </a:r>
              <a:r>
                <a:rPr b="1" lang="en" sz="1000">
                  <a:solidFill>
                    <a:srgbClr val="B4530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 Can be any legal identifier other than items already used within the current scope.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23" name="Google Shape;623;p45"/>
          <p:cNvGrpSpPr/>
          <p:nvPr/>
        </p:nvGrpSpPr>
        <p:grpSpPr>
          <a:xfrm>
            <a:off x="4714875" y="1285875"/>
            <a:ext cx="3857700" cy="3381300"/>
            <a:chOff x="0" y="0"/>
            <a:chExt cx="3857700" cy="3381300"/>
          </a:xfrm>
        </p:grpSpPr>
        <p:sp>
          <p:nvSpPr>
            <p:cNvPr id="624" name="Google Shape;624;p45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5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5"/>
            <p:cNvSpPr txBox="1"/>
            <p:nvPr/>
          </p:nvSpPr>
          <p:spPr>
            <a:xfrm>
              <a:off x="228600" y="228600"/>
              <a:ext cx="34005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METHOD INPUTS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Parameter List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Structure &amp; Sequence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0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parameter-list</a:t>
              </a: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is a sequence of type and identifier pairs separated by commas.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Variable Role &amp; Empty State</a:t>
              </a:r>
              <a:endParaRPr b="1" sz="11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Parameters act as variables that receive argument values passed when invoked. If the method requires no parameters, the list remains empty.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Google Shape;631;p46"/>
          <p:cNvGrpSpPr/>
          <p:nvPr/>
        </p:nvGrpSpPr>
        <p:grpSpPr>
          <a:xfrm>
            <a:off x="571500" y="381000"/>
            <a:ext cx="8001000" cy="666900"/>
            <a:chOff x="0" y="0"/>
            <a:chExt cx="8001000" cy="666900"/>
          </a:xfrm>
        </p:grpSpPr>
        <p:sp>
          <p:nvSpPr>
            <p:cNvPr id="632" name="Google Shape;632;p46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6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Why Use </a:t>
              </a:r>
              <a:r>
                <a:rPr b="0"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Methods?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4" name="Google Shape;634;p46"/>
          <p:cNvGrpSpPr/>
          <p:nvPr/>
        </p:nvGrpSpPr>
        <p:grpSpPr>
          <a:xfrm>
            <a:off x="571500" y="1285875"/>
            <a:ext cx="3857700" cy="1571700"/>
            <a:chOff x="0" y="0"/>
            <a:chExt cx="3857700" cy="1571700"/>
          </a:xfrm>
        </p:grpSpPr>
        <p:sp>
          <p:nvSpPr>
            <p:cNvPr id="635" name="Google Shape;635;p46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6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7" name="Google Shape;637;p46"/>
            <p:cNvGrpSpPr/>
            <p:nvPr/>
          </p:nvGrpSpPr>
          <p:grpSpPr>
            <a:xfrm>
              <a:off x="228600" y="190500"/>
              <a:ext cx="3400500" cy="1190700"/>
              <a:chOff x="0" y="0"/>
              <a:chExt cx="3400500" cy="1190700"/>
            </a:xfrm>
          </p:grpSpPr>
          <p:sp>
            <p:nvSpPr>
              <p:cNvPr id="638" name="Google Shape;638;p46"/>
              <p:cNvSpPr/>
              <p:nvPr/>
            </p:nvSpPr>
            <p:spPr>
              <a:xfrm>
                <a:off x="0" y="0"/>
                <a:ext cx="34005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46"/>
              <p:cNvSpPr txBox="1"/>
              <p:nvPr/>
            </p:nvSpPr>
            <p:spPr>
              <a:xfrm>
                <a:off x="0" y="0"/>
                <a:ext cx="34005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REUSABILITY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To Make Code Reusable</a:t>
                </a:r>
                <a:endParaRPr b="0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If you need to do the same task multiple times, write a method once and call it each time you need to execute the task.</a:t>
                </a:r>
                <a:endParaRPr b="0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40" name="Google Shape;640;p46"/>
          <p:cNvGrpSpPr/>
          <p:nvPr/>
        </p:nvGrpSpPr>
        <p:grpSpPr>
          <a:xfrm>
            <a:off x="4714875" y="1285875"/>
            <a:ext cx="3857700" cy="1571700"/>
            <a:chOff x="0" y="0"/>
            <a:chExt cx="3857700" cy="1571700"/>
          </a:xfrm>
        </p:grpSpPr>
        <p:sp>
          <p:nvSpPr>
            <p:cNvPr id="641" name="Google Shape;641;p46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6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3" name="Google Shape;643;p46"/>
            <p:cNvGrpSpPr/>
            <p:nvPr/>
          </p:nvGrpSpPr>
          <p:grpSpPr>
            <a:xfrm>
              <a:off x="228600" y="190500"/>
              <a:ext cx="3400500" cy="1190700"/>
              <a:chOff x="0" y="0"/>
              <a:chExt cx="3400500" cy="1190700"/>
            </a:xfrm>
          </p:grpSpPr>
          <p:sp>
            <p:nvSpPr>
              <p:cNvPr id="644" name="Google Shape;644;p46"/>
              <p:cNvSpPr/>
              <p:nvPr/>
            </p:nvSpPr>
            <p:spPr>
              <a:xfrm>
                <a:off x="0" y="0"/>
                <a:ext cx="34005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46"/>
              <p:cNvSpPr txBox="1"/>
              <p:nvPr/>
            </p:nvSpPr>
            <p:spPr>
              <a:xfrm>
                <a:off x="0" y="0"/>
                <a:ext cx="34005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FLEXIBILITY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To Parameterize Code</a:t>
                </a:r>
                <a:endParaRPr b="0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Use parameters to dynamically alter and control how the method behaves across different scenarios.</a:t>
                </a:r>
                <a:endParaRPr b="0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46" name="Google Shape;646;p46"/>
          <p:cNvGrpSpPr/>
          <p:nvPr/>
        </p:nvGrpSpPr>
        <p:grpSpPr>
          <a:xfrm>
            <a:off x="571500" y="3048000"/>
            <a:ext cx="3857700" cy="1571700"/>
            <a:chOff x="0" y="0"/>
            <a:chExt cx="3857700" cy="1571700"/>
          </a:xfrm>
        </p:grpSpPr>
        <p:sp>
          <p:nvSpPr>
            <p:cNvPr id="647" name="Google Shape;647;p46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6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9" name="Google Shape;649;p46"/>
            <p:cNvGrpSpPr/>
            <p:nvPr/>
          </p:nvGrpSpPr>
          <p:grpSpPr>
            <a:xfrm>
              <a:off x="228600" y="190500"/>
              <a:ext cx="3400500" cy="1190700"/>
              <a:chOff x="0" y="0"/>
              <a:chExt cx="3400500" cy="1190700"/>
            </a:xfrm>
          </p:grpSpPr>
          <p:sp>
            <p:nvSpPr>
              <p:cNvPr id="650" name="Google Shape;650;p46"/>
              <p:cNvSpPr/>
              <p:nvPr/>
            </p:nvSpPr>
            <p:spPr>
              <a:xfrm>
                <a:off x="0" y="0"/>
                <a:ext cx="34005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46"/>
              <p:cNvSpPr txBox="1"/>
              <p:nvPr/>
            </p:nvSpPr>
            <p:spPr>
              <a:xfrm>
                <a:off x="0" y="0"/>
                <a:ext cx="34005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ARCHITECTURE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Top-Down Programming</a:t>
                </a:r>
                <a:endParaRPr b="0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Easily solve bigger or complex problems by breaking them down into smaller, manageable sub-methods.</a:t>
                </a:r>
                <a:endParaRPr b="0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52" name="Google Shape;652;p46"/>
          <p:cNvGrpSpPr/>
          <p:nvPr/>
        </p:nvGrpSpPr>
        <p:grpSpPr>
          <a:xfrm>
            <a:off x="4714875" y="3048000"/>
            <a:ext cx="3857700" cy="1571700"/>
            <a:chOff x="0" y="0"/>
            <a:chExt cx="3857700" cy="1571700"/>
          </a:xfrm>
        </p:grpSpPr>
        <p:sp>
          <p:nvSpPr>
            <p:cNvPr id="653" name="Google Shape;653;p46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6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5" name="Google Shape;655;p46"/>
            <p:cNvGrpSpPr/>
            <p:nvPr/>
          </p:nvGrpSpPr>
          <p:grpSpPr>
            <a:xfrm>
              <a:off x="228600" y="190500"/>
              <a:ext cx="3400500" cy="1190700"/>
              <a:chOff x="0" y="0"/>
              <a:chExt cx="3400500" cy="1190700"/>
            </a:xfrm>
          </p:grpSpPr>
          <p:sp>
            <p:nvSpPr>
              <p:cNvPr id="656" name="Google Shape;656;p46"/>
              <p:cNvSpPr/>
              <p:nvPr/>
            </p:nvSpPr>
            <p:spPr>
              <a:xfrm>
                <a:off x="0" y="0"/>
                <a:ext cx="3400500" cy="1190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46"/>
              <p:cNvSpPr txBox="1"/>
              <p:nvPr/>
            </p:nvSpPr>
            <p:spPr>
              <a:xfrm>
                <a:off x="0" y="0"/>
                <a:ext cx="34005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MAINTAINABILITY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To Simplify Code</a:t>
                </a:r>
                <a:endParaRPr b="0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Encapsulates complex internal logic from other program parts, preventing accidental errors and confusion.</a:t>
                </a:r>
                <a:endParaRPr b="0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7"/>
          <p:cNvSpPr txBox="1"/>
          <p:nvPr>
            <p:ph type="title"/>
          </p:nvPr>
        </p:nvSpPr>
        <p:spPr>
          <a:xfrm>
            <a:off x="571500" y="3429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Example: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Class Methods in Action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63" name="Google Shape;663;p47"/>
          <p:cNvGrpSpPr/>
          <p:nvPr/>
        </p:nvGrpSpPr>
        <p:grpSpPr>
          <a:xfrm>
            <a:off x="571500" y="1162050"/>
            <a:ext cx="3857700" cy="3619500"/>
            <a:chOff x="0" y="0"/>
            <a:chExt cx="3857700" cy="3619500"/>
          </a:xfrm>
        </p:grpSpPr>
        <p:sp>
          <p:nvSpPr>
            <p:cNvPr id="664" name="Google Shape;664;p47"/>
            <p:cNvSpPr/>
            <p:nvPr/>
          </p:nvSpPr>
          <p:spPr>
            <a:xfrm>
              <a:off x="0" y="0"/>
              <a:ext cx="38577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7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7"/>
            <p:cNvSpPr txBox="1"/>
            <p:nvPr/>
          </p:nvSpPr>
          <p:spPr>
            <a:xfrm>
              <a:off x="228600" y="190500"/>
              <a:ext cx="340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CLASS 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Box Class Logic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667" name="Google Shape;667;p47"/>
          <p:cNvGrpSpPr/>
          <p:nvPr/>
        </p:nvGrpSpPr>
        <p:grpSpPr>
          <a:xfrm>
            <a:off x="4714875" y="1162050"/>
            <a:ext cx="3857700" cy="3619500"/>
            <a:chOff x="0" y="0"/>
            <a:chExt cx="3857700" cy="3619500"/>
          </a:xfrm>
        </p:grpSpPr>
        <p:sp>
          <p:nvSpPr>
            <p:cNvPr id="668" name="Google Shape;668;p47"/>
            <p:cNvSpPr/>
            <p:nvPr/>
          </p:nvSpPr>
          <p:spPr>
            <a:xfrm>
              <a:off x="0" y="0"/>
              <a:ext cx="38577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7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7"/>
            <p:cNvSpPr txBox="1"/>
            <p:nvPr/>
          </p:nvSpPr>
          <p:spPr>
            <a:xfrm>
              <a:off x="228600" y="190500"/>
              <a:ext cx="340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CLASS USAGE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BoxDemo Execution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671" name="Google Shape;67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800" y="1743150"/>
            <a:ext cx="3697674" cy="289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7"/>
          <p:cNvPicPr preferRelativeResize="0"/>
          <p:nvPr/>
        </p:nvPicPr>
        <p:blipFill rotWithShape="1">
          <a:blip r:embed="rId5">
            <a:alphaModFix/>
          </a:blip>
          <a:srcRect b="0" l="0" r="-66417" t="0"/>
          <a:stretch/>
        </p:blipFill>
        <p:spPr>
          <a:xfrm>
            <a:off x="4781275" y="1743150"/>
            <a:ext cx="3697675" cy="289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8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Method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Overloading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78" name="Google Shape;678;p48"/>
          <p:cNvGrpSpPr/>
          <p:nvPr/>
        </p:nvGrpSpPr>
        <p:grpSpPr>
          <a:xfrm>
            <a:off x="571500" y="1285875"/>
            <a:ext cx="2476500" cy="3333900"/>
            <a:chOff x="0" y="0"/>
            <a:chExt cx="2476500" cy="3333900"/>
          </a:xfrm>
        </p:grpSpPr>
        <p:sp>
          <p:nvSpPr>
            <p:cNvPr id="679" name="Google Shape;679;p48"/>
            <p:cNvSpPr/>
            <p:nvPr/>
          </p:nvSpPr>
          <p:spPr>
            <a:xfrm>
              <a:off x="0" y="0"/>
              <a:ext cx="2476500" cy="33339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8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8"/>
            <p:cNvSpPr txBox="1"/>
            <p:nvPr/>
          </p:nvSpPr>
          <p:spPr>
            <a:xfrm>
              <a:off x="190500" y="190500"/>
              <a:ext cx="2095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Same Name, Unique Params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If two methods have the same name but different parameter lists within one class, it is called "Method Overloading".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2" name="Google Shape;682;p48"/>
          <p:cNvGrpSpPr/>
          <p:nvPr/>
        </p:nvGrpSpPr>
        <p:grpSpPr>
          <a:xfrm>
            <a:off x="3333750" y="1285875"/>
            <a:ext cx="2476500" cy="3333900"/>
            <a:chOff x="0" y="0"/>
            <a:chExt cx="2476500" cy="3333900"/>
          </a:xfrm>
        </p:grpSpPr>
        <p:sp>
          <p:nvSpPr>
            <p:cNvPr id="683" name="Google Shape;683;p48"/>
            <p:cNvSpPr/>
            <p:nvPr/>
          </p:nvSpPr>
          <p:spPr>
            <a:xfrm>
              <a:off x="0" y="0"/>
              <a:ext cx="2476500" cy="33339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8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8"/>
            <p:cNvSpPr txBox="1"/>
            <p:nvPr/>
          </p:nvSpPr>
          <p:spPr>
            <a:xfrm>
              <a:off x="190500" y="190500"/>
              <a:ext cx="2095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REQUIREMENTS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Parameter Signature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Overloaded methods must have different parameter lists. You cannot overload methods based solely on different modifiers or return types.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6" name="Google Shape;686;p48"/>
          <p:cNvGrpSpPr/>
          <p:nvPr/>
        </p:nvGrpSpPr>
        <p:grpSpPr>
          <a:xfrm>
            <a:off x="6096000" y="1285875"/>
            <a:ext cx="2476500" cy="3333900"/>
            <a:chOff x="0" y="0"/>
            <a:chExt cx="2476500" cy="3333900"/>
          </a:xfrm>
        </p:grpSpPr>
        <p:sp>
          <p:nvSpPr>
            <p:cNvPr id="687" name="Google Shape;687;p48"/>
            <p:cNvSpPr/>
            <p:nvPr/>
          </p:nvSpPr>
          <p:spPr>
            <a:xfrm>
              <a:off x="0" y="0"/>
              <a:ext cx="2476500" cy="33339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8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8"/>
            <p:cNvSpPr txBox="1"/>
            <p:nvPr/>
          </p:nvSpPr>
          <p:spPr>
            <a:xfrm>
              <a:off x="190500" y="190500"/>
              <a:ext cx="2095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COMPILER LOGIC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Method Resolution</a:t>
              </a:r>
              <a:endParaRPr b="0" sz="1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When overloaded methods are used, the Java compiler decides which method to invoke based on the number and types of parameters passed.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4" name="Google Shape;694;p49"/>
          <p:cNvGrpSpPr/>
          <p:nvPr/>
        </p:nvGrpSpPr>
        <p:grpSpPr>
          <a:xfrm>
            <a:off x="571500" y="342900"/>
            <a:ext cx="8001000" cy="666900"/>
            <a:chOff x="0" y="0"/>
            <a:chExt cx="8001000" cy="666900"/>
          </a:xfrm>
        </p:grpSpPr>
        <p:sp>
          <p:nvSpPr>
            <p:cNvPr id="695" name="Google Shape;695;p49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9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Example: </a:t>
              </a:r>
              <a:r>
                <a:rPr b="0"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Method Overloading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7" name="Google Shape;697;p49"/>
          <p:cNvGrpSpPr/>
          <p:nvPr/>
        </p:nvGrpSpPr>
        <p:grpSpPr>
          <a:xfrm>
            <a:off x="571500" y="1162050"/>
            <a:ext cx="3857700" cy="3619500"/>
            <a:chOff x="0" y="0"/>
            <a:chExt cx="3857700" cy="3619500"/>
          </a:xfrm>
        </p:grpSpPr>
        <p:sp>
          <p:nvSpPr>
            <p:cNvPr id="698" name="Google Shape;698;p49"/>
            <p:cNvSpPr/>
            <p:nvPr/>
          </p:nvSpPr>
          <p:spPr>
            <a:xfrm>
              <a:off x="0" y="0"/>
              <a:ext cx="38577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9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0" name="Google Shape;700;p49"/>
            <p:cNvGrpSpPr/>
            <p:nvPr/>
          </p:nvGrpSpPr>
          <p:grpSpPr>
            <a:xfrm>
              <a:off x="228600" y="190500"/>
              <a:ext cx="3400500" cy="476400"/>
              <a:chOff x="0" y="0"/>
              <a:chExt cx="3400500" cy="476400"/>
            </a:xfrm>
          </p:grpSpPr>
          <p:sp>
            <p:nvSpPr>
              <p:cNvPr id="701" name="Google Shape;701;p49"/>
              <p:cNvSpPr/>
              <p:nvPr/>
            </p:nvSpPr>
            <p:spPr>
              <a:xfrm>
                <a:off x="0" y="0"/>
                <a:ext cx="34005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49"/>
              <p:cNvSpPr txBox="1"/>
              <p:nvPr/>
            </p:nvSpPr>
            <p:spPr>
              <a:xfrm>
                <a:off x="0" y="0"/>
                <a:ext cx="3400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CLASS DEFINITION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Box Class Logic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  <p:grpSp>
        <p:nvGrpSpPr>
          <p:cNvPr id="703" name="Google Shape;703;p49"/>
          <p:cNvGrpSpPr/>
          <p:nvPr/>
        </p:nvGrpSpPr>
        <p:grpSpPr>
          <a:xfrm>
            <a:off x="4714875" y="1162050"/>
            <a:ext cx="3857700" cy="3619500"/>
            <a:chOff x="0" y="0"/>
            <a:chExt cx="3857700" cy="3619500"/>
          </a:xfrm>
        </p:grpSpPr>
        <p:sp>
          <p:nvSpPr>
            <p:cNvPr id="704" name="Google Shape;704;p49"/>
            <p:cNvSpPr/>
            <p:nvPr/>
          </p:nvSpPr>
          <p:spPr>
            <a:xfrm>
              <a:off x="0" y="0"/>
              <a:ext cx="38577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9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6" name="Google Shape;706;p49"/>
            <p:cNvGrpSpPr/>
            <p:nvPr/>
          </p:nvGrpSpPr>
          <p:grpSpPr>
            <a:xfrm>
              <a:off x="228600" y="190500"/>
              <a:ext cx="3400500" cy="476400"/>
              <a:chOff x="0" y="0"/>
              <a:chExt cx="3400500" cy="476400"/>
            </a:xfrm>
          </p:grpSpPr>
          <p:sp>
            <p:nvSpPr>
              <p:cNvPr id="707" name="Google Shape;707;p49"/>
              <p:cNvSpPr/>
              <p:nvPr/>
            </p:nvSpPr>
            <p:spPr>
              <a:xfrm>
                <a:off x="0" y="0"/>
                <a:ext cx="34005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49"/>
              <p:cNvSpPr txBox="1"/>
              <p:nvPr/>
            </p:nvSpPr>
            <p:spPr>
              <a:xfrm>
                <a:off x="0" y="0"/>
                <a:ext cx="3400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CLASS USAGE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BoxDemo Execution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  <p:pic>
        <p:nvPicPr>
          <p:cNvPr id="709" name="Google Shape;70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125" y="1767325"/>
            <a:ext cx="3714149" cy="29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1600" y="1767325"/>
            <a:ext cx="3714149" cy="290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5" name="Google Shape;715;p50"/>
          <p:cNvGrpSpPr/>
          <p:nvPr/>
        </p:nvGrpSpPr>
        <p:grpSpPr>
          <a:xfrm>
            <a:off x="571500" y="381000"/>
            <a:ext cx="8001000" cy="666900"/>
            <a:chOff x="0" y="0"/>
            <a:chExt cx="8001000" cy="666900"/>
          </a:xfrm>
        </p:grpSpPr>
        <p:sp>
          <p:nvSpPr>
            <p:cNvPr id="716" name="Google Shape;716;p50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50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Concept: </a:t>
              </a:r>
              <a:r>
                <a:rPr b="0"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Recursion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8" name="Google Shape;718;p50"/>
          <p:cNvGrpSpPr/>
          <p:nvPr/>
        </p:nvGrpSpPr>
        <p:grpSpPr>
          <a:xfrm>
            <a:off x="571500" y="1285875"/>
            <a:ext cx="2476500" cy="3333900"/>
            <a:chOff x="0" y="0"/>
            <a:chExt cx="2476500" cy="3333900"/>
          </a:xfrm>
        </p:grpSpPr>
        <p:sp>
          <p:nvSpPr>
            <p:cNvPr id="719" name="Google Shape;719;p50"/>
            <p:cNvSpPr/>
            <p:nvPr/>
          </p:nvSpPr>
          <p:spPr>
            <a:xfrm>
              <a:off x="0" y="0"/>
              <a:ext cx="2476500" cy="33339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50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50"/>
            <p:cNvSpPr txBox="1"/>
            <p:nvPr/>
          </p:nvSpPr>
          <p:spPr>
            <a:xfrm>
              <a:off x="190500" y="190500"/>
              <a:ext cx="2095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Self-Calling Method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Recursion is a programming technique in which a method calls itself directly or indirectly.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2" name="Google Shape;722;p50"/>
          <p:cNvGrpSpPr/>
          <p:nvPr/>
        </p:nvGrpSpPr>
        <p:grpSpPr>
          <a:xfrm>
            <a:off x="3333750" y="1285875"/>
            <a:ext cx="2476500" cy="3333900"/>
            <a:chOff x="0" y="0"/>
            <a:chExt cx="2476500" cy="3333900"/>
          </a:xfrm>
        </p:grpSpPr>
        <p:sp>
          <p:nvSpPr>
            <p:cNvPr id="723" name="Google Shape;723;p50"/>
            <p:cNvSpPr/>
            <p:nvPr/>
          </p:nvSpPr>
          <p:spPr>
            <a:xfrm>
              <a:off x="0" y="0"/>
              <a:ext cx="2476500" cy="33339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50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50"/>
            <p:cNvSpPr txBox="1"/>
            <p:nvPr/>
          </p:nvSpPr>
          <p:spPr>
            <a:xfrm>
              <a:off x="190500" y="190500"/>
              <a:ext cx="2095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MEMORY MECHANISM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Stack Allocation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Each method call allocates new space on the internal stack for its local variables, enabling recursive calls automatically.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6" name="Google Shape;726;p50"/>
          <p:cNvGrpSpPr/>
          <p:nvPr/>
        </p:nvGrpSpPr>
        <p:grpSpPr>
          <a:xfrm>
            <a:off x="6096000" y="1285875"/>
            <a:ext cx="2476500" cy="3333900"/>
            <a:chOff x="0" y="0"/>
            <a:chExt cx="2476500" cy="3333900"/>
          </a:xfrm>
        </p:grpSpPr>
        <p:sp>
          <p:nvSpPr>
            <p:cNvPr id="727" name="Google Shape;727;p50"/>
            <p:cNvSpPr/>
            <p:nvPr/>
          </p:nvSpPr>
          <p:spPr>
            <a:xfrm>
              <a:off x="0" y="0"/>
              <a:ext cx="2476500" cy="33339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50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50"/>
            <p:cNvSpPr txBox="1"/>
            <p:nvPr/>
          </p:nvSpPr>
          <p:spPr>
            <a:xfrm>
              <a:off x="190500" y="190500"/>
              <a:ext cx="2095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BENEFITS &amp; EXAMPLES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Problem Breakdown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Provides a way to break complicated problems down into simpler problems that are easier to solve.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Examples:</a:t>
              </a:r>
              <a:endParaRPr b="1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Factorial of a number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Fibonacci series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" name="Google Shape;734;p51"/>
          <p:cNvGrpSpPr/>
          <p:nvPr/>
        </p:nvGrpSpPr>
        <p:grpSpPr>
          <a:xfrm>
            <a:off x="571500" y="381000"/>
            <a:ext cx="8001000" cy="666900"/>
            <a:chOff x="0" y="0"/>
            <a:chExt cx="8001000" cy="666900"/>
          </a:xfrm>
        </p:grpSpPr>
        <p:sp>
          <p:nvSpPr>
            <p:cNvPr id="735" name="Google Shape;735;p51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51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Recursion: </a:t>
              </a:r>
              <a:r>
                <a:rPr b="0"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&amp; Simple Example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7" name="Google Shape;737;p51"/>
          <p:cNvGrpSpPr/>
          <p:nvPr/>
        </p:nvGrpSpPr>
        <p:grpSpPr>
          <a:xfrm>
            <a:off x="571500" y="1190625"/>
            <a:ext cx="3857700" cy="3476700"/>
            <a:chOff x="0" y="0"/>
            <a:chExt cx="3857700" cy="3476700"/>
          </a:xfrm>
        </p:grpSpPr>
        <p:sp>
          <p:nvSpPr>
            <p:cNvPr id="738" name="Google Shape;738;p51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51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51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GENERAL SYNTAX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Recursive Structure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type </a:t>
              </a:r>
              <a:r>
                <a:rPr b="1" lang="en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methodname() {</a:t>
              </a:r>
              <a:endParaRPr b="1" sz="1200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1" lang="en" sz="12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code to be executed</a:t>
              </a:r>
              <a:endParaRPr b="0" i="1" sz="12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369A1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methodname(); </a:t>
              </a:r>
              <a:r>
                <a:rPr b="0" i="1" lang="en" sz="12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calling same method</a:t>
              </a:r>
              <a:endParaRPr b="1" sz="1200">
                <a:solidFill>
                  <a:srgbClr val="0369A1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2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recursive method contains a call to itself within its own body definition.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1" name="Google Shape;741;p51"/>
          <p:cNvGrpSpPr/>
          <p:nvPr/>
        </p:nvGrpSpPr>
        <p:grpSpPr>
          <a:xfrm>
            <a:off x="4714875" y="1190625"/>
            <a:ext cx="3857700" cy="3476700"/>
            <a:chOff x="0" y="0"/>
            <a:chExt cx="3857700" cy="3476700"/>
          </a:xfrm>
        </p:grpSpPr>
        <p:sp>
          <p:nvSpPr>
            <p:cNvPr id="742" name="Google Shape;742;p51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51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51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BASIC EXAMPLE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Demonstration Method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 </a:t>
              </a:r>
              <a:r>
                <a:rPr b="1" lang="en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demo() {</a:t>
              </a:r>
              <a:endParaRPr b="1" sz="1200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120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"hello"</a:t>
              </a:r>
              <a:r>
                <a:rPr b="0" lang="en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12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369A1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demo(); </a:t>
              </a:r>
              <a:r>
                <a:rPr b="0" i="1" lang="en" sz="12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recursive call</a:t>
              </a:r>
              <a:endParaRPr b="1" sz="1200">
                <a:solidFill>
                  <a:srgbClr val="0369A1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2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When executed, this simple example continuously prints "hello" by invoking itself repeatedly.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9" name="Google Shape;749;p52"/>
          <p:cNvGrpSpPr/>
          <p:nvPr/>
        </p:nvGrpSpPr>
        <p:grpSpPr>
          <a:xfrm>
            <a:off x="571500" y="381000"/>
            <a:ext cx="8001000" cy="666900"/>
            <a:chOff x="0" y="0"/>
            <a:chExt cx="8001000" cy="666900"/>
          </a:xfrm>
        </p:grpSpPr>
        <p:sp>
          <p:nvSpPr>
            <p:cNvPr id="750" name="Google Shape;750;p52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52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Recursion: </a:t>
              </a:r>
              <a:r>
                <a:rPr b="0"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Factorial Example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2" name="Google Shape;752;p52"/>
          <p:cNvGrpSpPr/>
          <p:nvPr/>
        </p:nvGrpSpPr>
        <p:grpSpPr>
          <a:xfrm>
            <a:off x="571500" y="1190625"/>
            <a:ext cx="3857700" cy="3476700"/>
            <a:chOff x="0" y="0"/>
            <a:chExt cx="3857700" cy="3476700"/>
          </a:xfrm>
        </p:grpSpPr>
        <p:sp>
          <p:nvSpPr>
            <p:cNvPr id="753" name="Google Shape;753;p52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52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52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JAVA CODE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665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Factorial Class</a:t>
              </a:r>
              <a:endParaRPr b="0" sz="1665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class </a:t>
              </a:r>
              <a:r>
                <a:rPr b="1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Recursion {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143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static int </a:t>
              </a:r>
              <a:r>
                <a:rPr b="1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factorial(</a:t>
              </a:r>
              <a:r>
                <a:rPr b="1" lang="en" sz="1018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</a:t>
              </a:r>
              <a:r>
                <a:rPr b="1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n) {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286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369A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 </a:t>
              </a:r>
              <a:r>
                <a:rPr b="0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(n == 1) </a:t>
              </a:r>
              <a:r>
                <a:rPr b="1" lang="en" sz="1018">
                  <a:solidFill>
                    <a:srgbClr val="0369A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 </a:t>
              </a:r>
              <a:r>
                <a:rPr b="0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1;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286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369A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 return</a:t>
              </a:r>
              <a:r>
                <a:rPr b="0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(n * factorial(n-1));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143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143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 </a:t>
              </a:r>
              <a:r>
                <a:rPr b="1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main(String[] args) {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286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3429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"Factorial of 5 is: " </a:t>
              </a:r>
              <a:r>
                <a:rPr b="0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 factorial(5));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143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833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756" name="Google Shape;756;p52"/>
          <p:cNvGrpSpPr/>
          <p:nvPr/>
        </p:nvGrpSpPr>
        <p:grpSpPr>
          <a:xfrm>
            <a:off x="4714875" y="1190625"/>
            <a:ext cx="3857700" cy="3476700"/>
            <a:chOff x="0" y="0"/>
            <a:chExt cx="3857700" cy="3476700"/>
          </a:xfrm>
        </p:grpSpPr>
        <p:sp>
          <p:nvSpPr>
            <p:cNvPr id="757" name="Google Shape;757;p52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52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52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CODE BREAKDOWN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Method Logic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Base Case</a:t>
              </a:r>
              <a:endParaRPr b="1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When </a:t>
              </a: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 == 1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returns </a:t>
              </a: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This terminates the recursive call chain and prevents infinite execution.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Recursive Step</a:t>
              </a:r>
              <a:endParaRPr b="1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Multiplies </a:t>
              </a: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by the result of calling </a:t>
              </a: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factorial(n-1)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3. Program Output</a:t>
              </a:r>
              <a:endParaRPr b="1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Evaluating </a:t>
              </a: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factorial(5)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yields </a:t>
              </a: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 * 4 * 3 * 2 * 1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Factorial of 5 is: 120</a:t>
              </a:r>
              <a:endParaRPr b="1" sz="1100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3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Constructor: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Overview &amp; Key Features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65" name="Google Shape;765;p53"/>
          <p:cNvGrpSpPr/>
          <p:nvPr/>
        </p:nvGrpSpPr>
        <p:grpSpPr>
          <a:xfrm>
            <a:off x="571500" y="1190625"/>
            <a:ext cx="3857700" cy="3476700"/>
            <a:chOff x="0" y="0"/>
            <a:chExt cx="3857700" cy="3476700"/>
          </a:xfrm>
        </p:grpSpPr>
        <p:sp>
          <p:nvSpPr>
            <p:cNvPr id="766" name="Google Shape;766;p53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53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53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Role &amp; Naming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Special Initialization Method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constructor is similar to a method that initializes the instance variables of a class.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Identical Class Naming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constructor must have the exact same name as the class name in which it is defined.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769" name="Google Shape;769;p53"/>
          <p:cNvGrpSpPr/>
          <p:nvPr/>
        </p:nvGrpSpPr>
        <p:grpSpPr>
          <a:xfrm>
            <a:off x="4714875" y="1190625"/>
            <a:ext cx="3857700" cy="3476700"/>
            <a:chOff x="0" y="0"/>
            <a:chExt cx="3857700" cy="3476700"/>
          </a:xfrm>
        </p:grpSpPr>
        <p:sp>
          <p:nvSpPr>
            <p:cNvPr id="770" name="Google Shape;770;p53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53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53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&amp; PARAMETERS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Invocation Behavior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Flexible Parameters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constructor may or may not have parameters. Parameters act as local variables to receive data during instantiation.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Automatic Call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Once defined, it is automatically invoked immediately after object creation, before the </a:t>
              </a:r>
              <a:r>
                <a:rPr b="1" lang="en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new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operator completes.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4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Constructor: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Types &amp; Rules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78" name="Google Shape;778;p54"/>
          <p:cNvGrpSpPr/>
          <p:nvPr/>
        </p:nvGrpSpPr>
        <p:grpSpPr>
          <a:xfrm>
            <a:off x="571500" y="1190625"/>
            <a:ext cx="3857700" cy="3476700"/>
            <a:chOff x="0" y="0"/>
            <a:chExt cx="3857700" cy="3476700"/>
          </a:xfrm>
        </p:grpSpPr>
        <p:sp>
          <p:nvSpPr>
            <p:cNvPr id="779" name="Google Shape;779;p54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54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39937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1" name="Google Shape;781;p54"/>
            <p:cNvGrpSpPr/>
            <p:nvPr/>
          </p:nvGrpSpPr>
          <p:grpSpPr>
            <a:xfrm>
              <a:off x="228600" y="228600"/>
              <a:ext cx="3400500" cy="3019500"/>
              <a:chOff x="0" y="0"/>
              <a:chExt cx="3400500" cy="3019500"/>
            </a:xfrm>
          </p:grpSpPr>
          <p:sp>
            <p:nvSpPr>
              <p:cNvPr id="782" name="Google Shape;782;p54"/>
              <p:cNvSpPr/>
              <p:nvPr/>
            </p:nvSpPr>
            <p:spPr>
              <a:xfrm>
                <a:off x="0" y="0"/>
                <a:ext cx="3400500" cy="3019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54"/>
              <p:cNvSpPr txBox="1"/>
              <p:nvPr/>
            </p:nvSpPr>
            <p:spPr>
              <a:xfrm>
                <a:off x="0" y="0"/>
                <a:ext cx="3400500" cy="30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CONSTRUCTOR TYPES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Classification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Default Constructor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 constructor without any parameters is called default constructor.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4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Parameterized Constructor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 constructor with one or more parameters is called parameterized constructor.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  <p:grpSp>
        <p:nvGrpSpPr>
          <p:cNvPr id="784" name="Google Shape;784;p54"/>
          <p:cNvGrpSpPr/>
          <p:nvPr/>
        </p:nvGrpSpPr>
        <p:grpSpPr>
          <a:xfrm>
            <a:off x="4714875" y="1190625"/>
            <a:ext cx="3857700" cy="3476700"/>
            <a:chOff x="0" y="0"/>
            <a:chExt cx="3857700" cy="3476700"/>
          </a:xfrm>
        </p:grpSpPr>
        <p:sp>
          <p:nvSpPr>
            <p:cNvPr id="785" name="Google Shape;785;p54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54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39937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7" name="Google Shape;787;p54"/>
            <p:cNvGrpSpPr/>
            <p:nvPr/>
          </p:nvGrpSpPr>
          <p:grpSpPr>
            <a:xfrm>
              <a:off x="228600" y="228600"/>
              <a:ext cx="3400500" cy="3019500"/>
              <a:chOff x="0" y="0"/>
              <a:chExt cx="3400500" cy="3019500"/>
            </a:xfrm>
          </p:grpSpPr>
          <p:sp>
            <p:nvSpPr>
              <p:cNvPr id="788" name="Google Shape;788;p54"/>
              <p:cNvSpPr/>
              <p:nvPr/>
            </p:nvSpPr>
            <p:spPr>
              <a:xfrm>
                <a:off x="0" y="0"/>
                <a:ext cx="3400500" cy="3019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54"/>
              <p:cNvSpPr txBox="1"/>
              <p:nvPr/>
            </p:nvSpPr>
            <p:spPr>
              <a:xfrm>
                <a:off x="0" y="0"/>
                <a:ext cx="3400500" cy="30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RETURN &amp; EXECUTION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Key Rules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No Return Type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 constructor does not return any value, not even void because implicitly the return type of a constructor is the class itself.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14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Single Invocation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 constructor is called only once per object.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55"/>
          <p:cNvSpPr txBox="1"/>
          <p:nvPr>
            <p:ph type="title"/>
          </p:nvPr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Constructor: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No-argument Type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95" name="Google Shape;795;p55"/>
          <p:cNvGrpSpPr/>
          <p:nvPr/>
        </p:nvGrpSpPr>
        <p:grpSpPr>
          <a:xfrm>
            <a:off x="571500" y="1190625"/>
            <a:ext cx="3857700" cy="3476700"/>
            <a:chOff x="0" y="0"/>
            <a:chExt cx="3857700" cy="3476700"/>
          </a:xfrm>
        </p:grpSpPr>
        <p:sp>
          <p:nvSpPr>
            <p:cNvPr id="796" name="Google Shape;796;p55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55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55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Overview &amp; Concept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Parameter Flexibility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Similar to methods, a Java constructor may or may not have any parameters (arguments).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Zero Arguments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a constructor does not accept any parameters, it is known as a no-argument constructor.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799" name="Google Shape;799;p55"/>
          <p:cNvGrpSpPr/>
          <p:nvPr/>
        </p:nvGrpSpPr>
        <p:grpSpPr>
          <a:xfrm>
            <a:off x="4714875" y="1190625"/>
            <a:ext cx="3857700" cy="3476700"/>
            <a:chOff x="0" y="0"/>
            <a:chExt cx="3857700" cy="3476700"/>
          </a:xfrm>
        </p:grpSpPr>
        <p:sp>
          <p:nvSpPr>
            <p:cNvPr id="800" name="Google Shape;800;p55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55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55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&amp; STRUCTURE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Basic Declaration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Syntax Format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constructor</a:t>
              </a: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b="1" sz="1100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syntax / code body</a:t>
              </a:r>
              <a:endParaRPr b="0" i="1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Contains empty parentheses with no parameter signatures defined inside.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6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Private Constructor: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Code Example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08" name="Google Shape;808;p56"/>
          <p:cNvGrpSpPr/>
          <p:nvPr/>
        </p:nvGrpSpPr>
        <p:grpSpPr>
          <a:xfrm>
            <a:off x="571500" y="1190625"/>
            <a:ext cx="4286400" cy="3476700"/>
            <a:chOff x="0" y="0"/>
            <a:chExt cx="4286400" cy="3476700"/>
          </a:xfrm>
        </p:grpSpPr>
        <p:sp>
          <p:nvSpPr>
            <p:cNvPr id="809" name="Google Shape;809;p56"/>
            <p:cNvSpPr/>
            <p:nvPr/>
          </p:nvSpPr>
          <p:spPr>
            <a:xfrm>
              <a:off x="0" y="0"/>
              <a:ext cx="42864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56"/>
            <p:cNvSpPr/>
            <p:nvPr/>
          </p:nvSpPr>
          <p:spPr>
            <a:xfrm>
              <a:off x="0" y="0"/>
              <a:ext cx="42864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56"/>
            <p:cNvSpPr txBox="1"/>
            <p:nvPr/>
          </p:nvSpPr>
          <p:spPr>
            <a:xfrm>
              <a:off x="228600" y="190500"/>
              <a:ext cx="38292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SOURCE CODE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Main.java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Main {</a:t>
              </a:r>
              <a:endParaRPr b="0" sz="10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333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i;</a:t>
              </a:r>
              <a:endParaRPr b="0" sz="10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333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private</a:t>
              </a: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Main() {</a:t>
              </a:r>
              <a:endParaRPr b="0" sz="10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667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 = 5;</a:t>
              </a:r>
              <a:endParaRPr b="0" sz="10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667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100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"Constructor is called"</a:t>
              </a: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10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333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0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333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</a:t>
              </a: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main(String[] args) {</a:t>
              </a:r>
              <a:endParaRPr b="0" sz="10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667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Main obj = </a:t>
              </a:r>
              <a:r>
                <a:rPr b="1" lang="e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Main();</a:t>
              </a:r>
              <a:endParaRPr b="0" sz="10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667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100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"Value of i: "</a:t>
              </a: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+ obj.i);</a:t>
              </a:r>
              <a:endParaRPr b="0" sz="10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333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0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000">
                <a:solidFill>
                  <a:srgbClr val="0F172A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812" name="Google Shape;812;p56"/>
          <p:cNvGrpSpPr/>
          <p:nvPr/>
        </p:nvGrpSpPr>
        <p:grpSpPr>
          <a:xfrm>
            <a:off x="5048250" y="1190625"/>
            <a:ext cx="3524400" cy="3476700"/>
            <a:chOff x="0" y="0"/>
            <a:chExt cx="3524400" cy="3476700"/>
          </a:xfrm>
        </p:grpSpPr>
        <p:sp>
          <p:nvSpPr>
            <p:cNvPr id="813" name="Google Shape;813;p56"/>
            <p:cNvSpPr/>
            <p:nvPr/>
          </p:nvSpPr>
          <p:spPr>
            <a:xfrm>
              <a:off x="0" y="0"/>
              <a:ext cx="35244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56"/>
            <p:cNvSpPr/>
            <p:nvPr/>
          </p:nvSpPr>
          <p:spPr>
            <a:xfrm>
              <a:off x="0" y="0"/>
              <a:ext cx="35244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56"/>
            <p:cNvSpPr txBox="1"/>
            <p:nvPr/>
          </p:nvSpPr>
          <p:spPr>
            <a:xfrm>
              <a:off x="228600" y="190500"/>
              <a:ext cx="3067200" cy="309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strike="noStrike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&amp; ANALYSIS</a:t>
              </a:r>
              <a:endParaRPr b="0" i="0" sz="900" u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800" u="none" strike="noStrik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Key Takeaways</a:t>
              </a:r>
              <a:endParaRPr b="0" i="0" sz="900" u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0" lang="en" sz="11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Private Access</a:t>
              </a:r>
              <a:endParaRPr b="0" i="0" sz="900" u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" sz="100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constructor </a:t>
              </a:r>
              <a:r>
                <a:rPr b="1" i="0" lang="en" sz="1000" u="none" strike="noStrike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private Main()</a:t>
              </a:r>
              <a:r>
                <a:rPr b="0" i="0" lang="en" sz="100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restricts instantiation from outside the class.</a:t>
              </a:r>
              <a:endParaRPr b="0" i="0" sz="900" u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" sz="11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Same-Class Invocation</a:t>
              </a:r>
              <a:endParaRPr b="0" i="0" sz="900" u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" sz="100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Inside </a:t>
              </a:r>
              <a:r>
                <a:rPr b="1" i="0" lang="en" sz="1000" u="none" strike="noStrike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main()</a:t>
              </a:r>
              <a:r>
                <a:rPr b="0" i="0" lang="en" sz="100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1" i="0" lang="en" sz="1000" u="none" strike="noStrike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 Main()</a:t>
              </a:r>
              <a:r>
                <a:rPr b="0" i="0" lang="en" sz="100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works because it resides within the same class definition.</a:t>
              </a:r>
              <a:endParaRPr b="0" i="0" sz="900" u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0" lang="en" sz="11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3. Console Output</a:t>
              </a:r>
              <a:endParaRPr b="0" i="0" sz="900" u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950" u="none" strike="noStrike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Constructor is called</a:t>
              </a:r>
              <a:endParaRPr b="0" i="0" sz="900" u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950" u="none" strike="noStrike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Value of i: 5</a:t>
              </a:r>
              <a:endParaRPr b="0" i="0" sz="900" u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57"/>
          <p:cNvGrpSpPr/>
          <p:nvPr/>
        </p:nvGrpSpPr>
        <p:grpSpPr>
          <a:xfrm>
            <a:off x="571500" y="381000"/>
            <a:ext cx="8001000" cy="666900"/>
            <a:chOff x="0" y="0"/>
            <a:chExt cx="8001000" cy="666900"/>
          </a:xfrm>
        </p:grpSpPr>
        <p:sp>
          <p:nvSpPr>
            <p:cNvPr id="821" name="Google Shape;821;p57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57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Constructor: </a:t>
              </a:r>
              <a:r>
                <a:rPr b="0"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Default Type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3" name="Google Shape;823;p57"/>
          <p:cNvGrpSpPr/>
          <p:nvPr/>
        </p:nvGrpSpPr>
        <p:grpSpPr>
          <a:xfrm>
            <a:off x="571500" y="1190625"/>
            <a:ext cx="3857700" cy="3476700"/>
            <a:chOff x="0" y="0"/>
            <a:chExt cx="3857700" cy="3476700"/>
          </a:xfrm>
        </p:grpSpPr>
        <p:sp>
          <p:nvSpPr>
            <p:cNvPr id="824" name="Google Shape;824;p57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57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57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Overview &amp; Concept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Automatic Generation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we do not create any constructor, the Java compiler automatically creates a no-argument constructor during execution.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Object Initialization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default constructor is used to initialize every object of the class with the exact same data.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827" name="Google Shape;827;p57"/>
          <p:cNvGrpSpPr/>
          <p:nvPr/>
        </p:nvGrpSpPr>
        <p:grpSpPr>
          <a:xfrm>
            <a:off x="4714875" y="1190625"/>
            <a:ext cx="3857700" cy="3476700"/>
            <a:chOff x="0" y="0"/>
            <a:chExt cx="3857700" cy="3476700"/>
          </a:xfrm>
        </p:grpSpPr>
        <p:sp>
          <p:nvSpPr>
            <p:cNvPr id="828" name="Google Shape;828;p57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57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57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&amp; STRUCTURE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Basic Declaration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Syntax Format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Constructor_name</a:t>
              </a: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524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statements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Generated with empty parameters and default body when no explicitly declared constructor exists.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8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Default Constructor: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Code Example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36" name="Google Shape;836;p58"/>
          <p:cNvGrpSpPr/>
          <p:nvPr/>
        </p:nvGrpSpPr>
        <p:grpSpPr>
          <a:xfrm>
            <a:off x="571500" y="1190625"/>
            <a:ext cx="4286400" cy="3476700"/>
            <a:chOff x="0" y="0"/>
            <a:chExt cx="4286400" cy="3476700"/>
          </a:xfrm>
        </p:grpSpPr>
        <p:sp>
          <p:nvSpPr>
            <p:cNvPr id="837" name="Google Shape;837;p58"/>
            <p:cNvSpPr/>
            <p:nvPr/>
          </p:nvSpPr>
          <p:spPr>
            <a:xfrm>
              <a:off x="0" y="0"/>
              <a:ext cx="42864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58"/>
            <p:cNvSpPr/>
            <p:nvPr/>
          </p:nvSpPr>
          <p:spPr>
            <a:xfrm>
              <a:off x="0" y="0"/>
              <a:ext cx="42864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58"/>
            <p:cNvSpPr txBox="1"/>
            <p:nvPr/>
          </p:nvSpPr>
          <p:spPr>
            <a:xfrm>
              <a:off x="228600" y="171450"/>
              <a:ext cx="3829200" cy="314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SOURCE CODE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StudentDemo.java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Student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rollNo; </a:t>
              </a:r>
              <a:r>
                <a:rPr b="1" lang="en" sz="9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name;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</a:t>
              </a: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 { rollNo = 101; name = </a:t>
              </a:r>
              <a:r>
                <a:rPr b="0" lang="en" sz="90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"Suresh"</a:t>
              </a: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display()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90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"Roll No: "</a:t>
              </a: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rollNo);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90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"Name: "</a:t>
              </a: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name);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StudentDemo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</a:t>
              </a: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main(String[] args)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s1 = </a:t>
              </a:r>
              <a:r>
                <a:rPr b="1" lang="en" sz="9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Student();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rtl="0" algn="l"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lang="en" sz="90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"s1 object contains: "</a:t>
              </a:r>
              <a:r>
                <a:rPr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9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s1.display();</a:t>
              </a:r>
              <a:endParaRPr sz="9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5400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 s2 = </a:t>
              </a:r>
              <a:r>
                <a:rPr b="1" lang="en" sz="9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Student();</a:t>
              </a:r>
              <a:endParaRPr sz="9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5400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lang="en" sz="90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"s2 object contains: "</a:t>
              </a:r>
              <a:r>
                <a:rPr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9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54000" rtl="0" algn="l"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s2.display();</a:t>
              </a:r>
              <a:endParaRPr sz="9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840" name="Google Shape;840;p58"/>
          <p:cNvGrpSpPr/>
          <p:nvPr/>
        </p:nvGrpSpPr>
        <p:grpSpPr>
          <a:xfrm>
            <a:off x="5048250" y="1190625"/>
            <a:ext cx="3524400" cy="3476700"/>
            <a:chOff x="0" y="0"/>
            <a:chExt cx="3524400" cy="3476700"/>
          </a:xfrm>
        </p:grpSpPr>
        <p:sp>
          <p:nvSpPr>
            <p:cNvPr id="841" name="Google Shape;841;p58"/>
            <p:cNvSpPr/>
            <p:nvPr/>
          </p:nvSpPr>
          <p:spPr>
            <a:xfrm>
              <a:off x="0" y="0"/>
              <a:ext cx="35244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8"/>
            <p:cNvSpPr/>
            <p:nvPr/>
          </p:nvSpPr>
          <p:spPr>
            <a:xfrm>
              <a:off x="0" y="0"/>
              <a:ext cx="35244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8"/>
            <p:cNvSpPr txBox="1"/>
            <p:nvPr/>
          </p:nvSpPr>
          <p:spPr>
            <a:xfrm>
              <a:off x="228600" y="171450"/>
              <a:ext cx="3067200" cy="314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&amp; ANALYSIS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Key Takeaways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No-Arg Constructor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Student()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constructor initializes </a:t>
              </a: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rollNo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upon creation.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Automatic Initialization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Invoking </a:t>
              </a: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 Student()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triggers default values for object instance variables.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3. Console Output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Student Roll Number is: 101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Student Name is: Suresh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9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Constructor: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Parameterized Type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49" name="Google Shape;849;p59"/>
          <p:cNvGrpSpPr/>
          <p:nvPr/>
        </p:nvGrpSpPr>
        <p:grpSpPr>
          <a:xfrm>
            <a:off x="571500" y="1190625"/>
            <a:ext cx="3857700" cy="3476700"/>
            <a:chOff x="0" y="0"/>
            <a:chExt cx="3857700" cy="3476700"/>
          </a:xfrm>
        </p:grpSpPr>
        <p:sp>
          <p:nvSpPr>
            <p:cNvPr id="850" name="Google Shape;850;p59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59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59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Overview &amp; Concept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Accepts Parameters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Java constructor can accept one or more parameters to receive initial values.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Custom Initialization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Parameterized constructors allow initializing each object with distinct, customizable data.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853" name="Google Shape;853;p59"/>
          <p:cNvGrpSpPr/>
          <p:nvPr/>
        </p:nvGrpSpPr>
        <p:grpSpPr>
          <a:xfrm>
            <a:off x="4714875" y="1190625"/>
            <a:ext cx="3857700" cy="3476700"/>
            <a:chOff x="0" y="0"/>
            <a:chExt cx="3857700" cy="3476700"/>
          </a:xfrm>
        </p:grpSpPr>
        <p:sp>
          <p:nvSpPr>
            <p:cNvPr id="854" name="Google Shape;854;p59"/>
            <p:cNvSpPr/>
            <p:nvPr/>
          </p:nvSpPr>
          <p:spPr>
            <a:xfrm>
              <a:off x="0" y="0"/>
              <a:ext cx="38577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59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9"/>
            <p:cNvSpPr txBox="1"/>
            <p:nvPr/>
          </p:nvSpPr>
          <p:spPr>
            <a:xfrm>
              <a:off x="228600" y="228600"/>
              <a:ext cx="3400500" cy="30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SYNTAX &amp; STRUCTURE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Basic Declaration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Syntax Format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Constructor_name</a:t>
              </a:r>
              <a:r>
                <a:rPr b="1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(parameters)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524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statements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Parameters are specified within parentheses to pass initial values during object instantiation.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60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Parameterized Constructor: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Code Example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62" name="Google Shape;862;p60"/>
          <p:cNvGrpSpPr/>
          <p:nvPr/>
        </p:nvGrpSpPr>
        <p:grpSpPr>
          <a:xfrm>
            <a:off x="571500" y="1190625"/>
            <a:ext cx="4286400" cy="3476700"/>
            <a:chOff x="0" y="0"/>
            <a:chExt cx="4286400" cy="3476700"/>
          </a:xfrm>
        </p:grpSpPr>
        <p:sp>
          <p:nvSpPr>
            <p:cNvPr id="863" name="Google Shape;863;p60"/>
            <p:cNvSpPr/>
            <p:nvPr/>
          </p:nvSpPr>
          <p:spPr>
            <a:xfrm>
              <a:off x="0" y="0"/>
              <a:ext cx="42864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0"/>
            <p:cNvSpPr/>
            <p:nvPr/>
          </p:nvSpPr>
          <p:spPr>
            <a:xfrm>
              <a:off x="0" y="0"/>
              <a:ext cx="42864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0"/>
            <p:cNvSpPr txBox="1"/>
            <p:nvPr/>
          </p:nvSpPr>
          <p:spPr>
            <a:xfrm>
              <a:off x="228600" y="171450"/>
              <a:ext cx="3829200" cy="314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SOURCE CODE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Main.java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Main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524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languages;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524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lang)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3048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languages = lang;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3048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System.out.println(languages +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4572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 Programming Language"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524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524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main(String[] args)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3048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 obj1 = </a:t>
              </a: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Main(</a:t>
              </a:r>
              <a:r>
                <a:rPr b="0" lang="en" sz="95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"Java"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3048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 obj2 = </a:t>
              </a: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Main(</a:t>
              </a:r>
              <a:r>
                <a:rPr b="0" lang="en" sz="95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"Python"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3048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 obj3 = </a:t>
              </a: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Main(</a:t>
              </a:r>
              <a:r>
                <a:rPr b="0" lang="en" sz="95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"C"</a:t>
              </a: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52400" marR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866" name="Google Shape;866;p60"/>
          <p:cNvGrpSpPr/>
          <p:nvPr/>
        </p:nvGrpSpPr>
        <p:grpSpPr>
          <a:xfrm>
            <a:off x="5048250" y="1190625"/>
            <a:ext cx="3524400" cy="3476700"/>
            <a:chOff x="0" y="0"/>
            <a:chExt cx="3524400" cy="3476700"/>
          </a:xfrm>
        </p:grpSpPr>
        <p:sp>
          <p:nvSpPr>
            <p:cNvPr id="867" name="Google Shape;867;p60"/>
            <p:cNvSpPr/>
            <p:nvPr/>
          </p:nvSpPr>
          <p:spPr>
            <a:xfrm>
              <a:off x="0" y="0"/>
              <a:ext cx="3524400" cy="34767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0"/>
            <p:cNvSpPr/>
            <p:nvPr/>
          </p:nvSpPr>
          <p:spPr>
            <a:xfrm>
              <a:off x="0" y="0"/>
              <a:ext cx="35244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0"/>
            <p:cNvSpPr txBox="1"/>
            <p:nvPr/>
          </p:nvSpPr>
          <p:spPr>
            <a:xfrm>
              <a:off x="228600" y="171450"/>
              <a:ext cx="3067200" cy="314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&amp; ANALYSIS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Key Takeaways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Parameterized Constructor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Main(String lang)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constructor accepts a string argument to initialize field state.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Dynamic Value Passing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Passing distinct parameters during </a:t>
              </a:r>
              <a:r>
                <a:rPr b="1" lang="en" sz="9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instantiation sets custom instance data for each object.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3. Console Output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Java Programming Language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Python Programming Language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 Programming Language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oogle Shape;874;p61"/>
          <p:cNvGrpSpPr/>
          <p:nvPr/>
        </p:nvGrpSpPr>
        <p:grpSpPr>
          <a:xfrm>
            <a:off x="571500" y="381000"/>
            <a:ext cx="8001000" cy="666900"/>
            <a:chOff x="0" y="0"/>
            <a:chExt cx="8001000" cy="666900"/>
          </a:xfrm>
        </p:grpSpPr>
        <p:sp>
          <p:nvSpPr>
            <p:cNvPr id="875" name="Google Shape;875;p61"/>
            <p:cNvSpPr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1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</a:t>
              </a:r>
              <a:endParaRPr b="1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Constructor Overloading: </a:t>
              </a:r>
              <a:r>
                <a:rPr b="0"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Concept</a:t>
              </a:r>
              <a:endParaRPr b="0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877" name="Google Shape;877;p61"/>
          <p:cNvGrpSpPr/>
          <p:nvPr/>
        </p:nvGrpSpPr>
        <p:grpSpPr>
          <a:xfrm>
            <a:off x="571500" y="1238250"/>
            <a:ext cx="3857700" cy="3381300"/>
            <a:chOff x="0" y="0"/>
            <a:chExt cx="3857700" cy="3381300"/>
          </a:xfrm>
        </p:grpSpPr>
        <p:sp>
          <p:nvSpPr>
            <p:cNvPr id="878" name="Google Shape;878;p61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1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1"/>
            <p:cNvSpPr txBox="1"/>
            <p:nvPr/>
          </p:nvSpPr>
          <p:spPr>
            <a:xfrm>
              <a:off x="228600" y="228600"/>
              <a:ext cx="34005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CORE 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Definition &amp; Purpose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Multiple Constructors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concept of defining more than one constructor within the same class.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Versatile Execution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Allows every constructor to perform a different initialization task depending on requirements.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81" name="Google Shape;881;p61"/>
          <p:cNvGrpSpPr/>
          <p:nvPr/>
        </p:nvGrpSpPr>
        <p:grpSpPr>
          <a:xfrm>
            <a:off x="4714875" y="1238250"/>
            <a:ext cx="3857700" cy="3381300"/>
            <a:chOff x="0" y="0"/>
            <a:chExt cx="3857700" cy="3381300"/>
          </a:xfrm>
        </p:grpSpPr>
        <p:sp>
          <p:nvSpPr>
            <p:cNvPr id="882" name="Google Shape;882;p61"/>
            <p:cNvSpPr/>
            <p:nvPr/>
          </p:nvSpPr>
          <p:spPr>
            <a:xfrm>
              <a:off x="0" y="0"/>
              <a:ext cx="3857700" cy="3381300"/>
            </a:xfrm>
            <a:prstGeom prst="roundRect">
              <a:avLst>
                <a:gd fmla="val 338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1"/>
            <p:cNvSpPr/>
            <p:nvPr/>
          </p:nvSpPr>
          <p:spPr>
            <a:xfrm>
              <a:off x="0" y="0"/>
              <a:ext cx="38577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1"/>
            <p:cNvSpPr txBox="1"/>
            <p:nvPr/>
          </p:nvSpPr>
          <p:spPr>
            <a:xfrm>
              <a:off x="228600" y="228600"/>
              <a:ext cx="3400500" cy="29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KEY REQUIREMENT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Parameter Distinction</a:t>
              </a:r>
              <a:endParaRPr b="0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Different Parameters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Overloaded constructors must differ in parameter list (number, type, or sequence of arguments).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Flexible Object Creation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Provides callers multiple tailored entry points to instantiate objects with varied initial data.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62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Constructor Overloading: </a:t>
            </a:r>
            <a:r>
              <a:rPr b="0" lang="en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Code Example</a:t>
            </a:r>
            <a:endParaRPr b="1" sz="10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90" name="Google Shape;890;p62"/>
          <p:cNvGrpSpPr/>
          <p:nvPr/>
        </p:nvGrpSpPr>
        <p:grpSpPr>
          <a:xfrm>
            <a:off x="571500" y="1190625"/>
            <a:ext cx="4048200" cy="3524400"/>
            <a:chOff x="0" y="0"/>
            <a:chExt cx="4048200" cy="3524400"/>
          </a:xfrm>
        </p:grpSpPr>
        <p:sp>
          <p:nvSpPr>
            <p:cNvPr id="891" name="Google Shape;891;p62"/>
            <p:cNvSpPr/>
            <p:nvPr/>
          </p:nvSpPr>
          <p:spPr>
            <a:xfrm>
              <a:off x="0" y="0"/>
              <a:ext cx="40482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2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62"/>
            <p:cNvSpPr txBox="1"/>
            <p:nvPr/>
          </p:nvSpPr>
          <p:spPr>
            <a:xfrm>
              <a:off x="190500" y="171450"/>
              <a:ext cx="3667200" cy="3190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CLASS DEFINITION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Box.java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Box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width, height, depth;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Default constructor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Box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 { width = height = depth = 10; 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Parameterized constructor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Box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w, </a:t>
              </a: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h, </a:t>
              </a: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d)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width = w; height = h; depth = d;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Compute and return volume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volume()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width * height * depth;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894" name="Google Shape;894;p62"/>
          <p:cNvGrpSpPr/>
          <p:nvPr/>
        </p:nvGrpSpPr>
        <p:grpSpPr>
          <a:xfrm>
            <a:off x="4810125" y="1190625"/>
            <a:ext cx="3762300" cy="3524400"/>
            <a:chOff x="0" y="0"/>
            <a:chExt cx="3762300" cy="3524400"/>
          </a:xfrm>
        </p:grpSpPr>
        <p:sp>
          <p:nvSpPr>
            <p:cNvPr id="895" name="Google Shape;895;p62"/>
            <p:cNvSpPr/>
            <p:nvPr/>
          </p:nvSpPr>
          <p:spPr>
            <a:xfrm>
              <a:off x="0" y="0"/>
              <a:ext cx="37623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62"/>
            <p:cNvSpPr/>
            <p:nvPr/>
          </p:nvSpPr>
          <p:spPr>
            <a:xfrm>
              <a:off x="0" y="0"/>
              <a:ext cx="37623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62"/>
            <p:cNvSpPr txBox="1"/>
            <p:nvPr/>
          </p:nvSpPr>
          <p:spPr>
            <a:xfrm>
              <a:off x="190500" y="171450"/>
              <a:ext cx="3381300" cy="3190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EXECUTION CLASS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BoxDemo6.java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BoxDemo6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void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main(String[] args) {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Instantiate using default constructor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Box mybox1 = </a:t>
              </a: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Box();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Instantiate using parameterized constructor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Box mybox2 = </a:t>
              </a: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new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Box(10, 20, 15);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double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vol;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vol = mybox1.volume();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85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"Volume is "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vol);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vol = mybox2.volume();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254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System.out.println(</a:t>
              </a:r>
              <a:r>
                <a:rPr b="0" lang="en" sz="850">
                  <a:solidFill>
                    <a:srgbClr val="0D948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"Volume is "</a:t>
              </a: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+ vol);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1270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